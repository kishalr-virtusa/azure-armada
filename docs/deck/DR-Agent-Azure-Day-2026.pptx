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Disaster Recovery (DR) Agent is a team of AI agents built entirely on Azure that actually performs disaster recovery testing: it fails workloads over, measures real recovery time and data loss, fails back, and produces audit-ready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money, using the latest research. Splunk with Oxford Economics, May 2026, 2,000 executives: downtime now costs Global 2000 companies $15,000 a minute on average, about $900,000 an hour and $600 billion a year, including $51 million a year in regulatory fines per company. Uptime Institute's 2026 analysis: 57% say their last major outage cost over $100,000, and one in five over $1 million. And in October 2025 a single AWS region outage cost US companies an estimated $500 to $650 million. Even hyperscalers fail; what matters is whether your recovery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Closer to home, the penalty is a growth freeze. HDFC Bank: after repeated outages, the most recent a power failure at a primary data centre, the RBI stopped new digital launches and new credit cards in December 2020; cards resumed in August 2021, digital launches only in March 2022. NSE: a nearly four-hour trading halt in February 2021 ended in a settlement of about $8.8 million with SEBI. Kotak Mahindra Bank: in April 2024 the RBI cited deficiencies including business continuity and disaster recovery, plus frequent outages, and stopped online onboarding and new cards for about ten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Regulators have moved from 'have a plan' to 'prove it works, on a schedule'. RBI's July 2026 directions: DR drills for critical systems at least half-yearly, and every major issue fixed and re-tested before the next cycle. SEBI: resume critical operations within two hours with a 15-minute RPO; exchanges must be running from DR within 45 minutes and drill every quarter. DORA in Europe: test continuity and recovery plans at least yearly. A common myth is that DORA fixes a 2%-of-turnover fine for banks; it does not. Penalties for financial entities are set by each member state; the fixed figure applies to critical ICT providers: up to 1% of average daily worldwide turnover, daily, for up to six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don't companies just test? Cockroach Labs surveyed 1,000 executives: fewer than one in three do regular failover testing, and only 20% feel fully prepared. Uptime Institute's 2026 analysis names failure to follow established procedures as the leading driver of human-error outages, which is exactly what a stale runbook causes. The reasons are structural: tests are disruptive and manual, environments drift between tests, runbooks go stale, and RTO/RPO are signed off on paper instead of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together with transparent inputs. A tier-1 payments service with a 30-minute target that has never really been tested. On the day, recovery takes four hours, like the NSE halt. At the 2026 average of $15,000 a minute, that is $3.6 million of direct loss, $3.15 million of it beyond the target, before any regulatory action: NSE paid about $8.8 million to settle, and the RBI froze HDFC's and Kotak's digital growth for 10 to 15 months. Our agent measured 29.04 seconds for the same kind of service, and proved the data loss write by write: 2.8 seconds of writes, against a 15-minute target. It can prove it again on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answer follows the DR lifecycle. Phase 1, design and prepare: the Architect picks the cheapest strategy that genuinely meets the targets using live Azure prices; Readiness runs seven live checks and catches drift; the Runbook agent finds stale steps. Phase 2: the Planner builds the drill from an allowlist, the engine executes it on real Azure resources and measures, the Validator diagnoses failures live, and the Reporter writes an audit-ready report. Humans approve every risky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agent is a versioned prompt agent in Azure AI Foundry with a strict JSON schema. Code gathers the facts, the agent decides, code checks the answer, and every agent has a deterministic fallback so the demo never depends on one model call. The live activity panel shows exactly what each agent did. It also exposed a real defect: we were giving the Architect a cost multiplier and a dollar budget; it guessed wrong. We fixed the input, not the model, and it is now right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it is safe for a bank. Models never touch Azure directly. The engine runs only allowlisted actions, in a mandatory order, with named human approvals at the risky points, a kill switch, rollback, and a fallback for every agent. We proved it with a surprise fault mid-drill: the Validator diagnosed it, proposed an allowlisted fix, a human approved, and the service recovered in 57.4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on Azure. Users reach Contoso Payments through Traffic Manager with priority routing. App Service runs in both regions; Azure SQL replicates through a failover group; the reports VM is protected by Azure Site Recovery. The DR console and engine sit in South India, outside both regions, and call the six agents in Azure AI Foundry. Secrets live in Key Vault with managed identities; the whole environment is Bicep with one-click up and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measured, not estimated. Nine drills without chaos: RTO between 29.0 and 40.4 seconds, median 32.7, against a 30-minute target. RPO is proven write by write: in the latest drill the old primary acknowledged 6 writes while the forced failover was running, and 2 of them never reached the new primary, so 2.8 seconds of writes were lost, against a 15-minute target. That is exactly what a forced failover with asynchronous replication means, and our own audit found that our first, narrower measurement had missed it. Failback is planned and loses nothing. Site Recovery brought the reports VM up in Southeast Asia in 3 minutes 8 seconds, and we proved the service inside it at 3 minutes 55. Every second of the latest 29.04 s RTO is accounted for: 14.3 s SQL failover, 3.8 s Traffic Manager, 9.5 s DNS and health checks, and under a second each for the injection and our own bookkeeping.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is where this gets compelling. Every AI agent call we made across two days and nine drills cost 9 cents in total, from Azure Cost Management. The entire environment so far cost $2.44. At Azure list prices the DR set-up itself is $38.26 a month. At the 2026 average of $15,000 a minute, a whole month of DR costs less than a fifth of a second of downtime.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 on your own phone. Then the roadmap, which we keep clearly separate from what is built: scheduled drills, more Azure services as new allowlisted actions, Chaos Studio's fault library, Teams approval cards, and a resilience score across many applications.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21"/>
        </a:solidFill>
      </p:bgPr>
    </p:bg>
    <p:spTree>
      <p:nvGrpSpPr>
        <p:cNvPr id="1" name=""/>
        <p:cNvGrpSpPr/>
        <p:nvPr/>
      </p:nvGrpSpPr>
      <p:grpSpPr>
        <a:xfrm>
          <a:off x="0" y="0"/>
          <a:ext cx="0" cy="0"/>
          <a:chOff x="0" y="0"/>
          <a:chExt cx="0" cy="0"/>
        </a:xfrm>
      </p:grpSpPr>
      <p:sp>
        <p:nvSpPr>
          <p:cNvPr id="2" name="Shape 0"/>
          <p:cNvSpPr/>
          <p:nvPr/>
        </p:nvSpPr>
        <p:spPr>
          <a:xfrm>
            <a:off x="548640" y="640080"/>
            <a:ext cx="914400" cy="914400"/>
          </a:xfrm>
          <a:prstGeom prst="ellipse">
            <a:avLst/>
          </a:prstGeom>
          <a:solidFill>
            <a:srgbClr val="5E2CFE"/>
          </a:solidFill>
          <a:ln w="12700">
            <a:solidFill>
              <a:srgbClr val="5E2CFE"/>
            </a:solidFill>
            <a:prstDash val="solid"/>
          </a:ln>
        </p:spPr>
      </p:sp>
      <p:pic>
        <p:nvPicPr>
          <p:cNvPr id="3" name="Image 0" descr="preencoded.png">    </p:cNvPr>
          <p:cNvPicPr>
            <a:picLocks noChangeAspect="1"/>
          </p:cNvPicPr>
          <p:nvPr/>
        </p:nvPicPr>
        <p:blipFill>
          <a:blip r:embed="rId1"/>
          <a:stretch>
            <a:fillRect/>
          </a:stretch>
        </p:blipFill>
        <p:spPr>
          <a:xfrm>
            <a:off x="777240" y="868680"/>
            <a:ext cx="457200" cy="457200"/>
          </a:xfrm>
          <a:prstGeom prst="rect">
            <a:avLst/>
          </a:prstGeom>
        </p:spPr>
      </p:pic>
      <p:sp>
        <p:nvSpPr>
          <p:cNvPr id="4" name="Text 1"/>
          <p:cNvSpPr txBox="1"/>
          <p:nvPr/>
        </p:nvSpPr>
        <p:spPr>
          <a:xfrm>
            <a:off x="1691640" y="868680"/>
            <a:ext cx="8229600" cy="457200"/>
          </a:xfrm>
          <a:prstGeom prst="rect">
            <a:avLst/>
          </a:prstGeom>
          <a:noFill/>
          <a:ln/>
        </p:spPr>
        <p:txBody>
          <a:bodyPr wrap="square" lIns="0" tIns="0" rIns="0" bIns="0" rtlCol="0" anchor="ctr"/>
          <a:lstStyle/>
          <a:p>
            <a:pPr indent="0" marL="0">
              <a:buNone/>
            </a:pPr>
            <a:r>
              <a:rPr lang="en-US" sz="1300" b="1" spc="200" kern="0" dirty="0">
                <a:solidFill>
                  <a:srgbClr val="B9A8FF"/>
                </a:solidFill>
                <a:latin typeface="Calibri" pitchFamily="34" charset="0"/>
                <a:ea typeface="Calibri" pitchFamily="34" charset="-122"/>
                <a:cs typeface="Calibri" pitchFamily="34" charset="-120"/>
              </a:rPr>
              <a:t>AZURE DAY 2026 HACKATHON  ·  DISASTER RECOVERY AGENT</a:t>
            </a:r>
            <a:endParaRPr lang="en-US" sz="1300" dirty="0"/>
          </a:p>
        </p:txBody>
      </p:sp>
      <p:sp>
        <p:nvSpPr>
          <p:cNvPr id="5" name="Text 2"/>
          <p:cNvSpPr txBox="1"/>
          <p:nvPr/>
        </p:nvSpPr>
        <p:spPr>
          <a:xfrm>
            <a:off x="548640" y="1920240"/>
            <a:ext cx="10972800" cy="118872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Disaster Recovery (DR) Agent</a:t>
            </a:r>
            <a:endParaRPr lang="en-US" sz="5400" dirty="0"/>
          </a:p>
        </p:txBody>
      </p:sp>
      <p:sp>
        <p:nvSpPr>
          <p:cNvPr id="6" name="Text 3"/>
          <p:cNvSpPr txBox="1"/>
          <p:nvPr/>
        </p:nvSpPr>
        <p:spPr>
          <a:xfrm>
            <a:off x="548640" y="3063240"/>
            <a:ext cx="10972800" cy="640080"/>
          </a:xfrm>
          <a:prstGeom prst="rect">
            <a:avLst/>
          </a:prstGeom>
          <a:noFill/>
          <a:ln/>
        </p:spPr>
        <p:txBody>
          <a:bodyPr wrap="square" lIns="0" tIns="0" rIns="0" bIns="0" rtlCol="0" anchor="ctr"/>
          <a:lstStyle/>
          <a:p>
            <a:pPr indent="0" marL="0">
              <a:buNone/>
            </a:pPr>
            <a:r>
              <a:rPr lang="en-US" sz="2800" dirty="0">
                <a:solidFill>
                  <a:srgbClr val="E4DFF7"/>
                </a:solidFill>
                <a:latin typeface="Calibri" pitchFamily="34" charset="0"/>
                <a:ea typeface="Calibri" pitchFamily="34" charset="-122"/>
                <a:cs typeface="Calibri" pitchFamily="34" charset="-120"/>
              </a:rPr>
              <a:t>Autonomous Disaster Recovery Validation</a:t>
            </a:r>
            <a:endParaRPr lang="en-US" sz="2800" dirty="0"/>
          </a:p>
        </p:txBody>
      </p:sp>
      <p:sp>
        <p:nvSpPr>
          <p:cNvPr id="7" name="Text 4"/>
          <p:cNvSpPr txBox="1"/>
          <p:nvPr/>
        </p:nvSpPr>
        <p:spPr>
          <a:xfrm>
            <a:off x="548640" y="3931920"/>
            <a:ext cx="8686800" cy="822960"/>
          </a:xfrm>
          <a:prstGeom prst="rect">
            <a:avLst/>
          </a:prstGeom>
          <a:noFill/>
          <a:ln/>
        </p:spPr>
        <p:txBody>
          <a:bodyPr wrap="square" lIns="0" tIns="0" rIns="0" bIns="0" rtlCol="0" anchor="ctr"/>
          <a:lstStyle/>
          <a:p>
            <a:pPr indent="0" marL="0">
              <a:buNone/>
            </a:pPr>
            <a:r>
              <a:rPr lang="en-US" sz="1700" i="1" dirty="0">
                <a:solidFill>
                  <a:srgbClr val="C9C3E6"/>
                </a:solidFill>
                <a:latin typeface="Calibri" pitchFamily="34" charset="0"/>
                <a:ea typeface="Calibri" pitchFamily="34" charset="-122"/>
                <a:cs typeface="Calibri" pitchFamily="34" charset="-120"/>
              </a:rPr>
              <a:t>Built 100% on Azure. AI agents that validate DR by executing real tests: fail over, measure RTO/RPO, fail back, and prove you can recover, on any day instead of once a year.</a:t>
            </a:r>
            <a:endParaRPr lang="en-US" sz="1700" dirty="0"/>
          </a:p>
        </p:txBody>
      </p:sp>
      <p:sp>
        <p:nvSpPr>
          <p:cNvPr id="8" name="Shape 5"/>
          <p:cNvSpPr/>
          <p:nvPr/>
        </p:nvSpPr>
        <p:spPr>
          <a:xfrm>
            <a:off x="548640" y="5166360"/>
            <a:ext cx="548640" cy="548640"/>
          </a:xfrm>
          <a:prstGeom prst="ellipse">
            <a:avLst/>
          </a:prstGeom>
          <a:solidFill>
            <a:srgbClr val="2A2340"/>
          </a:solidFill>
          <a:ln w="12700">
            <a:solidFill>
              <a:srgbClr val="2A2340"/>
            </a:solidFill>
            <a:prstDash val="solid"/>
          </a:ln>
        </p:spPr>
      </p:sp>
      <p:pic>
        <p:nvPicPr>
          <p:cNvPr id="9" name="Image 1" descr="preencoded.png">    </p:cNvPr>
          <p:cNvPicPr>
            <a:picLocks noChangeAspect="1"/>
          </p:cNvPicPr>
          <p:nvPr/>
        </p:nvPicPr>
        <p:blipFill>
          <a:blip r:embed="rId2"/>
          <a:stretch>
            <a:fillRect/>
          </a:stretch>
        </p:blipFill>
        <p:spPr>
          <a:xfrm>
            <a:off x="685800" y="5303520"/>
            <a:ext cx="274320" cy="274320"/>
          </a:xfrm>
          <a:prstGeom prst="rect">
            <a:avLst/>
          </a:prstGeom>
        </p:spPr>
      </p:pic>
      <p:sp>
        <p:nvSpPr>
          <p:cNvPr id="10" name="Text 6"/>
          <p:cNvSpPr txBox="1"/>
          <p:nvPr/>
        </p:nvSpPr>
        <p:spPr>
          <a:xfrm>
            <a:off x="1207008" y="5166360"/>
            <a:ext cx="128016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Fail over</a:t>
            </a:r>
            <a:endParaRPr lang="en-US" sz="1500" dirty="0"/>
          </a:p>
        </p:txBody>
      </p:sp>
      <p:sp>
        <p:nvSpPr>
          <p:cNvPr id="11" name="Shape 7"/>
          <p:cNvSpPr/>
          <p:nvPr/>
        </p:nvSpPr>
        <p:spPr>
          <a:xfrm>
            <a:off x="2560320" y="5166360"/>
            <a:ext cx="548640" cy="548640"/>
          </a:xfrm>
          <a:prstGeom prst="ellipse">
            <a:avLst/>
          </a:prstGeom>
          <a:solidFill>
            <a:srgbClr val="2A2340"/>
          </a:solidFill>
          <a:ln w="12700">
            <a:solidFill>
              <a:srgbClr val="2A2340"/>
            </a:solidFill>
            <a:prstDash val="solid"/>
          </a:ln>
        </p:spPr>
      </p:sp>
      <p:pic>
        <p:nvPicPr>
          <p:cNvPr id="12" name="Image 2" descr="preencoded.png">    </p:cNvPr>
          <p:cNvPicPr>
            <a:picLocks noChangeAspect="1"/>
          </p:cNvPicPr>
          <p:nvPr/>
        </p:nvPicPr>
        <p:blipFill>
          <a:blip r:embed="rId3"/>
          <a:stretch>
            <a:fillRect/>
          </a:stretch>
        </p:blipFill>
        <p:spPr>
          <a:xfrm>
            <a:off x="2697480" y="5303520"/>
            <a:ext cx="274320" cy="274320"/>
          </a:xfrm>
          <a:prstGeom prst="rect">
            <a:avLst/>
          </a:prstGeom>
        </p:spPr>
      </p:pic>
      <p:sp>
        <p:nvSpPr>
          <p:cNvPr id="13" name="Text 8"/>
          <p:cNvSpPr txBox="1"/>
          <p:nvPr/>
        </p:nvSpPr>
        <p:spPr>
          <a:xfrm>
            <a:off x="3218688" y="5166360"/>
            <a:ext cx="128016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Measure</a:t>
            </a:r>
            <a:endParaRPr lang="en-US" sz="1500" dirty="0"/>
          </a:p>
        </p:txBody>
      </p:sp>
      <p:sp>
        <p:nvSpPr>
          <p:cNvPr id="14" name="Shape 9"/>
          <p:cNvSpPr/>
          <p:nvPr/>
        </p:nvSpPr>
        <p:spPr>
          <a:xfrm>
            <a:off x="4572000" y="5166360"/>
            <a:ext cx="548640" cy="548640"/>
          </a:xfrm>
          <a:prstGeom prst="ellipse">
            <a:avLst/>
          </a:prstGeom>
          <a:solidFill>
            <a:srgbClr val="2A2340"/>
          </a:solidFill>
          <a:ln w="12700">
            <a:solidFill>
              <a:srgbClr val="2A2340"/>
            </a:solidFill>
            <a:prstDash val="solid"/>
          </a:ln>
        </p:spPr>
      </p:sp>
      <p:pic>
        <p:nvPicPr>
          <p:cNvPr id="15" name="Image 3" descr="preencoded.png">    </p:cNvPr>
          <p:cNvPicPr>
            <a:picLocks noChangeAspect="1"/>
          </p:cNvPicPr>
          <p:nvPr/>
        </p:nvPicPr>
        <p:blipFill>
          <a:blip r:embed="rId4"/>
          <a:stretch>
            <a:fillRect/>
          </a:stretch>
        </p:blipFill>
        <p:spPr>
          <a:xfrm>
            <a:off x="4709160" y="5303520"/>
            <a:ext cx="274320" cy="274320"/>
          </a:xfrm>
          <a:prstGeom prst="rect">
            <a:avLst/>
          </a:prstGeom>
        </p:spPr>
      </p:pic>
      <p:sp>
        <p:nvSpPr>
          <p:cNvPr id="16" name="Text 10"/>
          <p:cNvSpPr txBox="1"/>
          <p:nvPr/>
        </p:nvSpPr>
        <p:spPr>
          <a:xfrm>
            <a:off x="5230368" y="5166360"/>
            <a:ext cx="128016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Fail back</a:t>
            </a:r>
            <a:endParaRPr lang="en-US" sz="1500" dirty="0"/>
          </a:p>
        </p:txBody>
      </p:sp>
      <p:sp>
        <p:nvSpPr>
          <p:cNvPr id="17" name="Shape 11"/>
          <p:cNvSpPr/>
          <p:nvPr/>
        </p:nvSpPr>
        <p:spPr>
          <a:xfrm>
            <a:off x="6583680" y="5166360"/>
            <a:ext cx="548640" cy="548640"/>
          </a:xfrm>
          <a:prstGeom prst="ellipse">
            <a:avLst/>
          </a:prstGeom>
          <a:solidFill>
            <a:srgbClr val="2A2340"/>
          </a:solidFill>
          <a:ln w="12700">
            <a:solidFill>
              <a:srgbClr val="2A2340"/>
            </a:solidFill>
            <a:prstDash val="solid"/>
          </a:ln>
        </p:spPr>
      </p:sp>
      <p:pic>
        <p:nvPicPr>
          <p:cNvPr id="18" name="Image 4" descr="preencoded.png">    </p:cNvPr>
          <p:cNvPicPr>
            <a:picLocks noChangeAspect="1"/>
          </p:cNvPicPr>
          <p:nvPr/>
        </p:nvPicPr>
        <p:blipFill>
          <a:blip r:embed="rId5"/>
          <a:stretch>
            <a:fillRect/>
          </a:stretch>
        </p:blipFill>
        <p:spPr>
          <a:xfrm>
            <a:off x="6720840" y="5303520"/>
            <a:ext cx="274320" cy="274320"/>
          </a:xfrm>
          <a:prstGeom prst="rect">
            <a:avLst/>
          </a:prstGeom>
        </p:spPr>
      </p:pic>
      <p:sp>
        <p:nvSpPr>
          <p:cNvPr id="19" name="Text 12"/>
          <p:cNvSpPr txBox="1"/>
          <p:nvPr/>
        </p:nvSpPr>
        <p:spPr>
          <a:xfrm>
            <a:off x="7242048" y="5166360"/>
            <a:ext cx="128016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Prove</a:t>
            </a:r>
            <a:endParaRPr lang="en-US" sz="1500" dirty="0"/>
          </a:p>
        </p:txBody>
      </p:sp>
      <p:sp>
        <p:nvSpPr>
          <p:cNvPr id="20" name="Text 13"/>
          <p:cNvSpPr txBox="1"/>
          <p:nvPr/>
        </p:nvSpPr>
        <p:spPr>
          <a:xfrm>
            <a:off x="7955280" y="6172200"/>
            <a:ext cx="3657600" cy="365760"/>
          </a:xfrm>
          <a:prstGeom prst="rect">
            <a:avLst/>
          </a:prstGeom>
          <a:noFill/>
          <a:ln/>
        </p:spPr>
        <p:txBody>
          <a:bodyPr wrap="square" lIns="0" tIns="0" rIns="0" bIns="0" rtlCol="0" anchor="ctr"/>
          <a:lstStyle/>
          <a:p>
            <a:pPr algn="r" indent="0" marL="0">
              <a:buNone/>
            </a:pPr>
            <a:r>
              <a:rPr lang="en-US" sz="1300" dirty="0">
                <a:solidFill>
                  <a:srgbClr val="9C95BD"/>
                </a:solidFill>
                <a:latin typeface="Calibri" pitchFamily="34" charset="0"/>
                <a:ea typeface="Calibri" pitchFamily="34" charset="-122"/>
                <a:cs typeface="Calibri" pitchFamily="34" charset="-120"/>
              </a:rPr>
              <a:t>Team Azure Armada  ·  Virtusa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Downtime now costs about $900,000 an hour</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The latest independent research (2026) and a 2025 cloud outage: the cost of not recovering on time.</a:t>
            </a:r>
            <a:endParaRPr lang="en-US" sz="1500" dirty="0"/>
          </a:p>
        </p:txBody>
      </p:sp>
      <p:sp>
        <p:nvSpPr>
          <p:cNvPr id="4" name="Shape 2"/>
          <p:cNvSpPr/>
          <p:nvPr/>
        </p:nvSpPr>
        <p:spPr>
          <a:xfrm>
            <a:off x="548640" y="1600200"/>
            <a:ext cx="3520440" cy="379476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874520"/>
            <a:ext cx="3017520" cy="914400"/>
          </a:xfrm>
          <a:prstGeom prst="rect">
            <a:avLst/>
          </a:prstGeom>
          <a:noFill/>
          <a:ln/>
        </p:spPr>
        <p:txBody>
          <a:bodyPr wrap="square" lIns="0" tIns="0" rIns="0" bIns="0" rtlCol="0" anchor="ctr"/>
          <a:lstStyle/>
          <a:p>
            <a:pPr indent="0" marL="0">
              <a:buNone/>
            </a:pPr>
            <a:r>
              <a:rPr lang="en-US" sz="4200" b="1" dirty="0">
                <a:solidFill>
                  <a:srgbClr val="5E2CFE"/>
                </a:solidFill>
                <a:latin typeface="Calibri" pitchFamily="34" charset="0"/>
                <a:ea typeface="Calibri" pitchFamily="34" charset="-122"/>
                <a:cs typeface="Calibri" pitchFamily="34" charset="-120"/>
              </a:rPr>
              <a:t>$15,000</a:t>
            </a:r>
            <a:endParaRPr lang="en-US" sz="4200" dirty="0"/>
          </a:p>
        </p:txBody>
      </p:sp>
      <p:sp>
        <p:nvSpPr>
          <p:cNvPr id="6" name="Text 4"/>
          <p:cNvSpPr txBox="1"/>
          <p:nvPr/>
        </p:nvSpPr>
        <p:spPr>
          <a:xfrm>
            <a:off x="822960" y="2788920"/>
            <a:ext cx="3017520" cy="411480"/>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per minute of downtime</a:t>
            </a:r>
            <a:endParaRPr lang="en-US" sz="1600" dirty="0"/>
          </a:p>
        </p:txBody>
      </p:sp>
      <p:sp>
        <p:nvSpPr>
          <p:cNvPr id="7" name="Text 5"/>
          <p:cNvSpPr txBox="1"/>
          <p:nvPr/>
        </p:nvSpPr>
        <p:spPr>
          <a:xfrm>
            <a:off x="822960" y="3291840"/>
            <a:ext cx="3017520" cy="13258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is the average for Global 2000 companies: about $900,000 an hour and $600B a year in total. Regulatory fines alone average $51M per company a year.</a:t>
            </a:r>
            <a:endParaRPr lang="en-US" sz="1300" dirty="0"/>
          </a:p>
        </p:txBody>
      </p:sp>
      <p:sp>
        <p:nvSpPr>
          <p:cNvPr id="8" name="Text 6"/>
          <p:cNvSpPr txBox="1"/>
          <p:nvPr/>
        </p:nvSpPr>
        <p:spPr>
          <a:xfrm>
            <a:off x="822960" y="4663440"/>
            <a:ext cx="3017520" cy="548640"/>
          </a:xfrm>
          <a:prstGeom prst="rect">
            <a:avLst/>
          </a:prstGeom>
          <a:noFill/>
          <a:ln/>
        </p:spPr>
        <p:txBody>
          <a:bodyPr wrap="square" lIns="0" tIns="0" rIns="0" bIns="0" rtlCol="0" anchor="b"/>
          <a:lstStyle/>
          <a:p>
            <a:pPr indent="0" marL="0">
              <a:buNone/>
            </a:pPr>
            <a:r>
              <a:rPr lang="en-US" sz="950" i="1" dirty="0">
                <a:solidFill>
                  <a:srgbClr val="5B6B7F"/>
                </a:solidFill>
                <a:latin typeface="Calibri" pitchFamily="34" charset="0"/>
                <a:ea typeface="Calibri" pitchFamily="34" charset="-122"/>
                <a:cs typeface="Calibri" pitchFamily="34" charset="-120"/>
              </a:rPr>
              <a:t>Splunk &amp; Oxford Economics, The Hidden Costs of Downtime, May 2026 (2,000 executives) [1]</a:t>
            </a:r>
            <a:endParaRPr lang="en-US" sz="950" dirty="0"/>
          </a:p>
        </p:txBody>
      </p:sp>
      <p:sp>
        <p:nvSpPr>
          <p:cNvPr id="9" name="Shape 7"/>
          <p:cNvSpPr/>
          <p:nvPr/>
        </p:nvSpPr>
        <p:spPr>
          <a:xfrm>
            <a:off x="4297680" y="1600200"/>
            <a:ext cx="3520440" cy="379476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4572000" y="1874520"/>
            <a:ext cx="3017520" cy="914400"/>
          </a:xfrm>
          <a:prstGeom prst="rect">
            <a:avLst/>
          </a:prstGeom>
          <a:noFill/>
          <a:ln/>
        </p:spPr>
        <p:txBody>
          <a:bodyPr wrap="square" lIns="0" tIns="0" rIns="0" bIns="0" rtlCol="0" anchor="ctr"/>
          <a:lstStyle/>
          <a:p>
            <a:pPr indent="0" marL="0">
              <a:buNone/>
            </a:pPr>
            <a:r>
              <a:rPr lang="en-US" sz="4200" b="1" dirty="0">
                <a:solidFill>
                  <a:srgbClr val="5E2CFE"/>
                </a:solidFill>
                <a:latin typeface="Calibri" pitchFamily="34" charset="0"/>
                <a:ea typeface="Calibri" pitchFamily="34" charset="-122"/>
                <a:cs typeface="Calibri" pitchFamily="34" charset="-120"/>
              </a:rPr>
              <a:t>57%</a:t>
            </a:r>
            <a:endParaRPr lang="en-US" sz="4200" dirty="0"/>
          </a:p>
        </p:txBody>
      </p:sp>
      <p:sp>
        <p:nvSpPr>
          <p:cNvPr id="11" name="Text 9"/>
          <p:cNvSpPr txBox="1"/>
          <p:nvPr/>
        </p:nvSpPr>
        <p:spPr>
          <a:xfrm>
            <a:off x="4572000" y="2788920"/>
            <a:ext cx="3017520" cy="411480"/>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had a last major outage over $100K</a:t>
            </a:r>
            <a:endParaRPr lang="en-US" sz="1600" dirty="0"/>
          </a:p>
        </p:txBody>
      </p:sp>
      <p:sp>
        <p:nvSpPr>
          <p:cNvPr id="12" name="Text 10"/>
          <p:cNvSpPr txBox="1"/>
          <p:nvPr/>
        </p:nvSpPr>
        <p:spPr>
          <a:xfrm>
            <a:off x="4572000" y="3291840"/>
            <a:ext cx="3017520" cy="13258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and 1 in 5 operators said their last major outage cost more than $1 million, for the second year running.</a:t>
            </a:r>
            <a:endParaRPr lang="en-US" sz="1300" dirty="0"/>
          </a:p>
        </p:txBody>
      </p:sp>
      <p:sp>
        <p:nvSpPr>
          <p:cNvPr id="13" name="Text 11"/>
          <p:cNvSpPr txBox="1"/>
          <p:nvPr/>
        </p:nvSpPr>
        <p:spPr>
          <a:xfrm>
            <a:off x="4572000" y="4663440"/>
            <a:ext cx="3017520" cy="548640"/>
          </a:xfrm>
          <a:prstGeom prst="rect">
            <a:avLst/>
          </a:prstGeom>
          <a:noFill/>
          <a:ln/>
        </p:spPr>
        <p:txBody>
          <a:bodyPr wrap="square" lIns="0" tIns="0" rIns="0" bIns="0" rtlCol="0" anchor="b"/>
          <a:lstStyle/>
          <a:p>
            <a:pPr indent="0" marL="0">
              <a:buNone/>
            </a:pPr>
            <a:r>
              <a:rPr lang="en-US" sz="950" i="1" dirty="0">
                <a:solidFill>
                  <a:srgbClr val="5B6B7F"/>
                </a:solidFill>
                <a:latin typeface="Calibri" pitchFamily="34" charset="0"/>
                <a:ea typeface="Calibri" pitchFamily="34" charset="-122"/>
                <a:cs typeface="Calibri" pitchFamily="34" charset="-120"/>
              </a:rPr>
              <a:t>Uptime Institute, Annual Outage Analysis 2026 [2]</a:t>
            </a:r>
            <a:endParaRPr lang="en-US" sz="950" dirty="0"/>
          </a:p>
        </p:txBody>
      </p:sp>
      <p:sp>
        <p:nvSpPr>
          <p:cNvPr id="14" name="Shape 12"/>
          <p:cNvSpPr/>
          <p:nvPr/>
        </p:nvSpPr>
        <p:spPr>
          <a:xfrm>
            <a:off x="8046720" y="1600200"/>
            <a:ext cx="3520440" cy="379476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5" name="Text 13"/>
          <p:cNvSpPr txBox="1"/>
          <p:nvPr/>
        </p:nvSpPr>
        <p:spPr>
          <a:xfrm>
            <a:off x="8321040" y="1874520"/>
            <a:ext cx="3017520" cy="914400"/>
          </a:xfrm>
          <a:prstGeom prst="rect">
            <a:avLst/>
          </a:prstGeom>
          <a:noFill/>
          <a:ln/>
        </p:spPr>
        <p:txBody>
          <a:bodyPr wrap="square" lIns="0" tIns="0" rIns="0" bIns="0" rtlCol="0" anchor="ctr"/>
          <a:lstStyle/>
          <a:p>
            <a:pPr indent="0" marL="0">
              <a:buNone/>
            </a:pPr>
            <a:r>
              <a:rPr lang="en-US" sz="4200" b="1" dirty="0">
                <a:solidFill>
                  <a:srgbClr val="5E2CFE"/>
                </a:solidFill>
                <a:latin typeface="Calibri" pitchFamily="34" charset="0"/>
                <a:ea typeface="Calibri" pitchFamily="34" charset="-122"/>
                <a:cs typeface="Calibri" pitchFamily="34" charset="-120"/>
              </a:rPr>
              <a:t>$500–650M</a:t>
            </a:r>
            <a:endParaRPr lang="en-US" sz="4200" dirty="0"/>
          </a:p>
        </p:txBody>
      </p:sp>
      <p:sp>
        <p:nvSpPr>
          <p:cNvPr id="16" name="Text 14"/>
          <p:cNvSpPr txBox="1"/>
          <p:nvPr/>
        </p:nvSpPr>
        <p:spPr>
          <a:xfrm>
            <a:off x="8321040" y="2788920"/>
            <a:ext cx="3017520" cy="411480"/>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from one cloud-region outage</a:t>
            </a:r>
            <a:endParaRPr lang="en-US" sz="1600" dirty="0"/>
          </a:p>
        </p:txBody>
      </p:sp>
      <p:sp>
        <p:nvSpPr>
          <p:cNvPr id="17" name="Text 15"/>
          <p:cNvSpPr txBox="1"/>
          <p:nvPr/>
        </p:nvSpPr>
        <p:spPr>
          <a:xfrm>
            <a:off x="8321040" y="3291840"/>
            <a:ext cx="3017520" cy="13258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lost by US companies when AWS us-east-1 failed on 20 October 2025. Even hyperscalers fail; what matters is whether your recovery works.</a:t>
            </a:r>
            <a:endParaRPr lang="en-US" sz="1300" dirty="0"/>
          </a:p>
        </p:txBody>
      </p:sp>
      <p:sp>
        <p:nvSpPr>
          <p:cNvPr id="18" name="Text 16"/>
          <p:cNvSpPr txBox="1"/>
          <p:nvPr/>
        </p:nvSpPr>
        <p:spPr>
          <a:xfrm>
            <a:off x="8321040" y="4663440"/>
            <a:ext cx="3017520" cy="548640"/>
          </a:xfrm>
          <a:prstGeom prst="rect">
            <a:avLst/>
          </a:prstGeom>
          <a:noFill/>
          <a:ln/>
        </p:spPr>
        <p:txBody>
          <a:bodyPr wrap="square" lIns="0" tIns="0" rIns="0" bIns="0" rtlCol="0" anchor="b"/>
          <a:lstStyle/>
          <a:p>
            <a:pPr indent="0" marL="0">
              <a:buNone/>
            </a:pPr>
            <a:r>
              <a:rPr lang="en-US" sz="950" i="1" dirty="0">
                <a:solidFill>
                  <a:srgbClr val="5B6B7F"/>
                </a:solidFill>
                <a:latin typeface="Calibri" pitchFamily="34" charset="0"/>
                <a:ea typeface="Calibri" pitchFamily="34" charset="-122"/>
                <a:cs typeface="Calibri" pitchFamily="34" charset="-120"/>
              </a:rPr>
              <a:t>Parametrix estimate, Oct 2025 [3]</a:t>
            </a:r>
            <a:endParaRPr lang="en-US" sz="950" dirty="0"/>
          </a:p>
        </p:txBody>
      </p:sp>
      <p:sp>
        <p:nvSpPr>
          <p:cNvPr id="19" name="Shape 17"/>
          <p:cNvSpPr/>
          <p:nvPr/>
        </p:nvSpPr>
        <p:spPr>
          <a:xfrm>
            <a:off x="548640" y="5596128"/>
            <a:ext cx="11064240" cy="658368"/>
          </a:xfrm>
          <a:prstGeom prst="roundRect">
            <a:avLst>
              <a:gd name="adj" fmla="val 11111"/>
            </a:avLst>
          </a:prstGeom>
          <a:solidFill>
            <a:srgbClr val="171721"/>
          </a:solidFill>
          <a:ln w="12700">
            <a:solidFill>
              <a:srgbClr val="171721"/>
            </a:solidFill>
            <a:prstDash val="solid"/>
          </a:ln>
        </p:spPr>
      </p:sp>
      <p:sp>
        <p:nvSpPr>
          <p:cNvPr id="20" name="Text 18"/>
          <p:cNvSpPr txBox="1"/>
          <p:nvPr/>
        </p:nvSpPr>
        <p:spPr>
          <a:xfrm>
            <a:off x="777240" y="5596128"/>
            <a:ext cx="10698480" cy="65836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At $15,000 a minute, one hour of downtime costs about $900,000.</a:t>
            </a:r>
            <a:pPr indent="0" marL="0">
              <a:buNone/>
            </a:pPr>
            <a:r>
              <a:rPr lang="en-US" sz="1600" dirty="0">
                <a:solidFill>
                  <a:srgbClr val="C9C3E6"/>
                </a:solidFill>
                <a:latin typeface="Calibri" pitchFamily="34" charset="0"/>
                <a:ea typeface="Calibri" pitchFamily="34" charset="-122"/>
                <a:cs typeface="Calibri" pitchFamily="34" charset="-120"/>
              </a:rPr>
              <a:t>   Recovery that is assumed, not proven, is an unpriced risk.</a:t>
            </a:r>
            <a:endParaRPr lang="en-US" sz="1600" dirty="0"/>
          </a:p>
        </p:txBody>
      </p:sp>
      <p:sp>
        <p:nvSpPr>
          <p:cNvPr id="21" name="Text 19"/>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In India, failing to recover is punished by freezing growth</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Regulators act on outages and weak disaster recovery, not just on breaches.</a:t>
            </a:r>
            <a:endParaRPr lang="en-US" sz="1500" dirty="0"/>
          </a:p>
        </p:txBody>
      </p:sp>
      <p:sp>
        <p:nvSpPr>
          <p:cNvPr id="4" name="Shape 2"/>
          <p:cNvSpPr/>
          <p:nvPr/>
        </p:nvSpPr>
        <p:spPr>
          <a:xfrm>
            <a:off x="548640" y="1600200"/>
            <a:ext cx="3520440" cy="443484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856232"/>
            <a:ext cx="2194560" cy="411480"/>
          </a:xfrm>
          <a:prstGeom prst="rect">
            <a:avLst/>
          </a:prstGeom>
          <a:noFill/>
          <a:ln/>
        </p:spPr>
        <p:txBody>
          <a:bodyPr wrap="square" lIns="0" tIns="0" rIns="0" bIns="0" rtlCol="0" anchor="ctr"/>
          <a:lstStyle/>
          <a:p>
            <a:pPr indent="0" marL="0">
              <a:buNone/>
            </a:pPr>
            <a:r>
              <a:rPr lang="en-US" sz="1900" b="1" dirty="0">
                <a:solidFill>
                  <a:srgbClr val="171721"/>
                </a:solidFill>
                <a:latin typeface="Calibri" pitchFamily="34" charset="0"/>
                <a:ea typeface="Calibri" pitchFamily="34" charset="-122"/>
                <a:cs typeface="Calibri" pitchFamily="34" charset="-120"/>
              </a:rPr>
              <a:t>HDFC Bank</a:t>
            </a:r>
            <a:endParaRPr lang="en-US" sz="1900" dirty="0"/>
          </a:p>
        </p:txBody>
      </p:sp>
      <p:sp>
        <p:nvSpPr>
          <p:cNvPr id="6" name="Text 4"/>
          <p:cNvSpPr txBox="1"/>
          <p:nvPr/>
        </p:nvSpPr>
        <p:spPr>
          <a:xfrm>
            <a:off x="2880360" y="1874520"/>
            <a:ext cx="914400" cy="365760"/>
          </a:xfrm>
          <a:prstGeom prst="rect">
            <a:avLst/>
          </a:prstGeom>
          <a:noFill/>
          <a:ln/>
        </p:spPr>
        <p:txBody>
          <a:bodyPr wrap="square" lIns="0" tIns="0" rIns="0" bIns="0" rtlCol="0" anchor="ctr"/>
          <a:lstStyle/>
          <a:p>
            <a:pPr algn="r" indent="0" marL="0">
              <a:buNone/>
            </a:pPr>
            <a:r>
              <a:rPr lang="en-US" sz="1200" b="1" dirty="0">
                <a:solidFill>
                  <a:srgbClr val="5E2CFE"/>
                </a:solidFill>
                <a:latin typeface="Calibri" pitchFamily="34" charset="0"/>
                <a:ea typeface="Calibri" pitchFamily="34" charset="-122"/>
                <a:cs typeface="Calibri" pitchFamily="34" charset="-120"/>
              </a:rPr>
              <a:t>Dec 2020</a:t>
            </a:r>
            <a:endParaRPr lang="en-US" sz="1200" dirty="0"/>
          </a:p>
        </p:txBody>
      </p:sp>
      <p:sp>
        <p:nvSpPr>
          <p:cNvPr id="7" name="Text 5"/>
          <p:cNvSpPr txBox="1"/>
          <p:nvPr/>
        </p:nvSpPr>
        <p:spPr>
          <a:xfrm>
            <a:off x="822960" y="2377440"/>
            <a:ext cx="3017520" cy="17830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After repeated outages, the latest caused by a power failure at a primary data centre, the RBI stopped all new digital launches and new credit-card sourcing.</a:t>
            </a:r>
            <a:endParaRPr lang="en-US" sz="1300" dirty="0"/>
          </a:p>
        </p:txBody>
      </p:sp>
      <p:sp>
        <p:nvSpPr>
          <p:cNvPr id="8" name="Shape 6"/>
          <p:cNvSpPr/>
          <p:nvPr/>
        </p:nvSpPr>
        <p:spPr>
          <a:xfrm>
            <a:off x="822960" y="4297680"/>
            <a:ext cx="2971800" cy="0"/>
          </a:xfrm>
          <a:prstGeom prst="line">
            <a:avLst/>
          </a:prstGeom>
          <a:noFill/>
          <a:ln w="12700">
            <a:solidFill>
              <a:srgbClr val="C9D3DE"/>
            </a:solidFill>
            <a:prstDash val="solid"/>
          </a:ln>
        </p:spPr>
      </p:sp>
      <p:sp>
        <p:nvSpPr>
          <p:cNvPr id="9" name="Text 7"/>
          <p:cNvSpPr txBox="1"/>
          <p:nvPr/>
        </p:nvSpPr>
        <p:spPr>
          <a:xfrm>
            <a:off x="822960" y="4434840"/>
            <a:ext cx="3017520" cy="731520"/>
          </a:xfrm>
          <a:prstGeom prst="rect">
            <a:avLst/>
          </a:prstGeom>
          <a:noFill/>
          <a:ln/>
        </p:spPr>
        <p:txBody>
          <a:bodyPr wrap="square" lIns="0" tIns="0" rIns="0" bIns="0" rtlCol="0" anchor="ctr"/>
          <a:lstStyle/>
          <a:p>
            <a:pPr indent="0" marL="0">
              <a:buNone/>
            </a:pPr>
            <a:r>
              <a:rPr lang="en-US" sz="3400" b="1" dirty="0">
                <a:solidFill>
                  <a:srgbClr val="D64545"/>
                </a:solidFill>
                <a:latin typeface="Calibri" pitchFamily="34" charset="0"/>
                <a:ea typeface="Calibri" pitchFamily="34" charset="-122"/>
                <a:cs typeface="Calibri" pitchFamily="34" charset="-120"/>
              </a:rPr>
              <a:t>≈15 months</a:t>
            </a:r>
            <a:endParaRPr lang="en-US" sz="3400" dirty="0"/>
          </a:p>
        </p:txBody>
      </p:sp>
      <p:sp>
        <p:nvSpPr>
          <p:cNvPr id="10" name="Text 8"/>
          <p:cNvSpPr txBox="1"/>
          <p:nvPr/>
        </p:nvSpPr>
        <p:spPr>
          <a:xfrm>
            <a:off x="822960" y="5166360"/>
            <a:ext cx="3017520" cy="5486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until digital launches were allowed again (Mar 2022); cards resumed Aug 2021</a:t>
            </a:r>
            <a:endParaRPr lang="en-US" sz="1200" dirty="0"/>
          </a:p>
        </p:txBody>
      </p:sp>
      <p:sp>
        <p:nvSpPr>
          <p:cNvPr id="11" name="Text 9"/>
          <p:cNvSpPr txBox="1"/>
          <p:nvPr/>
        </p:nvSpPr>
        <p:spPr>
          <a:xfrm>
            <a:off x="3383280" y="5669280"/>
            <a:ext cx="457200" cy="274320"/>
          </a:xfrm>
          <a:prstGeom prst="rect">
            <a:avLst/>
          </a:prstGeom>
          <a:noFill/>
          <a:ln/>
        </p:spPr>
        <p:txBody>
          <a:bodyPr wrap="square" lIns="0" tIns="0" rIns="0" bIns="0" rtlCol="0" anchor="ctr"/>
          <a:lstStyle/>
          <a:p>
            <a:pPr algn="r" indent="0" marL="0">
              <a:buNone/>
            </a:pPr>
            <a:r>
              <a:rPr lang="en-US" sz="950" dirty="0">
                <a:solidFill>
                  <a:srgbClr val="5B6B7F"/>
                </a:solidFill>
                <a:latin typeface="Calibri" pitchFamily="34" charset="0"/>
                <a:ea typeface="Calibri" pitchFamily="34" charset="-122"/>
                <a:cs typeface="Calibri" pitchFamily="34" charset="-120"/>
              </a:rPr>
              <a:t>[4]</a:t>
            </a:r>
            <a:endParaRPr lang="en-US" sz="950" dirty="0"/>
          </a:p>
        </p:txBody>
      </p:sp>
      <p:sp>
        <p:nvSpPr>
          <p:cNvPr id="12" name="Shape 10"/>
          <p:cNvSpPr/>
          <p:nvPr/>
        </p:nvSpPr>
        <p:spPr>
          <a:xfrm>
            <a:off x="4297680" y="1600200"/>
            <a:ext cx="3520440" cy="443484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4572000" y="1856232"/>
            <a:ext cx="2194560" cy="411480"/>
          </a:xfrm>
          <a:prstGeom prst="rect">
            <a:avLst/>
          </a:prstGeom>
          <a:noFill/>
          <a:ln/>
        </p:spPr>
        <p:txBody>
          <a:bodyPr wrap="square" lIns="0" tIns="0" rIns="0" bIns="0" rtlCol="0" anchor="ctr"/>
          <a:lstStyle/>
          <a:p>
            <a:pPr indent="0" marL="0">
              <a:buNone/>
            </a:pPr>
            <a:r>
              <a:rPr lang="en-US" sz="1900" b="1" dirty="0">
                <a:solidFill>
                  <a:srgbClr val="171721"/>
                </a:solidFill>
                <a:latin typeface="Calibri" pitchFamily="34" charset="0"/>
                <a:ea typeface="Calibri" pitchFamily="34" charset="-122"/>
                <a:cs typeface="Calibri" pitchFamily="34" charset="-120"/>
              </a:rPr>
              <a:t>NSE</a:t>
            </a:r>
            <a:endParaRPr lang="en-US" sz="1900" dirty="0"/>
          </a:p>
        </p:txBody>
      </p:sp>
      <p:sp>
        <p:nvSpPr>
          <p:cNvPr id="14" name="Text 12"/>
          <p:cNvSpPr txBox="1"/>
          <p:nvPr/>
        </p:nvSpPr>
        <p:spPr>
          <a:xfrm>
            <a:off x="6629400" y="1874520"/>
            <a:ext cx="914400" cy="365760"/>
          </a:xfrm>
          <a:prstGeom prst="rect">
            <a:avLst/>
          </a:prstGeom>
          <a:noFill/>
          <a:ln/>
        </p:spPr>
        <p:txBody>
          <a:bodyPr wrap="square" lIns="0" tIns="0" rIns="0" bIns="0" rtlCol="0" anchor="ctr"/>
          <a:lstStyle/>
          <a:p>
            <a:pPr algn="r" indent="0" marL="0">
              <a:buNone/>
            </a:pPr>
            <a:r>
              <a:rPr lang="en-US" sz="1200" b="1" dirty="0">
                <a:solidFill>
                  <a:srgbClr val="5E2CFE"/>
                </a:solidFill>
                <a:latin typeface="Calibri" pitchFamily="34" charset="0"/>
                <a:ea typeface="Calibri" pitchFamily="34" charset="-122"/>
                <a:cs typeface="Calibri" pitchFamily="34" charset="-120"/>
              </a:rPr>
              <a:t>Feb 2021</a:t>
            </a:r>
            <a:endParaRPr lang="en-US" sz="1200" dirty="0"/>
          </a:p>
        </p:txBody>
      </p:sp>
      <p:sp>
        <p:nvSpPr>
          <p:cNvPr id="15" name="Text 13"/>
          <p:cNvSpPr txBox="1"/>
          <p:nvPr/>
        </p:nvSpPr>
        <p:spPr>
          <a:xfrm>
            <a:off x="4572000" y="2377440"/>
            <a:ext cx="3017520" cy="17830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Trading was halted for nearly four hours on 24 February 2021. NSE and NSE Clearing settled with SEBI; executives were ordered to do community service and training.</a:t>
            </a:r>
            <a:endParaRPr lang="en-US" sz="1300" dirty="0"/>
          </a:p>
        </p:txBody>
      </p:sp>
      <p:sp>
        <p:nvSpPr>
          <p:cNvPr id="16" name="Shape 14"/>
          <p:cNvSpPr/>
          <p:nvPr/>
        </p:nvSpPr>
        <p:spPr>
          <a:xfrm>
            <a:off x="4572000" y="4297680"/>
            <a:ext cx="2971800" cy="0"/>
          </a:xfrm>
          <a:prstGeom prst="line">
            <a:avLst/>
          </a:prstGeom>
          <a:noFill/>
          <a:ln w="12700">
            <a:solidFill>
              <a:srgbClr val="C9D3DE"/>
            </a:solidFill>
            <a:prstDash val="solid"/>
          </a:ln>
        </p:spPr>
      </p:sp>
      <p:sp>
        <p:nvSpPr>
          <p:cNvPr id="17" name="Text 15"/>
          <p:cNvSpPr txBox="1"/>
          <p:nvPr/>
        </p:nvSpPr>
        <p:spPr>
          <a:xfrm>
            <a:off x="4572000" y="4434840"/>
            <a:ext cx="3017520" cy="731520"/>
          </a:xfrm>
          <a:prstGeom prst="rect">
            <a:avLst/>
          </a:prstGeom>
          <a:noFill/>
          <a:ln/>
        </p:spPr>
        <p:txBody>
          <a:bodyPr wrap="square" lIns="0" tIns="0" rIns="0" bIns="0" rtlCol="0" anchor="ctr"/>
          <a:lstStyle/>
          <a:p>
            <a:pPr indent="0" marL="0">
              <a:buNone/>
            </a:pPr>
            <a:r>
              <a:rPr lang="en-US" sz="3400" b="1" dirty="0">
                <a:solidFill>
                  <a:srgbClr val="D64545"/>
                </a:solidFill>
                <a:latin typeface="Calibri" pitchFamily="34" charset="0"/>
                <a:ea typeface="Calibri" pitchFamily="34" charset="-122"/>
                <a:cs typeface="Calibri" pitchFamily="34" charset="-120"/>
              </a:rPr>
              <a:t>≈ $8.8M</a:t>
            </a:r>
            <a:endParaRPr lang="en-US" sz="3400" dirty="0"/>
          </a:p>
        </p:txBody>
      </p:sp>
      <p:sp>
        <p:nvSpPr>
          <p:cNvPr id="18" name="Text 16"/>
          <p:cNvSpPr txBox="1"/>
          <p:nvPr/>
        </p:nvSpPr>
        <p:spPr>
          <a:xfrm>
            <a:off x="4572000" y="5166360"/>
            <a:ext cx="3017520" cy="5486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paid by NSE and NSE Clearing to settle with SEBI (2023)</a:t>
            </a:r>
            <a:endParaRPr lang="en-US" sz="1200" dirty="0"/>
          </a:p>
        </p:txBody>
      </p:sp>
      <p:sp>
        <p:nvSpPr>
          <p:cNvPr id="19" name="Text 17"/>
          <p:cNvSpPr txBox="1"/>
          <p:nvPr/>
        </p:nvSpPr>
        <p:spPr>
          <a:xfrm>
            <a:off x="7132320" y="5669280"/>
            <a:ext cx="457200" cy="274320"/>
          </a:xfrm>
          <a:prstGeom prst="rect">
            <a:avLst/>
          </a:prstGeom>
          <a:noFill/>
          <a:ln/>
        </p:spPr>
        <p:txBody>
          <a:bodyPr wrap="square" lIns="0" tIns="0" rIns="0" bIns="0" rtlCol="0" anchor="ctr"/>
          <a:lstStyle/>
          <a:p>
            <a:pPr algn="r" indent="0" marL="0">
              <a:buNone/>
            </a:pPr>
            <a:r>
              <a:rPr lang="en-US" sz="950" dirty="0">
                <a:solidFill>
                  <a:srgbClr val="5B6B7F"/>
                </a:solidFill>
                <a:latin typeface="Calibri" pitchFamily="34" charset="0"/>
                <a:ea typeface="Calibri" pitchFamily="34" charset="-122"/>
                <a:cs typeface="Calibri" pitchFamily="34" charset="-120"/>
              </a:rPr>
              <a:t>[5]</a:t>
            </a:r>
            <a:endParaRPr lang="en-US" sz="950" dirty="0"/>
          </a:p>
        </p:txBody>
      </p:sp>
      <p:sp>
        <p:nvSpPr>
          <p:cNvPr id="20" name="Shape 18"/>
          <p:cNvSpPr/>
          <p:nvPr/>
        </p:nvSpPr>
        <p:spPr>
          <a:xfrm>
            <a:off x="8046720" y="1600200"/>
            <a:ext cx="3520440" cy="443484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21" name="Text 19"/>
          <p:cNvSpPr txBox="1"/>
          <p:nvPr/>
        </p:nvSpPr>
        <p:spPr>
          <a:xfrm>
            <a:off x="8321040" y="1856232"/>
            <a:ext cx="2194560" cy="411480"/>
          </a:xfrm>
          <a:prstGeom prst="rect">
            <a:avLst/>
          </a:prstGeom>
          <a:noFill/>
          <a:ln/>
        </p:spPr>
        <p:txBody>
          <a:bodyPr wrap="square" lIns="0" tIns="0" rIns="0" bIns="0" rtlCol="0" anchor="ctr"/>
          <a:lstStyle/>
          <a:p>
            <a:pPr indent="0" marL="0">
              <a:buNone/>
            </a:pPr>
            <a:r>
              <a:rPr lang="en-US" sz="1900" b="1" dirty="0">
                <a:solidFill>
                  <a:srgbClr val="171721"/>
                </a:solidFill>
                <a:latin typeface="Calibri" pitchFamily="34" charset="0"/>
                <a:ea typeface="Calibri" pitchFamily="34" charset="-122"/>
                <a:cs typeface="Calibri" pitchFamily="34" charset="-120"/>
              </a:rPr>
              <a:t>Kotak Mahindra Bank</a:t>
            </a:r>
            <a:endParaRPr lang="en-US" sz="1900" dirty="0"/>
          </a:p>
        </p:txBody>
      </p:sp>
      <p:sp>
        <p:nvSpPr>
          <p:cNvPr id="22" name="Text 20"/>
          <p:cNvSpPr txBox="1"/>
          <p:nvPr/>
        </p:nvSpPr>
        <p:spPr>
          <a:xfrm>
            <a:off x="10378440" y="1874520"/>
            <a:ext cx="914400" cy="365760"/>
          </a:xfrm>
          <a:prstGeom prst="rect">
            <a:avLst/>
          </a:prstGeom>
          <a:noFill/>
          <a:ln/>
        </p:spPr>
        <p:txBody>
          <a:bodyPr wrap="square" lIns="0" tIns="0" rIns="0" bIns="0" rtlCol="0" anchor="ctr"/>
          <a:lstStyle/>
          <a:p>
            <a:pPr algn="r" indent="0" marL="0">
              <a:buNone/>
            </a:pPr>
            <a:r>
              <a:rPr lang="en-US" sz="1200" b="1" dirty="0">
                <a:solidFill>
                  <a:srgbClr val="5E2CFE"/>
                </a:solidFill>
                <a:latin typeface="Calibri" pitchFamily="34" charset="0"/>
                <a:ea typeface="Calibri" pitchFamily="34" charset="-122"/>
                <a:cs typeface="Calibri" pitchFamily="34" charset="-120"/>
              </a:rPr>
              <a:t>Apr 2024</a:t>
            </a:r>
            <a:endParaRPr lang="en-US" sz="1200" dirty="0"/>
          </a:p>
        </p:txBody>
      </p:sp>
      <p:sp>
        <p:nvSpPr>
          <p:cNvPr id="23" name="Text 21"/>
          <p:cNvSpPr txBox="1"/>
          <p:nvPr/>
        </p:nvSpPr>
        <p:spPr>
          <a:xfrm>
            <a:off x="8321040" y="2377440"/>
            <a:ext cx="3017520" cy="17830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The RBI cited deficiencies including business continuity and disaster recovery, and frequent outages, and barred online customer onboarding and new credit cards.</a:t>
            </a:r>
            <a:endParaRPr lang="en-US" sz="1300" dirty="0"/>
          </a:p>
        </p:txBody>
      </p:sp>
      <p:sp>
        <p:nvSpPr>
          <p:cNvPr id="24" name="Shape 22"/>
          <p:cNvSpPr/>
          <p:nvPr/>
        </p:nvSpPr>
        <p:spPr>
          <a:xfrm>
            <a:off x="8321040" y="4297680"/>
            <a:ext cx="2971800" cy="0"/>
          </a:xfrm>
          <a:prstGeom prst="line">
            <a:avLst/>
          </a:prstGeom>
          <a:noFill/>
          <a:ln w="12700">
            <a:solidFill>
              <a:srgbClr val="C9D3DE"/>
            </a:solidFill>
            <a:prstDash val="solid"/>
          </a:ln>
        </p:spPr>
      </p:sp>
      <p:sp>
        <p:nvSpPr>
          <p:cNvPr id="25" name="Text 23"/>
          <p:cNvSpPr txBox="1"/>
          <p:nvPr/>
        </p:nvSpPr>
        <p:spPr>
          <a:xfrm>
            <a:off x="8321040" y="4434840"/>
            <a:ext cx="3017520" cy="731520"/>
          </a:xfrm>
          <a:prstGeom prst="rect">
            <a:avLst/>
          </a:prstGeom>
          <a:noFill/>
          <a:ln/>
        </p:spPr>
        <p:txBody>
          <a:bodyPr wrap="square" lIns="0" tIns="0" rIns="0" bIns="0" rtlCol="0" anchor="ctr"/>
          <a:lstStyle/>
          <a:p>
            <a:pPr indent="0" marL="0">
              <a:buNone/>
            </a:pPr>
            <a:r>
              <a:rPr lang="en-US" sz="3400" b="1" dirty="0">
                <a:solidFill>
                  <a:srgbClr val="D64545"/>
                </a:solidFill>
                <a:latin typeface="Calibri" pitchFamily="34" charset="0"/>
                <a:ea typeface="Calibri" pitchFamily="34" charset="-122"/>
                <a:cs typeface="Calibri" pitchFamily="34" charset="-120"/>
              </a:rPr>
              <a:t>≈10 months</a:t>
            </a:r>
            <a:endParaRPr lang="en-US" sz="3400" dirty="0"/>
          </a:p>
        </p:txBody>
      </p:sp>
      <p:sp>
        <p:nvSpPr>
          <p:cNvPr id="26" name="Text 24"/>
          <p:cNvSpPr txBox="1"/>
          <p:nvPr/>
        </p:nvSpPr>
        <p:spPr>
          <a:xfrm>
            <a:off x="8321040" y="5166360"/>
            <a:ext cx="3017520" cy="5486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until the restrictions were lifted (Feb 2025)</a:t>
            </a:r>
            <a:endParaRPr lang="en-US" sz="1200" dirty="0"/>
          </a:p>
        </p:txBody>
      </p:sp>
      <p:sp>
        <p:nvSpPr>
          <p:cNvPr id="27" name="Text 25"/>
          <p:cNvSpPr txBox="1"/>
          <p:nvPr/>
        </p:nvSpPr>
        <p:spPr>
          <a:xfrm>
            <a:off x="10881360" y="5669280"/>
            <a:ext cx="457200" cy="274320"/>
          </a:xfrm>
          <a:prstGeom prst="rect">
            <a:avLst/>
          </a:prstGeom>
          <a:noFill/>
          <a:ln/>
        </p:spPr>
        <p:txBody>
          <a:bodyPr wrap="square" lIns="0" tIns="0" rIns="0" bIns="0" rtlCol="0" anchor="ctr"/>
          <a:lstStyle/>
          <a:p>
            <a:pPr algn="r" indent="0" marL="0">
              <a:buNone/>
            </a:pPr>
            <a:r>
              <a:rPr lang="en-US" sz="950" dirty="0">
                <a:solidFill>
                  <a:srgbClr val="5B6B7F"/>
                </a:solidFill>
                <a:latin typeface="Calibri" pitchFamily="34" charset="0"/>
                <a:ea typeface="Calibri" pitchFamily="34" charset="-122"/>
                <a:cs typeface="Calibri" pitchFamily="34" charset="-120"/>
              </a:rPr>
              <a:t>[6]</a:t>
            </a:r>
            <a:endParaRPr lang="en-US" sz="950" dirty="0"/>
          </a:p>
        </p:txBody>
      </p:sp>
      <p:sp>
        <p:nvSpPr>
          <p:cNvPr id="28" name="Text 26"/>
          <p:cNvSpPr txBox="1"/>
          <p:nvPr/>
        </p:nvSpPr>
        <p:spPr>
          <a:xfrm>
            <a:off x="548640" y="6144768"/>
            <a:ext cx="1106424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For a bank, a 10–15 month ban on new digital customers costs far more than any fine.</a:t>
            </a:r>
            <a:endParaRPr lang="en-US" sz="1400" dirty="0"/>
          </a:p>
        </p:txBody>
      </p:sp>
      <p:sp>
        <p:nvSpPr>
          <p:cNvPr id="29" name="Text 27"/>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Regulators now require proof of recovery, on a schedule</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Having a DR plan is not enough. It must be tested, the gaps fixed, and the test repeated.</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743200"/>
                <a:gridCol w="5029200"/>
                <a:gridCol w="329184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Regulator</a:t>
                      </a:r>
                      <a:endParaRPr lang="en-US" sz="1300" dirty="0">
                        <a:latin typeface="Calibri" charset="0"/>
                        <a:ea typeface="Calibri" charset="0"/>
                        <a:cs typeface="Calibri" charset="0"/>
                      </a:endParaRPr>
                    </a:p>
                  </a:txBody>
                  <a:tcPr marL="101600" marR="101600" marT="76200" marB="76200">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it requires</a:t>
                      </a:r>
                      <a:endParaRPr lang="en-US" sz="1300" dirty="0">
                        <a:latin typeface="Calibri" charset="0"/>
                        <a:ea typeface="Calibri" charset="0"/>
                        <a:cs typeface="Calibri" charset="0"/>
                      </a:endParaRPr>
                    </a:p>
                  </a:txBody>
                  <a:tcPr marL="101600" marR="101600" marT="76200" marB="76200">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If you fall short</a:t>
                      </a:r>
                      <a:endParaRPr lang="en-US" sz="1300" dirty="0">
                        <a:latin typeface="Calibri" charset="0"/>
                        <a:ea typeface="Calibri" charset="0"/>
                        <a:cs typeface="Calibri" charset="0"/>
                      </a:endParaRPr>
                    </a:p>
                  </a:txBody>
                  <a:tcPr marL="101600" marR="101600" marT="76200" marB="76200">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solidFill>
                      <a:srgbClr val="171721"/>
                    </a:solidFill>
                  </a:tcPr>
                </a:tc>
              </a:tr>
              <a:tr h="1097280">
                <a:tc>
                  <a:txBody>
                    <a:bodyPr/>
                    <a:lstStyle/>
                    <a:p>
                      <a:pPr indent="0" marL="0">
                        <a:buNone/>
                      </a:pPr>
                      <a:r>
                        <a:rPr lang="en-US" sz="1200" b="1" dirty="0">
                          <a:solidFill>
                            <a:srgbClr val="1B2635"/>
                          </a:solidFill>
                          <a:latin typeface="Calibri" pitchFamily="34" charset="0"/>
                          <a:ea typeface="Calibri" pitchFamily="34" charset="-122"/>
                          <a:cs typeface="Calibri" pitchFamily="34" charset="-120"/>
                        </a:rPr>
                        <a:t>RBI</a:t>
                      </a:r>
                      <a:endParaRPr lang="en-US" sz="1200" dirty="0">
                        <a:latin typeface="Calibri" charset="0"/>
                        <a:ea typeface="Calibri" charset="0"/>
                        <a:cs typeface="Calibri" charset="0"/>
                      </a:endParaRPr>
                    </a:p>
                    <a:p>
                      <a:pPr indent="0" marL="0">
                        <a:buNone/>
                      </a:pPr>
                      <a:r>
                        <a:rPr lang="en-US" sz="1200" b="1" dirty="0">
                          <a:solidFill>
                            <a:srgbClr val="1B2635"/>
                          </a:solidFill>
                          <a:latin typeface="Calibri" pitchFamily="34" charset="0"/>
                          <a:ea typeface="Calibri" pitchFamily="34" charset="-122"/>
                          <a:cs typeface="Calibri" pitchFamily="34" charset="-120"/>
                        </a:rPr>
                        <a:t>Cybersecurity, Technology: Risk, Resilience and Assurance Framework Directions, 31 Jul 2026</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DR drills for critical information systems at least half-yearly. Any major issue found must be fixed and re-tested successfully before the next cycle. [7]</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Supervisory restrictions on business, as with HDFC Bank and Kotak Mahindra Bank. [4][6]</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r>
              <a:tr h="1234440">
                <a:tc>
                  <a:txBody>
                    <a:bodyPr/>
                    <a:lstStyle/>
                    <a:p>
                      <a:pPr indent="0" marL="0">
                        <a:buNone/>
                      </a:pPr>
                      <a:r>
                        <a:rPr lang="en-US" sz="1200" b="1" dirty="0">
                          <a:solidFill>
                            <a:srgbClr val="1B2635"/>
                          </a:solidFill>
                          <a:latin typeface="Calibri" pitchFamily="34" charset="0"/>
                          <a:ea typeface="Calibri" pitchFamily="34" charset="-122"/>
                          <a:cs typeface="Calibri" pitchFamily="34" charset="-120"/>
                        </a:rPr>
                        <a:t>SEBI</a:t>
                      </a:r>
                      <a:endParaRPr lang="en-US" sz="1200" dirty="0">
                        <a:latin typeface="Calibri" charset="0"/>
                        <a:ea typeface="Calibri" charset="0"/>
                        <a:cs typeface="Calibri" charset="0"/>
                      </a:endParaRPr>
                    </a:p>
                    <a:p>
                      <a:pPr indent="0" marL="0">
                        <a:buNone/>
                      </a:pPr>
                      <a:r>
                        <a:rPr lang="en-US" sz="1200" b="1" dirty="0">
                          <a:solidFill>
                            <a:srgbClr val="1B2635"/>
                          </a:solidFill>
                          <a:latin typeface="Calibri" pitchFamily="34" charset="0"/>
                          <a:ea typeface="Calibri" pitchFamily="34" charset="-122"/>
                          <a:cs typeface="Calibri" pitchFamily="34" charset="-120"/>
                        </a:rPr>
                        <a:t>Cybersecurity &amp; Cyber Resilience Framework</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Resume critical operations within 2 hours (RTO) with a 15-minute RPO. Market infrastructure: run from the DR site within 45 minutes of declaring a disaster, drills every quarter, unannounced live trading from the DR site every six months. [8][9]</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Enforcement and settlements, as with NSE: about $8.8M. [5]</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r>
              <a:tr h="1143000">
                <a:tc>
                  <a:txBody>
                    <a:bodyPr/>
                    <a:lstStyle/>
                    <a:p>
                      <a:pPr indent="0" marL="0">
                        <a:buNone/>
                      </a:pPr>
                      <a:r>
                        <a:rPr lang="en-US" sz="1200" b="1" dirty="0">
                          <a:solidFill>
                            <a:srgbClr val="1B2635"/>
                          </a:solidFill>
                          <a:latin typeface="Calibri" pitchFamily="34" charset="0"/>
                          <a:ea typeface="Calibri" pitchFamily="34" charset="-122"/>
                          <a:cs typeface="Calibri" pitchFamily="34" charset="-120"/>
                        </a:rPr>
                        <a:t>EU DORA</a:t>
                      </a:r>
                      <a:endParaRPr lang="en-US" sz="1200" dirty="0">
                        <a:latin typeface="Calibri" charset="0"/>
                        <a:ea typeface="Calibri" charset="0"/>
                        <a:cs typeface="Calibri" charset="0"/>
                      </a:endParaRPr>
                    </a:p>
                    <a:p>
                      <a:pPr indent="0" marL="0">
                        <a:buNone/>
                      </a:pPr>
                      <a:r>
                        <a:rPr lang="en-US" sz="1200" b="1" dirty="0">
                          <a:solidFill>
                            <a:srgbClr val="1B2635"/>
                          </a:solidFill>
                          <a:latin typeface="Calibri" pitchFamily="34" charset="0"/>
                          <a:ea typeface="Calibri" pitchFamily="34" charset="-122"/>
                          <a:cs typeface="Calibri" pitchFamily="34" charset="-120"/>
                        </a:rPr>
                        <a:t>Regulation (EU) 2022/2554, applies from 17 Jan 2025</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Test ICT business continuity and response and recovery plans at least yearly and after major changes (Art. 11(6)); test backup restoration periodically (Art. 12). [10]</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Penalties set by each EU state (Art. 50). Critical ICT providers: up to 1% of average daily worldwide turnover, every day, for up to six months (Art. 35). [10]</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r>
            </a:tbl>
          </a:graphicData>
        </a:graphic>
      </p:graphicFrame>
      <p:sp>
        <p:nvSpPr>
          <p:cNvPr id="5" name="Shape 2"/>
          <p:cNvSpPr/>
          <p:nvPr/>
        </p:nvSpPr>
        <p:spPr>
          <a:xfrm>
            <a:off x="548640" y="5532120"/>
            <a:ext cx="11064240" cy="731520"/>
          </a:xfrm>
          <a:prstGeom prst="roundRect">
            <a:avLst>
              <a:gd name="adj" fmla="val 10000"/>
            </a:avLst>
          </a:prstGeom>
          <a:solidFill>
            <a:srgbClr val="EFE9FF"/>
          </a:solidFill>
          <a:ln w="12700">
            <a:solidFill>
              <a:srgbClr val="EFE9FF"/>
            </a:solidFill>
            <a:prstDash val="solid"/>
          </a:ln>
        </p:spPr>
      </p:sp>
      <p:sp>
        <p:nvSpPr>
          <p:cNvPr id="6" name="Text 3"/>
          <p:cNvSpPr txBox="1"/>
          <p:nvPr/>
        </p:nvSpPr>
        <p:spPr>
          <a:xfrm>
            <a:off x="777240" y="5532120"/>
            <a:ext cx="10698480" cy="73152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Our demo uses the same yardstick:  </a:t>
            </a:r>
            <a:pPr indent="0" marL="0">
              <a:buNone/>
            </a:pPr>
            <a:r>
              <a:rPr lang="en-US" sz="1400" dirty="0">
                <a:solidFill>
                  <a:srgbClr val="1B2635"/>
                </a:solidFill>
                <a:latin typeface="Calibri" pitchFamily="34" charset="0"/>
                <a:ea typeface="Calibri" pitchFamily="34" charset="-122"/>
                <a:cs typeface="Calibri" pitchFamily="34" charset="-120"/>
              </a:rPr>
              <a:t>target RTO 30 min and RPO 15 min, stricter than SEBI's 2 hours, and every drill produces timestamped, audit-ready evidence.</a:t>
            </a:r>
            <a:endParaRPr lang="en-US" sz="1400" dirty="0"/>
          </a:p>
        </p:txBody>
      </p:sp>
      <p:sp>
        <p:nvSpPr>
          <p:cNvPr id="7" name="Text 4"/>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Yet most organisations cannot prove their recovery works today</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Plans exist on paper. Tests are rare, manual and partial, so the gaps surface during the real disaster.</a:t>
            </a:r>
            <a:endParaRPr lang="en-US" sz="1500" dirty="0"/>
          </a:p>
        </p:txBody>
      </p:sp>
      <p:sp>
        <p:nvSpPr>
          <p:cNvPr id="4" name="Shape 2"/>
          <p:cNvSpPr/>
          <p:nvPr/>
        </p:nvSpPr>
        <p:spPr>
          <a:xfrm>
            <a:off x="548640" y="1600200"/>
            <a:ext cx="5669280" cy="1280160"/>
          </a:xfrm>
          <a:prstGeom prst="roundRect">
            <a:avLst>
              <a:gd name="adj" fmla="val 571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783080"/>
            <a:ext cx="1828800" cy="914400"/>
          </a:xfrm>
          <a:prstGeom prst="rect">
            <a:avLst/>
          </a:prstGeom>
          <a:noFill/>
          <a:ln/>
        </p:spPr>
        <p:txBody>
          <a:bodyPr wrap="square" lIns="0" tIns="0" rIns="0" bIns="0" rtlCol="0" anchor="ctr"/>
          <a:lstStyle/>
          <a:p>
            <a:pPr indent="0" marL="0">
              <a:buNone/>
            </a:pPr>
            <a:r>
              <a:rPr lang="en-US" sz="3800" b="1" dirty="0">
                <a:solidFill>
                  <a:srgbClr val="5E2CFE"/>
                </a:solidFill>
                <a:latin typeface="Calibri" pitchFamily="34" charset="0"/>
                <a:ea typeface="Calibri" pitchFamily="34" charset="-122"/>
                <a:cs typeface="Calibri" pitchFamily="34" charset="-120"/>
              </a:rPr>
              <a:t>&lt; 1 in 3</a:t>
            </a:r>
            <a:endParaRPr lang="en-US" sz="3800" dirty="0"/>
          </a:p>
        </p:txBody>
      </p:sp>
      <p:sp>
        <p:nvSpPr>
          <p:cNvPr id="6" name="Text 4"/>
          <p:cNvSpPr txBox="1"/>
          <p:nvPr/>
        </p:nvSpPr>
        <p:spPr>
          <a:xfrm>
            <a:off x="2651760" y="1764792"/>
            <a:ext cx="3383280" cy="685800"/>
          </a:xfrm>
          <a:prstGeom prst="rect">
            <a:avLst/>
          </a:prstGeom>
          <a:noFill/>
          <a:ln/>
        </p:spPr>
        <p:txBody>
          <a:bodyPr wrap="square" lIns="0" tIns="0" rIns="0" bIns="0" rtlCol="0" anchor="t"/>
          <a:lstStyle/>
          <a:p>
            <a:pPr indent="0" marL="0">
              <a:buNone/>
            </a:pPr>
            <a:r>
              <a:rPr lang="en-US" sz="1350" dirty="0">
                <a:solidFill>
                  <a:srgbClr val="1B2635"/>
                </a:solidFill>
                <a:latin typeface="Calibri" pitchFamily="34" charset="0"/>
                <a:ea typeface="Calibri" pitchFamily="34" charset="-122"/>
                <a:cs typeface="Calibri" pitchFamily="34" charset="-120"/>
              </a:rPr>
              <a:t>organisations perform regular failover testing</a:t>
            </a:r>
            <a:endParaRPr lang="en-US" sz="1350" dirty="0"/>
          </a:p>
        </p:txBody>
      </p:sp>
      <p:sp>
        <p:nvSpPr>
          <p:cNvPr id="7" name="Text 5"/>
          <p:cNvSpPr txBox="1"/>
          <p:nvPr/>
        </p:nvSpPr>
        <p:spPr>
          <a:xfrm>
            <a:off x="2651760" y="2468880"/>
            <a:ext cx="3383280" cy="320040"/>
          </a:xfrm>
          <a:prstGeom prst="rect">
            <a:avLst/>
          </a:prstGeom>
          <a:noFill/>
          <a:ln/>
        </p:spPr>
        <p:txBody>
          <a:bodyPr wrap="square" lIns="0" tIns="0" rIns="0" bIns="0" rtlCol="0" anchor="ctr"/>
          <a:lstStyle/>
          <a:p>
            <a:pPr indent="0" marL="0">
              <a:buNone/>
            </a:pPr>
            <a:r>
              <a:rPr lang="en-US" sz="950" i="1" dirty="0">
                <a:solidFill>
                  <a:srgbClr val="5B6B7F"/>
                </a:solidFill>
                <a:latin typeface="Calibri" pitchFamily="34" charset="0"/>
                <a:ea typeface="Calibri" pitchFamily="34" charset="-122"/>
                <a:cs typeface="Calibri" pitchFamily="34" charset="-120"/>
              </a:rPr>
              <a:t>Cockroach Labs, State of Resilience 2025 (1,000 executives, 2024 survey) [11]</a:t>
            </a:r>
            <a:endParaRPr lang="en-US" sz="950" dirty="0"/>
          </a:p>
        </p:txBody>
      </p:sp>
      <p:sp>
        <p:nvSpPr>
          <p:cNvPr id="8" name="Shape 6"/>
          <p:cNvSpPr/>
          <p:nvPr/>
        </p:nvSpPr>
        <p:spPr>
          <a:xfrm>
            <a:off x="548640" y="3063240"/>
            <a:ext cx="5669280" cy="1280160"/>
          </a:xfrm>
          <a:prstGeom prst="roundRect">
            <a:avLst>
              <a:gd name="adj" fmla="val 571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777240" y="3246120"/>
            <a:ext cx="1828800" cy="914400"/>
          </a:xfrm>
          <a:prstGeom prst="rect">
            <a:avLst/>
          </a:prstGeom>
          <a:noFill/>
          <a:ln/>
        </p:spPr>
        <p:txBody>
          <a:bodyPr wrap="square" lIns="0" tIns="0" rIns="0" bIns="0" rtlCol="0" anchor="ctr"/>
          <a:lstStyle/>
          <a:p>
            <a:pPr indent="0" marL="0">
              <a:buNone/>
            </a:pPr>
            <a:r>
              <a:rPr lang="en-US" sz="3800" b="1" dirty="0">
                <a:solidFill>
                  <a:srgbClr val="5E2CFE"/>
                </a:solidFill>
                <a:latin typeface="Calibri" pitchFamily="34" charset="0"/>
                <a:ea typeface="Calibri" pitchFamily="34" charset="-122"/>
                <a:cs typeface="Calibri" pitchFamily="34" charset="-120"/>
              </a:rPr>
              <a:t>20%</a:t>
            </a:r>
            <a:endParaRPr lang="en-US" sz="3800" dirty="0"/>
          </a:p>
        </p:txBody>
      </p:sp>
      <p:sp>
        <p:nvSpPr>
          <p:cNvPr id="10" name="Text 8"/>
          <p:cNvSpPr txBox="1"/>
          <p:nvPr/>
        </p:nvSpPr>
        <p:spPr>
          <a:xfrm>
            <a:off x="2651760" y="3227832"/>
            <a:ext cx="3383280" cy="685800"/>
          </a:xfrm>
          <a:prstGeom prst="rect">
            <a:avLst/>
          </a:prstGeom>
          <a:noFill/>
          <a:ln/>
        </p:spPr>
        <p:txBody>
          <a:bodyPr wrap="square" lIns="0" tIns="0" rIns="0" bIns="0" rtlCol="0" anchor="t"/>
          <a:lstStyle/>
          <a:p>
            <a:pPr indent="0" marL="0">
              <a:buNone/>
            </a:pPr>
            <a:r>
              <a:rPr lang="en-US" sz="1350" dirty="0">
                <a:solidFill>
                  <a:srgbClr val="1B2635"/>
                </a:solidFill>
                <a:latin typeface="Calibri" pitchFamily="34" charset="0"/>
                <a:ea typeface="Calibri" pitchFamily="34" charset="-122"/>
                <a:cs typeface="Calibri" pitchFamily="34" charset="-120"/>
              </a:rPr>
              <a:t>of executives believe their organisation is fully prepared to prevent or respond to outages</a:t>
            </a:r>
            <a:endParaRPr lang="en-US" sz="1350" dirty="0"/>
          </a:p>
        </p:txBody>
      </p:sp>
      <p:sp>
        <p:nvSpPr>
          <p:cNvPr id="11" name="Text 9"/>
          <p:cNvSpPr txBox="1"/>
          <p:nvPr/>
        </p:nvSpPr>
        <p:spPr>
          <a:xfrm>
            <a:off x="2651760" y="3931920"/>
            <a:ext cx="3383280" cy="320040"/>
          </a:xfrm>
          <a:prstGeom prst="rect">
            <a:avLst/>
          </a:prstGeom>
          <a:noFill/>
          <a:ln/>
        </p:spPr>
        <p:txBody>
          <a:bodyPr wrap="square" lIns="0" tIns="0" rIns="0" bIns="0" rtlCol="0" anchor="ctr"/>
          <a:lstStyle/>
          <a:p>
            <a:pPr indent="0" marL="0">
              <a:buNone/>
            </a:pPr>
            <a:r>
              <a:rPr lang="en-US" sz="950" i="1" dirty="0">
                <a:solidFill>
                  <a:srgbClr val="5B6B7F"/>
                </a:solidFill>
                <a:latin typeface="Calibri" pitchFamily="34" charset="0"/>
                <a:ea typeface="Calibri" pitchFamily="34" charset="-122"/>
                <a:cs typeface="Calibri" pitchFamily="34" charset="-120"/>
              </a:rPr>
              <a:t>Cockroach Labs, State of Resilience 2025 [11]</a:t>
            </a:r>
            <a:endParaRPr lang="en-US" sz="950" dirty="0"/>
          </a:p>
        </p:txBody>
      </p:sp>
      <p:sp>
        <p:nvSpPr>
          <p:cNvPr id="12" name="Shape 10"/>
          <p:cNvSpPr/>
          <p:nvPr/>
        </p:nvSpPr>
        <p:spPr>
          <a:xfrm>
            <a:off x="548640" y="4526280"/>
            <a:ext cx="5669280" cy="1280160"/>
          </a:xfrm>
          <a:prstGeom prst="roundRect">
            <a:avLst>
              <a:gd name="adj" fmla="val 571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777240" y="4709160"/>
            <a:ext cx="1828800" cy="914400"/>
          </a:xfrm>
          <a:prstGeom prst="rect">
            <a:avLst/>
          </a:prstGeom>
          <a:noFill/>
          <a:ln/>
        </p:spPr>
        <p:txBody>
          <a:bodyPr wrap="square" lIns="0" tIns="0" rIns="0" bIns="0" rtlCol="0" anchor="ctr"/>
          <a:lstStyle/>
          <a:p>
            <a:pPr indent="0" marL="0">
              <a:buNone/>
            </a:pPr>
            <a:r>
              <a:rPr lang="en-US" sz="3800" b="1" dirty="0">
                <a:solidFill>
                  <a:srgbClr val="5E2CFE"/>
                </a:solidFill>
                <a:latin typeface="Calibri" pitchFamily="34" charset="0"/>
                <a:ea typeface="Calibri" pitchFamily="34" charset="-122"/>
                <a:cs typeface="Calibri" pitchFamily="34" charset="-120"/>
              </a:rPr>
              <a:t>#1</a:t>
            </a:r>
            <a:endParaRPr lang="en-US" sz="3800" dirty="0"/>
          </a:p>
        </p:txBody>
      </p:sp>
      <p:sp>
        <p:nvSpPr>
          <p:cNvPr id="14" name="Text 12"/>
          <p:cNvSpPr txBox="1"/>
          <p:nvPr/>
        </p:nvSpPr>
        <p:spPr>
          <a:xfrm>
            <a:off x="2651760" y="4690872"/>
            <a:ext cx="3383280" cy="685800"/>
          </a:xfrm>
          <a:prstGeom prst="rect">
            <a:avLst/>
          </a:prstGeom>
          <a:noFill/>
          <a:ln/>
        </p:spPr>
        <p:txBody>
          <a:bodyPr wrap="square" lIns="0" tIns="0" rIns="0" bIns="0" rtlCol="0" anchor="t"/>
          <a:lstStyle/>
          <a:p>
            <a:pPr indent="0" marL="0">
              <a:buNone/>
            </a:pPr>
            <a:r>
              <a:rPr lang="en-US" sz="1350" dirty="0">
                <a:solidFill>
                  <a:srgbClr val="1B2635"/>
                </a:solidFill>
                <a:latin typeface="Calibri" pitchFamily="34" charset="0"/>
                <a:ea typeface="Calibri" pitchFamily="34" charset="-122"/>
                <a:cs typeface="Calibri" pitchFamily="34" charset="-120"/>
              </a:rPr>
              <a:t>cause of human-error outages: staff not following established procedures</a:t>
            </a:r>
            <a:endParaRPr lang="en-US" sz="1350" dirty="0"/>
          </a:p>
        </p:txBody>
      </p:sp>
      <p:sp>
        <p:nvSpPr>
          <p:cNvPr id="15" name="Text 13"/>
          <p:cNvSpPr txBox="1"/>
          <p:nvPr/>
        </p:nvSpPr>
        <p:spPr>
          <a:xfrm>
            <a:off x="2651760" y="5394960"/>
            <a:ext cx="3383280" cy="320040"/>
          </a:xfrm>
          <a:prstGeom prst="rect">
            <a:avLst/>
          </a:prstGeom>
          <a:noFill/>
          <a:ln/>
        </p:spPr>
        <p:txBody>
          <a:bodyPr wrap="square" lIns="0" tIns="0" rIns="0" bIns="0" rtlCol="0" anchor="ctr"/>
          <a:lstStyle/>
          <a:p>
            <a:pPr indent="0" marL="0">
              <a:buNone/>
            </a:pPr>
            <a:r>
              <a:rPr lang="en-US" sz="950" i="1" dirty="0">
                <a:solidFill>
                  <a:srgbClr val="5B6B7F"/>
                </a:solidFill>
                <a:latin typeface="Calibri" pitchFamily="34" charset="0"/>
                <a:ea typeface="Calibri" pitchFamily="34" charset="-122"/>
                <a:cs typeface="Calibri" pitchFamily="34" charset="-120"/>
              </a:rPr>
              <a:t>Uptime Institute, Annual Outage Analysis 2026 [2]</a:t>
            </a:r>
            <a:endParaRPr lang="en-US" sz="950" dirty="0"/>
          </a:p>
        </p:txBody>
      </p:sp>
      <p:sp>
        <p:nvSpPr>
          <p:cNvPr id="16" name="Text 14"/>
          <p:cNvSpPr txBox="1"/>
          <p:nvPr/>
        </p:nvSpPr>
        <p:spPr>
          <a:xfrm>
            <a:off x="6583680" y="1600200"/>
            <a:ext cx="5029200" cy="411480"/>
          </a:xfrm>
          <a:prstGeom prst="rect">
            <a:avLst/>
          </a:prstGeom>
          <a:noFill/>
          <a:ln/>
        </p:spPr>
        <p:txBody>
          <a:bodyPr wrap="square" lIns="0" tIns="0" rIns="0" bIns="0" rtlCol="0" anchor="ctr"/>
          <a:lstStyle/>
          <a:p>
            <a:pPr indent="0" marL="0">
              <a:buNone/>
            </a:pPr>
            <a:r>
              <a:rPr lang="en-US" sz="1800" b="1" dirty="0">
                <a:solidFill>
                  <a:srgbClr val="171721"/>
                </a:solidFill>
                <a:latin typeface="Calibri" pitchFamily="34" charset="0"/>
                <a:ea typeface="Calibri" pitchFamily="34" charset="-122"/>
                <a:cs typeface="Calibri" pitchFamily="34" charset="-120"/>
              </a:rPr>
              <a:t>Why the gap persists</a:t>
            </a:r>
            <a:endParaRPr lang="en-US" sz="1800" dirty="0"/>
          </a:p>
        </p:txBody>
      </p:sp>
      <p:sp>
        <p:nvSpPr>
          <p:cNvPr id="17" name="Shape 15"/>
          <p:cNvSpPr/>
          <p:nvPr/>
        </p:nvSpPr>
        <p:spPr>
          <a:xfrm>
            <a:off x="6583680" y="2103120"/>
            <a:ext cx="502920" cy="502920"/>
          </a:xfrm>
          <a:prstGeom prst="ellipse">
            <a:avLst/>
          </a:prstGeom>
          <a:solidFill>
            <a:srgbClr val="171721"/>
          </a:solidFill>
          <a:ln w="12700">
            <a:solidFill>
              <a:srgbClr val="171721"/>
            </a:solidFill>
            <a:prstDash val="solid"/>
          </a:ln>
        </p:spPr>
      </p:sp>
      <p:pic>
        <p:nvPicPr>
          <p:cNvPr id="18" name="Image 0" descr="preencoded.png">    </p:cNvPr>
          <p:cNvPicPr>
            <a:picLocks noChangeAspect="1"/>
          </p:cNvPicPr>
          <p:nvPr/>
        </p:nvPicPr>
        <p:blipFill>
          <a:blip r:embed="rId1"/>
          <a:stretch>
            <a:fillRect/>
          </a:stretch>
        </p:blipFill>
        <p:spPr>
          <a:xfrm>
            <a:off x="6709410" y="2228850"/>
            <a:ext cx="251460" cy="251460"/>
          </a:xfrm>
          <a:prstGeom prst="rect">
            <a:avLst/>
          </a:prstGeom>
        </p:spPr>
      </p:pic>
      <p:sp>
        <p:nvSpPr>
          <p:cNvPr id="19" name="Text 16"/>
          <p:cNvSpPr txBox="1"/>
          <p:nvPr/>
        </p:nvSpPr>
        <p:spPr>
          <a:xfrm>
            <a:off x="7269480" y="2066544"/>
            <a:ext cx="438912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Tests are disruptive and manual</a:t>
            </a:r>
            <a:endParaRPr lang="en-US" sz="1400" dirty="0"/>
          </a:p>
        </p:txBody>
      </p:sp>
      <p:sp>
        <p:nvSpPr>
          <p:cNvPr id="20" name="Text 17"/>
          <p:cNvSpPr txBox="1"/>
          <p:nvPr/>
        </p:nvSpPr>
        <p:spPr>
          <a:xfrm>
            <a:off x="7269480" y="2395728"/>
            <a:ext cx="4389120" cy="59436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A real failover needs several teams, a change window and hand-written timings, so it happens rarely.</a:t>
            </a:r>
            <a:endParaRPr lang="en-US" sz="1200" dirty="0"/>
          </a:p>
        </p:txBody>
      </p:sp>
      <p:sp>
        <p:nvSpPr>
          <p:cNvPr id="21" name="Shape 18"/>
          <p:cNvSpPr/>
          <p:nvPr/>
        </p:nvSpPr>
        <p:spPr>
          <a:xfrm>
            <a:off x="6583680" y="3127248"/>
            <a:ext cx="502920" cy="502920"/>
          </a:xfrm>
          <a:prstGeom prst="ellipse">
            <a:avLst/>
          </a:prstGeom>
          <a:solidFill>
            <a:srgbClr val="171721"/>
          </a:solidFill>
          <a:ln w="12700">
            <a:solidFill>
              <a:srgbClr val="171721"/>
            </a:solidFill>
            <a:prstDash val="solid"/>
          </a:ln>
        </p:spPr>
      </p:sp>
      <p:pic>
        <p:nvPicPr>
          <p:cNvPr id="22" name="Image 1" descr="preencoded.png">    </p:cNvPr>
          <p:cNvPicPr>
            <a:picLocks noChangeAspect="1"/>
          </p:cNvPicPr>
          <p:nvPr/>
        </p:nvPicPr>
        <p:blipFill>
          <a:blip r:embed="rId2"/>
          <a:stretch>
            <a:fillRect/>
          </a:stretch>
        </p:blipFill>
        <p:spPr>
          <a:xfrm>
            <a:off x="6709410" y="3252978"/>
            <a:ext cx="251460" cy="251460"/>
          </a:xfrm>
          <a:prstGeom prst="rect">
            <a:avLst/>
          </a:prstGeom>
        </p:spPr>
      </p:pic>
      <p:sp>
        <p:nvSpPr>
          <p:cNvPr id="23" name="Text 19"/>
          <p:cNvSpPr txBox="1"/>
          <p:nvPr/>
        </p:nvSpPr>
        <p:spPr>
          <a:xfrm>
            <a:off x="7269480" y="3090672"/>
            <a:ext cx="438912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Environments drift between tests</a:t>
            </a:r>
            <a:endParaRPr lang="en-US" sz="1400" dirty="0"/>
          </a:p>
        </p:txBody>
      </p:sp>
      <p:sp>
        <p:nvSpPr>
          <p:cNvPr id="24" name="Text 20"/>
          <p:cNvSpPr txBox="1"/>
          <p:nvPr/>
        </p:nvSpPr>
        <p:spPr>
          <a:xfrm>
            <a:off x="7269480" y="3419856"/>
            <a:ext cx="4389120" cy="59436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A setting added in one region but not the other only shows up when you fail over.</a:t>
            </a:r>
            <a:endParaRPr lang="en-US" sz="1200" dirty="0"/>
          </a:p>
        </p:txBody>
      </p:sp>
      <p:sp>
        <p:nvSpPr>
          <p:cNvPr id="25" name="Shape 21"/>
          <p:cNvSpPr/>
          <p:nvPr/>
        </p:nvSpPr>
        <p:spPr>
          <a:xfrm>
            <a:off x="6583680" y="4151376"/>
            <a:ext cx="502920" cy="502920"/>
          </a:xfrm>
          <a:prstGeom prst="ellipse">
            <a:avLst/>
          </a:prstGeom>
          <a:solidFill>
            <a:srgbClr val="171721"/>
          </a:solidFill>
          <a:ln w="12700">
            <a:solidFill>
              <a:srgbClr val="171721"/>
            </a:solidFill>
            <a:prstDash val="solid"/>
          </a:ln>
        </p:spPr>
      </p:sp>
      <p:pic>
        <p:nvPicPr>
          <p:cNvPr id="26" name="Image 2" descr="preencoded.png">    </p:cNvPr>
          <p:cNvPicPr>
            <a:picLocks noChangeAspect="1"/>
          </p:cNvPicPr>
          <p:nvPr/>
        </p:nvPicPr>
        <p:blipFill>
          <a:blip r:embed="rId3"/>
          <a:stretch>
            <a:fillRect/>
          </a:stretch>
        </p:blipFill>
        <p:spPr>
          <a:xfrm>
            <a:off x="6709410" y="4277106"/>
            <a:ext cx="251460" cy="251460"/>
          </a:xfrm>
          <a:prstGeom prst="rect">
            <a:avLst/>
          </a:prstGeom>
        </p:spPr>
      </p:pic>
      <p:sp>
        <p:nvSpPr>
          <p:cNvPr id="27" name="Text 22"/>
          <p:cNvSpPr txBox="1"/>
          <p:nvPr/>
        </p:nvSpPr>
        <p:spPr>
          <a:xfrm>
            <a:off x="7269480" y="4114800"/>
            <a:ext cx="438912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Runbooks go stale</a:t>
            </a:r>
            <a:endParaRPr lang="en-US" sz="1400" dirty="0"/>
          </a:p>
        </p:txBody>
      </p:sp>
      <p:sp>
        <p:nvSpPr>
          <p:cNvPr id="28" name="Text 23"/>
          <p:cNvSpPr txBox="1"/>
          <p:nvPr/>
        </p:nvSpPr>
        <p:spPr>
          <a:xfrm>
            <a:off x="7269480" y="4443984"/>
            <a:ext cx="4389120" cy="59436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Documents name servers and services that no longer exist; engineers find out mid-incident.</a:t>
            </a:r>
            <a:endParaRPr lang="en-US" sz="1200" dirty="0"/>
          </a:p>
        </p:txBody>
      </p:sp>
      <p:sp>
        <p:nvSpPr>
          <p:cNvPr id="29" name="Shape 24"/>
          <p:cNvSpPr/>
          <p:nvPr/>
        </p:nvSpPr>
        <p:spPr>
          <a:xfrm>
            <a:off x="6583680" y="5175504"/>
            <a:ext cx="502920" cy="502920"/>
          </a:xfrm>
          <a:prstGeom prst="ellipse">
            <a:avLst/>
          </a:prstGeom>
          <a:solidFill>
            <a:srgbClr val="171721"/>
          </a:solidFill>
          <a:ln w="12700">
            <a:solidFill>
              <a:srgbClr val="171721"/>
            </a:solidFill>
            <a:prstDash val="solid"/>
          </a:ln>
        </p:spPr>
      </p:sp>
      <p:pic>
        <p:nvPicPr>
          <p:cNvPr id="30" name="Image 3" descr="preencoded.png">    </p:cNvPr>
          <p:cNvPicPr>
            <a:picLocks noChangeAspect="1"/>
          </p:cNvPicPr>
          <p:nvPr/>
        </p:nvPicPr>
        <p:blipFill>
          <a:blip r:embed="rId4"/>
          <a:stretch>
            <a:fillRect/>
          </a:stretch>
        </p:blipFill>
        <p:spPr>
          <a:xfrm>
            <a:off x="6709410" y="5301234"/>
            <a:ext cx="251460" cy="251460"/>
          </a:xfrm>
          <a:prstGeom prst="rect">
            <a:avLst/>
          </a:prstGeom>
        </p:spPr>
      </p:pic>
      <p:sp>
        <p:nvSpPr>
          <p:cNvPr id="31" name="Text 25"/>
          <p:cNvSpPr txBox="1"/>
          <p:nvPr/>
        </p:nvSpPr>
        <p:spPr>
          <a:xfrm>
            <a:off x="7269480" y="5138928"/>
            <a:ext cx="438912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RTO and RPO are assumed</a:t>
            </a:r>
            <a:endParaRPr lang="en-US" sz="1400" dirty="0"/>
          </a:p>
        </p:txBody>
      </p:sp>
      <p:sp>
        <p:nvSpPr>
          <p:cNvPr id="32" name="Text 26"/>
          <p:cNvSpPr txBox="1"/>
          <p:nvPr/>
        </p:nvSpPr>
        <p:spPr>
          <a:xfrm>
            <a:off x="7269480" y="5468112"/>
            <a:ext cx="4389120" cy="59436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Targets are signed off on paper; actual recovery time and data loss are rarely measured end to end.</a:t>
            </a:r>
            <a:endParaRPr lang="en-US" sz="1200" dirty="0"/>
          </a:p>
        </p:txBody>
      </p:sp>
      <p:sp>
        <p:nvSpPr>
          <p:cNvPr id="33" name="Text 27"/>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What an unproven DR plan costs: one bad morning</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Illustration for a tier-1 payments service, using the cited figures. Not a forecast; the inputs are shown.</a:t>
            </a:r>
            <a:endParaRPr lang="en-US" sz="1500" dirty="0"/>
          </a:p>
        </p:txBody>
      </p:sp>
      <p:sp>
        <p:nvSpPr>
          <p:cNvPr id="4" name="Shape 2"/>
          <p:cNvSpPr/>
          <p:nvPr/>
        </p:nvSpPr>
        <p:spPr>
          <a:xfrm>
            <a:off x="548640" y="1600200"/>
            <a:ext cx="11064240" cy="676656"/>
          </a:xfrm>
          <a:prstGeom prst="roundRect">
            <a:avLst>
              <a:gd name="adj" fmla="val 10811"/>
            </a:avLst>
          </a:prstGeom>
          <a:solidFill>
            <a:srgbClr val="F1F5F9"/>
          </a:solidFill>
          <a:ln w="12700">
            <a:solidFill>
              <a:srgbClr val="F1F5F9"/>
            </a:solidFill>
            <a:prstDash val="solid"/>
          </a:ln>
        </p:spPr>
      </p:sp>
      <p:sp>
        <p:nvSpPr>
          <p:cNvPr id="5" name="Text 3"/>
          <p:cNvSpPr txBox="1"/>
          <p:nvPr/>
        </p:nvSpPr>
        <p:spPr>
          <a:xfrm>
            <a:off x="777240" y="1600200"/>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Recovery target (RTO)</a:t>
            </a:r>
            <a:endParaRPr lang="en-US" sz="1400" dirty="0"/>
          </a:p>
        </p:txBody>
      </p:sp>
      <p:sp>
        <p:nvSpPr>
          <p:cNvPr id="6" name="Text 4"/>
          <p:cNvSpPr txBox="1"/>
          <p:nvPr/>
        </p:nvSpPr>
        <p:spPr>
          <a:xfrm>
            <a:off x="3931920" y="1600200"/>
            <a:ext cx="2377440" cy="676656"/>
          </a:xfrm>
          <a:prstGeom prst="rect">
            <a:avLst/>
          </a:prstGeom>
          <a:noFill/>
          <a:ln/>
        </p:spPr>
        <p:txBody>
          <a:bodyPr wrap="square" lIns="0" tIns="0" rIns="0" bIns="0" rtlCol="0" anchor="ctr"/>
          <a:lstStyle/>
          <a:p>
            <a:pPr indent="0" marL="0">
              <a:buNone/>
            </a:pPr>
            <a:r>
              <a:rPr lang="en-US" sz="2200" b="1" dirty="0">
                <a:solidFill>
                  <a:srgbClr val="1B2635"/>
                </a:solidFill>
                <a:latin typeface="Calibri" pitchFamily="34" charset="0"/>
                <a:ea typeface="Calibri" pitchFamily="34" charset="-122"/>
                <a:cs typeface="Calibri" pitchFamily="34" charset="-120"/>
              </a:rPr>
              <a:t>30 minutes</a:t>
            </a:r>
            <a:endParaRPr lang="en-US" sz="2200" dirty="0"/>
          </a:p>
        </p:txBody>
      </p:sp>
      <p:sp>
        <p:nvSpPr>
          <p:cNvPr id="7" name="Text 5"/>
          <p:cNvSpPr txBox="1"/>
          <p:nvPr/>
        </p:nvSpPr>
        <p:spPr>
          <a:xfrm>
            <a:off x="6400800" y="1600200"/>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Signed off on paper; never measured end to end</a:t>
            </a:r>
            <a:endParaRPr lang="en-US" sz="1200" dirty="0"/>
          </a:p>
        </p:txBody>
      </p:sp>
      <p:sp>
        <p:nvSpPr>
          <p:cNvPr id="8" name="Shape 6"/>
          <p:cNvSpPr/>
          <p:nvPr/>
        </p:nvSpPr>
        <p:spPr>
          <a:xfrm>
            <a:off x="548640" y="2386584"/>
            <a:ext cx="11064240" cy="676656"/>
          </a:xfrm>
          <a:prstGeom prst="roundRect">
            <a:avLst>
              <a:gd name="adj" fmla="val 10811"/>
            </a:avLst>
          </a:prstGeom>
          <a:solidFill>
            <a:srgbClr val="F1F5F9"/>
          </a:solidFill>
          <a:ln w="12700">
            <a:solidFill>
              <a:srgbClr val="F1F5F9"/>
            </a:solidFill>
            <a:prstDash val="solid"/>
          </a:ln>
        </p:spPr>
      </p:sp>
      <p:sp>
        <p:nvSpPr>
          <p:cNvPr id="9" name="Text 7"/>
          <p:cNvSpPr txBox="1"/>
          <p:nvPr/>
        </p:nvSpPr>
        <p:spPr>
          <a:xfrm>
            <a:off x="777240" y="2386584"/>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Actual recovery</a:t>
            </a:r>
            <a:endParaRPr lang="en-US" sz="1400" dirty="0"/>
          </a:p>
        </p:txBody>
      </p:sp>
      <p:sp>
        <p:nvSpPr>
          <p:cNvPr id="10" name="Text 8"/>
          <p:cNvSpPr txBox="1"/>
          <p:nvPr/>
        </p:nvSpPr>
        <p:spPr>
          <a:xfrm>
            <a:off x="3931920" y="2386584"/>
            <a:ext cx="2377440" cy="676656"/>
          </a:xfrm>
          <a:prstGeom prst="rect">
            <a:avLst/>
          </a:prstGeom>
          <a:noFill/>
          <a:ln/>
        </p:spPr>
        <p:txBody>
          <a:bodyPr wrap="square" lIns="0" tIns="0" rIns="0" bIns="0" rtlCol="0" anchor="ctr"/>
          <a:lstStyle/>
          <a:p>
            <a:pPr indent="0" marL="0">
              <a:buNone/>
            </a:pPr>
            <a:r>
              <a:rPr lang="en-US" sz="2200" b="1" dirty="0">
                <a:solidFill>
                  <a:srgbClr val="1B2635"/>
                </a:solidFill>
                <a:latin typeface="Calibri" pitchFamily="34" charset="0"/>
                <a:ea typeface="Calibri" pitchFamily="34" charset="-122"/>
                <a:cs typeface="Calibri" pitchFamily="34" charset="-120"/>
              </a:rPr>
              <a:t>4 hours</a:t>
            </a:r>
            <a:endParaRPr lang="en-US" sz="2200" dirty="0"/>
          </a:p>
        </p:txBody>
      </p:sp>
      <p:sp>
        <p:nvSpPr>
          <p:cNvPr id="11" name="Text 9"/>
          <p:cNvSpPr txBox="1"/>
          <p:nvPr/>
        </p:nvSpPr>
        <p:spPr>
          <a:xfrm>
            <a:off x="6400800" y="2386584"/>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Comparable to the NSE trading halt of Feb 2021 [5]</a:t>
            </a:r>
            <a:endParaRPr lang="en-US" sz="1200" dirty="0"/>
          </a:p>
        </p:txBody>
      </p:sp>
      <p:sp>
        <p:nvSpPr>
          <p:cNvPr id="12" name="Shape 10"/>
          <p:cNvSpPr/>
          <p:nvPr/>
        </p:nvSpPr>
        <p:spPr>
          <a:xfrm>
            <a:off x="548640" y="3172968"/>
            <a:ext cx="11064240" cy="676656"/>
          </a:xfrm>
          <a:prstGeom prst="roundRect">
            <a:avLst>
              <a:gd name="adj" fmla="val 10811"/>
            </a:avLst>
          </a:prstGeom>
          <a:solidFill>
            <a:srgbClr val="F1F5F9"/>
          </a:solidFill>
          <a:ln w="12700">
            <a:solidFill>
              <a:srgbClr val="F1F5F9"/>
            </a:solidFill>
            <a:prstDash val="solid"/>
          </a:ln>
        </p:spPr>
      </p:sp>
      <p:sp>
        <p:nvSpPr>
          <p:cNvPr id="13" name="Text 11"/>
          <p:cNvSpPr txBox="1"/>
          <p:nvPr/>
        </p:nvSpPr>
        <p:spPr>
          <a:xfrm>
            <a:off x="777240" y="3172968"/>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Hourly cost of downtime</a:t>
            </a:r>
            <a:endParaRPr lang="en-US" sz="1400" dirty="0"/>
          </a:p>
        </p:txBody>
      </p:sp>
      <p:sp>
        <p:nvSpPr>
          <p:cNvPr id="14" name="Text 12"/>
          <p:cNvSpPr txBox="1"/>
          <p:nvPr/>
        </p:nvSpPr>
        <p:spPr>
          <a:xfrm>
            <a:off x="3931920" y="3172968"/>
            <a:ext cx="2377440" cy="676656"/>
          </a:xfrm>
          <a:prstGeom prst="rect">
            <a:avLst/>
          </a:prstGeom>
          <a:noFill/>
          <a:ln/>
        </p:spPr>
        <p:txBody>
          <a:bodyPr wrap="square" lIns="0" tIns="0" rIns="0" bIns="0" rtlCol="0" anchor="ctr"/>
          <a:lstStyle/>
          <a:p>
            <a:pPr indent="0" marL="0">
              <a:buNone/>
            </a:pPr>
            <a:r>
              <a:rPr lang="en-US" sz="2200" b="1" dirty="0">
                <a:solidFill>
                  <a:srgbClr val="1B2635"/>
                </a:solidFill>
                <a:latin typeface="Calibri" pitchFamily="34" charset="0"/>
                <a:ea typeface="Calibri" pitchFamily="34" charset="-122"/>
                <a:cs typeface="Calibri" pitchFamily="34" charset="-120"/>
              </a:rPr>
              <a:t>$900,000</a:t>
            </a:r>
            <a:endParaRPr lang="en-US" sz="2200" dirty="0"/>
          </a:p>
        </p:txBody>
      </p:sp>
      <p:sp>
        <p:nvSpPr>
          <p:cNvPr id="15" name="Text 13"/>
          <p:cNvSpPr txBox="1"/>
          <p:nvPr/>
        </p:nvSpPr>
        <p:spPr>
          <a:xfrm>
            <a:off x="6400800" y="3172968"/>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$15,000 a minute, the Global 2000 average (Splunk &amp; Oxford Economics, 2026) [1]</a:t>
            </a:r>
            <a:endParaRPr lang="en-US" sz="1200" dirty="0"/>
          </a:p>
        </p:txBody>
      </p:sp>
      <p:sp>
        <p:nvSpPr>
          <p:cNvPr id="16" name="Shape 14"/>
          <p:cNvSpPr/>
          <p:nvPr/>
        </p:nvSpPr>
        <p:spPr>
          <a:xfrm>
            <a:off x="548640" y="3959352"/>
            <a:ext cx="11064240" cy="676656"/>
          </a:xfrm>
          <a:prstGeom prst="roundRect">
            <a:avLst>
              <a:gd name="adj" fmla="val 10811"/>
            </a:avLst>
          </a:prstGeom>
          <a:solidFill>
            <a:srgbClr val="FDF0DB"/>
          </a:solidFill>
          <a:ln w="12700">
            <a:solidFill>
              <a:srgbClr val="FDF0DB"/>
            </a:solidFill>
            <a:prstDash val="solid"/>
          </a:ln>
        </p:spPr>
      </p:sp>
      <p:sp>
        <p:nvSpPr>
          <p:cNvPr id="17" name="Text 15"/>
          <p:cNvSpPr txBox="1"/>
          <p:nvPr/>
        </p:nvSpPr>
        <p:spPr>
          <a:xfrm>
            <a:off x="777240" y="3959352"/>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Direct loss</a:t>
            </a:r>
            <a:endParaRPr lang="en-US" sz="1400" dirty="0"/>
          </a:p>
        </p:txBody>
      </p:sp>
      <p:sp>
        <p:nvSpPr>
          <p:cNvPr id="18" name="Text 16"/>
          <p:cNvSpPr txBox="1"/>
          <p:nvPr/>
        </p:nvSpPr>
        <p:spPr>
          <a:xfrm>
            <a:off x="3931920" y="3959352"/>
            <a:ext cx="2377440" cy="676656"/>
          </a:xfrm>
          <a:prstGeom prst="rect">
            <a:avLst/>
          </a:prstGeom>
          <a:noFill/>
          <a:ln/>
        </p:spPr>
        <p:txBody>
          <a:bodyPr wrap="square" lIns="0" tIns="0" rIns="0" bIns="0" rtlCol="0" anchor="ctr"/>
          <a:lstStyle/>
          <a:p>
            <a:pPr indent="0" marL="0">
              <a:buNone/>
            </a:pPr>
            <a:r>
              <a:rPr lang="en-US" sz="2200" b="1" dirty="0">
                <a:solidFill>
                  <a:srgbClr val="D64545"/>
                </a:solidFill>
                <a:latin typeface="Calibri" pitchFamily="34" charset="0"/>
                <a:ea typeface="Calibri" pitchFamily="34" charset="-122"/>
                <a:cs typeface="Calibri" pitchFamily="34" charset="-120"/>
              </a:rPr>
              <a:t>$3.6M</a:t>
            </a:r>
            <a:endParaRPr lang="en-US" sz="2200" dirty="0"/>
          </a:p>
        </p:txBody>
      </p:sp>
      <p:sp>
        <p:nvSpPr>
          <p:cNvPr id="19" name="Text 17"/>
          <p:cNvSpPr txBox="1"/>
          <p:nvPr/>
        </p:nvSpPr>
        <p:spPr>
          <a:xfrm>
            <a:off x="6400800" y="3959352"/>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4 h × $900K; $3.15M of it beyond the 30-minute target</a:t>
            </a:r>
            <a:endParaRPr lang="en-US" sz="1200" dirty="0"/>
          </a:p>
        </p:txBody>
      </p:sp>
      <p:sp>
        <p:nvSpPr>
          <p:cNvPr id="20" name="Shape 18"/>
          <p:cNvSpPr/>
          <p:nvPr/>
        </p:nvSpPr>
        <p:spPr>
          <a:xfrm>
            <a:off x="548640" y="4745736"/>
            <a:ext cx="11064240" cy="676656"/>
          </a:xfrm>
          <a:prstGeom prst="roundRect">
            <a:avLst>
              <a:gd name="adj" fmla="val 10811"/>
            </a:avLst>
          </a:prstGeom>
          <a:solidFill>
            <a:srgbClr val="FDF0DB"/>
          </a:solidFill>
          <a:ln w="12700">
            <a:solidFill>
              <a:srgbClr val="FDF0DB"/>
            </a:solidFill>
            <a:prstDash val="solid"/>
          </a:ln>
        </p:spPr>
      </p:sp>
      <p:sp>
        <p:nvSpPr>
          <p:cNvPr id="21" name="Text 19"/>
          <p:cNvSpPr txBox="1"/>
          <p:nvPr/>
        </p:nvSpPr>
        <p:spPr>
          <a:xfrm>
            <a:off x="777240" y="4745736"/>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Regulatory precedent</a:t>
            </a:r>
            <a:endParaRPr lang="en-US" sz="1400" dirty="0"/>
          </a:p>
        </p:txBody>
      </p:sp>
      <p:sp>
        <p:nvSpPr>
          <p:cNvPr id="22" name="Text 20"/>
          <p:cNvSpPr txBox="1"/>
          <p:nvPr/>
        </p:nvSpPr>
        <p:spPr>
          <a:xfrm>
            <a:off x="3931920" y="4745736"/>
            <a:ext cx="2377440" cy="676656"/>
          </a:xfrm>
          <a:prstGeom prst="rect">
            <a:avLst/>
          </a:prstGeom>
          <a:noFill/>
          <a:ln/>
        </p:spPr>
        <p:txBody>
          <a:bodyPr wrap="square" lIns="0" tIns="0" rIns="0" bIns="0" rtlCol="0" anchor="ctr"/>
          <a:lstStyle/>
          <a:p>
            <a:pPr indent="0" marL="0">
              <a:buNone/>
            </a:pPr>
            <a:r>
              <a:rPr lang="en-US" sz="2200" b="1" dirty="0">
                <a:solidFill>
                  <a:srgbClr val="D64545"/>
                </a:solidFill>
                <a:latin typeface="Calibri" pitchFamily="34" charset="0"/>
                <a:ea typeface="Calibri" pitchFamily="34" charset="-122"/>
                <a:cs typeface="Calibri" pitchFamily="34" charset="-120"/>
              </a:rPr>
              <a:t>≈ $8.8M</a:t>
            </a:r>
            <a:endParaRPr lang="en-US" sz="2200" dirty="0"/>
          </a:p>
        </p:txBody>
      </p:sp>
      <p:sp>
        <p:nvSpPr>
          <p:cNvPr id="23" name="Text 21"/>
          <p:cNvSpPr txBox="1"/>
          <p:nvPr/>
        </p:nvSpPr>
        <p:spPr>
          <a:xfrm>
            <a:off x="6400800" y="4745736"/>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What NSE paid to settle its 2021 outage case [5]; banks have faced 10–15 month business restrictions [4][6]</a:t>
            </a:r>
            <a:endParaRPr lang="en-US" sz="1200" dirty="0"/>
          </a:p>
        </p:txBody>
      </p:sp>
      <p:sp>
        <p:nvSpPr>
          <p:cNvPr id="24" name="Shape 22"/>
          <p:cNvSpPr/>
          <p:nvPr/>
        </p:nvSpPr>
        <p:spPr>
          <a:xfrm>
            <a:off x="548640" y="5623560"/>
            <a:ext cx="11064240" cy="658368"/>
          </a:xfrm>
          <a:prstGeom prst="roundRect">
            <a:avLst>
              <a:gd name="adj" fmla="val 11111"/>
            </a:avLst>
          </a:prstGeom>
          <a:solidFill>
            <a:srgbClr val="171721"/>
          </a:solidFill>
          <a:ln w="12700">
            <a:solidFill>
              <a:srgbClr val="171721"/>
            </a:solidFill>
            <a:prstDash val="solid"/>
          </a:ln>
        </p:spPr>
      </p:sp>
      <p:sp>
        <p:nvSpPr>
          <p:cNvPr id="25" name="Text 23"/>
          <p:cNvSpPr txBox="1"/>
          <p:nvPr/>
        </p:nvSpPr>
        <p:spPr>
          <a:xfrm>
            <a:off x="777240" y="5623560"/>
            <a:ext cx="10698480" cy="65836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The DR Agent measured 29.04 s</a:t>
            </a:r>
            <a:pPr indent="0" marL="0">
              <a:buNone/>
            </a:pPr>
            <a:r>
              <a:rPr lang="en-US" sz="1450" dirty="0">
                <a:solidFill>
                  <a:srgbClr val="C9C3E6"/>
                </a:solidFill>
                <a:latin typeface="Calibri" pitchFamily="34" charset="0"/>
                <a:ea typeface="Calibri" pitchFamily="34" charset="-122"/>
                <a:cs typeface="Calibri" pitchFamily="34" charset="-120"/>
              </a:rPr>
              <a:t> to recover the same kind of service in a live Azure drill (19 Oct 2026), and proved the data loss write by write: 2.8 s of writes, against a 15-minute target.</a:t>
            </a:r>
            <a:endParaRPr lang="en-US" sz="1450" dirty="0"/>
          </a:p>
        </p:txBody>
      </p:sp>
      <p:sp>
        <p:nvSpPr>
          <p:cNvPr id="26" name="Text 24"/>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The DR Agent runs the real drill and proves the result</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Six AI agents on Azure AI Foundry plan and judge; a guarded engine executes on live Azure resources; humans approve.</a:t>
            </a:r>
            <a:endParaRPr lang="en-US" sz="1500" dirty="0"/>
          </a:p>
        </p:txBody>
      </p:sp>
      <p:sp>
        <p:nvSpPr>
          <p:cNvPr id="4" name="Shape 2"/>
          <p:cNvSpPr/>
          <p:nvPr/>
        </p:nvSpPr>
        <p:spPr>
          <a:xfrm>
            <a:off x="548640" y="1600200"/>
            <a:ext cx="5440680" cy="3291840"/>
          </a:xfrm>
          <a:prstGeom prst="roundRect">
            <a:avLst>
              <a:gd name="adj" fmla="val 2222"/>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828800"/>
            <a:ext cx="1828800" cy="274320"/>
          </a:xfrm>
          <a:prstGeom prst="rect">
            <a:avLst/>
          </a:prstGeom>
          <a:noFill/>
          <a:ln/>
        </p:spPr>
        <p:txBody>
          <a:bodyPr wrap="square" lIns="0" tIns="0" rIns="0" bIns="0" rtlCol="0" anchor="ctr"/>
          <a:lstStyle/>
          <a:p>
            <a:pPr indent="0" marL="0">
              <a:buNone/>
            </a:pPr>
            <a:r>
              <a:rPr lang="en-US" sz="1100" b="1" spc="100" kern="0" dirty="0">
                <a:solidFill>
                  <a:srgbClr val="5E2CFE"/>
                </a:solidFill>
                <a:latin typeface="Calibri" pitchFamily="34" charset="0"/>
                <a:ea typeface="Calibri" pitchFamily="34" charset="-122"/>
                <a:cs typeface="Calibri" pitchFamily="34" charset="-120"/>
              </a:rPr>
              <a:t>Phase 1</a:t>
            </a:r>
            <a:endParaRPr lang="en-US" sz="1100" dirty="0"/>
          </a:p>
        </p:txBody>
      </p:sp>
      <p:sp>
        <p:nvSpPr>
          <p:cNvPr id="6" name="Text 4"/>
          <p:cNvSpPr txBox="1"/>
          <p:nvPr/>
        </p:nvSpPr>
        <p:spPr>
          <a:xfrm>
            <a:off x="822960" y="2103120"/>
            <a:ext cx="4937760" cy="411480"/>
          </a:xfrm>
          <a:prstGeom prst="rect">
            <a:avLst/>
          </a:prstGeom>
          <a:noFill/>
          <a:ln/>
        </p:spPr>
        <p:txBody>
          <a:bodyPr wrap="square" lIns="0" tIns="0" rIns="0" bIns="0" rtlCol="0" anchor="ctr"/>
          <a:lstStyle/>
          <a:p>
            <a:pPr indent="0" marL="0">
              <a:buNone/>
            </a:pPr>
            <a:r>
              <a:rPr lang="en-US" sz="1900" b="1" dirty="0">
                <a:solidFill>
                  <a:srgbClr val="171721"/>
                </a:solidFill>
                <a:latin typeface="Calibri" pitchFamily="34" charset="0"/>
                <a:ea typeface="Calibri" pitchFamily="34" charset="-122"/>
                <a:cs typeface="Calibri" pitchFamily="34" charset="-120"/>
              </a:rPr>
              <a:t>Design &amp; prepare</a:t>
            </a:r>
            <a:endParaRPr lang="en-US" sz="1900" dirty="0"/>
          </a:p>
        </p:txBody>
      </p:sp>
      <p:sp>
        <p:nvSpPr>
          <p:cNvPr id="7" name="Text 5"/>
          <p:cNvSpPr txBox="1"/>
          <p:nvPr/>
        </p:nvSpPr>
        <p:spPr>
          <a:xfrm>
            <a:off x="822960" y="2697480"/>
            <a:ext cx="1600200" cy="54864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Architect</a:t>
            </a:r>
            <a:endParaRPr lang="en-US" sz="1300" dirty="0"/>
          </a:p>
        </p:txBody>
      </p:sp>
      <p:sp>
        <p:nvSpPr>
          <p:cNvPr id="8" name="Text 6"/>
          <p:cNvSpPr txBox="1"/>
          <p:nvPr/>
        </p:nvSpPr>
        <p:spPr>
          <a:xfrm>
            <a:off x="2423160" y="2697480"/>
            <a:ext cx="3337560" cy="59436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picks the cheapest strategy that truly meets RTO/RPO, with real Azure prices</a:t>
            </a:r>
            <a:endParaRPr lang="en-US" sz="1250" dirty="0"/>
          </a:p>
        </p:txBody>
      </p:sp>
      <p:sp>
        <p:nvSpPr>
          <p:cNvPr id="9" name="Text 7"/>
          <p:cNvSpPr txBox="1"/>
          <p:nvPr/>
        </p:nvSpPr>
        <p:spPr>
          <a:xfrm>
            <a:off x="822960" y="3410712"/>
            <a:ext cx="1600200" cy="54864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Readiness</a:t>
            </a:r>
            <a:endParaRPr lang="en-US" sz="1300" dirty="0"/>
          </a:p>
        </p:txBody>
      </p:sp>
      <p:sp>
        <p:nvSpPr>
          <p:cNvPr id="10" name="Text 8"/>
          <p:cNvSpPr txBox="1"/>
          <p:nvPr/>
        </p:nvSpPr>
        <p:spPr>
          <a:xfrm>
            <a:off x="2423160" y="3410712"/>
            <a:ext cx="3337560" cy="59436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7 live checks; finds drift before the disaster; one-click approved fix</a:t>
            </a:r>
            <a:endParaRPr lang="en-US" sz="1250" dirty="0"/>
          </a:p>
        </p:txBody>
      </p:sp>
      <p:sp>
        <p:nvSpPr>
          <p:cNvPr id="11" name="Text 9"/>
          <p:cNvSpPr txBox="1"/>
          <p:nvPr/>
        </p:nvSpPr>
        <p:spPr>
          <a:xfrm>
            <a:off x="822960" y="4123944"/>
            <a:ext cx="1600200" cy="54864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Runbook</a:t>
            </a:r>
            <a:endParaRPr lang="en-US" sz="1300" dirty="0"/>
          </a:p>
        </p:txBody>
      </p:sp>
      <p:sp>
        <p:nvSpPr>
          <p:cNvPr id="12" name="Text 10"/>
          <p:cNvSpPr txBox="1"/>
          <p:nvPr/>
        </p:nvSpPr>
        <p:spPr>
          <a:xfrm>
            <a:off x="2423160" y="4123944"/>
            <a:ext cx="3337560" cy="59436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flags stale steps and writes the corrected runbook</a:t>
            </a:r>
            <a:endParaRPr lang="en-US" sz="1250" dirty="0"/>
          </a:p>
        </p:txBody>
      </p:sp>
      <p:sp>
        <p:nvSpPr>
          <p:cNvPr id="13" name="Shape 11"/>
          <p:cNvSpPr/>
          <p:nvPr/>
        </p:nvSpPr>
        <p:spPr>
          <a:xfrm>
            <a:off x="6172200" y="1600200"/>
            <a:ext cx="5440680" cy="3291840"/>
          </a:xfrm>
          <a:prstGeom prst="roundRect">
            <a:avLst>
              <a:gd name="adj" fmla="val 2222"/>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6446520" y="1828800"/>
            <a:ext cx="1828800" cy="274320"/>
          </a:xfrm>
          <a:prstGeom prst="rect">
            <a:avLst/>
          </a:prstGeom>
          <a:noFill/>
          <a:ln/>
        </p:spPr>
        <p:txBody>
          <a:bodyPr wrap="square" lIns="0" tIns="0" rIns="0" bIns="0" rtlCol="0" anchor="ctr"/>
          <a:lstStyle/>
          <a:p>
            <a:pPr indent="0" marL="0">
              <a:buNone/>
            </a:pPr>
            <a:r>
              <a:rPr lang="en-US" sz="1100" b="1" spc="100" kern="0" dirty="0">
                <a:solidFill>
                  <a:srgbClr val="5E2CFE"/>
                </a:solidFill>
                <a:latin typeface="Calibri" pitchFamily="34" charset="0"/>
                <a:ea typeface="Calibri" pitchFamily="34" charset="-122"/>
                <a:cs typeface="Calibri" pitchFamily="34" charset="-120"/>
              </a:rPr>
              <a:t>Phase 2</a:t>
            </a:r>
            <a:endParaRPr lang="en-US" sz="1100" dirty="0"/>
          </a:p>
        </p:txBody>
      </p:sp>
      <p:sp>
        <p:nvSpPr>
          <p:cNvPr id="15" name="Text 13"/>
          <p:cNvSpPr txBox="1"/>
          <p:nvPr/>
        </p:nvSpPr>
        <p:spPr>
          <a:xfrm>
            <a:off x="6446520" y="2103120"/>
            <a:ext cx="4937760" cy="411480"/>
          </a:xfrm>
          <a:prstGeom prst="rect">
            <a:avLst/>
          </a:prstGeom>
          <a:noFill/>
          <a:ln/>
        </p:spPr>
        <p:txBody>
          <a:bodyPr wrap="square" lIns="0" tIns="0" rIns="0" bIns="0" rtlCol="0" anchor="ctr"/>
          <a:lstStyle/>
          <a:p>
            <a:pPr indent="0" marL="0">
              <a:buNone/>
            </a:pPr>
            <a:r>
              <a:rPr lang="en-US" sz="1900" b="1" dirty="0">
                <a:solidFill>
                  <a:srgbClr val="171721"/>
                </a:solidFill>
                <a:latin typeface="Calibri" pitchFamily="34" charset="0"/>
                <a:ea typeface="Calibri" pitchFamily="34" charset="-122"/>
                <a:cs typeface="Calibri" pitchFamily="34" charset="-120"/>
              </a:rPr>
              <a:t>Plan, execute, fail back, report</a:t>
            </a:r>
            <a:endParaRPr lang="en-US" sz="1900" dirty="0"/>
          </a:p>
        </p:txBody>
      </p:sp>
      <p:sp>
        <p:nvSpPr>
          <p:cNvPr id="16" name="Text 14"/>
          <p:cNvSpPr txBox="1"/>
          <p:nvPr/>
        </p:nvSpPr>
        <p:spPr>
          <a:xfrm>
            <a:off x="6446520" y="2697480"/>
            <a:ext cx="1600200" cy="54864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Planner</a:t>
            </a:r>
            <a:endParaRPr lang="en-US" sz="1300" dirty="0"/>
          </a:p>
        </p:txBody>
      </p:sp>
      <p:sp>
        <p:nvSpPr>
          <p:cNvPr id="17" name="Text 15"/>
          <p:cNvSpPr txBox="1"/>
          <p:nvPr/>
        </p:nvSpPr>
        <p:spPr>
          <a:xfrm>
            <a:off x="8046720" y="2697480"/>
            <a:ext cx="3337560" cy="59436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builds the drill from an allowlist of safe actions; the engine rejects any unsafe plan</a:t>
            </a:r>
            <a:endParaRPr lang="en-US" sz="1250" dirty="0"/>
          </a:p>
        </p:txBody>
      </p:sp>
      <p:sp>
        <p:nvSpPr>
          <p:cNvPr id="18" name="Text 16"/>
          <p:cNvSpPr txBox="1"/>
          <p:nvPr/>
        </p:nvSpPr>
        <p:spPr>
          <a:xfrm>
            <a:off x="6446520" y="3410712"/>
            <a:ext cx="1600200" cy="54864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Engine + Validator</a:t>
            </a:r>
            <a:endParaRPr lang="en-US" sz="1300" dirty="0"/>
          </a:p>
        </p:txBody>
      </p:sp>
      <p:sp>
        <p:nvSpPr>
          <p:cNvPr id="19" name="Text 17"/>
          <p:cNvSpPr txBox="1"/>
          <p:nvPr/>
        </p:nvSpPr>
        <p:spPr>
          <a:xfrm>
            <a:off x="8046720" y="3410712"/>
            <a:ext cx="3337560" cy="59436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injects the outage, fails over, measures; diagnoses any failure live</a:t>
            </a:r>
            <a:endParaRPr lang="en-US" sz="1250" dirty="0"/>
          </a:p>
        </p:txBody>
      </p:sp>
      <p:sp>
        <p:nvSpPr>
          <p:cNvPr id="20" name="Text 18"/>
          <p:cNvSpPr txBox="1"/>
          <p:nvPr/>
        </p:nvSpPr>
        <p:spPr>
          <a:xfrm>
            <a:off x="6446520" y="4123944"/>
            <a:ext cx="1600200" cy="54864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Reporter</a:t>
            </a:r>
            <a:endParaRPr lang="en-US" sz="1300" dirty="0"/>
          </a:p>
        </p:txBody>
      </p:sp>
      <p:sp>
        <p:nvSpPr>
          <p:cNvPr id="21" name="Text 19"/>
          <p:cNvSpPr txBox="1"/>
          <p:nvPr/>
        </p:nvSpPr>
        <p:spPr>
          <a:xfrm>
            <a:off x="8046720" y="4123944"/>
            <a:ext cx="3337560" cy="59436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audit-ready report with every second of RTO accounted for</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5029200"/>
          <a:ext cx="11064240" cy="914400"/>
        </p:xfrm>
        <a:graphic>
          <a:graphicData uri="http://schemas.openxmlformats.org/drawingml/2006/table">
            <a:tbl>
              <a:tblPr/>
              <a:tblGrid>
                <a:gridCol w="3017520"/>
                <a:gridCol w="3566160"/>
                <a:gridCol w="4480560"/>
              </a:tblGrid>
              <a:tr h="246888">
                <a:tc>
                  <a:txBody>
                    <a:bodyPr/>
                    <a:lstStyle/>
                    <a:p>
                      <a:pPr indent="0" marL="0">
                        <a:buNone/>
                      </a:pP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solidFill>
                      <a:srgbClr val="FFFFFF"/>
                    </a:solidFill>
                  </a:tcPr>
                </a:tc>
                <a:tc>
                  <a:txBody>
                    <a:bodyPr/>
                    <a:lstStyle/>
                    <a:p>
                      <a:pPr indent="0" marL="0">
                        <a:buNone/>
                      </a:pPr>
                      <a:r>
                        <a:rPr lang="en-US" sz="1200" b="1" dirty="0">
                          <a:solidFill>
                            <a:srgbClr val="D64545"/>
                          </a:solidFill>
                          <a:latin typeface="Calibri" pitchFamily="34" charset="0"/>
                          <a:ea typeface="Calibri" pitchFamily="34" charset="-122"/>
                          <a:cs typeface="Calibri" pitchFamily="34" charset="-120"/>
                        </a:rPr>
                        <a:t>Today</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b="1" dirty="0">
                          <a:solidFill>
                            <a:srgbClr val="5E2CFE"/>
                          </a:solidFill>
                          <a:latin typeface="Calibri" pitchFamily="34" charset="0"/>
                          <a:ea typeface="Calibri" pitchFamily="34" charset="-122"/>
                          <a:cs typeface="Calibri" pitchFamily="34" charset="-120"/>
                        </a:rPr>
                        <a:t>With the DR Agent</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246888">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How often DR is proven</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Once or twice a year</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On demand, any day</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246888">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RTO and RPO</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Assumed on paper</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Measured on every drill, to the millisecond</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246888">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Configuration drift</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Found during the real outage</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Found by readiness checks, fixed with approval</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246888">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Audit evidence</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Screenshots and spreadsheets</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Generated report with timestamps and approvals</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bl>
          </a:graphicData>
        </a:graphic>
      </p:graphicFrame>
      <p:sp>
        <p:nvSpPr>
          <p:cNvPr id="23" name="Text 20"/>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Six specialist agents, each with one job and a contract</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Versioned prompt agents in Azure AI Foundry Agent Service. Every answer must match a strict JSON schema; every decision that drives an action is checked by code.</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371600"/>
                <a:gridCol w="1417320"/>
                <a:gridCol w="2880360"/>
                <a:gridCol w="2514600"/>
                <a:gridCol w="288036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Agent</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Gets (facts from code)</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Returns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Checked by code</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solidFill>
                      <a:srgbClr val="171721"/>
                    </a:solidFill>
                  </a:tcPr>
                </a:tc>
              </a:tr>
              <a:tr h="457200">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Architect</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onsolas" pitchFamily="34" charset="0"/>
                          <a:ea typeface="Consolas" pitchFamily="34" charset="-122"/>
                          <a:cs typeface="Consolas" pitchFamily="34" charset="-120"/>
                        </a:rPr>
                        <a:t>gpt-4.1-mini</a:t>
                      </a:r>
                      <a:endParaRPr lang="en-US" sz="1200" dirty="0">
                        <a:latin typeface="Consolas" charset="0"/>
                        <a:ea typeface="Consolas" charset="0"/>
                        <a:cs typeface="Consolas"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Profile, inventory, live Azure prices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Strategy + all 5 options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Cheapest option that truly meets targets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457200">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Readiness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onsolas" pitchFamily="34" charset="0"/>
                          <a:ea typeface="Consolas" pitchFamily="34" charset="-122"/>
                          <a:cs typeface="Consolas" pitchFamily="34" charset="-120"/>
                        </a:rPr>
                        <a:t>gpt-4.1-mini</a:t>
                      </a:r>
                      <a:endParaRPr lang="en-US" sz="1200" dirty="0">
                        <a:latin typeface="Consolas" charset="0"/>
                        <a:ea typeface="Consolas" charset="0"/>
                        <a:cs typeface="Consolas"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7 deterministic checks with evidence</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GO / NO-GO, risks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Any failed check forces NO-GO</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457200">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Runbook</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onsolas" pitchFamily="34" charset="0"/>
                          <a:ea typeface="Consolas" pitchFamily="34" charset="-122"/>
                          <a:cs typeface="Consolas" pitchFamily="34" charset="-120"/>
                        </a:rPr>
                        <a:t>gpt-4.1-mini</a:t>
                      </a:r>
                      <a:endParaRPr lang="en-US" sz="1200" dirty="0">
                        <a:latin typeface="Consolas" charset="0"/>
                        <a:ea typeface="Consolas" charset="0"/>
                        <a:cs typeface="Consolas"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Runbook markdown, inventory</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Stale / valid per step, corrected runbook</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Schema only (advisory)</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457200">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Planner</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onsolas" pitchFamily="34" charset="0"/>
                          <a:ea typeface="Consolas" pitchFamily="34" charset="-122"/>
                          <a:cs typeface="Consolas" pitchFamily="34" charset="-120"/>
                        </a:rPr>
                        <a:t>gpt-5-mini</a:t>
                      </a:r>
                      <a:endParaRPr lang="en-US" sz="1200" dirty="0">
                        <a:latin typeface="Consolas" charset="0"/>
                        <a:ea typeface="Consolas" charset="0"/>
                        <a:cs typeface="Consolas"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Strategy, risks, allowlist, safe sequence</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21-step drill plan</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Allowlisted actions, mandatory sequence, approvals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457200">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Validator</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onsolas" pitchFamily="34" charset="0"/>
                          <a:ea typeface="Consolas" pitchFamily="34" charset="-122"/>
                          <a:cs typeface="Consolas" pitchFamily="34" charset="-120"/>
                        </a:rPr>
                        <a:t>gpt-5-mini</a:t>
                      </a:r>
                      <a:endParaRPr lang="en-US" sz="1200" dirty="0">
                        <a:latin typeface="Consolas" charset="0"/>
                        <a:ea typeface="Consolas" charset="0"/>
                        <a:cs typeface="Consolas"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Failed step, error, events, live probes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Cause, evidence, fix</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Fix allowlisted; never Region A mid-outage; human approves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457200">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Reporter</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onsolas" pitchFamily="34" charset="0"/>
                          <a:ea typeface="Consolas" pitchFamily="34" charset="-122"/>
                          <a:cs typeface="Consolas" pitchFamily="34" charset="-120"/>
                        </a:rPr>
                        <a:t>gpt-4.1-mini</a:t>
                      </a:r>
                      <a:endParaRPr lang="en-US" sz="1200" dirty="0">
                        <a:latin typeface="Consolas" charset="0"/>
                        <a:ea typeface="Consolas" charset="0"/>
                        <a:cs typeface="Consolas"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Measured RTO/RPO, timeline, findings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Summary, remediation items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Numbers rendered by code, not retyped</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bl>
          </a:graphicData>
        </a:graphic>
      </p:graphicFrame>
      <p:sp>
        <p:nvSpPr>
          <p:cNvPr id="5" name="Shape 2"/>
          <p:cNvSpPr/>
          <p:nvPr/>
        </p:nvSpPr>
        <p:spPr>
          <a:xfrm>
            <a:off x="548640" y="5074920"/>
            <a:ext cx="11064240" cy="1188720"/>
          </a:xfrm>
          <a:prstGeom prst="roundRect">
            <a:avLst>
              <a:gd name="adj" fmla="val 6154"/>
            </a:avLst>
          </a:prstGeom>
          <a:solidFill>
            <a:srgbClr val="EFE9FF"/>
          </a:solidFill>
          <a:ln w="12700">
            <a:solidFill>
              <a:srgbClr val="EFE9FF"/>
            </a:solidFill>
            <a:prstDash val="solid"/>
          </a:ln>
        </p:spPr>
      </p:sp>
      <p:sp>
        <p:nvSpPr>
          <p:cNvPr id="6" name="Text 3"/>
          <p:cNvSpPr txBox="1"/>
          <p:nvPr/>
        </p:nvSpPr>
        <p:spPr>
          <a:xfrm>
            <a:off x="777240" y="5074920"/>
            <a:ext cx="10607040" cy="1188720"/>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Watch them think. </a:t>
            </a:r>
            <a:pPr indent="0" marL="0">
              <a:buNone/>
            </a:pPr>
            <a:r>
              <a:rPr lang="en-US" sz="1350" dirty="0">
                <a:solidFill>
                  <a:srgbClr val="1B2635"/>
                </a:solidFill>
                <a:latin typeface="Calibri" pitchFamily="34" charset="0"/>
                <a:ea typeface="Calibri" pitchFamily="34" charset="-122"/>
                <a:cs typeface="Calibri" pitchFamily="34" charset="-120"/>
              </a:rPr>
              <a:t>A live activity panel streams every Azure read, the Foundry call (agent version, latency, tokens) and the code check, as it happens. It caught a real defect: the Architect compared a cost multiplier with a dollar budget; we now give it Azure list prices and it is right first time (5 of 5 runs).</a:t>
            </a:r>
            <a:endParaRPr lang="en-US" sz="1350" dirty="0"/>
          </a:p>
        </p:txBody>
      </p:sp>
      <p:sp>
        <p:nvSpPr>
          <p:cNvPr id="7" name="Text 4"/>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Agents decide. The engine acts. Humans approve.</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DR touches production, so no model can call an Azure write API. Every action is allowlisted, ordered, approved and reversible.</a:t>
            </a:r>
            <a:endParaRPr lang="en-US" sz="1500" dirty="0"/>
          </a:p>
        </p:txBody>
      </p:sp>
      <p:sp>
        <p:nvSpPr>
          <p:cNvPr id="4" name="Shape 2"/>
          <p:cNvSpPr/>
          <p:nvPr/>
        </p:nvSpPr>
        <p:spPr>
          <a:xfrm>
            <a:off x="548640" y="1600200"/>
            <a:ext cx="3520440" cy="1645920"/>
          </a:xfrm>
          <a:prstGeom prst="roundRect">
            <a:avLst>
              <a:gd name="adj" fmla="val 444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828800"/>
            <a:ext cx="502920" cy="502920"/>
          </a:xfrm>
          <a:prstGeom prst="ellipse">
            <a:avLst/>
          </a:prstGeom>
          <a:solidFill>
            <a:srgbClr val="171721"/>
          </a:solidFill>
          <a:ln w="12700">
            <a:solidFill>
              <a:srgbClr val="171721"/>
            </a:solidFill>
            <a:prstDash val="solid"/>
          </a:ln>
        </p:spPr>
      </p:sp>
      <p:pic>
        <p:nvPicPr>
          <p:cNvPr id="6" name="Image 0" descr="preencoded.png">    </p:cNvPr>
          <p:cNvPicPr>
            <a:picLocks noChangeAspect="1"/>
          </p:cNvPicPr>
          <p:nvPr/>
        </p:nvPicPr>
        <p:blipFill>
          <a:blip r:embed="rId1"/>
          <a:stretch>
            <a:fillRect/>
          </a:stretch>
        </p:blipFill>
        <p:spPr>
          <a:xfrm>
            <a:off x="902970" y="1954530"/>
            <a:ext cx="251460" cy="251460"/>
          </a:xfrm>
          <a:prstGeom prst="rect">
            <a:avLst/>
          </a:prstGeom>
        </p:spPr>
      </p:pic>
      <p:sp>
        <p:nvSpPr>
          <p:cNvPr id="7" name="Text 4"/>
          <p:cNvSpPr txBox="1"/>
          <p:nvPr/>
        </p:nvSpPr>
        <p:spPr>
          <a:xfrm>
            <a:off x="1417320" y="1828800"/>
            <a:ext cx="251460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Allowlisted actions</a:t>
            </a:r>
            <a:endParaRPr lang="en-US" sz="1500" dirty="0"/>
          </a:p>
        </p:txBody>
      </p:sp>
      <p:sp>
        <p:nvSpPr>
          <p:cNvPr id="8" name="Text 5"/>
          <p:cNvSpPr txBox="1"/>
          <p:nvPr/>
        </p:nvSpPr>
        <p:spPr>
          <a:xfrm>
            <a:off x="777240" y="2423160"/>
            <a:ext cx="3108960" cy="77724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15 known actions only (outage injection, start app, SQL failover, endpoint on/off, health waits, ASR test). Region-changing actions only where the safe sequence puts them.</a:t>
            </a:r>
            <a:endParaRPr lang="en-US" sz="1200" dirty="0"/>
          </a:p>
        </p:txBody>
      </p:sp>
      <p:sp>
        <p:nvSpPr>
          <p:cNvPr id="9" name="Shape 6"/>
          <p:cNvSpPr/>
          <p:nvPr/>
        </p:nvSpPr>
        <p:spPr>
          <a:xfrm>
            <a:off x="4297680" y="1600200"/>
            <a:ext cx="3520440" cy="1645920"/>
          </a:xfrm>
          <a:prstGeom prst="roundRect">
            <a:avLst>
              <a:gd name="adj" fmla="val 444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4526280" y="1828800"/>
            <a:ext cx="502920" cy="502920"/>
          </a:xfrm>
          <a:prstGeom prst="ellipse">
            <a:avLst/>
          </a:prstGeom>
          <a:solidFill>
            <a:srgbClr val="171721"/>
          </a:solidFill>
          <a:ln w="12700">
            <a:solidFill>
              <a:srgbClr val="171721"/>
            </a:solidFill>
            <a:prstDash val="solid"/>
          </a:ln>
        </p:spPr>
      </p:sp>
      <p:pic>
        <p:nvPicPr>
          <p:cNvPr id="11" name="Image 1" descr="preencoded.png">    </p:cNvPr>
          <p:cNvPicPr>
            <a:picLocks noChangeAspect="1"/>
          </p:cNvPicPr>
          <p:nvPr/>
        </p:nvPicPr>
        <p:blipFill>
          <a:blip r:embed="rId2"/>
          <a:stretch>
            <a:fillRect/>
          </a:stretch>
        </p:blipFill>
        <p:spPr>
          <a:xfrm>
            <a:off x="4652010" y="1954530"/>
            <a:ext cx="251460" cy="251460"/>
          </a:xfrm>
          <a:prstGeom prst="rect">
            <a:avLst/>
          </a:prstGeom>
        </p:spPr>
      </p:pic>
      <p:sp>
        <p:nvSpPr>
          <p:cNvPr id="12" name="Text 8"/>
          <p:cNvSpPr txBox="1"/>
          <p:nvPr/>
        </p:nvSpPr>
        <p:spPr>
          <a:xfrm>
            <a:off x="5166360" y="1828800"/>
            <a:ext cx="251460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Mandatory safe sequence</a:t>
            </a:r>
            <a:endParaRPr lang="en-US" sz="1500" dirty="0"/>
          </a:p>
        </p:txBody>
      </p:sp>
      <p:sp>
        <p:nvSpPr>
          <p:cNvPr id="13" name="Text 9"/>
          <p:cNvSpPr txBox="1"/>
          <p:nvPr/>
        </p:nvSpPr>
        <p:spPr>
          <a:xfrm>
            <a:off x="4526280" y="2423160"/>
            <a:ext cx="3108960" cy="77724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Every plan must contain heartbeat → outage → SQL failover → reroute → verify → measure → fail back, in that order.</a:t>
            </a:r>
            <a:endParaRPr lang="en-US" sz="1200" dirty="0"/>
          </a:p>
        </p:txBody>
      </p:sp>
      <p:sp>
        <p:nvSpPr>
          <p:cNvPr id="14" name="Shape 10"/>
          <p:cNvSpPr/>
          <p:nvPr/>
        </p:nvSpPr>
        <p:spPr>
          <a:xfrm>
            <a:off x="8046720" y="1600200"/>
            <a:ext cx="3520440" cy="1645920"/>
          </a:xfrm>
          <a:prstGeom prst="roundRect">
            <a:avLst>
              <a:gd name="adj" fmla="val 444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5" name="Shape 11"/>
          <p:cNvSpPr/>
          <p:nvPr/>
        </p:nvSpPr>
        <p:spPr>
          <a:xfrm>
            <a:off x="8275320" y="1828800"/>
            <a:ext cx="502920" cy="502920"/>
          </a:xfrm>
          <a:prstGeom prst="ellipse">
            <a:avLst/>
          </a:prstGeom>
          <a:solidFill>
            <a:srgbClr val="171721"/>
          </a:solidFill>
          <a:ln w="12700">
            <a:solidFill>
              <a:srgbClr val="171721"/>
            </a:solidFill>
            <a:prstDash val="solid"/>
          </a:ln>
        </p:spPr>
      </p:sp>
      <p:pic>
        <p:nvPicPr>
          <p:cNvPr id="16" name="Image 2" descr="preencoded.png">    </p:cNvPr>
          <p:cNvPicPr>
            <a:picLocks noChangeAspect="1"/>
          </p:cNvPicPr>
          <p:nvPr/>
        </p:nvPicPr>
        <p:blipFill>
          <a:blip r:embed="rId3"/>
          <a:stretch>
            <a:fillRect/>
          </a:stretch>
        </p:blipFill>
        <p:spPr>
          <a:xfrm>
            <a:off x="8401050" y="1954530"/>
            <a:ext cx="251460" cy="251460"/>
          </a:xfrm>
          <a:prstGeom prst="rect">
            <a:avLst/>
          </a:prstGeom>
        </p:spPr>
      </p:pic>
      <p:sp>
        <p:nvSpPr>
          <p:cNvPr id="17" name="Text 12"/>
          <p:cNvSpPr txBox="1"/>
          <p:nvPr/>
        </p:nvSpPr>
        <p:spPr>
          <a:xfrm>
            <a:off x="8915400" y="1828800"/>
            <a:ext cx="251460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Human approval gates</a:t>
            </a:r>
            <a:endParaRPr lang="en-US" sz="1500" dirty="0"/>
          </a:p>
        </p:txBody>
      </p:sp>
      <p:sp>
        <p:nvSpPr>
          <p:cNvPr id="18" name="Text 13"/>
          <p:cNvSpPr txBox="1"/>
          <p:nvPr/>
        </p:nvSpPr>
        <p:spPr>
          <a:xfrm>
            <a:off x="8275320" y="2423160"/>
            <a:ext cx="3108960" cy="77724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A named approver signs off the plan; the DB team gives the go for the forced failover; the app team approves failback; a human approves any fix. Plans without these gates are rejected.</a:t>
            </a:r>
            <a:endParaRPr lang="en-US" sz="1200" dirty="0"/>
          </a:p>
        </p:txBody>
      </p:sp>
      <p:sp>
        <p:nvSpPr>
          <p:cNvPr id="19" name="Shape 14"/>
          <p:cNvSpPr/>
          <p:nvPr/>
        </p:nvSpPr>
        <p:spPr>
          <a:xfrm>
            <a:off x="548640" y="3429000"/>
            <a:ext cx="3520440" cy="1645920"/>
          </a:xfrm>
          <a:prstGeom prst="roundRect">
            <a:avLst>
              <a:gd name="adj" fmla="val 444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20" name="Shape 15"/>
          <p:cNvSpPr/>
          <p:nvPr/>
        </p:nvSpPr>
        <p:spPr>
          <a:xfrm>
            <a:off x="777240" y="3657600"/>
            <a:ext cx="502920" cy="502920"/>
          </a:xfrm>
          <a:prstGeom prst="ellipse">
            <a:avLst/>
          </a:prstGeom>
          <a:solidFill>
            <a:srgbClr val="171721"/>
          </a:solidFill>
          <a:ln w="12700">
            <a:solidFill>
              <a:srgbClr val="171721"/>
            </a:solidFill>
            <a:prstDash val="solid"/>
          </a:ln>
        </p:spPr>
      </p:sp>
      <p:pic>
        <p:nvPicPr>
          <p:cNvPr id="21" name="Image 3" descr="preencoded.png">    </p:cNvPr>
          <p:cNvPicPr>
            <a:picLocks noChangeAspect="1"/>
          </p:cNvPicPr>
          <p:nvPr/>
        </p:nvPicPr>
        <p:blipFill>
          <a:blip r:embed="rId4"/>
          <a:stretch>
            <a:fillRect/>
          </a:stretch>
        </p:blipFill>
        <p:spPr>
          <a:xfrm>
            <a:off x="902970" y="3783330"/>
            <a:ext cx="251460" cy="251460"/>
          </a:xfrm>
          <a:prstGeom prst="rect">
            <a:avLst/>
          </a:prstGeom>
        </p:spPr>
      </p:pic>
      <p:sp>
        <p:nvSpPr>
          <p:cNvPr id="22" name="Text 16"/>
          <p:cNvSpPr txBox="1"/>
          <p:nvPr/>
        </p:nvSpPr>
        <p:spPr>
          <a:xfrm>
            <a:off x="1417320" y="3657600"/>
            <a:ext cx="251460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Kill switch and rollback</a:t>
            </a:r>
            <a:endParaRPr lang="en-US" sz="1500" dirty="0"/>
          </a:p>
        </p:txBody>
      </p:sp>
      <p:sp>
        <p:nvSpPr>
          <p:cNvPr id="23" name="Text 17"/>
          <p:cNvSpPr txBox="1"/>
          <p:nvPr/>
        </p:nvSpPr>
        <p:spPr>
          <a:xfrm>
            <a:off x="777240" y="4251960"/>
            <a:ext cx="3108960" cy="77724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One click stops the drill; rollback restores the primary region and the database role.</a:t>
            </a:r>
            <a:endParaRPr lang="en-US" sz="1200" dirty="0"/>
          </a:p>
        </p:txBody>
      </p:sp>
      <p:sp>
        <p:nvSpPr>
          <p:cNvPr id="24" name="Shape 18"/>
          <p:cNvSpPr/>
          <p:nvPr/>
        </p:nvSpPr>
        <p:spPr>
          <a:xfrm>
            <a:off x="4297680" y="3429000"/>
            <a:ext cx="3520440" cy="1645920"/>
          </a:xfrm>
          <a:prstGeom prst="roundRect">
            <a:avLst>
              <a:gd name="adj" fmla="val 444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25" name="Shape 19"/>
          <p:cNvSpPr/>
          <p:nvPr/>
        </p:nvSpPr>
        <p:spPr>
          <a:xfrm>
            <a:off x="4526280" y="3657600"/>
            <a:ext cx="502920" cy="502920"/>
          </a:xfrm>
          <a:prstGeom prst="ellipse">
            <a:avLst/>
          </a:prstGeom>
          <a:solidFill>
            <a:srgbClr val="171721"/>
          </a:solidFill>
          <a:ln w="12700">
            <a:solidFill>
              <a:srgbClr val="171721"/>
            </a:solidFill>
            <a:prstDash val="solid"/>
          </a:ln>
        </p:spPr>
      </p:sp>
      <p:pic>
        <p:nvPicPr>
          <p:cNvPr id="26" name="Image 4" descr="preencoded.png">    </p:cNvPr>
          <p:cNvPicPr>
            <a:picLocks noChangeAspect="1"/>
          </p:cNvPicPr>
          <p:nvPr/>
        </p:nvPicPr>
        <p:blipFill>
          <a:blip r:embed="rId5"/>
          <a:stretch>
            <a:fillRect/>
          </a:stretch>
        </p:blipFill>
        <p:spPr>
          <a:xfrm>
            <a:off x="4652010" y="3783330"/>
            <a:ext cx="251460" cy="251460"/>
          </a:xfrm>
          <a:prstGeom prst="rect">
            <a:avLst/>
          </a:prstGeom>
        </p:spPr>
      </p:pic>
      <p:sp>
        <p:nvSpPr>
          <p:cNvPr id="27" name="Text 20"/>
          <p:cNvSpPr txBox="1"/>
          <p:nvPr/>
        </p:nvSpPr>
        <p:spPr>
          <a:xfrm>
            <a:off x="5166360" y="3657600"/>
            <a:ext cx="251460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Fallback for every agent</a:t>
            </a:r>
            <a:endParaRPr lang="en-US" sz="1500" dirty="0"/>
          </a:p>
        </p:txBody>
      </p:sp>
      <p:sp>
        <p:nvSpPr>
          <p:cNvPr id="28" name="Text 21"/>
          <p:cNvSpPr txBox="1"/>
          <p:nvPr/>
        </p:nvSpPr>
        <p:spPr>
          <a:xfrm>
            <a:off x="4526280" y="4251960"/>
            <a:ext cx="3108960" cy="77724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Foundry agent → model deployment → deterministic rules. The screen shows which one answered.</a:t>
            </a:r>
            <a:endParaRPr lang="en-US" sz="1200" dirty="0"/>
          </a:p>
        </p:txBody>
      </p:sp>
      <p:sp>
        <p:nvSpPr>
          <p:cNvPr id="29" name="Shape 22"/>
          <p:cNvSpPr/>
          <p:nvPr/>
        </p:nvSpPr>
        <p:spPr>
          <a:xfrm>
            <a:off x="8046720" y="3429000"/>
            <a:ext cx="3520440" cy="1645920"/>
          </a:xfrm>
          <a:prstGeom prst="roundRect">
            <a:avLst>
              <a:gd name="adj" fmla="val 444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30" name="Shape 23"/>
          <p:cNvSpPr/>
          <p:nvPr/>
        </p:nvSpPr>
        <p:spPr>
          <a:xfrm>
            <a:off x="8275320" y="3657600"/>
            <a:ext cx="502920" cy="502920"/>
          </a:xfrm>
          <a:prstGeom prst="ellipse">
            <a:avLst/>
          </a:prstGeom>
          <a:solidFill>
            <a:srgbClr val="171721"/>
          </a:solidFill>
          <a:ln w="12700">
            <a:solidFill>
              <a:srgbClr val="171721"/>
            </a:solidFill>
            <a:prstDash val="solid"/>
          </a:ln>
        </p:spPr>
      </p:sp>
      <p:pic>
        <p:nvPicPr>
          <p:cNvPr id="31" name="Image 5" descr="preencoded.png">    </p:cNvPr>
          <p:cNvPicPr>
            <a:picLocks noChangeAspect="1"/>
          </p:cNvPicPr>
          <p:nvPr/>
        </p:nvPicPr>
        <p:blipFill>
          <a:blip r:embed="rId6"/>
          <a:stretch>
            <a:fillRect/>
          </a:stretch>
        </p:blipFill>
        <p:spPr>
          <a:xfrm>
            <a:off x="8401050" y="3783330"/>
            <a:ext cx="251460" cy="251460"/>
          </a:xfrm>
          <a:prstGeom prst="rect">
            <a:avLst/>
          </a:prstGeom>
        </p:spPr>
      </p:pic>
      <p:sp>
        <p:nvSpPr>
          <p:cNvPr id="32" name="Text 24"/>
          <p:cNvSpPr txBox="1"/>
          <p:nvPr/>
        </p:nvSpPr>
        <p:spPr>
          <a:xfrm>
            <a:off x="8915400" y="3657600"/>
            <a:ext cx="251460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Full audit trail</a:t>
            </a:r>
            <a:endParaRPr lang="en-US" sz="1500" dirty="0"/>
          </a:p>
        </p:txBody>
      </p:sp>
      <p:sp>
        <p:nvSpPr>
          <p:cNvPr id="33" name="Text 25"/>
          <p:cNvSpPr txBox="1"/>
          <p:nvPr/>
        </p:nvSpPr>
        <p:spPr>
          <a:xfrm>
            <a:off x="8275320" y="4251960"/>
            <a:ext cx="3108960" cy="77724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Every event, approval and measurement is timestamped and stored, then written into the report.</a:t>
            </a:r>
            <a:endParaRPr lang="en-US" sz="1200" dirty="0"/>
          </a:p>
        </p:txBody>
      </p:sp>
      <p:sp>
        <p:nvSpPr>
          <p:cNvPr id="34" name="Shape 26"/>
          <p:cNvSpPr/>
          <p:nvPr/>
        </p:nvSpPr>
        <p:spPr>
          <a:xfrm>
            <a:off x="548640" y="5349240"/>
            <a:ext cx="11064240" cy="914400"/>
          </a:xfrm>
          <a:prstGeom prst="roundRect">
            <a:avLst>
              <a:gd name="adj" fmla="val 8000"/>
            </a:avLst>
          </a:prstGeom>
          <a:solidFill>
            <a:srgbClr val="171721"/>
          </a:solidFill>
          <a:ln w="12700">
            <a:solidFill>
              <a:srgbClr val="171721"/>
            </a:solidFill>
            <a:prstDash val="solid"/>
          </a:ln>
        </p:spPr>
      </p:sp>
      <p:sp>
        <p:nvSpPr>
          <p:cNvPr id="35" name="Text 27"/>
          <p:cNvSpPr txBox="1"/>
          <p:nvPr/>
        </p:nvSpPr>
        <p:spPr>
          <a:xfrm>
            <a:off x="777240" y="5349240"/>
            <a:ext cx="10607040" cy="9144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Proven in a chaos drill: </a:t>
            </a:r>
            <a:pPr indent="0" marL="0">
              <a:buNone/>
            </a:pPr>
            <a:r>
              <a:rPr lang="en-US" sz="1400" dirty="0">
                <a:solidFill>
                  <a:srgbClr val="C9C3E6"/>
                </a:solidFill>
                <a:latin typeface="Calibri" pitchFamily="34" charset="0"/>
                <a:ea typeface="Calibri" pitchFamily="34" charset="-122"/>
                <a:cs typeface="Calibri" pitchFamily="34" charset="-120"/>
              </a:rPr>
              <a:t>we disabled the DR traffic endpoint mid-failover. The Validator diagnosed it from live probes, proposed the allowlisted fix, a human approved, and recovery completed in 57.4 s.</a:t>
            </a:r>
            <a:endParaRPr lang="en-US" sz="1400" dirty="0"/>
          </a:p>
        </p:txBody>
      </p:sp>
      <p:sp>
        <p:nvSpPr>
          <p:cNvPr id="36" name="Text 28"/>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Architecture: 100% Azure, across an Azure paired region</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East Asia (primary) and Southeast Asia (DR). The control plane runs outside both: console in South India, its state and secrets in Central India, agents in East US 2.</a:t>
            </a:r>
            <a:endParaRPr lang="en-US" sz="1500" dirty="0"/>
          </a:p>
        </p:txBody>
      </p:sp>
      <p:pic>
        <p:nvPicPr>
          <p:cNvPr id="4" name="Image 0" descr="docs/deck/architecture-deck.png">    </p:cNvPr>
          <p:cNvPicPr>
            <a:picLocks noChangeAspect="1"/>
          </p:cNvPicPr>
          <p:nvPr/>
        </p:nvPicPr>
        <p:blipFill>
          <a:blip r:embed="rId1"/>
          <a:stretch>
            <a:fillRect/>
          </a:stretch>
        </p:blipFill>
        <p:spPr>
          <a:xfrm>
            <a:off x="548640" y="1508760"/>
            <a:ext cx="11064240" cy="4552474"/>
          </a:xfrm>
          <a:prstGeom prst="rect">
            <a:avLst/>
          </a:prstGeom>
        </p:spPr>
      </p:pic>
      <p:sp>
        <p:nvSpPr>
          <p:cNvPr id="5" name="Shape 2"/>
          <p:cNvSpPr/>
          <p:nvPr/>
        </p:nvSpPr>
        <p:spPr>
          <a:xfrm>
            <a:off x="548640" y="6144768"/>
            <a:ext cx="1170432" cy="292608"/>
          </a:xfrm>
          <a:prstGeom prst="roundRect">
            <a:avLst>
              <a:gd name="adj" fmla="val 18750"/>
            </a:avLst>
          </a:prstGeom>
          <a:solidFill>
            <a:srgbClr val="EFE9FF"/>
          </a:solidFill>
          <a:ln w="12700">
            <a:solidFill>
              <a:srgbClr val="EFE9FF"/>
            </a:solidFill>
            <a:prstDash val="solid"/>
          </a:ln>
        </p:spPr>
      </p:sp>
      <p:sp>
        <p:nvSpPr>
          <p:cNvPr id="6" name="Text 3"/>
          <p:cNvSpPr txBox="1"/>
          <p:nvPr/>
        </p:nvSpPr>
        <p:spPr>
          <a:xfrm>
            <a:off x="548640"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App Service ×2</a:t>
            </a:r>
            <a:endParaRPr lang="en-US" sz="850" dirty="0"/>
          </a:p>
        </p:txBody>
      </p:sp>
      <p:sp>
        <p:nvSpPr>
          <p:cNvPr id="7" name="Shape 4"/>
          <p:cNvSpPr/>
          <p:nvPr/>
        </p:nvSpPr>
        <p:spPr>
          <a:xfrm>
            <a:off x="1787652" y="6144768"/>
            <a:ext cx="1170432" cy="292608"/>
          </a:xfrm>
          <a:prstGeom prst="roundRect">
            <a:avLst>
              <a:gd name="adj" fmla="val 18750"/>
            </a:avLst>
          </a:prstGeom>
          <a:solidFill>
            <a:srgbClr val="EFE9FF"/>
          </a:solidFill>
          <a:ln w="12700">
            <a:solidFill>
              <a:srgbClr val="EFE9FF"/>
            </a:solidFill>
            <a:prstDash val="solid"/>
          </a:ln>
        </p:spPr>
      </p:sp>
      <p:sp>
        <p:nvSpPr>
          <p:cNvPr id="8" name="Text 5"/>
          <p:cNvSpPr txBox="1"/>
          <p:nvPr/>
        </p:nvSpPr>
        <p:spPr>
          <a:xfrm>
            <a:off x="1787652"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Azure SQL failover group</a:t>
            </a:r>
            <a:endParaRPr lang="en-US" sz="850" dirty="0"/>
          </a:p>
        </p:txBody>
      </p:sp>
      <p:sp>
        <p:nvSpPr>
          <p:cNvPr id="9" name="Shape 6"/>
          <p:cNvSpPr/>
          <p:nvPr/>
        </p:nvSpPr>
        <p:spPr>
          <a:xfrm>
            <a:off x="3026664" y="6144768"/>
            <a:ext cx="1170432" cy="292608"/>
          </a:xfrm>
          <a:prstGeom prst="roundRect">
            <a:avLst>
              <a:gd name="adj" fmla="val 18750"/>
            </a:avLst>
          </a:prstGeom>
          <a:solidFill>
            <a:srgbClr val="EFE9FF"/>
          </a:solidFill>
          <a:ln w="12700">
            <a:solidFill>
              <a:srgbClr val="EFE9FF"/>
            </a:solidFill>
            <a:prstDash val="solid"/>
          </a:ln>
        </p:spPr>
      </p:sp>
      <p:sp>
        <p:nvSpPr>
          <p:cNvPr id="10" name="Text 7"/>
          <p:cNvSpPr txBox="1"/>
          <p:nvPr/>
        </p:nvSpPr>
        <p:spPr>
          <a:xfrm>
            <a:off x="3026664"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Traffic Manager</a:t>
            </a:r>
            <a:endParaRPr lang="en-US" sz="850" dirty="0"/>
          </a:p>
        </p:txBody>
      </p:sp>
      <p:sp>
        <p:nvSpPr>
          <p:cNvPr id="11" name="Shape 8"/>
          <p:cNvSpPr/>
          <p:nvPr/>
        </p:nvSpPr>
        <p:spPr>
          <a:xfrm>
            <a:off x="4265676" y="6144768"/>
            <a:ext cx="1170432" cy="292608"/>
          </a:xfrm>
          <a:prstGeom prst="roundRect">
            <a:avLst>
              <a:gd name="adj" fmla="val 18750"/>
            </a:avLst>
          </a:prstGeom>
          <a:solidFill>
            <a:srgbClr val="EFE9FF"/>
          </a:solidFill>
          <a:ln w="12700">
            <a:solidFill>
              <a:srgbClr val="EFE9FF"/>
            </a:solidFill>
            <a:prstDash val="solid"/>
          </a:ln>
        </p:spPr>
      </p:sp>
      <p:sp>
        <p:nvSpPr>
          <p:cNvPr id="12" name="Text 9"/>
          <p:cNvSpPr txBox="1"/>
          <p:nvPr/>
        </p:nvSpPr>
        <p:spPr>
          <a:xfrm>
            <a:off x="4265676"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Site Recovery</a:t>
            </a:r>
            <a:endParaRPr lang="en-US" sz="850" dirty="0"/>
          </a:p>
        </p:txBody>
      </p:sp>
      <p:sp>
        <p:nvSpPr>
          <p:cNvPr id="13" name="Shape 10"/>
          <p:cNvSpPr/>
          <p:nvPr/>
        </p:nvSpPr>
        <p:spPr>
          <a:xfrm>
            <a:off x="5504688" y="6144768"/>
            <a:ext cx="1170432" cy="292608"/>
          </a:xfrm>
          <a:prstGeom prst="roundRect">
            <a:avLst>
              <a:gd name="adj" fmla="val 18750"/>
            </a:avLst>
          </a:prstGeom>
          <a:solidFill>
            <a:srgbClr val="EFE9FF"/>
          </a:solidFill>
          <a:ln w="12700">
            <a:solidFill>
              <a:srgbClr val="EFE9FF"/>
            </a:solidFill>
            <a:prstDash val="solid"/>
          </a:ln>
        </p:spPr>
      </p:sp>
      <p:sp>
        <p:nvSpPr>
          <p:cNvPr id="14" name="Text 11"/>
          <p:cNvSpPr txBox="1"/>
          <p:nvPr/>
        </p:nvSpPr>
        <p:spPr>
          <a:xfrm>
            <a:off x="5504688"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AI Foundry Agent Service</a:t>
            </a:r>
            <a:endParaRPr lang="en-US" sz="850" dirty="0"/>
          </a:p>
        </p:txBody>
      </p:sp>
      <p:sp>
        <p:nvSpPr>
          <p:cNvPr id="15" name="Shape 12"/>
          <p:cNvSpPr/>
          <p:nvPr/>
        </p:nvSpPr>
        <p:spPr>
          <a:xfrm>
            <a:off x="6743700" y="6144768"/>
            <a:ext cx="1170432" cy="292608"/>
          </a:xfrm>
          <a:prstGeom prst="roundRect">
            <a:avLst>
              <a:gd name="adj" fmla="val 18750"/>
            </a:avLst>
          </a:prstGeom>
          <a:solidFill>
            <a:srgbClr val="EFE9FF"/>
          </a:solidFill>
          <a:ln w="12700">
            <a:solidFill>
              <a:srgbClr val="EFE9FF"/>
            </a:solidFill>
            <a:prstDash val="solid"/>
          </a:ln>
        </p:spPr>
      </p:sp>
      <p:sp>
        <p:nvSpPr>
          <p:cNvPr id="16" name="Text 13"/>
          <p:cNvSpPr txBox="1"/>
          <p:nvPr/>
        </p:nvSpPr>
        <p:spPr>
          <a:xfrm>
            <a:off x="6743700"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Key Vault + managed identity</a:t>
            </a:r>
            <a:endParaRPr lang="en-US" sz="850" dirty="0"/>
          </a:p>
        </p:txBody>
      </p:sp>
      <p:sp>
        <p:nvSpPr>
          <p:cNvPr id="17" name="Shape 14"/>
          <p:cNvSpPr/>
          <p:nvPr/>
        </p:nvSpPr>
        <p:spPr>
          <a:xfrm>
            <a:off x="7982712" y="6144768"/>
            <a:ext cx="1170432" cy="292608"/>
          </a:xfrm>
          <a:prstGeom prst="roundRect">
            <a:avLst>
              <a:gd name="adj" fmla="val 18750"/>
            </a:avLst>
          </a:prstGeom>
          <a:solidFill>
            <a:srgbClr val="EFE9FF"/>
          </a:solidFill>
          <a:ln w="12700">
            <a:solidFill>
              <a:srgbClr val="EFE9FF"/>
            </a:solidFill>
            <a:prstDash val="solid"/>
          </a:ln>
        </p:spPr>
      </p:sp>
      <p:sp>
        <p:nvSpPr>
          <p:cNvPr id="18" name="Text 15"/>
          <p:cNvSpPr txBox="1"/>
          <p:nvPr/>
        </p:nvSpPr>
        <p:spPr>
          <a:xfrm>
            <a:off x="7982712"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Storage</a:t>
            </a:r>
            <a:endParaRPr lang="en-US" sz="850" dirty="0"/>
          </a:p>
        </p:txBody>
      </p:sp>
      <p:sp>
        <p:nvSpPr>
          <p:cNvPr id="19" name="Shape 16"/>
          <p:cNvSpPr/>
          <p:nvPr/>
        </p:nvSpPr>
        <p:spPr>
          <a:xfrm>
            <a:off x="9221724" y="6144768"/>
            <a:ext cx="1170432" cy="292608"/>
          </a:xfrm>
          <a:prstGeom prst="roundRect">
            <a:avLst>
              <a:gd name="adj" fmla="val 18750"/>
            </a:avLst>
          </a:prstGeom>
          <a:solidFill>
            <a:srgbClr val="EFE9FF"/>
          </a:solidFill>
          <a:ln w="12700">
            <a:solidFill>
              <a:srgbClr val="EFE9FF"/>
            </a:solidFill>
            <a:prstDash val="solid"/>
          </a:ln>
        </p:spPr>
      </p:sp>
      <p:sp>
        <p:nvSpPr>
          <p:cNvPr id="20" name="Text 17"/>
          <p:cNvSpPr txBox="1"/>
          <p:nvPr/>
        </p:nvSpPr>
        <p:spPr>
          <a:xfrm>
            <a:off x="9221724"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Monitor + App Insights</a:t>
            </a:r>
            <a:endParaRPr lang="en-US" sz="850" dirty="0"/>
          </a:p>
        </p:txBody>
      </p:sp>
      <p:sp>
        <p:nvSpPr>
          <p:cNvPr id="21" name="Shape 18"/>
          <p:cNvSpPr/>
          <p:nvPr/>
        </p:nvSpPr>
        <p:spPr>
          <a:xfrm>
            <a:off x="10460736" y="6144768"/>
            <a:ext cx="1170432" cy="292608"/>
          </a:xfrm>
          <a:prstGeom prst="roundRect">
            <a:avLst>
              <a:gd name="adj" fmla="val 18750"/>
            </a:avLst>
          </a:prstGeom>
          <a:solidFill>
            <a:srgbClr val="EFE9FF"/>
          </a:solidFill>
          <a:ln w="12700">
            <a:solidFill>
              <a:srgbClr val="EFE9FF"/>
            </a:solidFill>
            <a:prstDash val="solid"/>
          </a:ln>
        </p:spPr>
      </p:sp>
      <p:sp>
        <p:nvSpPr>
          <p:cNvPr id="22" name="Text 19"/>
          <p:cNvSpPr txBox="1"/>
          <p:nvPr/>
        </p:nvSpPr>
        <p:spPr>
          <a:xfrm>
            <a:off x="10460736"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Bicep: one-click up / down</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Measured on live Azure, not assumed</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Real failovers of the payments service, East Asia → Southeast Asia, 17–19 Oct 2026. Target: RTO 30 min, RPO 15 min.</a:t>
            </a:r>
            <a:endParaRPr lang="en-US" sz="1500" dirty="0"/>
          </a:p>
        </p:txBody>
      </p:sp>
      <p:sp>
        <p:nvSpPr>
          <p:cNvPr id="4" name="Shape 2"/>
          <p:cNvSpPr/>
          <p:nvPr/>
        </p:nvSpPr>
        <p:spPr>
          <a:xfrm>
            <a:off x="548640" y="1600200"/>
            <a:ext cx="2633472" cy="1691640"/>
          </a:xfrm>
          <a:prstGeom prst="roundRect">
            <a:avLst>
              <a:gd name="adj" fmla="val 432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31520" y="1737360"/>
            <a:ext cx="2286000" cy="685800"/>
          </a:xfrm>
          <a:prstGeom prst="rect">
            <a:avLst/>
          </a:prstGeom>
          <a:noFill/>
          <a:ln/>
        </p:spPr>
        <p:txBody>
          <a:bodyPr wrap="square" lIns="0" tIns="0" rIns="0" bIns="0" rtlCol="0" anchor="ctr"/>
          <a:lstStyle/>
          <a:p>
            <a:pPr indent="0" marL="0">
              <a:buNone/>
            </a:pPr>
            <a:r>
              <a:rPr lang="en-US" sz="3000" b="1" dirty="0">
                <a:solidFill>
                  <a:srgbClr val="5E2CFE"/>
                </a:solidFill>
                <a:latin typeface="Calibri" pitchFamily="34" charset="0"/>
                <a:ea typeface="Calibri" pitchFamily="34" charset="-122"/>
                <a:cs typeface="Calibri" pitchFamily="34" charset="-120"/>
              </a:rPr>
              <a:t>29.04 s</a:t>
            </a:r>
            <a:endParaRPr lang="en-US" sz="3000" dirty="0"/>
          </a:p>
        </p:txBody>
      </p:sp>
      <p:sp>
        <p:nvSpPr>
          <p:cNvPr id="6" name="Text 4"/>
          <p:cNvSpPr txBox="1"/>
          <p:nvPr/>
        </p:nvSpPr>
        <p:spPr>
          <a:xfrm>
            <a:off x="731520" y="2423160"/>
            <a:ext cx="2286000" cy="320040"/>
          </a:xfrm>
          <a:prstGeom prst="rect">
            <a:avLst/>
          </a:prstGeom>
          <a:noFill/>
          <a:ln/>
        </p:spPr>
        <p:txBody>
          <a:bodyPr wrap="square" lIns="0" tIns="0" rIns="0" bIns="0" rtlCol="0" anchor="ctr"/>
          <a:lstStyle/>
          <a:p>
            <a:pPr indent="0" marL="0">
              <a:buNone/>
            </a:pPr>
            <a:r>
              <a:rPr lang="en-US" sz="1300" b="1" dirty="0">
                <a:solidFill>
                  <a:srgbClr val="171721"/>
                </a:solidFill>
                <a:latin typeface="Calibri" pitchFamily="34" charset="0"/>
                <a:ea typeface="Calibri" pitchFamily="34" charset="-122"/>
                <a:cs typeface="Calibri" pitchFamily="34" charset="-120"/>
              </a:rPr>
              <a:t>RTO, latest drill</a:t>
            </a:r>
            <a:endParaRPr lang="en-US" sz="1300" dirty="0"/>
          </a:p>
        </p:txBody>
      </p:sp>
      <p:sp>
        <p:nvSpPr>
          <p:cNvPr id="7" name="Text 5"/>
          <p:cNvSpPr txBox="1"/>
          <p:nvPr/>
        </p:nvSpPr>
        <p:spPr>
          <a:xfrm>
            <a:off x="731520" y="2743200"/>
            <a:ext cx="2331720" cy="45720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29.0–40.4 s across 9 drills (median 32.7 s)</a:t>
            </a:r>
            <a:endParaRPr lang="en-US" sz="1100" dirty="0"/>
          </a:p>
        </p:txBody>
      </p:sp>
      <p:sp>
        <p:nvSpPr>
          <p:cNvPr id="8" name="Shape 6"/>
          <p:cNvSpPr/>
          <p:nvPr/>
        </p:nvSpPr>
        <p:spPr>
          <a:xfrm>
            <a:off x="3346704" y="1600200"/>
            <a:ext cx="2633472" cy="1691640"/>
          </a:xfrm>
          <a:prstGeom prst="roundRect">
            <a:avLst>
              <a:gd name="adj" fmla="val 432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3529584" y="1737360"/>
            <a:ext cx="2286000" cy="685800"/>
          </a:xfrm>
          <a:prstGeom prst="rect">
            <a:avLst/>
          </a:prstGeom>
          <a:noFill/>
          <a:ln/>
        </p:spPr>
        <p:txBody>
          <a:bodyPr wrap="square" lIns="0" tIns="0" rIns="0" bIns="0" rtlCol="0" anchor="ctr"/>
          <a:lstStyle/>
          <a:p>
            <a:pPr indent="0" marL="0">
              <a:buNone/>
            </a:pPr>
            <a:r>
              <a:rPr lang="en-US" sz="3000" b="1" dirty="0">
                <a:solidFill>
                  <a:srgbClr val="5E2CFE"/>
                </a:solidFill>
                <a:latin typeface="Calibri" pitchFamily="34" charset="0"/>
                <a:ea typeface="Calibri" pitchFamily="34" charset="-122"/>
                <a:cs typeface="Calibri" pitchFamily="34" charset="-120"/>
              </a:rPr>
              <a:t>2.8 s</a:t>
            </a:r>
            <a:endParaRPr lang="en-US" sz="3000" dirty="0"/>
          </a:p>
        </p:txBody>
      </p:sp>
      <p:sp>
        <p:nvSpPr>
          <p:cNvPr id="10" name="Text 8"/>
          <p:cNvSpPr txBox="1"/>
          <p:nvPr/>
        </p:nvSpPr>
        <p:spPr>
          <a:xfrm>
            <a:off x="3529584" y="2423160"/>
            <a:ext cx="2286000" cy="320040"/>
          </a:xfrm>
          <a:prstGeom prst="rect">
            <a:avLst/>
          </a:prstGeom>
          <a:noFill/>
          <a:ln/>
        </p:spPr>
        <p:txBody>
          <a:bodyPr wrap="square" lIns="0" tIns="0" rIns="0" bIns="0" rtlCol="0" anchor="ctr"/>
          <a:lstStyle/>
          <a:p>
            <a:pPr indent="0" marL="0">
              <a:buNone/>
            </a:pPr>
            <a:r>
              <a:rPr lang="en-US" sz="1300" b="1" dirty="0">
                <a:solidFill>
                  <a:srgbClr val="171721"/>
                </a:solidFill>
                <a:latin typeface="Calibri" pitchFamily="34" charset="0"/>
                <a:ea typeface="Calibri" pitchFamily="34" charset="-122"/>
                <a:cs typeface="Calibri" pitchFamily="34" charset="-120"/>
              </a:rPr>
              <a:t>RPO, proven write by write</a:t>
            </a:r>
            <a:endParaRPr lang="en-US" sz="1300" dirty="0"/>
          </a:p>
        </p:txBody>
      </p:sp>
      <p:sp>
        <p:nvSpPr>
          <p:cNvPr id="11" name="Text 9"/>
          <p:cNvSpPr txBox="1"/>
          <p:nvPr/>
        </p:nvSpPr>
        <p:spPr>
          <a:xfrm>
            <a:off x="3529584" y="2743200"/>
            <a:ext cx="2331720" cy="45720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2 of 45 acknowledged writes lost in the forced failover</a:t>
            </a:r>
            <a:endParaRPr lang="en-US" sz="1100" dirty="0"/>
          </a:p>
        </p:txBody>
      </p:sp>
      <p:sp>
        <p:nvSpPr>
          <p:cNvPr id="12" name="Shape 10"/>
          <p:cNvSpPr/>
          <p:nvPr/>
        </p:nvSpPr>
        <p:spPr>
          <a:xfrm>
            <a:off x="6144768" y="1600200"/>
            <a:ext cx="2633472" cy="1691640"/>
          </a:xfrm>
          <a:prstGeom prst="roundRect">
            <a:avLst>
              <a:gd name="adj" fmla="val 432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327648" y="1737360"/>
            <a:ext cx="2286000" cy="685800"/>
          </a:xfrm>
          <a:prstGeom prst="rect">
            <a:avLst/>
          </a:prstGeom>
          <a:noFill/>
          <a:ln/>
        </p:spPr>
        <p:txBody>
          <a:bodyPr wrap="square" lIns="0" tIns="0" rIns="0" bIns="0" rtlCol="0" anchor="ctr"/>
          <a:lstStyle/>
          <a:p>
            <a:pPr indent="0" marL="0">
              <a:buNone/>
            </a:pPr>
            <a:r>
              <a:rPr lang="en-US" sz="3000" b="1" dirty="0">
                <a:solidFill>
                  <a:srgbClr val="171721"/>
                </a:solidFill>
                <a:latin typeface="Calibri" pitchFamily="34" charset="0"/>
                <a:ea typeface="Calibri" pitchFamily="34" charset="-122"/>
                <a:cs typeface="Calibri" pitchFamily="34" charset="-120"/>
              </a:rPr>
              <a:t>3 min 44 s</a:t>
            </a:r>
            <a:endParaRPr lang="en-US" sz="3000" dirty="0"/>
          </a:p>
        </p:txBody>
      </p:sp>
      <p:sp>
        <p:nvSpPr>
          <p:cNvPr id="14" name="Text 12"/>
          <p:cNvSpPr txBox="1"/>
          <p:nvPr/>
        </p:nvSpPr>
        <p:spPr>
          <a:xfrm>
            <a:off x="6327648" y="2423160"/>
            <a:ext cx="2286000" cy="320040"/>
          </a:xfrm>
          <a:prstGeom prst="rect">
            <a:avLst/>
          </a:prstGeom>
          <a:noFill/>
          <a:ln/>
        </p:spPr>
        <p:txBody>
          <a:bodyPr wrap="square" lIns="0" tIns="0" rIns="0" bIns="0" rtlCol="0" anchor="ctr"/>
          <a:lstStyle/>
          <a:p>
            <a:pPr indent="0" marL="0">
              <a:buNone/>
            </a:pPr>
            <a:r>
              <a:rPr lang="en-US" sz="1300" b="1" dirty="0">
                <a:solidFill>
                  <a:srgbClr val="171721"/>
                </a:solidFill>
                <a:latin typeface="Calibri" pitchFamily="34" charset="0"/>
                <a:ea typeface="Calibri" pitchFamily="34" charset="-122"/>
                <a:cs typeface="Calibri" pitchFamily="34" charset="-120"/>
              </a:rPr>
              <a:t>Failback to primary</a:t>
            </a:r>
            <a:endParaRPr lang="en-US" sz="1300" dirty="0"/>
          </a:p>
        </p:txBody>
      </p:sp>
      <p:sp>
        <p:nvSpPr>
          <p:cNvPr id="15" name="Text 13"/>
          <p:cNvSpPr txBox="1"/>
          <p:nvPr/>
        </p:nvSpPr>
        <p:spPr>
          <a:xfrm>
            <a:off x="6327648" y="2743200"/>
            <a:ext cx="2331720" cy="45720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planned, no data loss</a:t>
            </a:r>
            <a:endParaRPr lang="en-US" sz="1100" dirty="0"/>
          </a:p>
        </p:txBody>
      </p:sp>
      <p:sp>
        <p:nvSpPr>
          <p:cNvPr id="16" name="Shape 14"/>
          <p:cNvSpPr/>
          <p:nvPr/>
        </p:nvSpPr>
        <p:spPr>
          <a:xfrm>
            <a:off x="8942832" y="1600200"/>
            <a:ext cx="2633472" cy="1691640"/>
          </a:xfrm>
          <a:prstGeom prst="roundRect">
            <a:avLst>
              <a:gd name="adj" fmla="val 432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7" name="Text 15"/>
          <p:cNvSpPr txBox="1"/>
          <p:nvPr/>
        </p:nvSpPr>
        <p:spPr>
          <a:xfrm>
            <a:off x="9125712" y="1737360"/>
            <a:ext cx="2286000" cy="685800"/>
          </a:xfrm>
          <a:prstGeom prst="rect">
            <a:avLst/>
          </a:prstGeom>
          <a:noFill/>
          <a:ln/>
        </p:spPr>
        <p:txBody>
          <a:bodyPr wrap="square" lIns="0" tIns="0" rIns="0" bIns="0" rtlCol="0" anchor="ctr"/>
          <a:lstStyle/>
          <a:p>
            <a:pPr indent="0" marL="0">
              <a:buNone/>
            </a:pPr>
            <a:r>
              <a:rPr lang="en-US" sz="3000" b="1" dirty="0">
                <a:solidFill>
                  <a:srgbClr val="171721"/>
                </a:solidFill>
                <a:latin typeface="Calibri" pitchFamily="34" charset="0"/>
                <a:ea typeface="Calibri" pitchFamily="34" charset="-122"/>
                <a:cs typeface="Calibri" pitchFamily="34" charset="-120"/>
              </a:rPr>
              <a:t>3 min 08 s</a:t>
            </a:r>
            <a:endParaRPr lang="en-US" sz="3000" dirty="0"/>
          </a:p>
        </p:txBody>
      </p:sp>
      <p:sp>
        <p:nvSpPr>
          <p:cNvPr id="18" name="Text 16"/>
          <p:cNvSpPr txBox="1"/>
          <p:nvPr/>
        </p:nvSpPr>
        <p:spPr>
          <a:xfrm>
            <a:off x="9125712" y="2423160"/>
            <a:ext cx="2286000" cy="320040"/>
          </a:xfrm>
          <a:prstGeom prst="rect">
            <a:avLst/>
          </a:prstGeom>
          <a:noFill/>
          <a:ln/>
        </p:spPr>
        <p:txBody>
          <a:bodyPr wrap="square" lIns="0" tIns="0" rIns="0" bIns="0" rtlCol="0" anchor="ctr"/>
          <a:lstStyle/>
          <a:p>
            <a:pPr indent="0" marL="0">
              <a:buNone/>
            </a:pPr>
            <a:r>
              <a:rPr lang="en-US" sz="1300" b="1" dirty="0">
                <a:solidFill>
                  <a:srgbClr val="171721"/>
                </a:solidFill>
                <a:latin typeface="Calibri" pitchFamily="34" charset="0"/>
                <a:ea typeface="Calibri" pitchFamily="34" charset="-122"/>
                <a:cs typeface="Calibri" pitchFamily="34" charset="-120"/>
              </a:rPr>
              <a:t>VM recovered by Site Recovery</a:t>
            </a:r>
            <a:endParaRPr lang="en-US" sz="1300" dirty="0"/>
          </a:p>
        </p:txBody>
      </p:sp>
      <p:sp>
        <p:nvSpPr>
          <p:cNvPr id="19" name="Text 17"/>
          <p:cNvSpPr txBox="1"/>
          <p:nvPr/>
        </p:nvSpPr>
        <p:spPr>
          <a:xfrm>
            <a:off x="9125712" y="2743200"/>
            <a:ext cx="2331720" cy="45720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test-failover job; service verified inside the VM at 3 min 55 s</a:t>
            </a:r>
            <a:endParaRPr lang="en-US" sz="1100" dirty="0"/>
          </a:p>
        </p:txBody>
      </p:sp>
      <p:sp>
        <p:nvSpPr>
          <p:cNvPr id="20" name="Text 18"/>
          <p:cNvSpPr txBox="1"/>
          <p:nvPr/>
        </p:nvSpPr>
        <p:spPr>
          <a:xfrm>
            <a:off x="548640" y="3566160"/>
            <a:ext cx="1106424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Where the 29.04 s went (latest drill, one clock, segments add up exactly)</a:t>
            </a:r>
            <a:endParaRPr lang="en-US" sz="1400" dirty="0"/>
          </a:p>
        </p:txBody>
      </p:sp>
      <p:sp>
        <p:nvSpPr>
          <p:cNvPr id="21" name="Shape 19"/>
          <p:cNvSpPr/>
          <p:nvPr/>
        </p:nvSpPr>
        <p:spPr>
          <a:xfrm>
            <a:off x="548640" y="3977640"/>
            <a:ext cx="272034" cy="457200"/>
          </a:xfrm>
          <a:prstGeom prst="rect">
            <a:avLst/>
          </a:prstGeom>
          <a:solidFill>
            <a:srgbClr val="9F86FF"/>
          </a:solidFill>
          <a:ln w="12700">
            <a:solidFill>
              <a:srgbClr val="FFFFFF"/>
            </a:solidFill>
            <a:prstDash val="solid"/>
          </a:ln>
        </p:spPr>
      </p:sp>
      <p:sp>
        <p:nvSpPr>
          <p:cNvPr id="22" name="Shape 20"/>
          <p:cNvSpPr/>
          <p:nvPr/>
        </p:nvSpPr>
        <p:spPr>
          <a:xfrm>
            <a:off x="820674" y="3977640"/>
            <a:ext cx="5456301" cy="457200"/>
          </a:xfrm>
          <a:prstGeom prst="rect">
            <a:avLst/>
          </a:prstGeom>
          <a:solidFill>
            <a:srgbClr val="5E2CFE"/>
          </a:solidFill>
          <a:ln w="12700">
            <a:solidFill>
              <a:srgbClr val="FFFFFF"/>
            </a:solidFill>
            <a:prstDash val="solid"/>
          </a:ln>
        </p:spPr>
      </p:sp>
      <p:sp>
        <p:nvSpPr>
          <p:cNvPr id="23" name="Text 21"/>
          <p:cNvSpPr txBox="1"/>
          <p:nvPr/>
        </p:nvSpPr>
        <p:spPr>
          <a:xfrm>
            <a:off x="820674" y="3977640"/>
            <a:ext cx="5456301"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14.321 s</a:t>
            </a:r>
            <a:endParaRPr lang="en-US" sz="1200" dirty="0"/>
          </a:p>
        </p:txBody>
      </p:sp>
      <p:sp>
        <p:nvSpPr>
          <p:cNvPr id="24" name="Shape 22"/>
          <p:cNvSpPr/>
          <p:nvPr/>
        </p:nvSpPr>
        <p:spPr>
          <a:xfrm>
            <a:off x="6276975" y="3977640"/>
            <a:ext cx="1440942" cy="457200"/>
          </a:xfrm>
          <a:prstGeom prst="rect">
            <a:avLst/>
          </a:prstGeom>
          <a:solidFill>
            <a:srgbClr val="C105B2"/>
          </a:solidFill>
          <a:ln w="12700">
            <a:solidFill>
              <a:srgbClr val="FFFFFF"/>
            </a:solidFill>
            <a:prstDash val="solid"/>
          </a:ln>
        </p:spPr>
      </p:sp>
      <p:sp>
        <p:nvSpPr>
          <p:cNvPr id="25" name="Text 23"/>
          <p:cNvSpPr txBox="1"/>
          <p:nvPr/>
        </p:nvSpPr>
        <p:spPr>
          <a:xfrm>
            <a:off x="6276975" y="3977640"/>
            <a:ext cx="1440942"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3.782 s</a:t>
            </a:r>
            <a:endParaRPr lang="en-US" sz="1200" dirty="0"/>
          </a:p>
        </p:txBody>
      </p:sp>
      <p:sp>
        <p:nvSpPr>
          <p:cNvPr id="26" name="Shape 24"/>
          <p:cNvSpPr/>
          <p:nvPr/>
        </p:nvSpPr>
        <p:spPr>
          <a:xfrm>
            <a:off x="7717917" y="3977640"/>
            <a:ext cx="3611118" cy="457200"/>
          </a:xfrm>
          <a:prstGeom prst="rect">
            <a:avLst/>
          </a:prstGeom>
          <a:solidFill>
            <a:srgbClr val="7C5CFF"/>
          </a:solidFill>
          <a:ln w="12700">
            <a:solidFill>
              <a:srgbClr val="FFFFFF"/>
            </a:solidFill>
            <a:prstDash val="solid"/>
          </a:ln>
        </p:spPr>
      </p:sp>
      <p:sp>
        <p:nvSpPr>
          <p:cNvPr id="27" name="Text 25"/>
          <p:cNvSpPr txBox="1"/>
          <p:nvPr/>
        </p:nvSpPr>
        <p:spPr>
          <a:xfrm>
            <a:off x="7717917" y="3977640"/>
            <a:ext cx="3611118"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9.478 s</a:t>
            </a:r>
            <a:endParaRPr lang="en-US" sz="1200" dirty="0"/>
          </a:p>
        </p:txBody>
      </p:sp>
      <p:sp>
        <p:nvSpPr>
          <p:cNvPr id="28" name="Shape 26"/>
          <p:cNvSpPr/>
          <p:nvPr/>
        </p:nvSpPr>
        <p:spPr>
          <a:xfrm>
            <a:off x="11329035" y="3977640"/>
            <a:ext cx="283845" cy="457200"/>
          </a:xfrm>
          <a:prstGeom prst="rect">
            <a:avLst/>
          </a:prstGeom>
          <a:solidFill>
            <a:srgbClr val="BDBDC7"/>
          </a:solidFill>
          <a:ln w="12700">
            <a:solidFill>
              <a:srgbClr val="FFFFFF"/>
            </a:solidFill>
            <a:prstDash val="solid"/>
          </a:ln>
        </p:spPr>
      </p:sp>
      <p:sp>
        <p:nvSpPr>
          <p:cNvPr id="29" name="Shape 27"/>
          <p:cNvSpPr/>
          <p:nvPr/>
        </p:nvSpPr>
        <p:spPr>
          <a:xfrm>
            <a:off x="548640" y="4617720"/>
            <a:ext cx="164592" cy="164592"/>
          </a:xfrm>
          <a:prstGeom prst="rect">
            <a:avLst/>
          </a:prstGeom>
          <a:solidFill>
            <a:srgbClr val="9F86FF"/>
          </a:solidFill>
          <a:ln w="12700">
            <a:solidFill>
              <a:srgbClr val="9F86FF"/>
            </a:solidFill>
            <a:prstDash val="solid"/>
          </a:ln>
        </p:spPr>
      </p:sp>
      <p:sp>
        <p:nvSpPr>
          <p:cNvPr id="30" name="Text 28"/>
          <p:cNvSpPr txBox="1"/>
          <p:nvPr/>
        </p:nvSpPr>
        <p:spPr>
          <a:xfrm>
            <a:off x="777240" y="4544568"/>
            <a:ext cx="1965960" cy="365760"/>
          </a:xfrm>
          <a:prstGeom prst="rect">
            <a:avLst/>
          </a:prstGeom>
          <a:noFill/>
          <a:ln/>
        </p:spPr>
        <p:txBody>
          <a:bodyPr wrap="square" lIns="0" tIns="0" rIns="0" bIns="0" rtlCol="0" anchor="ctr"/>
          <a:lstStyle/>
          <a:p>
            <a:pPr indent="0" marL="0">
              <a:buNone/>
            </a:pPr>
            <a:r>
              <a:rPr lang="en-US" sz="1050" dirty="0">
                <a:solidFill>
                  <a:srgbClr val="1B2635"/>
                </a:solidFill>
                <a:latin typeface="Calibri" pitchFamily="34" charset="0"/>
                <a:ea typeface="Calibri" pitchFamily="34" charset="-122"/>
                <a:cs typeface="Calibri" pitchFamily="34" charset="-120"/>
              </a:rPr>
              <a:t>Outage injected  0.714 s</a:t>
            </a:r>
            <a:endParaRPr lang="en-US" sz="1050" dirty="0"/>
          </a:p>
        </p:txBody>
      </p:sp>
      <p:sp>
        <p:nvSpPr>
          <p:cNvPr id="31" name="Shape 29"/>
          <p:cNvSpPr/>
          <p:nvPr/>
        </p:nvSpPr>
        <p:spPr>
          <a:xfrm>
            <a:off x="2761488" y="4617720"/>
            <a:ext cx="164592" cy="164592"/>
          </a:xfrm>
          <a:prstGeom prst="rect">
            <a:avLst/>
          </a:prstGeom>
          <a:solidFill>
            <a:srgbClr val="5E2CFE"/>
          </a:solidFill>
          <a:ln w="12700">
            <a:solidFill>
              <a:srgbClr val="5E2CFE"/>
            </a:solidFill>
            <a:prstDash val="solid"/>
          </a:ln>
        </p:spPr>
      </p:sp>
      <p:sp>
        <p:nvSpPr>
          <p:cNvPr id="32" name="Text 30"/>
          <p:cNvSpPr txBox="1"/>
          <p:nvPr/>
        </p:nvSpPr>
        <p:spPr>
          <a:xfrm>
            <a:off x="2990088" y="4544568"/>
            <a:ext cx="1965960" cy="365760"/>
          </a:xfrm>
          <a:prstGeom prst="rect">
            <a:avLst/>
          </a:prstGeom>
          <a:noFill/>
          <a:ln/>
        </p:spPr>
        <p:txBody>
          <a:bodyPr wrap="square" lIns="0" tIns="0" rIns="0" bIns="0" rtlCol="0" anchor="ctr"/>
          <a:lstStyle/>
          <a:p>
            <a:pPr indent="0" marL="0">
              <a:buNone/>
            </a:pPr>
            <a:r>
              <a:rPr lang="en-US" sz="1050" dirty="0">
                <a:solidFill>
                  <a:srgbClr val="1B2635"/>
                </a:solidFill>
                <a:latin typeface="Calibri" pitchFamily="34" charset="0"/>
                <a:ea typeface="Calibri" pitchFamily="34" charset="-122"/>
                <a:cs typeface="Calibri" pitchFamily="34" charset="-120"/>
              </a:rPr>
              <a:t>SQL forced failover  14.321 s</a:t>
            </a:r>
            <a:endParaRPr lang="en-US" sz="1050" dirty="0"/>
          </a:p>
        </p:txBody>
      </p:sp>
      <p:sp>
        <p:nvSpPr>
          <p:cNvPr id="33" name="Shape 31"/>
          <p:cNvSpPr/>
          <p:nvPr/>
        </p:nvSpPr>
        <p:spPr>
          <a:xfrm>
            <a:off x="4974336" y="4617720"/>
            <a:ext cx="164592" cy="164592"/>
          </a:xfrm>
          <a:prstGeom prst="rect">
            <a:avLst/>
          </a:prstGeom>
          <a:solidFill>
            <a:srgbClr val="C105B2"/>
          </a:solidFill>
          <a:ln w="12700">
            <a:solidFill>
              <a:srgbClr val="C105B2"/>
            </a:solidFill>
            <a:prstDash val="solid"/>
          </a:ln>
        </p:spPr>
      </p:sp>
      <p:sp>
        <p:nvSpPr>
          <p:cNvPr id="34" name="Text 32"/>
          <p:cNvSpPr txBox="1"/>
          <p:nvPr/>
        </p:nvSpPr>
        <p:spPr>
          <a:xfrm>
            <a:off x="5202936" y="4544568"/>
            <a:ext cx="1965960" cy="365760"/>
          </a:xfrm>
          <a:prstGeom prst="rect">
            <a:avLst/>
          </a:prstGeom>
          <a:noFill/>
          <a:ln/>
        </p:spPr>
        <p:txBody>
          <a:bodyPr wrap="square" lIns="0" tIns="0" rIns="0" bIns="0" rtlCol="0" anchor="ctr"/>
          <a:lstStyle/>
          <a:p>
            <a:pPr indent="0" marL="0">
              <a:buNone/>
            </a:pPr>
            <a:r>
              <a:rPr lang="en-US" sz="1050" dirty="0">
                <a:solidFill>
                  <a:srgbClr val="1B2635"/>
                </a:solidFill>
                <a:latin typeface="Calibri" pitchFamily="34" charset="0"/>
                <a:ea typeface="Calibri" pitchFamily="34" charset="-122"/>
                <a:cs typeface="Calibri" pitchFamily="34" charset="-120"/>
              </a:rPr>
              <a:t>Traffic Manager reroute  3.782 s</a:t>
            </a:r>
            <a:endParaRPr lang="en-US" sz="1050" dirty="0"/>
          </a:p>
        </p:txBody>
      </p:sp>
      <p:sp>
        <p:nvSpPr>
          <p:cNvPr id="35" name="Shape 33"/>
          <p:cNvSpPr/>
          <p:nvPr/>
        </p:nvSpPr>
        <p:spPr>
          <a:xfrm>
            <a:off x="7187184" y="4617720"/>
            <a:ext cx="164592" cy="164592"/>
          </a:xfrm>
          <a:prstGeom prst="rect">
            <a:avLst/>
          </a:prstGeom>
          <a:solidFill>
            <a:srgbClr val="7C5CFF"/>
          </a:solidFill>
          <a:ln w="12700">
            <a:solidFill>
              <a:srgbClr val="7C5CFF"/>
            </a:solidFill>
            <a:prstDash val="solid"/>
          </a:ln>
        </p:spPr>
      </p:sp>
      <p:sp>
        <p:nvSpPr>
          <p:cNvPr id="36" name="Text 34"/>
          <p:cNvSpPr txBox="1"/>
          <p:nvPr/>
        </p:nvSpPr>
        <p:spPr>
          <a:xfrm>
            <a:off x="7415784" y="4544568"/>
            <a:ext cx="1965960" cy="365760"/>
          </a:xfrm>
          <a:prstGeom prst="rect">
            <a:avLst/>
          </a:prstGeom>
          <a:noFill/>
          <a:ln/>
        </p:spPr>
        <p:txBody>
          <a:bodyPr wrap="square" lIns="0" tIns="0" rIns="0" bIns="0" rtlCol="0" anchor="ctr"/>
          <a:lstStyle/>
          <a:p>
            <a:pPr indent="0" marL="0">
              <a:buNone/>
            </a:pPr>
            <a:r>
              <a:rPr lang="en-US" sz="1050" dirty="0">
                <a:solidFill>
                  <a:srgbClr val="1B2635"/>
                </a:solidFill>
                <a:latin typeface="Calibri" pitchFamily="34" charset="0"/>
                <a:ea typeface="Calibri" pitchFamily="34" charset="-122"/>
                <a:cs typeface="Calibri" pitchFamily="34" charset="-120"/>
              </a:rPr>
              <a:t>DNS + health checks reach DR  9.478 s</a:t>
            </a:r>
            <a:endParaRPr lang="en-US" sz="1050" dirty="0"/>
          </a:p>
        </p:txBody>
      </p:sp>
      <p:sp>
        <p:nvSpPr>
          <p:cNvPr id="37" name="Shape 35"/>
          <p:cNvSpPr/>
          <p:nvPr/>
        </p:nvSpPr>
        <p:spPr>
          <a:xfrm>
            <a:off x="9400032" y="4617720"/>
            <a:ext cx="164592" cy="164592"/>
          </a:xfrm>
          <a:prstGeom prst="rect">
            <a:avLst/>
          </a:prstGeom>
          <a:solidFill>
            <a:srgbClr val="BDBDC7"/>
          </a:solidFill>
          <a:ln w="12700">
            <a:solidFill>
              <a:srgbClr val="BDBDC7"/>
            </a:solidFill>
            <a:prstDash val="solid"/>
          </a:ln>
        </p:spPr>
      </p:sp>
      <p:sp>
        <p:nvSpPr>
          <p:cNvPr id="38" name="Text 36"/>
          <p:cNvSpPr txBox="1"/>
          <p:nvPr/>
        </p:nvSpPr>
        <p:spPr>
          <a:xfrm>
            <a:off x="9628632" y="4544568"/>
            <a:ext cx="1965960" cy="365760"/>
          </a:xfrm>
          <a:prstGeom prst="rect">
            <a:avLst/>
          </a:prstGeom>
          <a:noFill/>
          <a:ln/>
        </p:spPr>
        <p:txBody>
          <a:bodyPr wrap="square" lIns="0" tIns="0" rIns="0" bIns="0" rtlCol="0" anchor="ctr"/>
          <a:lstStyle/>
          <a:p>
            <a:pPr indent="0" marL="0">
              <a:buNone/>
            </a:pPr>
            <a:r>
              <a:rPr lang="en-US" sz="1050" dirty="0">
                <a:solidFill>
                  <a:srgbClr val="1B2635"/>
                </a:solidFill>
                <a:latin typeface="Calibri" pitchFamily="34" charset="0"/>
                <a:ea typeface="Calibri" pitchFamily="34" charset="-122"/>
                <a:cs typeface="Calibri" pitchFamily="34" charset="-120"/>
              </a:rPr>
              <a:t>Engine bookkeeping  0.745 s</a:t>
            </a:r>
            <a:endParaRPr lang="en-US" sz="1050" dirty="0"/>
          </a:p>
        </p:txBody>
      </p:sp>
      <p:sp>
        <p:nvSpPr>
          <p:cNvPr id="39" name="Shape 37"/>
          <p:cNvSpPr/>
          <p:nvPr/>
        </p:nvSpPr>
        <p:spPr>
          <a:xfrm>
            <a:off x="548640" y="5120640"/>
            <a:ext cx="11064240" cy="1143000"/>
          </a:xfrm>
          <a:prstGeom prst="roundRect">
            <a:avLst>
              <a:gd name="adj" fmla="val 6400"/>
            </a:avLst>
          </a:prstGeom>
          <a:solidFill>
            <a:srgbClr val="EFE9FF"/>
          </a:solidFill>
          <a:ln w="12700">
            <a:solidFill>
              <a:srgbClr val="EFE9FF"/>
            </a:solidFill>
            <a:prstDash val="solid"/>
          </a:ln>
        </p:spPr>
      </p:sp>
      <p:sp>
        <p:nvSpPr>
          <p:cNvPr id="40" name="Text 38"/>
          <p:cNvSpPr txBox="1"/>
          <p:nvPr/>
        </p:nvSpPr>
        <p:spPr>
          <a:xfrm>
            <a:off x="777240" y="5120640"/>
            <a:ext cx="10607040" cy="1143000"/>
          </a:xfrm>
          <a:prstGeom prst="rect">
            <a:avLst/>
          </a:prstGeom>
          <a:noFill/>
          <a:ln/>
        </p:spPr>
        <p:txBody>
          <a:bodyPr wrap="square" lIns="0" tIns="0" rIns="0" bIns="0" rtlCol="0" anchor="ctr"/>
          <a:lstStyle/>
          <a:p>
            <a:pPr indent="0" marL="0">
              <a:buNone/>
            </a:pPr>
            <a:r>
              <a:rPr lang="en-US" sz="1250" b="1" dirty="0">
                <a:solidFill>
                  <a:srgbClr val="171721"/>
                </a:solidFill>
                <a:latin typeface="Calibri" pitchFamily="34" charset="0"/>
                <a:ea typeface="Calibri" pitchFamily="34" charset="-122"/>
                <a:cs typeface="Calibri" pitchFamily="34" charset="-120"/>
              </a:rPr>
              <a:t>Why judges can trust the numbers: </a:t>
            </a:r>
            <a:pPr indent="0" marL="0">
              <a:buNone/>
            </a:pPr>
            <a:r>
              <a:rPr lang="en-US" sz="1250" dirty="0">
                <a:solidFill>
                  <a:srgbClr val="1B2635"/>
                </a:solidFill>
                <a:latin typeface="Calibri" pitchFamily="34" charset="0"/>
                <a:ea typeface="Calibri" pitchFamily="34" charset="-122"/>
                <a:cs typeface="Calibri" pitchFamily="34" charset="-120"/>
              </a:rPr>
              <a:t>RTO runs from the injected outage to the first healthy check through Traffic Manager from Southeast Asia (the engine checks every second; the previous failed check is shown as the precision window). RPO: one confirmed write per second, and every write the database acknowledged until the failover completed must exist in the new primary. Chaos drill with a surprise fault: 57.4 s.</a:t>
            </a:r>
            <a:endParaRPr lang="en-US" sz="1250" dirty="0"/>
          </a:p>
        </p:txBody>
      </p:sp>
      <p:sp>
        <p:nvSpPr>
          <p:cNvPr id="41" name="Text 39"/>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What it costs to prove recovery</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Actual Azure bills and list prices for what we built, compared with the cost of downtime.</a:t>
            </a:r>
            <a:endParaRPr lang="en-US" sz="1500" dirty="0"/>
          </a:p>
        </p:txBody>
      </p:sp>
      <p:sp>
        <p:nvSpPr>
          <p:cNvPr id="4" name="Shape 2"/>
          <p:cNvSpPr/>
          <p:nvPr/>
        </p:nvSpPr>
        <p:spPr>
          <a:xfrm>
            <a:off x="548640" y="1600200"/>
            <a:ext cx="3520440" cy="2331720"/>
          </a:xfrm>
          <a:prstGeom prst="roundRect">
            <a:avLst>
              <a:gd name="adj" fmla="val 3137"/>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83080"/>
            <a:ext cx="3017520" cy="777240"/>
          </a:xfrm>
          <a:prstGeom prst="rect">
            <a:avLst/>
          </a:prstGeom>
          <a:noFill/>
          <a:ln/>
        </p:spPr>
        <p:txBody>
          <a:bodyPr wrap="square" lIns="0" tIns="0" rIns="0" bIns="0" rtlCol="0" anchor="ctr"/>
          <a:lstStyle/>
          <a:p>
            <a:pPr indent="0" marL="0">
              <a:buNone/>
            </a:pPr>
            <a:r>
              <a:rPr lang="en-US" sz="4000" b="1" dirty="0">
                <a:solidFill>
                  <a:srgbClr val="5E2CFE"/>
                </a:solidFill>
                <a:latin typeface="Calibri" pitchFamily="34" charset="0"/>
                <a:ea typeface="Calibri" pitchFamily="34" charset="-122"/>
                <a:cs typeface="Calibri" pitchFamily="34" charset="-120"/>
              </a:rPr>
              <a:t>$0.09</a:t>
            </a:r>
            <a:endParaRPr lang="en-US" sz="4000" dirty="0"/>
          </a:p>
        </p:txBody>
      </p:sp>
      <p:sp>
        <p:nvSpPr>
          <p:cNvPr id="6" name="Text 4"/>
          <p:cNvSpPr txBox="1"/>
          <p:nvPr/>
        </p:nvSpPr>
        <p:spPr>
          <a:xfrm>
            <a:off x="822960" y="2560320"/>
            <a:ext cx="3017520" cy="36576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all AI agent calls</a:t>
            </a:r>
            <a:endParaRPr lang="en-US" sz="1500" dirty="0"/>
          </a:p>
        </p:txBody>
      </p:sp>
      <p:sp>
        <p:nvSpPr>
          <p:cNvPr id="7" name="Text 5"/>
          <p:cNvSpPr txBox="1"/>
          <p:nvPr/>
        </p:nvSpPr>
        <p:spPr>
          <a:xfrm>
            <a:off x="822960" y="2971800"/>
            <a:ext cx="3017520" cy="86868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every Foundry agent run across 2 days of building and 9 drills: $0.087 (Azure Cost Management) [12]</a:t>
            </a:r>
            <a:endParaRPr lang="en-US" sz="1150" dirty="0"/>
          </a:p>
        </p:txBody>
      </p:sp>
      <p:sp>
        <p:nvSpPr>
          <p:cNvPr id="8" name="Shape 6"/>
          <p:cNvSpPr/>
          <p:nvPr/>
        </p:nvSpPr>
        <p:spPr>
          <a:xfrm>
            <a:off x="4297680" y="1600200"/>
            <a:ext cx="3520440" cy="2331720"/>
          </a:xfrm>
          <a:prstGeom prst="roundRect">
            <a:avLst>
              <a:gd name="adj" fmla="val 3137"/>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4572000" y="1783080"/>
            <a:ext cx="3017520" cy="777240"/>
          </a:xfrm>
          <a:prstGeom prst="rect">
            <a:avLst/>
          </a:prstGeom>
          <a:noFill/>
          <a:ln/>
        </p:spPr>
        <p:txBody>
          <a:bodyPr wrap="square" lIns="0" tIns="0" rIns="0" bIns="0" rtlCol="0" anchor="ctr"/>
          <a:lstStyle/>
          <a:p>
            <a:pPr indent="0" marL="0">
              <a:buNone/>
            </a:pPr>
            <a:r>
              <a:rPr lang="en-US" sz="4000" b="1" dirty="0">
                <a:solidFill>
                  <a:srgbClr val="5E2CFE"/>
                </a:solidFill>
                <a:latin typeface="Calibri" pitchFamily="34" charset="0"/>
                <a:ea typeface="Calibri" pitchFamily="34" charset="-122"/>
                <a:cs typeface="Calibri" pitchFamily="34" charset="-120"/>
              </a:rPr>
              <a:t>$2.44</a:t>
            </a:r>
            <a:endParaRPr lang="en-US" sz="4000" dirty="0"/>
          </a:p>
        </p:txBody>
      </p:sp>
      <p:sp>
        <p:nvSpPr>
          <p:cNvPr id="10" name="Text 8"/>
          <p:cNvSpPr txBox="1"/>
          <p:nvPr/>
        </p:nvSpPr>
        <p:spPr>
          <a:xfrm>
            <a:off x="4572000" y="2560320"/>
            <a:ext cx="3017520" cy="36576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entire environment so far</a:t>
            </a:r>
            <a:endParaRPr lang="en-US" sz="1500" dirty="0"/>
          </a:p>
        </p:txBody>
      </p:sp>
      <p:sp>
        <p:nvSpPr>
          <p:cNvPr id="11" name="Text 9"/>
          <p:cNvSpPr txBox="1"/>
          <p:nvPr/>
        </p:nvSpPr>
        <p:spPr>
          <a:xfrm>
            <a:off x="4572000" y="2971800"/>
            <a:ext cx="3017520" cy="86868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two regions, database, VM, console, monitoring: everything, 17–18 Oct 2026 (Azure Cost Management) [12]</a:t>
            </a:r>
            <a:endParaRPr lang="en-US" sz="1150" dirty="0"/>
          </a:p>
        </p:txBody>
      </p:sp>
      <p:sp>
        <p:nvSpPr>
          <p:cNvPr id="12" name="Shape 10"/>
          <p:cNvSpPr/>
          <p:nvPr/>
        </p:nvSpPr>
        <p:spPr>
          <a:xfrm>
            <a:off x="8046720" y="1600200"/>
            <a:ext cx="3520440" cy="2331720"/>
          </a:xfrm>
          <a:prstGeom prst="roundRect">
            <a:avLst>
              <a:gd name="adj" fmla="val 3137"/>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8321040" y="1783080"/>
            <a:ext cx="3017520" cy="777240"/>
          </a:xfrm>
          <a:prstGeom prst="rect">
            <a:avLst/>
          </a:prstGeom>
          <a:noFill/>
          <a:ln/>
        </p:spPr>
        <p:txBody>
          <a:bodyPr wrap="square" lIns="0" tIns="0" rIns="0" bIns="0" rtlCol="0" anchor="ctr"/>
          <a:lstStyle/>
          <a:p>
            <a:pPr indent="0" marL="0">
              <a:buNone/>
            </a:pPr>
            <a:r>
              <a:rPr lang="en-US" sz="4000" b="1" dirty="0">
                <a:solidFill>
                  <a:srgbClr val="5E2CFE"/>
                </a:solidFill>
                <a:latin typeface="Calibri" pitchFamily="34" charset="0"/>
                <a:ea typeface="Calibri" pitchFamily="34" charset="-122"/>
                <a:cs typeface="Calibri" pitchFamily="34" charset="-120"/>
              </a:rPr>
              <a:t>$38.26</a:t>
            </a:r>
            <a:endParaRPr lang="en-US" sz="4000" dirty="0"/>
          </a:p>
        </p:txBody>
      </p:sp>
      <p:sp>
        <p:nvSpPr>
          <p:cNvPr id="14" name="Text 12"/>
          <p:cNvSpPr txBox="1"/>
          <p:nvPr/>
        </p:nvSpPr>
        <p:spPr>
          <a:xfrm>
            <a:off x="8321040" y="2560320"/>
            <a:ext cx="3017520" cy="36576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per month for the PaaS DR pair</a:t>
            </a:r>
            <a:endParaRPr lang="en-US" sz="1500" dirty="0"/>
          </a:p>
        </p:txBody>
      </p:sp>
      <p:sp>
        <p:nvSpPr>
          <p:cNvPr id="15" name="Text 13"/>
          <p:cNvSpPr txBox="1"/>
          <p:nvPr/>
        </p:nvSpPr>
        <p:spPr>
          <a:xfrm>
            <a:off x="8321040" y="2971800"/>
            <a:ext cx="3017520" cy="86868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2× App Service B1, 2× SQL Basic, Traffic Manager at Azure list prices (Retail Prices API) [13]</a:t>
            </a:r>
            <a:endParaRPr lang="en-US" sz="1150" dirty="0"/>
          </a:p>
        </p:txBody>
      </p:sp>
      <p:sp>
        <p:nvSpPr>
          <p:cNvPr id="16" name="Shape 14"/>
          <p:cNvSpPr/>
          <p:nvPr/>
        </p:nvSpPr>
        <p:spPr>
          <a:xfrm>
            <a:off x="548640" y="4160520"/>
            <a:ext cx="11064240" cy="1051560"/>
          </a:xfrm>
          <a:prstGeom prst="roundRect">
            <a:avLst>
              <a:gd name="adj" fmla="val 6957"/>
            </a:avLst>
          </a:prstGeom>
          <a:solidFill>
            <a:srgbClr val="171721"/>
          </a:solidFill>
          <a:ln w="12700">
            <a:solidFill>
              <a:srgbClr val="171721"/>
            </a:solidFill>
            <a:prstDash val="solid"/>
          </a:ln>
        </p:spPr>
      </p:sp>
      <p:sp>
        <p:nvSpPr>
          <p:cNvPr id="17" name="Text 15"/>
          <p:cNvSpPr txBox="1"/>
          <p:nvPr/>
        </p:nvSpPr>
        <p:spPr>
          <a:xfrm>
            <a:off x="777240" y="4160520"/>
            <a:ext cx="10607040" cy="10515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month of this DR set-up costs less than a fifth of a second of downtime </a:t>
            </a:r>
            <a:pPr indent="0" marL="0">
              <a:buNone/>
            </a:pPr>
            <a:r>
              <a:rPr lang="en-US" sz="1600" dirty="0">
                <a:solidFill>
                  <a:srgbClr val="C9C3E6"/>
                </a:solidFill>
                <a:latin typeface="Calibri" pitchFamily="34" charset="0"/>
                <a:ea typeface="Calibri" pitchFamily="34" charset="-122"/>
                <a:cs typeface="Calibri" pitchFamily="34" charset="-120"/>
              </a:rPr>
              <a:t>at the 2026 average of $15,000 a minute ($38.26 ÷ $250 per second = 0.15 s). [1][13]</a:t>
            </a:r>
            <a:endParaRPr lang="en-US" sz="1600" dirty="0"/>
          </a:p>
        </p:txBody>
      </p:sp>
      <p:sp>
        <p:nvSpPr>
          <p:cNvPr id="18" name="Text 16"/>
          <p:cNvSpPr txBox="1"/>
          <p:nvPr/>
        </p:nvSpPr>
        <p:spPr>
          <a:xfrm>
            <a:off x="548640" y="5440680"/>
            <a:ext cx="11064240" cy="82296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Cost-aware by design: </a:t>
            </a:r>
            <a:pPr indent="0" marL="0">
              <a:buNone/>
            </a:pPr>
            <a:r>
              <a:rPr lang="en-US" sz="1300" dirty="0">
                <a:solidFill>
                  <a:srgbClr val="1B2635"/>
                </a:solidFill>
                <a:latin typeface="Calibri" pitchFamily="34" charset="0"/>
                <a:ea typeface="Calibri" pitchFamily="34" charset="-122"/>
                <a:cs typeface="Calibri" pitchFamily="34" charset="-120"/>
              </a:rPr>
              <a:t>the Architect prices every strategy from live Azure list prices and flags anything over budget; the whole environment is created and removed with one command (up.sh / down.sh), so nothing runs when it is not needed.</a:t>
            </a:r>
            <a:endParaRPr lang="en-US" sz="1300" dirty="0"/>
          </a:p>
        </p:txBody>
      </p:sp>
      <p:sp>
        <p:nvSpPr>
          <p:cNvPr id="19" name="Text 17"/>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Live demo, and where it goes next</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What you will see in the next minutes, on your own phone.</a:t>
            </a:r>
            <a:endParaRPr lang="en-US" sz="1500" dirty="0"/>
          </a:p>
        </p:txBody>
      </p:sp>
      <p:sp>
        <p:nvSpPr>
          <p:cNvPr id="4" name="Text 2"/>
          <p:cNvSpPr txBox="1"/>
          <p:nvPr/>
        </p:nvSpPr>
        <p:spPr>
          <a:xfrm>
            <a:off x="548640" y="1554480"/>
            <a:ext cx="5486400" cy="365760"/>
          </a:xfrm>
          <a:prstGeom prst="rect">
            <a:avLst/>
          </a:prstGeom>
          <a:noFill/>
          <a:ln/>
        </p:spPr>
        <p:txBody>
          <a:bodyPr wrap="square" lIns="0" tIns="0" rIns="0" bIns="0" rtlCol="0" anchor="ctr"/>
          <a:lstStyle/>
          <a:p>
            <a:pPr indent="0" marL="0">
              <a:buNone/>
            </a:pPr>
            <a:r>
              <a:rPr lang="en-US" sz="1800" b="1" dirty="0">
                <a:solidFill>
                  <a:srgbClr val="171721"/>
                </a:solidFill>
                <a:latin typeface="Calibri" pitchFamily="34" charset="0"/>
                <a:ea typeface="Calibri" pitchFamily="34" charset="-122"/>
                <a:cs typeface="Calibri" pitchFamily="34" charset="-120"/>
              </a:rPr>
              <a:t>The demo</a:t>
            </a:r>
            <a:endParaRPr lang="en-US" sz="1800" dirty="0"/>
          </a:p>
        </p:txBody>
      </p:sp>
      <p:sp>
        <p:nvSpPr>
          <p:cNvPr id="5" name="Shape 3"/>
          <p:cNvSpPr/>
          <p:nvPr/>
        </p:nvSpPr>
        <p:spPr>
          <a:xfrm>
            <a:off x="548640" y="2057400"/>
            <a:ext cx="411480" cy="411480"/>
          </a:xfrm>
          <a:prstGeom prst="ellipse">
            <a:avLst/>
          </a:prstGeom>
          <a:solidFill>
            <a:srgbClr val="5E2CFE"/>
          </a:solidFill>
          <a:ln w="12700">
            <a:solidFill>
              <a:srgbClr val="5E2CFE"/>
            </a:solidFill>
            <a:prstDash val="solid"/>
          </a:ln>
        </p:spPr>
      </p:sp>
      <p:sp>
        <p:nvSpPr>
          <p:cNvPr id="6" name="Text 4"/>
          <p:cNvSpPr txBox="1"/>
          <p:nvPr/>
        </p:nvSpPr>
        <p:spPr>
          <a:xfrm>
            <a:off x="548640" y="20574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097280" y="2011680"/>
            <a:ext cx="5120640" cy="548640"/>
          </a:xfrm>
          <a:prstGeom prst="rect">
            <a:avLst/>
          </a:prstGeom>
          <a:noFill/>
          <a:ln/>
        </p:spPr>
        <p:txBody>
          <a:bodyPr wrap="square" lIns="0" tIns="0" rIns="0" bIns="0" rtlCol="0" anchor="ctr"/>
          <a:lstStyle/>
          <a:p>
            <a:pPr indent="0" marL="0">
              <a:buNone/>
            </a:pPr>
            <a:r>
              <a:rPr lang="en-US" sz="1350" dirty="0">
                <a:solidFill>
                  <a:srgbClr val="1B2635"/>
                </a:solidFill>
                <a:latin typeface="Calibri" pitchFamily="34" charset="0"/>
                <a:ea typeface="Calibri" pitchFamily="34" charset="-122"/>
                <a:cs typeface="Calibri" pitchFamily="34" charset="-120"/>
              </a:rPr>
              <a:t>Scan the QR code: Contoso Payments opens on your phone; make a payment</a:t>
            </a:r>
            <a:endParaRPr lang="en-US" sz="1350" dirty="0"/>
          </a:p>
        </p:txBody>
      </p:sp>
      <p:sp>
        <p:nvSpPr>
          <p:cNvPr id="8" name="Shape 6"/>
          <p:cNvSpPr/>
          <p:nvPr/>
        </p:nvSpPr>
        <p:spPr>
          <a:xfrm>
            <a:off x="548640" y="2843784"/>
            <a:ext cx="411480" cy="411480"/>
          </a:xfrm>
          <a:prstGeom prst="ellipse">
            <a:avLst/>
          </a:prstGeom>
          <a:solidFill>
            <a:srgbClr val="5E2CFE"/>
          </a:solidFill>
          <a:ln w="12700">
            <a:solidFill>
              <a:srgbClr val="5E2CFE"/>
            </a:solidFill>
            <a:prstDash val="solid"/>
          </a:ln>
        </p:spPr>
      </p:sp>
      <p:sp>
        <p:nvSpPr>
          <p:cNvPr id="9" name="Text 7"/>
          <p:cNvSpPr txBox="1"/>
          <p:nvPr/>
        </p:nvSpPr>
        <p:spPr>
          <a:xfrm>
            <a:off x="548640" y="284378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097280" y="2798064"/>
            <a:ext cx="5120640" cy="548640"/>
          </a:xfrm>
          <a:prstGeom prst="rect">
            <a:avLst/>
          </a:prstGeom>
          <a:noFill/>
          <a:ln/>
        </p:spPr>
        <p:txBody>
          <a:bodyPr wrap="square" lIns="0" tIns="0" rIns="0" bIns="0" rtlCol="0" anchor="ctr"/>
          <a:lstStyle/>
          <a:p>
            <a:pPr indent="0" marL="0">
              <a:buNone/>
            </a:pPr>
            <a:r>
              <a:rPr lang="en-US" sz="1350" dirty="0">
                <a:solidFill>
                  <a:srgbClr val="1B2635"/>
                </a:solidFill>
                <a:latin typeface="Calibri" pitchFamily="34" charset="0"/>
                <a:ea typeface="Calibri" pitchFamily="34" charset="-122"/>
                <a:cs typeface="Calibri" pitchFamily="34" charset="-120"/>
              </a:rPr>
              <a:t>Readiness says NO-GO: Southeast Asia is missing a setting; one approved click fixes it</a:t>
            </a:r>
            <a:endParaRPr lang="en-US" sz="1350" dirty="0"/>
          </a:p>
        </p:txBody>
      </p:sp>
      <p:sp>
        <p:nvSpPr>
          <p:cNvPr id="11" name="Shape 9"/>
          <p:cNvSpPr/>
          <p:nvPr/>
        </p:nvSpPr>
        <p:spPr>
          <a:xfrm>
            <a:off x="548640" y="3630168"/>
            <a:ext cx="411480" cy="411480"/>
          </a:xfrm>
          <a:prstGeom prst="ellipse">
            <a:avLst/>
          </a:prstGeom>
          <a:solidFill>
            <a:srgbClr val="5E2CFE"/>
          </a:solidFill>
          <a:ln w="12700">
            <a:solidFill>
              <a:srgbClr val="5E2CFE"/>
            </a:solidFill>
            <a:prstDash val="solid"/>
          </a:ln>
        </p:spPr>
      </p:sp>
      <p:sp>
        <p:nvSpPr>
          <p:cNvPr id="12" name="Text 10"/>
          <p:cNvSpPr txBox="1"/>
          <p:nvPr/>
        </p:nvSpPr>
        <p:spPr>
          <a:xfrm>
            <a:off x="548640" y="363016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097280" y="3584448"/>
            <a:ext cx="5120640" cy="548640"/>
          </a:xfrm>
          <a:prstGeom prst="rect">
            <a:avLst/>
          </a:prstGeom>
          <a:noFill/>
          <a:ln/>
        </p:spPr>
        <p:txBody>
          <a:bodyPr wrap="square" lIns="0" tIns="0" rIns="0" bIns="0" rtlCol="0" anchor="ctr"/>
          <a:lstStyle/>
          <a:p>
            <a:pPr indent="0" marL="0">
              <a:buNone/>
            </a:pPr>
            <a:r>
              <a:rPr lang="en-US" sz="1350" dirty="0">
                <a:solidFill>
                  <a:srgbClr val="1B2635"/>
                </a:solidFill>
                <a:latin typeface="Calibri" pitchFamily="34" charset="0"/>
                <a:ea typeface="Calibri" pitchFamily="34" charset="-122"/>
                <a:cs typeface="Calibri" pitchFamily="34" charset="-120"/>
              </a:rPr>
              <a:t>The Planner builds the drill; we approve it and inject the outage</a:t>
            </a:r>
            <a:endParaRPr lang="en-US" sz="1350" dirty="0"/>
          </a:p>
        </p:txBody>
      </p:sp>
      <p:sp>
        <p:nvSpPr>
          <p:cNvPr id="14" name="Shape 12"/>
          <p:cNvSpPr/>
          <p:nvPr/>
        </p:nvSpPr>
        <p:spPr>
          <a:xfrm>
            <a:off x="548640" y="4416552"/>
            <a:ext cx="411480" cy="411480"/>
          </a:xfrm>
          <a:prstGeom prst="ellipse">
            <a:avLst/>
          </a:prstGeom>
          <a:solidFill>
            <a:srgbClr val="5E2CFE"/>
          </a:solidFill>
          <a:ln w="12700">
            <a:solidFill>
              <a:srgbClr val="5E2CFE"/>
            </a:solidFill>
            <a:prstDash val="solid"/>
          </a:ln>
        </p:spPr>
      </p:sp>
      <p:sp>
        <p:nvSpPr>
          <p:cNvPr id="15" name="Text 13"/>
          <p:cNvSpPr txBox="1"/>
          <p:nvPr/>
        </p:nvSpPr>
        <p:spPr>
          <a:xfrm>
            <a:off x="548640" y="441655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1097280" y="4370832"/>
            <a:ext cx="5120640" cy="548640"/>
          </a:xfrm>
          <a:prstGeom prst="rect">
            <a:avLst/>
          </a:prstGeom>
          <a:noFill/>
          <a:ln/>
        </p:spPr>
        <p:txBody>
          <a:bodyPr wrap="square" lIns="0" tIns="0" rIns="0" bIns="0" rtlCol="0" anchor="ctr"/>
          <a:lstStyle/>
          <a:p>
            <a:pPr indent="0" marL="0">
              <a:buNone/>
            </a:pPr>
            <a:r>
              <a:rPr lang="en-US" sz="1350" dirty="0">
                <a:solidFill>
                  <a:srgbClr val="1B2635"/>
                </a:solidFill>
                <a:latin typeface="Calibri" pitchFamily="34" charset="0"/>
                <a:ea typeface="Calibri" pitchFamily="34" charset="-122"/>
                <a:cs typeface="Calibri" pitchFamily="34" charset="-120"/>
              </a:rPr>
              <a:t>Your phone goes red, then reconnects to Southeast Asia in about 35 s with the same balance</a:t>
            </a:r>
            <a:endParaRPr lang="en-US" sz="1350" dirty="0"/>
          </a:p>
        </p:txBody>
      </p:sp>
      <p:sp>
        <p:nvSpPr>
          <p:cNvPr id="17" name="Shape 15"/>
          <p:cNvSpPr/>
          <p:nvPr/>
        </p:nvSpPr>
        <p:spPr>
          <a:xfrm>
            <a:off x="548640" y="5202936"/>
            <a:ext cx="411480" cy="411480"/>
          </a:xfrm>
          <a:prstGeom prst="ellipse">
            <a:avLst/>
          </a:prstGeom>
          <a:solidFill>
            <a:srgbClr val="5E2CFE"/>
          </a:solidFill>
          <a:ln w="12700">
            <a:solidFill>
              <a:srgbClr val="5E2CFE"/>
            </a:solidFill>
            <a:prstDash val="solid"/>
          </a:ln>
        </p:spPr>
      </p:sp>
      <p:sp>
        <p:nvSpPr>
          <p:cNvPr id="18" name="Text 16"/>
          <p:cNvSpPr txBox="1"/>
          <p:nvPr/>
        </p:nvSpPr>
        <p:spPr>
          <a:xfrm>
            <a:off x="548640" y="52029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19" name="Text 17"/>
          <p:cNvSpPr txBox="1"/>
          <p:nvPr/>
        </p:nvSpPr>
        <p:spPr>
          <a:xfrm>
            <a:off x="1097280" y="5157216"/>
            <a:ext cx="5120640" cy="548640"/>
          </a:xfrm>
          <a:prstGeom prst="rect">
            <a:avLst/>
          </a:prstGeom>
          <a:noFill/>
          <a:ln/>
        </p:spPr>
        <p:txBody>
          <a:bodyPr wrap="square" lIns="0" tIns="0" rIns="0" bIns="0" rtlCol="0" anchor="ctr"/>
          <a:lstStyle/>
          <a:p>
            <a:pPr indent="0" marL="0">
              <a:buNone/>
            </a:pPr>
            <a:r>
              <a:rPr lang="en-US" sz="1350" dirty="0">
                <a:solidFill>
                  <a:srgbClr val="1B2635"/>
                </a:solidFill>
                <a:latin typeface="Calibri" pitchFamily="34" charset="0"/>
                <a:ea typeface="Calibri" pitchFamily="34" charset="-122"/>
                <a:cs typeface="Calibri" pitchFamily="34" charset="-120"/>
              </a:rPr>
              <a:t>Failback, then the report: RTO, RPO and every second accounted for</a:t>
            </a:r>
            <a:endParaRPr lang="en-US" sz="1350" dirty="0"/>
          </a:p>
        </p:txBody>
      </p:sp>
      <p:sp>
        <p:nvSpPr>
          <p:cNvPr id="20" name="Shape 18"/>
          <p:cNvSpPr/>
          <p:nvPr/>
        </p:nvSpPr>
        <p:spPr>
          <a:xfrm>
            <a:off x="6583680" y="1554480"/>
            <a:ext cx="5029200" cy="4709160"/>
          </a:xfrm>
          <a:prstGeom prst="roundRect">
            <a:avLst>
              <a:gd name="adj" fmla="val 1553"/>
            </a:avLst>
          </a:prstGeom>
          <a:solidFill>
            <a:srgbClr val="F1F5F9"/>
          </a:solidFill>
          <a:ln w="12700">
            <a:solidFill>
              <a:srgbClr val="F1F5F9"/>
            </a:solidFill>
            <a:prstDash val="solid"/>
          </a:ln>
        </p:spPr>
      </p:sp>
      <p:sp>
        <p:nvSpPr>
          <p:cNvPr id="21" name="Text 19"/>
          <p:cNvSpPr txBox="1"/>
          <p:nvPr/>
        </p:nvSpPr>
        <p:spPr>
          <a:xfrm>
            <a:off x="6858000" y="1737360"/>
            <a:ext cx="4572000" cy="365760"/>
          </a:xfrm>
          <a:prstGeom prst="rect">
            <a:avLst/>
          </a:prstGeom>
          <a:noFill/>
          <a:ln/>
        </p:spPr>
        <p:txBody>
          <a:bodyPr wrap="square" lIns="0" tIns="0" rIns="0" bIns="0" rtlCol="0" anchor="ctr"/>
          <a:lstStyle/>
          <a:p>
            <a:pPr indent="0" marL="0">
              <a:buNone/>
            </a:pPr>
            <a:r>
              <a:rPr lang="en-US" sz="1800" b="1" dirty="0">
                <a:solidFill>
                  <a:srgbClr val="171721"/>
                </a:solidFill>
                <a:latin typeface="Calibri" pitchFamily="34" charset="0"/>
                <a:ea typeface="Calibri" pitchFamily="34" charset="-122"/>
                <a:cs typeface="Calibri" pitchFamily="34" charset="-120"/>
              </a:rPr>
              <a:t>Roadmap (not in the demo)</a:t>
            </a:r>
            <a:endParaRPr lang="en-US" sz="1800" dirty="0"/>
          </a:p>
        </p:txBody>
      </p:sp>
      <p:sp>
        <p:nvSpPr>
          <p:cNvPr id="22" name="Text 20"/>
          <p:cNvSpPr txBox="1"/>
          <p:nvPr/>
        </p:nvSpPr>
        <p:spPr>
          <a:xfrm>
            <a:off x="6858000" y="2240280"/>
            <a:ext cx="4526280" cy="292608"/>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Scheduled drills</a:t>
            </a:r>
            <a:endParaRPr lang="en-US" sz="1350" dirty="0"/>
          </a:p>
        </p:txBody>
      </p:sp>
      <p:sp>
        <p:nvSpPr>
          <p:cNvPr id="23" name="Text 21"/>
          <p:cNvSpPr txBox="1"/>
          <p:nvPr/>
        </p:nvSpPr>
        <p:spPr>
          <a:xfrm>
            <a:off x="6858000" y="2532888"/>
            <a:ext cx="4526280" cy="365760"/>
          </a:xfrm>
          <a:prstGeom prst="rect">
            <a:avLst/>
          </a:prstGeom>
          <a:noFill/>
          <a:ln/>
        </p:spPr>
        <p:txBody>
          <a:bodyPr wrap="square" lIns="0" tIns="0" rIns="0" bIns="0" rtlCol="0" anchor="ctr"/>
          <a:lstStyle/>
          <a:p>
            <a:pPr indent="0" marL="0">
              <a:buNone/>
            </a:pPr>
            <a:r>
              <a:rPr lang="en-US" sz="1200" dirty="0">
                <a:solidFill>
                  <a:srgbClr val="1B2635"/>
                </a:solidFill>
                <a:latin typeface="Calibri" pitchFamily="34" charset="0"/>
                <a:ea typeface="Calibri" pitchFamily="34" charset="-122"/>
                <a:cs typeface="Calibri" pitchFamily="34" charset="-120"/>
              </a:rPr>
              <a:t>on a set cadence (e.g. quarterly, as SEBI asks) and after every infrastructure change</a:t>
            </a:r>
            <a:endParaRPr lang="en-US" sz="1200" dirty="0"/>
          </a:p>
        </p:txBody>
      </p:sp>
      <p:sp>
        <p:nvSpPr>
          <p:cNvPr id="24" name="Text 22"/>
          <p:cNvSpPr txBox="1"/>
          <p:nvPr/>
        </p:nvSpPr>
        <p:spPr>
          <a:xfrm>
            <a:off x="6858000" y="3017520"/>
            <a:ext cx="4526280" cy="292608"/>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More services</a:t>
            </a:r>
            <a:endParaRPr lang="en-US" sz="1350" dirty="0"/>
          </a:p>
        </p:txBody>
      </p:sp>
      <p:sp>
        <p:nvSpPr>
          <p:cNvPr id="25" name="Text 23"/>
          <p:cNvSpPr txBox="1"/>
          <p:nvPr/>
        </p:nvSpPr>
        <p:spPr>
          <a:xfrm>
            <a:off x="6858000" y="3310128"/>
            <a:ext cx="4526280" cy="365760"/>
          </a:xfrm>
          <a:prstGeom prst="rect">
            <a:avLst/>
          </a:prstGeom>
          <a:noFill/>
          <a:ln/>
        </p:spPr>
        <p:txBody>
          <a:bodyPr wrap="square" lIns="0" tIns="0" rIns="0" bIns="0" rtlCol="0" anchor="ctr"/>
          <a:lstStyle/>
          <a:p>
            <a:pPr indent="0" marL="0">
              <a:buNone/>
            </a:pPr>
            <a:r>
              <a:rPr lang="en-US" sz="1200" dirty="0">
                <a:solidFill>
                  <a:srgbClr val="1B2635"/>
                </a:solidFill>
                <a:latin typeface="Calibri" pitchFamily="34" charset="0"/>
                <a:ea typeface="Calibri" pitchFamily="34" charset="-122"/>
                <a:cs typeface="Calibri" pitchFamily="34" charset="-120"/>
              </a:rPr>
              <a:t>AKS, Cosmos DB, Storage, Service Bus as new allowlisted actions</a:t>
            </a:r>
            <a:endParaRPr lang="en-US" sz="1200" dirty="0"/>
          </a:p>
        </p:txBody>
      </p:sp>
      <p:sp>
        <p:nvSpPr>
          <p:cNvPr id="26" name="Text 24"/>
          <p:cNvSpPr txBox="1"/>
          <p:nvPr/>
        </p:nvSpPr>
        <p:spPr>
          <a:xfrm>
            <a:off x="6858000" y="3794760"/>
            <a:ext cx="4526280" cy="292608"/>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Azure Chaos Studio</a:t>
            </a:r>
            <a:endParaRPr lang="en-US" sz="1350" dirty="0"/>
          </a:p>
        </p:txBody>
      </p:sp>
      <p:sp>
        <p:nvSpPr>
          <p:cNvPr id="27" name="Text 25"/>
          <p:cNvSpPr txBox="1"/>
          <p:nvPr/>
        </p:nvSpPr>
        <p:spPr>
          <a:xfrm>
            <a:off x="6858000" y="4087368"/>
            <a:ext cx="4526280" cy="365760"/>
          </a:xfrm>
          <a:prstGeom prst="rect">
            <a:avLst/>
          </a:prstGeom>
          <a:noFill/>
          <a:ln/>
        </p:spPr>
        <p:txBody>
          <a:bodyPr wrap="square" lIns="0" tIns="0" rIns="0" bIns="0" rtlCol="0" anchor="ctr"/>
          <a:lstStyle/>
          <a:p>
            <a:pPr indent="0" marL="0">
              <a:buNone/>
            </a:pPr>
            <a:r>
              <a:rPr lang="en-US" sz="1200" dirty="0">
                <a:solidFill>
                  <a:srgbClr val="1B2635"/>
                </a:solidFill>
                <a:latin typeface="Calibri" pitchFamily="34" charset="0"/>
                <a:ea typeface="Calibri" pitchFamily="34" charset="-122"/>
                <a:cs typeface="Calibri" pitchFamily="34" charset="-120"/>
              </a:rPr>
              <a:t>standard fault library alongside our own faults</a:t>
            </a:r>
            <a:endParaRPr lang="en-US" sz="1200" dirty="0"/>
          </a:p>
        </p:txBody>
      </p:sp>
      <p:sp>
        <p:nvSpPr>
          <p:cNvPr id="28" name="Text 26"/>
          <p:cNvSpPr txBox="1"/>
          <p:nvPr/>
        </p:nvSpPr>
        <p:spPr>
          <a:xfrm>
            <a:off x="6858000" y="4572000"/>
            <a:ext cx="4526280" cy="292608"/>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Approvals where teams work</a:t>
            </a:r>
            <a:endParaRPr lang="en-US" sz="1350" dirty="0"/>
          </a:p>
        </p:txBody>
      </p:sp>
      <p:sp>
        <p:nvSpPr>
          <p:cNvPr id="29" name="Text 27"/>
          <p:cNvSpPr txBox="1"/>
          <p:nvPr/>
        </p:nvSpPr>
        <p:spPr>
          <a:xfrm>
            <a:off x="6858000" y="4864608"/>
            <a:ext cx="4526280" cy="365760"/>
          </a:xfrm>
          <a:prstGeom prst="rect">
            <a:avLst/>
          </a:prstGeom>
          <a:noFill/>
          <a:ln/>
        </p:spPr>
        <p:txBody>
          <a:bodyPr wrap="square" lIns="0" tIns="0" rIns="0" bIns="0" rtlCol="0" anchor="ctr"/>
          <a:lstStyle/>
          <a:p>
            <a:pPr indent="0" marL="0">
              <a:buNone/>
            </a:pPr>
            <a:r>
              <a:rPr lang="en-US" sz="1200" dirty="0">
                <a:solidFill>
                  <a:srgbClr val="1B2635"/>
                </a:solidFill>
                <a:latin typeface="Calibri" pitchFamily="34" charset="0"/>
                <a:ea typeface="Calibri" pitchFamily="34" charset="-122"/>
                <a:cs typeface="Calibri" pitchFamily="34" charset="-120"/>
              </a:rPr>
              <a:t>Microsoft Teams approval cards</a:t>
            </a:r>
            <a:endParaRPr lang="en-US" sz="1200" dirty="0"/>
          </a:p>
        </p:txBody>
      </p:sp>
      <p:sp>
        <p:nvSpPr>
          <p:cNvPr id="30" name="Text 28"/>
          <p:cNvSpPr txBox="1"/>
          <p:nvPr/>
        </p:nvSpPr>
        <p:spPr>
          <a:xfrm>
            <a:off x="6858000" y="5349240"/>
            <a:ext cx="4526280" cy="292608"/>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Portfolio view</a:t>
            </a:r>
            <a:endParaRPr lang="en-US" sz="1350" dirty="0"/>
          </a:p>
        </p:txBody>
      </p:sp>
      <p:sp>
        <p:nvSpPr>
          <p:cNvPr id="31" name="Text 29"/>
          <p:cNvSpPr txBox="1"/>
          <p:nvPr/>
        </p:nvSpPr>
        <p:spPr>
          <a:xfrm>
            <a:off x="6858000" y="5641848"/>
            <a:ext cx="4526280" cy="365760"/>
          </a:xfrm>
          <a:prstGeom prst="rect">
            <a:avLst/>
          </a:prstGeom>
          <a:noFill/>
          <a:ln/>
        </p:spPr>
        <p:txBody>
          <a:bodyPr wrap="square" lIns="0" tIns="0" rIns="0" bIns="0" rtlCol="0" anchor="ctr"/>
          <a:lstStyle/>
          <a:p>
            <a:pPr indent="0" marL="0">
              <a:buNone/>
            </a:pPr>
            <a:r>
              <a:rPr lang="en-US" sz="1200" dirty="0">
                <a:solidFill>
                  <a:srgbClr val="1B2635"/>
                </a:solidFill>
                <a:latin typeface="Calibri" pitchFamily="34" charset="0"/>
                <a:ea typeface="Calibri" pitchFamily="34" charset="-122"/>
                <a:cs typeface="Calibri" pitchFamily="34" charset="-120"/>
              </a:rPr>
              <a:t>resilience score across many applications</a:t>
            </a:r>
            <a:endParaRPr lang="en-US" sz="1200" dirty="0"/>
          </a:p>
        </p:txBody>
      </p:sp>
      <p:sp>
        <p:nvSpPr>
          <p:cNvPr id="32" name="Text 30"/>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Sources</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Every figure in this deck is taken from the source below. Our own figures come from live drills on Azure.</a:t>
            </a:r>
            <a:endParaRPr lang="en-US" sz="1500" dirty="0"/>
          </a:p>
        </p:txBody>
      </p:sp>
      <p:sp>
        <p:nvSpPr>
          <p:cNvPr id="4" name="Text 2"/>
          <p:cNvSpPr txBox="1"/>
          <p:nvPr/>
        </p:nvSpPr>
        <p:spPr>
          <a:xfrm>
            <a:off x="548640" y="1508760"/>
            <a:ext cx="11064240" cy="4846320"/>
          </a:xfrm>
          <a:prstGeom prst="rect">
            <a:avLst/>
          </a:prstGeom>
          <a:noFill/>
          <a:ln/>
        </p:spPr>
        <p:txBody>
          <a:bodyPr wrap="square" lIns="0" tIns="0" rIns="0" bIns="0" rtlCol="0" anchor="t"/>
          <a:lstStyle/>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[1] Splunk with Oxford Economics, The Hidden Costs of Downtime 2026, 19 May 2026 (2,000 Global 2000 executives). newsroom.cisco.com (The $600 Billion Wake-up Call)</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[2] Uptime Institute, Annual Outage Analysis 2026, press release 13 May 2026. uptimeinstitute.com</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[3] Parametrix estimate of losses from the AWS us-east-1 outage of 20 Oct 2025 (Insurance Edge, 30 Oct 2025).</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[4] RBI order to HDFC Bank, 2 Dec 2020 (Outlook Business, 3 Dec 2020); curbs lifted 17 Aug 2021 (cards) and 11 Mar 2022 (digital) (Business Standard, 12 Mar 2022).</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[5] NSE and NSE Clearing settle the 24 Feb 2021 trading-halt case with SEBI for ₹72.64 crore (Moneylife; Business Standard, Jun 2023); ≈ $8.8M at June 2023 rates of ₹82–83 per US$.</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[6] RBI action on Kotak Mahindra Bank under Sec. 35A, 24 Apr 2024 (TechCrunch); restrictions lifted 12 Feb 2025 (Business Standard).</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[7] RBI, Cybersecurity, Technology: Risk, Resilience and Assurance Framework Directions, 31 Jul 2026, summarised by KPMG India, Sep 2026.</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[8] SEBI Cybersecurity and Cyber Resilience Framework: RTO 2 hours, RPO 15 minutes (clarification reported by PTI / The Week, 28 Aug 2025).</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[9] SEBI framework for market infrastructure institutions: DR site within 45 minutes, quarterly drills (Business Standard, 22 Mar 2021).</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[10] Regulation (EU) 2022/2554 (DORA), Articles 11(6), 12, 35(7)–(8), 50, 51. eur-lex.europa.eu/eli/reg/2022/2554/oj</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[11] Cockroach Labs with Wakefield Research, The State of Resilience 2025 (1,000 executives, Aug–Sep 2024). cockroachlabs.com</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[12] Azure Cost Management, actual cost by service in US$ (CostUSD), month to date, queried 18 Oct 2026 (our environment).</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[13] Azure Retail Prices API (prices.azure.com), East Asia / Southeast Asia list prices for App Service B1 Linux, SQL Database Basic, Traffic Manager, 18 Oct 2026.</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Our measurements: 9 drills recorded by the DR Agent (17–18 Oct 2026); each report keeps the raw timestamps, events and approvals.</a:t>
            </a:r>
            <a:endParaRPr lang="en-US" sz="1050" dirty="0"/>
          </a:p>
        </p:txBody>
      </p:sp>
      <p:sp>
        <p:nvSpPr>
          <p:cNvPr id="5" name="Text 3"/>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71721"/>
        </a:solidFill>
      </p:bgPr>
    </p:bg>
    <p:spTree>
      <p:nvGrpSpPr>
        <p:cNvPr id="1" name=""/>
        <p:cNvGrpSpPr/>
        <p:nvPr/>
      </p:nvGrpSpPr>
      <p:grpSpPr>
        <a:xfrm>
          <a:off x="0" y="0"/>
          <a:ext cx="0" cy="0"/>
          <a:chOff x="0" y="0"/>
          <a:chExt cx="0" cy="0"/>
        </a:xfrm>
      </p:grpSpPr>
      <p:sp>
        <p:nvSpPr>
          <p:cNvPr id="2" name="Shape 0"/>
          <p:cNvSpPr/>
          <p:nvPr/>
        </p:nvSpPr>
        <p:spPr>
          <a:xfrm>
            <a:off x="548640" y="731520"/>
            <a:ext cx="914400" cy="914400"/>
          </a:xfrm>
          <a:prstGeom prst="ellipse">
            <a:avLst/>
          </a:prstGeom>
          <a:solidFill>
            <a:srgbClr val="5E2CFE"/>
          </a:solidFill>
          <a:ln w="12700">
            <a:solidFill>
              <a:srgbClr val="5E2CFE"/>
            </a:solidFill>
            <a:prstDash val="solid"/>
          </a:ln>
        </p:spPr>
      </p:sp>
      <p:pic>
        <p:nvPicPr>
          <p:cNvPr id="3" name="Image 0" descr="preencoded.png">    </p:cNvPr>
          <p:cNvPicPr>
            <a:picLocks noChangeAspect="1"/>
          </p:cNvPicPr>
          <p:nvPr/>
        </p:nvPicPr>
        <p:blipFill>
          <a:blip r:embed="rId1"/>
          <a:stretch>
            <a:fillRect/>
          </a:stretch>
        </p:blipFill>
        <p:spPr>
          <a:xfrm>
            <a:off x="777240" y="960120"/>
            <a:ext cx="457200" cy="457200"/>
          </a:xfrm>
          <a:prstGeom prst="rect">
            <a:avLst/>
          </a:prstGeom>
        </p:spPr>
      </p:pic>
      <p:sp>
        <p:nvSpPr>
          <p:cNvPr id="4" name="Text 1"/>
          <p:cNvSpPr txBox="1"/>
          <p:nvPr/>
        </p:nvSpPr>
        <p:spPr>
          <a:xfrm>
            <a:off x="548640" y="2011680"/>
            <a:ext cx="10972800" cy="82296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Don't assume you can recover.</a:t>
            </a:r>
            <a:endParaRPr lang="en-US" sz="4400" dirty="0"/>
          </a:p>
        </p:txBody>
      </p:sp>
      <p:sp>
        <p:nvSpPr>
          <p:cNvPr id="5" name="Text 2"/>
          <p:cNvSpPr txBox="1"/>
          <p:nvPr/>
        </p:nvSpPr>
        <p:spPr>
          <a:xfrm>
            <a:off x="548640" y="2834640"/>
            <a:ext cx="10972800" cy="731520"/>
          </a:xfrm>
          <a:prstGeom prst="rect">
            <a:avLst/>
          </a:prstGeom>
          <a:noFill/>
          <a:ln/>
        </p:spPr>
        <p:txBody>
          <a:bodyPr wrap="square" lIns="0" tIns="0" rIns="0" bIns="0" rtlCol="0" anchor="ctr"/>
          <a:lstStyle/>
          <a:p>
            <a:pPr indent="0" marL="0">
              <a:buNone/>
            </a:pPr>
            <a:r>
              <a:rPr lang="en-US" sz="3000" dirty="0">
                <a:solidFill>
                  <a:srgbClr val="C9C3E6"/>
                </a:solidFill>
                <a:latin typeface="Calibri" pitchFamily="34" charset="0"/>
                <a:ea typeface="Calibri" pitchFamily="34" charset="-122"/>
                <a:cs typeface="Calibri" pitchFamily="34" charset="-120"/>
              </a:rPr>
              <a:t>Let the DR Agent test it for real, and prove it, whenever you need.</a:t>
            </a:r>
            <a:endParaRPr lang="en-US" sz="3000" dirty="0"/>
          </a:p>
        </p:txBody>
      </p:sp>
      <p:sp>
        <p:nvSpPr>
          <p:cNvPr id="6" name="Text 3"/>
          <p:cNvSpPr txBox="1"/>
          <p:nvPr/>
        </p:nvSpPr>
        <p:spPr>
          <a:xfrm>
            <a:off x="548640" y="4206240"/>
            <a:ext cx="347472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Real DR drills</a:t>
            </a:r>
            <a:endParaRPr lang="en-US" sz="1700" dirty="0"/>
          </a:p>
          <a:p>
            <a:pPr indent="0" marL="0">
              <a:buNone/>
            </a:pPr>
            <a:r>
              <a:rPr lang="en-US" sz="1300" dirty="0">
                <a:solidFill>
                  <a:srgbClr val="C9C3E6"/>
                </a:solidFill>
                <a:latin typeface="Calibri" pitchFamily="34" charset="0"/>
                <a:ea typeface="Calibri" pitchFamily="34" charset="-122"/>
                <a:cs typeface="Calibri" pitchFamily="34" charset="-120"/>
              </a:rPr>
              <a:t>Fail over, measure, fail back: 10 live drills, RTO about 30 s, data loss proven write by write</a:t>
            </a:r>
            <a:endParaRPr lang="en-US" sz="1700" dirty="0"/>
          </a:p>
        </p:txBody>
      </p:sp>
      <p:sp>
        <p:nvSpPr>
          <p:cNvPr id="7" name="Text 4"/>
          <p:cNvSpPr txBox="1"/>
          <p:nvPr/>
        </p:nvSpPr>
        <p:spPr>
          <a:xfrm>
            <a:off x="4297680" y="4206240"/>
            <a:ext cx="347472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Built 100% on Azure</a:t>
            </a:r>
            <a:endParaRPr lang="en-US" sz="1700" dirty="0"/>
          </a:p>
          <a:p>
            <a:pPr indent="0" marL="0">
              <a:buNone/>
            </a:pPr>
            <a:r>
              <a:rPr lang="en-US" sz="1300" dirty="0">
                <a:solidFill>
                  <a:srgbClr val="C9C3E6"/>
                </a:solidFill>
                <a:latin typeface="Calibri" pitchFamily="34" charset="0"/>
                <a:ea typeface="Calibri" pitchFamily="34" charset="-122"/>
                <a:cs typeface="Calibri" pitchFamily="34" charset="-120"/>
              </a:rPr>
              <a:t>AI Foundry, SQL failover groups, Traffic Manager, Site Recovery, Monitor</a:t>
            </a:r>
            <a:endParaRPr lang="en-US" sz="1700" dirty="0"/>
          </a:p>
        </p:txBody>
      </p:sp>
      <p:sp>
        <p:nvSpPr>
          <p:cNvPr id="8" name="Text 5"/>
          <p:cNvSpPr txBox="1"/>
          <p:nvPr/>
        </p:nvSpPr>
        <p:spPr>
          <a:xfrm>
            <a:off x="8046720" y="4206240"/>
            <a:ext cx="347472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Safe by design</a:t>
            </a:r>
            <a:endParaRPr lang="en-US" sz="1700" dirty="0"/>
          </a:p>
          <a:p>
            <a:pPr indent="0" marL="0">
              <a:buNone/>
            </a:pPr>
            <a:r>
              <a:rPr lang="en-US" sz="1300" dirty="0">
                <a:solidFill>
                  <a:srgbClr val="C9C3E6"/>
                </a:solidFill>
                <a:latin typeface="Calibri" pitchFamily="34" charset="0"/>
                <a:ea typeface="Calibri" pitchFamily="34" charset="-122"/>
                <a:cs typeface="Calibri" pitchFamily="34" charset="-120"/>
              </a:rPr>
              <a:t>Allowlisted actions, human approval, kill switch, full audit trail</a:t>
            </a:r>
            <a:endParaRPr lang="en-US" sz="1700" dirty="0"/>
          </a:p>
        </p:txBody>
      </p:sp>
      <p:sp>
        <p:nvSpPr>
          <p:cNvPr id="9" name="Text 6"/>
          <p:cNvSpPr txBox="1"/>
          <p:nvPr/>
        </p:nvSpPr>
        <p:spPr>
          <a:xfrm>
            <a:off x="548640" y="5943600"/>
            <a:ext cx="11064240" cy="411480"/>
          </a:xfrm>
          <a:prstGeom prst="rect">
            <a:avLst/>
          </a:prstGeom>
          <a:noFill/>
          <a:ln/>
        </p:spPr>
        <p:txBody>
          <a:bodyPr wrap="square" lIns="0" tIns="0" rIns="0" bIns="0" rtlCol="0" anchor="ctr"/>
          <a:lstStyle/>
          <a:p>
            <a:pPr indent="0" marL="0">
              <a:buNone/>
            </a:pPr>
            <a:r>
              <a:rPr lang="en-US" sz="1500" dirty="0">
                <a:solidFill>
                  <a:srgbClr val="9C95BD"/>
                </a:solidFill>
                <a:latin typeface="Calibri" pitchFamily="34" charset="0"/>
                <a:ea typeface="Calibri" pitchFamily="34" charset="-122"/>
                <a:cs typeface="Calibri" pitchFamily="34" charset="-120"/>
              </a:rPr>
              <a:t>Thank you  ·  Team Azure Armada</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Disaster Recovery (DR) Agent: Autonomous Disaster Recovery Validation</dc:title>
  <dc:subject>PptxGenJS Presentation</dc:subject>
  <dc:creator>Team Azure Armada</dc:creator>
  <cp:lastModifiedBy>Team Azure Armada</cp:lastModifiedBy>
  <cp:revision>1</cp:revision>
  <dcterms:created xsi:type="dcterms:W3CDTF">2026-10-19T09:16:12Z</dcterms:created>
  <dcterms:modified xsi:type="dcterms:W3CDTF">2026-10-19T09:16:12Z</dcterms:modified>
</cp:coreProperties>
</file>