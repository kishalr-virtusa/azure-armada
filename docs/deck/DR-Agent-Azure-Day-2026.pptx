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Disaster Recovery (DR) Agent is a team of AI agents built entirely on Azure that actually performs disaster recovery testing: it fails workloads over, measures real recovery time and data loss, fails back, and produces audit-ready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problem: DR is designed but not continuously tested. Drift between annual drills silently breaks recovery, and RTO/RPO are assumed rather than 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closes the full loop. The highlighted steps — execute, validate, fail back — are the heart of the solution: the agent really performs the DR test rather than only reviewing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heart of the solution: the agent performs real DR tests. Three modes let it run safely everywhere — isolated test failovers weekly in production, full drills in staging, and approved game days in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agents. The DR Test Executor and Validation agents (highlighted) do the actual testing; the others prepare the test and turn results into fixes and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Triggers start a DR test run. The orchestrator in AI Foundry delegates to specialist agents, which use Azure services as tools. Amber highlights the testing path: the DR Test Executor drives Site Recovery, SQL failover groups, Front Door and Chaos Studio against the workload, failing over Region A to Region B and back, while the Validation agent measures RTO/RPO through Azure Monitor.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Because the agent performs real failovers, safety is designed in: graduated autonomy, least-privilege identities, kill switch with auto-rollback, and a full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 real DR test, not slides: the agent fails over a live two-region app, catches a planted gap through the test itself, fails back, fixes it via a Bicep PR, and re-tests to green.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 value: continuous, measured DR testing at a fraction of today's effort, with compliance evidence produced automatically. For Virtusa it becomes a reusable accelerator.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914400" cy="91440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86868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9164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D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DAY 2026 HACKATHON  ·  DISASTER RECOVERY AGENT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92024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Disaster Recovery (DR) Agent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FE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Autonomous Disaster Recovery Validation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B8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100% on Azure. AI agents that validate DR by executing real tests: fail over, measure RTO/RPO, fail back, and prove you can recover, every week instead of once a year.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5166360"/>
            <a:ext cx="548640" cy="548640"/>
          </a:xfrm>
          <a:prstGeom prst="ellipse">
            <a:avLst/>
          </a:prstGeom>
          <a:solidFill>
            <a:srgbClr val="14305A"/>
          </a:solidFill>
          <a:ln w="12700">
            <a:solidFill>
              <a:srgbClr val="14305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0352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07008" y="51663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over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2560320" y="5166360"/>
            <a:ext cx="548640" cy="548640"/>
          </a:xfrm>
          <a:prstGeom prst="ellipse">
            <a:avLst/>
          </a:prstGeom>
          <a:solidFill>
            <a:srgbClr val="14305A"/>
          </a:solidFill>
          <a:ln w="12700">
            <a:solidFill>
              <a:srgbClr val="14305A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530352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218688" y="51663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572000" y="5166360"/>
            <a:ext cx="548640" cy="548640"/>
          </a:xfrm>
          <a:prstGeom prst="ellipse">
            <a:avLst/>
          </a:prstGeom>
          <a:solidFill>
            <a:srgbClr val="14305A"/>
          </a:solidFill>
          <a:ln w="12700">
            <a:solidFill>
              <a:srgbClr val="14305A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5303520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230368" y="51663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back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6583680" y="5166360"/>
            <a:ext cx="548640" cy="548640"/>
          </a:xfrm>
          <a:prstGeom prst="ellipse">
            <a:avLst/>
          </a:prstGeom>
          <a:solidFill>
            <a:srgbClr val="14305A"/>
          </a:solidFill>
          <a:ln w="12700">
            <a:solidFill>
              <a:srgbClr val="14305A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530352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242048" y="51663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7955280" y="6172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Azure Armada  ·  Virtusa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has a DR plan. Few can prove it works today.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gaps stay hidden until a real outage — when downtime costs the most.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594360" cy="5943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114550"/>
            <a:ext cx="297180" cy="2971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9659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is rare and manual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974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Drills happen once or twice a year, take weeks of multi-team effort and weekend work, so coverage is minimal.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6916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0" y="1965960"/>
            <a:ext cx="594360" cy="5943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590" y="211455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03520" y="19659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silently breaks recovery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6974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LRS storage, secrets only in primary, missing quota, unmirrored firewall rules — changes made daily, never re-tested.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6916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21040" y="1965960"/>
            <a:ext cx="594360" cy="5943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630" y="211455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2560" y="19659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 go stale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6974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docs and wikis describe last year's architecture. Engineers discover broken steps mid-incident.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2960" y="4297680"/>
            <a:ext cx="594360" cy="5943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" y="4446270"/>
            <a:ext cx="297180" cy="2971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42976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/ RPO are assumed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50292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targets are signed off on paper; actual recovery time and data loss are rarely measured end-to-end.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9768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72000" y="4297680"/>
            <a:ext cx="594360" cy="5943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0590" y="4446270"/>
            <a:ext cx="297180" cy="29718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03520" y="42976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evidence is manual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0" y="50292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RBI, SEBI, DORA, SOX and ISO 22301 demand demonstrated resilience — evidence is assembled from screenshots.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04672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21040" y="4297680"/>
            <a:ext cx="594360" cy="5943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9630" y="4446270"/>
            <a:ext cx="297180" cy="2971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2560" y="42976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are invisible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8321040" y="50292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Failing over one tier breaks another: identity, Key Vault, messaging and DNS links are rarely mapped.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Agent: Autonomous DR Validation  ·  Team Azure Armada  ·  Azure Day 2026 Hackathon 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by execution: the agent runs real DR tests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DR design review — autonomous, end-to-end failover testing with a human approving anything risky.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417320" y="2148840"/>
            <a:ext cx="960120" cy="0"/>
          </a:xfrm>
          <a:prstGeom prst="line">
            <a:avLst/>
          </a:prstGeom>
          <a:noFill/>
          <a:ln w="25400">
            <a:solidFill>
              <a:srgbClr val="C9D3DE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822960" cy="8229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9431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99923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workload &amp; dependencies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816352" y="2148840"/>
            <a:ext cx="960120" cy="0"/>
          </a:xfrm>
          <a:prstGeom prst="line">
            <a:avLst/>
          </a:prstGeom>
          <a:noFill/>
          <a:ln w="25400">
            <a:solidFill>
              <a:srgbClr val="C9D3DE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130552" y="1737360"/>
            <a:ext cx="822960" cy="8229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292" y="19431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856232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856232" y="299923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readiness gaps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215384" y="2148840"/>
            <a:ext cx="960120" cy="0"/>
          </a:xfrm>
          <a:prstGeom prst="line">
            <a:avLst/>
          </a:prstGeom>
          <a:noFill/>
          <a:ln w="25400">
            <a:solidFill>
              <a:srgbClr val="C9D3D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3529584" y="1737360"/>
            <a:ext cx="822960" cy="8229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5324" y="19431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255264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test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3255264" y="299923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failover steps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614416" y="2148840"/>
            <a:ext cx="960120" cy="0"/>
          </a:xfrm>
          <a:prstGeom prst="line">
            <a:avLst/>
          </a:prstGeom>
          <a:noFill/>
          <a:ln w="25400">
            <a:solidFill>
              <a:srgbClr val="C9D3DE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4928616" y="1737360"/>
            <a:ext cx="822960" cy="8229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4356" y="194310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654296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654296" y="299923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in Teams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7013448" y="2148840"/>
            <a:ext cx="960120" cy="0"/>
          </a:xfrm>
          <a:prstGeom prst="line">
            <a:avLst/>
          </a:prstGeom>
          <a:noFill/>
          <a:ln w="25400">
            <a:solidFill>
              <a:srgbClr val="C9D3DE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6327648" y="1737360"/>
            <a:ext cx="822960" cy="82296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3388" y="1943100"/>
            <a:ext cx="411480" cy="41148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053328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6053328" y="299923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failover drill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412480" y="2148840"/>
            <a:ext cx="960120" cy="0"/>
          </a:xfrm>
          <a:prstGeom prst="line">
            <a:avLst/>
          </a:prstGeom>
          <a:noFill/>
          <a:ln w="25400">
            <a:solidFill>
              <a:srgbClr val="C9D3DE"/>
            </a:solidFill>
            <a:prstDash val="solid"/>
            <a:tailEnd type="triangle"/>
          </a:ln>
        </p:spPr>
      </p:sp>
      <p:sp>
        <p:nvSpPr>
          <p:cNvPr id="30" name="Shape 23"/>
          <p:cNvSpPr/>
          <p:nvPr/>
        </p:nvSpPr>
        <p:spPr>
          <a:xfrm>
            <a:off x="7726680" y="1737360"/>
            <a:ext cx="822960" cy="82296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2420" y="1943100"/>
            <a:ext cx="411480" cy="4114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452360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7452360" y="299923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tests, RTO/RPO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811512" y="2148840"/>
            <a:ext cx="960120" cy="0"/>
          </a:xfrm>
          <a:prstGeom prst="line">
            <a:avLst/>
          </a:prstGeom>
          <a:noFill/>
          <a:ln w="25400">
            <a:solidFill>
              <a:srgbClr val="C9D3DE"/>
            </a:solidFill>
            <a:prstDash val="solid"/>
            <a:tailEnd type="triangle"/>
          </a:ln>
        </p:spPr>
      </p:sp>
      <p:sp>
        <p:nvSpPr>
          <p:cNvPr id="35" name="Shape 27"/>
          <p:cNvSpPr/>
          <p:nvPr/>
        </p:nvSpPr>
        <p:spPr>
          <a:xfrm>
            <a:off x="9125712" y="1737360"/>
            <a:ext cx="822960" cy="82296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1452" y="1943100"/>
            <a:ext cx="411480" cy="41148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851392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back</a:t>
            </a:r>
            <a:endParaRPr lang="en-US" sz="1400" dirty="0"/>
          </a:p>
        </p:txBody>
      </p:sp>
      <p:sp>
        <p:nvSpPr>
          <p:cNvPr id="38" name="Text 29"/>
          <p:cNvSpPr txBox="1"/>
          <p:nvPr/>
        </p:nvSpPr>
        <p:spPr>
          <a:xfrm>
            <a:off x="8851392" y="299923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&amp; clean up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10524744" y="1737360"/>
            <a:ext cx="822960" cy="8229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30484" y="1943100"/>
            <a:ext cx="411480" cy="41148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0250424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&amp; prove</a:t>
            </a:r>
            <a:endParaRPr lang="en-US" sz="1400" dirty="0"/>
          </a:p>
        </p:txBody>
      </p:sp>
      <p:sp>
        <p:nvSpPr>
          <p:cNvPr id="42" name="Text 32"/>
          <p:cNvSpPr txBox="1"/>
          <p:nvPr/>
        </p:nvSpPr>
        <p:spPr>
          <a:xfrm>
            <a:off x="10250424" y="299923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PRs, evidence pack</a:t>
            </a:r>
            <a:endParaRPr lang="en-US" sz="1100" dirty="0"/>
          </a:p>
        </p:txBody>
      </p:sp>
      <p:sp>
        <p:nvSpPr>
          <p:cNvPr id="43" name="Shape 33"/>
          <p:cNvSpPr/>
          <p:nvPr/>
        </p:nvSpPr>
        <p:spPr>
          <a:xfrm>
            <a:off x="6035040" y="1572768"/>
            <a:ext cx="4251960" cy="2011680"/>
          </a:xfrm>
          <a:prstGeom prst="roundRect">
            <a:avLst>
              <a:gd name="adj" fmla="val 4545"/>
            </a:avLst>
          </a:prstGeom>
          <a:solidFill>
            <a:srgbClr val="0E8C8C">
              <a:alpha val="8000"/>
            </a:srgbClr>
          </a:solidFill>
          <a:ln w="15875">
            <a:solidFill>
              <a:srgbClr val="0E8C8C"/>
            </a:solidFill>
            <a:prstDash val="dash"/>
          </a:ln>
        </p:spPr>
      </p:sp>
      <p:sp>
        <p:nvSpPr>
          <p:cNvPr id="44" name="Text 34"/>
          <p:cNvSpPr txBox="1"/>
          <p:nvPr/>
        </p:nvSpPr>
        <p:spPr>
          <a:xfrm>
            <a:off x="6035040" y="129844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LIVE DR TEST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548640" y="3886200"/>
            <a:ext cx="11064240" cy="2468880"/>
          </a:xfrm>
          <a:prstGeom prst="roundRect">
            <a:avLst>
              <a:gd name="adj" fmla="val 296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3749040" y="3977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47" name="Text 37"/>
          <p:cNvSpPr txBox="1"/>
          <p:nvPr/>
        </p:nvSpPr>
        <p:spPr>
          <a:xfrm>
            <a:off x="7589520" y="3977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DR Agent</a:t>
            </a:r>
            <a:endParaRPr lang="en-US" sz="1300" dirty="0"/>
          </a:p>
        </p:txBody>
      </p:sp>
      <p:sp>
        <p:nvSpPr>
          <p:cNvPr id="48" name="Text 38"/>
          <p:cNvSpPr txBox="1"/>
          <p:nvPr/>
        </p:nvSpPr>
        <p:spPr>
          <a:xfrm>
            <a:off x="822960" y="43434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testing frequency</a:t>
            </a:r>
            <a:endParaRPr lang="en-US" sz="1300" dirty="0"/>
          </a:p>
        </p:txBody>
      </p:sp>
      <p:sp>
        <p:nvSpPr>
          <p:cNvPr id="49" name="Text 39"/>
          <p:cNvSpPr txBox="1"/>
          <p:nvPr/>
        </p:nvSpPr>
        <p:spPr>
          <a:xfrm>
            <a:off x="3749040" y="43434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or twice a year</a:t>
            </a:r>
            <a:endParaRPr lang="en-US" sz="1300" dirty="0"/>
          </a:p>
        </p:txBody>
      </p:sp>
      <p:sp>
        <p:nvSpPr>
          <p:cNvPr id="50" name="Text 40"/>
          <p:cNvSpPr txBox="1"/>
          <p:nvPr/>
        </p:nvSpPr>
        <p:spPr>
          <a:xfrm>
            <a:off x="7589520" y="43434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week, or after every change</a:t>
            </a:r>
            <a:endParaRPr lang="en-US" sz="1300" dirty="0"/>
          </a:p>
        </p:txBody>
      </p:sp>
      <p:sp>
        <p:nvSpPr>
          <p:cNvPr id="51" name="Text 41"/>
          <p:cNvSpPr txBox="1"/>
          <p:nvPr/>
        </p:nvSpPr>
        <p:spPr>
          <a:xfrm>
            <a:off x="822960" y="472744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per drill</a:t>
            </a:r>
            <a:endParaRPr lang="en-US" sz="1300" dirty="0"/>
          </a:p>
        </p:txBody>
      </p:sp>
      <p:sp>
        <p:nvSpPr>
          <p:cNvPr id="52" name="Text 42"/>
          <p:cNvSpPr txBox="1"/>
          <p:nvPr/>
        </p:nvSpPr>
        <p:spPr>
          <a:xfrm>
            <a:off x="3749040" y="472744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Weeks, many teams, weekends</a:t>
            </a:r>
            <a:endParaRPr lang="en-US" sz="1300" dirty="0"/>
          </a:p>
        </p:txBody>
      </p:sp>
      <p:sp>
        <p:nvSpPr>
          <p:cNvPr id="53" name="Text 43"/>
          <p:cNvSpPr txBox="1"/>
          <p:nvPr/>
        </p:nvSpPr>
        <p:spPr>
          <a:xfrm>
            <a:off x="7589520" y="47274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Automated; engineers approve &amp; review</a:t>
            </a:r>
            <a:endParaRPr lang="en-US" sz="1300" dirty="0"/>
          </a:p>
        </p:txBody>
      </p:sp>
      <p:sp>
        <p:nvSpPr>
          <p:cNvPr id="54" name="Text 44"/>
          <p:cNvSpPr txBox="1"/>
          <p:nvPr/>
        </p:nvSpPr>
        <p:spPr>
          <a:xfrm>
            <a:off x="822960" y="5111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/ RPO</a:t>
            </a:r>
            <a:endParaRPr lang="en-US" sz="1300" dirty="0"/>
          </a:p>
        </p:txBody>
      </p:sp>
      <p:sp>
        <p:nvSpPr>
          <p:cNvPr id="55" name="Text 45"/>
          <p:cNvSpPr txBox="1"/>
          <p:nvPr/>
        </p:nvSpPr>
        <p:spPr>
          <a:xfrm>
            <a:off x="3749040" y="511149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Assumed on paper</a:t>
            </a:r>
            <a:endParaRPr lang="en-US" sz="1300" dirty="0"/>
          </a:p>
        </p:txBody>
      </p:sp>
      <p:sp>
        <p:nvSpPr>
          <p:cNvPr id="56" name="Text 46"/>
          <p:cNvSpPr txBox="1"/>
          <p:nvPr/>
        </p:nvSpPr>
        <p:spPr>
          <a:xfrm>
            <a:off x="7589520" y="511149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every test</a:t>
            </a:r>
            <a:endParaRPr lang="en-US" sz="1300" dirty="0"/>
          </a:p>
        </p:txBody>
      </p:sp>
      <p:sp>
        <p:nvSpPr>
          <p:cNvPr id="57" name="Text 47"/>
          <p:cNvSpPr txBox="1"/>
          <p:nvPr/>
        </p:nvSpPr>
        <p:spPr>
          <a:xfrm>
            <a:off x="822960" y="5495544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found</a:t>
            </a:r>
            <a:endParaRPr lang="en-US" sz="1300" dirty="0"/>
          </a:p>
        </p:txBody>
      </p:sp>
      <p:sp>
        <p:nvSpPr>
          <p:cNvPr id="58" name="Text 48"/>
          <p:cNvSpPr txBox="1"/>
          <p:nvPr/>
        </p:nvSpPr>
        <p:spPr>
          <a:xfrm>
            <a:off x="3749040" y="54955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real outage</a:t>
            </a:r>
            <a:endParaRPr lang="en-US" sz="1300" dirty="0"/>
          </a:p>
        </p:txBody>
      </p:sp>
      <p:sp>
        <p:nvSpPr>
          <p:cNvPr id="59" name="Text 49"/>
          <p:cNvSpPr txBox="1"/>
          <p:nvPr/>
        </p:nvSpPr>
        <p:spPr>
          <a:xfrm>
            <a:off x="7589520" y="54955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outage — with a fix PR</a:t>
            </a:r>
            <a:endParaRPr lang="en-US" sz="1300" dirty="0"/>
          </a:p>
        </p:txBody>
      </p:sp>
      <p:sp>
        <p:nvSpPr>
          <p:cNvPr id="60" name="Text 50"/>
          <p:cNvSpPr txBox="1"/>
          <p:nvPr/>
        </p:nvSpPr>
        <p:spPr>
          <a:xfrm>
            <a:off x="822960" y="587959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evidence</a:t>
            </a:r>
            <a:endParaRPr lang="en-US" sz="1300" dirty="0"/>
          </a:p>
        </p:txBody>
      </p:sp>
      <p:sp>
        <p:nvSpPr>
          <p:cNvPr id="61" name="Text 51"/>
          <p:cNvSpPr txBox="1"/>
          <p:nvPr/>
        </p:nvSpPr>
        <p:spPr>
          <a:xfrm>
            <a:off x="3749040" y="58795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&amp; spreadsheets</a:t>
            </a:r>
            <a:endParaRPr lang="en-US" sz="1300" dirty="0"/>
          </a:p>
        </p:txBody>
      </p:sp>
      <p:sp>
        <p:nvSpPr>
          <p:cNvPr id="62" name="Text 52"/>
          <p:cNvSpPr txBox="1"/>
          <p:nvPr/>
        </p:nvSpPr>
        <p:spPr>
          <a:xfrm>
            <a:off x="7589520" y="58795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evidence pack</a:t>
            </a:r>
            <a:endParaRPr lang="en-US" sz="1300" dirty="0"/>
          </a:p>
        </p:txBody>
      </p:sp>
      <p:sp>
        <p:nvSpPr>
          <p:cNvPr id="63" name="Text 53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Agent: Autonomous DR Validation  ·  Team Azure Armada  ·  Azure Day 2026 Hackathon 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agent validates DR: the tests it executes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failovers on Azure, ordered by dependency (data → app → traffic), with measured RTO/RPO and automatic failback.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548640" cy="54864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659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28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/ IaaS failover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68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over replicated VMs into an isolated test VNet, boot, health-check, clean up.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718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Site Recovery · Test Failover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297680" y="160020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828800"/>
            <a:ext cx="548640" cy="54864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6596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12080" y="1828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failover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468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failover of SQL failover group / Cosmos DB region; measure replication lag and switch time.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9718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Failover Groups · Cosmos DB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46720" y="160020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75320" y="1828800"/>
            <a:ext cx="548640" cy="54864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6596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61120" y="1828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failover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468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Initiate storage account failover in non-prod; verify data is readable in the secondary region.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8275320" y="29718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GRS / GZRS customer-managed failover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48640" y="347472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77240" y="3703320"/>
            <a:ext cx="548640" cy="54864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4048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463040" y="37033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/ region switch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777240" y="43434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user traffic to the secondary region and run synthetic user journeys end to end.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777240" y="48463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Front Door · Traffic Manager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297680" y="347472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526280" y="3703320"/>
            <a:ext cx="548640" cy="54864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840480"/>
            <a:ext cx="274320" cy="27432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212080" y="37033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injection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4526280" y="43434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zone outage, network block, Key Vault denial or AKS pod loss — prove the app survives.</a:t>
            </a:r>
            <a:endParaRPr lang="en-US" sz="1150" dirty="0"/>
          </a:p>
        </p:txBody>
      </p:sp>
      <p:sp>
        <p:nvSpPr>
          <p:cNvPr id="33" name="Text 26"/>
          <p:cNvSpPr txBox="1"/>
          <p:nvPr/>
        </p:nvSpPr>
        <p:spPr>
          <a:xfrm>
            <a:off x="4526280" y="48463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Chaos Studio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8046720" y="347472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275320" y="3703320"/>
            <a:ext cx="548640" cy="54864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3840480"/>
            <a:ext cx="274320" cy="27432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961120" y="37033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Failback</a:t>
            </a:r>
            <a:endParaRPr lang="en-US" sz="1600" dirty="0"/>
          </a:p>
        </p:txBody>
      </p:sp>
      <p:sp>
        <p:nvSpPr>
          <p:cNvPr id="38" name="Text 30"/>
          <p:cNvSpPr txBox="1"/>
          <p:nvPr/>
        </p:nvSpPr>
        <p:spPr>
          <a:xfrm>
            <a:off x="8275320" y="43434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to primary, re-protect replication, verify nothing broke on the way back.</a:t>
            </a:r>
            <a:endParaRPr lang="en-US" sz="1150" dirty="0"/>
          </a:p>
        </p:txBody>
      </p:sp>
      <p:sp>
        <p:nvSpPr>
          <p:cNvPr id="39" name="Text 31"/>
          <p:cNvSpPr txBox="1"/>
          <p:nvPr/>
        </p:nvSpPr>
        <p:spPr>
          <a:xfrm>
            <a:off x="8275320" y="48463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 re-protect · SQL failover</a:t>
            </a:r>
            <a:endParaRPr lang="en-US" sz="1050" dirty="0"/>
          </a:p>
        </p:txBody>
      </p:sp>
      <p:sp>
        <p:nvSpPr>
          <p:cNvPr id="40" name="Text 32"/>
          <p:cNvSpPr txBox="1"/>
          <p:nvPr/>
        </p:nvSpPr>
        <p:spPr>
          <a:xfrm>
            <a:off x="548640" y="5440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MODES</a:t>
            </a:r>
            <a:endParaRPr lang="en-US" sz="1000" dirty="0"/>
          </a:p>
        </p:txBody>
      </p:sp>
      <p:sp>
        <p:nvSpPr>
          <p:cNvPr id="41" name="Shape 33"/>
          <p:cNvSpPr/>
          <p:nvPr/>
        </p:nvSpPr>
        <p:spPr>
          <a:xfrm>
            <a:off x="548640" y="5715000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1520" y="5715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test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Production-safe · no user impact · runs weekly</a:t>
            </a:r>
            <a:endParaRPr lang="en-US" sz="1400" dirty="0"/>
          </a:p>
        </p:txBody>
      </p:sp>
      <p:sp>
        <p:nvSpPr>
          <p:cNvPr id="43" name="Shape 35"/>
          <p:cNvSpPr/>
          <p:nvPr/>
        </p:nvSpPr>
        <p:spPr>
          <a:xfrm>
            <a:off x="4297680" y="5715000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4480560" y="5715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drill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Non-prod / staging · real region failover and failback</a:t>
            </a:r>
            <a:endParaRPr lang="en-US" sz="1400" dirty="0"/>
          </a:p>
        </p:txBody>
      </p:sp>
      <p:sp>
        <p:nvSpPr>
          <p:cNvPr id="45" name="Shape 37"/>
          <p:cNvSpPr/>
          <p:nvPr/>
        </p:nvSpPr>
        <p:spPr>
          <a:xfrm>
            <a:off x="8046720" y="5715000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6" name="Text 38"/>
          <p:cNvSpPr txBox="1"/>
          <p:nvPr/>
        </p:nvSpPr>
        <p:spPr>
          <a:xfrm>
            <a:off x="8229600" y="5715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day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· explicit approval, kill switch, auto-rollback</a:t>
            </a:r>
            <a:endParaRPr lang="en-US" sz="1400" dirty="0"/>
          </a:p>
        </p:txBody>
      </p:sp>
      <p:sp>
        <p:nvSpPr>
          <p:cNvPr id="47" name="Text 3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Agent: Autonomous DR Validation  ·  Team Azure Armada  ·  Azure Day 2026 Hackathon 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team of specialist agents on Azure AI Foundry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has its own tools, its own Managed Identity and least-privilege RBAC.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91640"/>
            <a:ext cx="594360" cy="59436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840230"/>
            <a:ext cx="297180" cy="2971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5544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Agent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a goal ("Run a DR test on the Payments workload"), plans the drill, delegates to specialists, enforces guardrails and approval gates.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15544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D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Agent Service · Azure OpenAI · Microsoft Agent Framework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265176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D9F0EF"/>
          </a:solidFill>
          <a:ln w="12700">
            <a:solidFill>
              <a:srgbClr val="D9F0E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77240" y="2880360"/>
            <a:ext cx="548640" cy="54864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0175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2880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Test Executor Agent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4930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· Runs failovers in dependency order, monitors each step, rolls back or fails back.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0233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Recovery · Chaos Studio · Durable Functions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297680" y="265176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D9F0EF"/>
          </a:solidFill>
          <a:ln w="12700">
            <a:solidFill>
              <a:srgbClr val="D9F0E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26280" y="2880360"/>
            <a:ext cx="548640" cy="54864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30175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212080" y="2880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Agent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4526280" y="34930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transactions on the recovered app, data-integrity checks, measures actual RTO &amp; RPO.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4526280" y="40233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· App Insights · Load Testing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046720" y="265176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75320" y="2880360"/>
            <a:ext cx="548640" cy="54864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301752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961120" y="2880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Agent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8275320" y="34930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 live dependency graph of the workload and ranks components by criticality.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8275320" y="40233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Graph · App Insights map · Cosmos DB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548640" y="452628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777240" y="4754880"/>
            <a:ext cx="548640" cy="54864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892040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463040" y="47548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Assessor Agent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77240" y="53675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Pre-test checks: replication, failover groups, secondary Key Vault, quota, Front Door, NSGs.</a:t>
            </a:r>
            <a:endParaRPr lang="en-US" sz="115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58978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Policy · Business Continuity Center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4297680" y="452628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4526280" y="4754880"/>
            <a:ext cx="548640" cy="54864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4892040"/>
            <a:ext cx="274320" cy="27432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212080" y="47548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Intelligence Agent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4526280" y="53675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existing runbooks (RAG), flags stale steps, generates an executable test plan.</a:t>
            </a:r>
            <a:endParaRPr lang="en-US" sz="1150" dirty="0"/>
          </a:p>
        </p:txBody>
      </p:sp>
      <p:sp>
        <p:nvSpPr>
          <p:cNvPr id="38" name="Text 30"/>
          <p:cNvSpPr txBox="1"/>
          <p:nvPr/>
        </p:nvSpPr>
        <p:spPr>
          <a:xfrm>
            <a:off x="4526280" y="58978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 · Document Intelligence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8046720" y="452628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8275320" y="4754880"/>
            <a:ext cx="548640" cy="54864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0" y="4892040"/>
            <a:ext cx="274320" cy="27432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8961120" y="47548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&amp; Reporting Agent</a:t>
            </a:r>
            <a:endParaRPr lang="en-US" sz="1500" dirty="0"/>
          </a:p>
        </p:txBody>
      </p:sp>
      <p:sp>
        <p:nvSpPr>
          <p:cNvPr id="43" name="Text 34"/>
          <p:cNvSpPr txBox="1"/>
          <p:nvPr/>
        </p:nvSpPr>
        <p:spPr>
          <a:xfrm>
            <a:off x="8275320" y="53675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Bicep/Terraform fix PRs, work items, evidence pack and resilience score.</a:t>
            </a:r>
            <a:endParaRPr lang="en-US" sz="1150" dirty="0"/>
          </a:p>
        </p:txBody>
      </p:sp>
      <p:sp>
        <p:nvSpPr>
          <p:cNvPr id="44" name="Text 35"/>
          <p:cNvSpPr txBox="1"/>
          <p:nvPr/>
        </p:nvSpPr>
        <p:spPr>
          <a:xfrm>
            <a:off x="8275320" y="58978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 / GitHub · Power BI · Teams</a:t>
            </a:r>
            <a:endParaRPr lang="en-US" sz="1000" dirty="0"/>
          </a:p>
        </p:txBody>
      </p:sp>
      <p:sp>
        <p:nvSpPr>
          <p:cNvPr id="45" name="Text 36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Agent: Autonomous DR Validation  ·  Team Azure Armada  ·  Azure Day 2026 Hackathon 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 architecture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Azure-native · agents orchestrate real Azure resilience services against the workload under test.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737360" cy="64008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12700">
            <a:solidFill>
              <a:srgbClr val="C9D3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173736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Apps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560320"/>
            <a:ext cx="1737360" cy="64008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12700">
            <a:solidFill>
              <a:srgbClr val="C9D3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60320"/>
            <a:ext cx="173736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change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Grid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737360" cy="64008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12700">
            <a:solidFill>
              <a:srgbClr val="C9D3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337560"/>
            <a:ext cx="173736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/ Portal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0" y="2697480"/>
            <a:ext cx="320040" cy="0"/>
          </a:xfrm>
          <a:prstGeom prst="line">
            <a:avLst/>
          </a:prstGeom>
          <a:noFill/>
          <a:ln w="19050">
            <a:solidFill>
              <a:srgbClr val="0B1F3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651760" y="1463040"/>
            <a:ext cx="6035040" cy="2423160"/>
          </a:xfrm>
          <a:prstGeom prst="roundRect">
            <a:avLst>
              <a:gd name="adj" fmla="val 3019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34640" y="15544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FD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AGENT SERVICE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834640" y="1847088"/>
            <a:ext cx="5669280" cy="502920"/>
          </a:xfrm>
          <a:prstGeom prst="roundRect">
            <a:avLst>
              <a:gd name="adj" fmla="val 10909"/>
            </a:avLst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34640" y="1847088"/>
            <a:ext cx="566928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Agent  ·  Azure OpenAI (GPT-4.1 / o-series)  ·  Agent Framework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834640" y="2514600"/>
            <a:ext cx="877824" cy="731520"/>
          </a:xfrm>
          <a:prstGeom prst="roundRect">
            <a:avLst>
              <a:gd name="adj" fmla="val 7500"/>
            </a:avLst>
          </a:prstGeom>
          <a:solidFill>
            <a:srgbClr val="14305A"/>
          </a:solidFill>
          <a:ln w="12700">
            <a:solidFill>
              <a:srgbClr val="3B5A8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834640" y="2514600"/>
            <a:ext cx="877824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85616" y="2514600"/>
            <a:ext cx="877824" cy="731520"/>
          </a:xfrm>
          <a:prstGeom prst="roundRect">
            <a:avLst>
              <a:gd name="adj" fmla="val 7500"/>
            </a:avLst>
          </a:prstGeom>
          <a:solidFill>
            <a:srgbClr val="14305A"/>
          </a:solidFill>
          <a:ln w="12700">
            <a:solidFill>
              <a:srgbClr val="3B5A8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85616" y="2514600"/>
            <a:ext cx="877824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36592" y="2514600"/>
            <a:ext cx="877824" cy="731520"/>
          </a:xfrm>
          <a:prstGeom prst="roundRect">
            <a:avLst>
              <a:gd name="adj" fmla="val 7500"/>
            </a:avLst>
          </a:prstGeom>
          <a:solidFill>
            <a:srgbClr val="14305A"/>
          </a:solidFill>
          <a:ln w="12700">
            <a:solidFill>
              <a:srgbClr val="3B5A8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36592" y="2514600"/>
            <a:ext cx="877824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87568" y="2514600"/>
            <a:ext cx="877824" cy="731520"/>
          </a:xfrm>
          <a:prstGeom prst="roundRect">
            <a:avLst>
              <a:gd name="adj" fmla="val 75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87568" y="2514600"/>
            <a:ext cx="877824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Test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38544" y="2514600"/>
            <a:ext cx="877824" cy="731520"/>
          </a:xfrm>
          <a:prstGeom prst="roundRect">
            <a:avLst>
              <a:gd name="adj" fmla="val 75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38544" y="2514600"/>
            <a:ext cx="877824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589520" y="2514600"/>
            <a:ext cx="877824" cy="731520"/>
          </a:xfrm>
          <a:prstGeom prst="roundRect">
            <a:avLst>
              <a:gd name="adj" fmla="val 7500"/>
            </a:avLst>
          </a:prstGeom>
          <a:solidFill>
            <a:srgbClr val="14305A"/>
          </a:solidFill>
          <a:ln w="12700">
            <a:solidFill>
              <a:srgbClr val="3B5A8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0" y="2514600"/>
            <a:ext cx="877824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Report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834640" y="3383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memory &amp; state: Cosmos DB  ·  Tracing: Application Insights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651760" y="40050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SERVICES USED AS AGENT TOOLS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73552" y="3886200"/>
            <a:ext cx="0" cy="384048"/>
          </a:xfrm>
          <a:prstGeom prst="line">
            <a:avLst/>
          </a:prstGeom>
          <a:noFill/>
          <a:ln w="12700">
            <a:solidFill>
              <a:srgbClr val="C9D3DE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2834640" y="427024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D9F0EF"/>
          </a:solidFill>
          <a:ln w="12700">
            <a:solidFill>
              <a:srgbClr val="0E8C8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834640" y="4270248"/>
            <a:ext cx="877824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Graph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224528" y="3886200"/>
            <a:ext cx="0" cy="384048"/>
          </a:xfrm>
          <a:prstGeom prst="line">
            <a:avLst/>
          </a:prstGeom>
          <a:noFill/>
          <a:ln w="12700">
            <a:solidFill>
              <a:srgbClr val="C9D3DE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785616" y="427024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D9F0EF"/>
          </a:solidFill>
          <a:ln w="12700">
            <a:solidFill>
              <a:srgbClr val="0E8C8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785616" y="4270248"/>
            <a:ext cx="877824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· BCC · Defender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75504" y="3886200"/>
            <a:ext cx="0" cy="384048"/>
          </a:xfrm>
          <a:prstGeom prst="line">
            <a:avLst/>
          </a:prstGeom>
          <a:noFill/>
          <a:ln w="12700">
            <a:solidFill>
              <a:srgbClr val="C9D3DE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736592" y="427024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D9F0EF"/>
          </a:solidFill>
          <a:ln w="12700">
            <a:solidFill>
              <a:srgbClr val="0E8C8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736592" y="4270248"/>
            <a:ext cx="877824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· Blob · Doc Intel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126480" y="3886200"/>
            <a:ext cx="0" cy="384048"/>
          </a:xfrm>
          <a:prstGeom prst="line">
            <a:avLst/>
          </a:prstGeom>
          <a:noFill/>
          <a:ln w="12700">
            <a:solidFill>
              <a:srgbClr val="C9D3DE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5687568" y="427024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FDF0DB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87568" y="4270248"/>
            <a:ext cx="877824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Recovery · Chaos Studio · Automation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077456" y="3886200"/>
            <a:ext cx="0" cy="384048"/>
          </a:xfrm>
          <a:prstGeom prst="line">
            <a:avLst/>
          </a:prstGeom>
          <a:noFill/>
          <a:ln w="12700">
            <a:solidFill>
              <a:srgbClr val="C9D3D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638544" y="427024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FDF0DB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638544" y="4270248"/>
            <a:ext cx="877824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· Log Analytics · Load Testing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028432" y="3886200"/>
            <a:ext cx="0" cy="384048"/>
          </a:xfrm>
          <a:prstGeom prst="line">
            <a:avLst/>
          </a:prstGeom>
          <a:noFill/>
          <a:ln w="12700">
            <a:solidFill>
              <a:srgbClr val="C9D3DE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7589520" y="427024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D9F0EF"/>
          </a:solidFill>
          <a:ln w="12700">
            <a:solidFill>
              <a:srgbClr val="0E8C8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589520" y="4270248"/>
            <a:ext cx="877824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/ GitHub · Power BI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9098280" y="14813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&amp; OUTPUTS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9098280" y="1783080"/>
            <a:ext cx="2514600" cy="512064"/>
          </a:xfrm>
          <a:prstGeom prst="roundRect">
            <a:avLst>
              <a:gd name="adj" fmla="val 10714"/>
            </a:avLst>
          </a:prstGeom>
          <a:solidFill>
            <a:srgbClr val="F1F5F9"/>
          </a:solidFill>
          <a:ln w="12700">
            <a:solidFill>
              <a:srgbClr val="C9D3D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098280" y="1783080"/>
            <a:ext cx="2514600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approvals  </a:t>
            </a:r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098280" y="2404872"/>
            <a:ext cx="2514600" cy="512064"/>
          </a:xfrm>
          <a:prstGeom prst="roundRect">
            <a:avLst>
              <a:gd name="adj" fmla="val 10714"/>
            </a:avLst>
          </a:prstGeom>
          <a:solidFill>
            <a:srgbClr val="F1F5F9"/>
          </a:solidFill>
          <a:ln w="12700">
            <a:solidFill>
              <a:srgbClr val="C9D3D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098280" y="2404872"/>
            <a:ext cx="2514600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 </a:t>
            </a:r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score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9098280" y="3026664"/>
            <a:ext cx="2514600" cy="512064"/>
          </a:xfrm>
          <a:prstGeom prst="roundRect">
            <a:avLst>
              <a:gd name="adj" fmla="val 10714"/>
            </a:avLst>
          </a:prstGeom>
          <a:solidFill>
            <a:srgbClr val="F1F5F9"/>
          </a:solidFill>
          <a:ln w="12700">
            <a:solidFill>
              <a:srgbClr val="C9D3D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098280" y="3026664"/>
            <a:ext cx="2514600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/ Terraform PRs  </a:t>
            </a:r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fixes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098280" y="3648456"/>
            <a:ext cx="2514600" cy="512064"/>
          </a:xfrm>
          <a:prstGeom prst="roundRect">
            <a:avLst>
              <a:gd name="adj" fmla="val 10714"/>
            </a:avLst>
          </a:prstGeom>
          <a:solidFill>
            <a:srgbClr val="F1F5F9"/>
          </a:solidFill>
          <a:ln w="12700">
            <a:solidFill>
              <a:srgbClr val="C9D3DE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098280" y="3648456"/>
            <a:ext cx="2514600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pack  </a:t>
            </a:r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Audit-ready report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686800" y="2697480"/>
            <a:ext cx="411480" cy="0"/>
          </a:xfrm>
          <a:prstGeom prst="line">
            <a:avLst/>
          </a:prstGeom>
          <a:noFill/>
          <a:ln w="19050">
            <a:solidFill>
              <a:srgbClr val="0B1F3A"/>
            </a:solidFill>
            <a:prstDash val="solid"/>
            <a:headEnd type="triangle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2651760" y="53218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UNDER TEST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2834640" y="5596128"/>
            <a:ext cx="25146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834640" y="5596128"/>
            <a:ext cx="251460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A · Primary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Door · App Service · SQL · Storage · Key Vault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989320" y="5596128"/>
            <a:ext cx="25146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5989320" y="5596128"/>
            <a:ext cx="251460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B · Secondary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Replicas · Failover group · GZRS · Isolated test VNet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349240" y="5989320"/>
            <a:ext cx="64008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headEnd type="triangle"/>
            <a:tailEnd type="triangle"/>
          </a:ln>
        </p:spPr>
      </p:sp>
      <p:sp>
        <p:nvSpPr>
          <p:cNvPr id="64" name="Text 62"/>
          <p:cNvSpPr txBox="1"/>
          <p:nvPr/>
        </p:nvSpPr>
        <p:spPr>
          <a:xfrm>
            <a:off x="5349240" y="605332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failback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669280" y="5184648"/>
            <a:ext cx="0" cy="45720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9098280" y="4343400"/>
            <a:ext cx="2514600" cy="2029968"/>
          </a:xfrm>
          <a:prstGeom prst="roundRect">
            <a:avLst>
              <a:gd name="adj" fmla="val 3604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35440" y="4462272"/>
            <a:ext cx="411480" cy="41148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6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8310" y="4565142"/>
            <a:ext cx="205740" cy="205740"/>
          </a:xfrm>
          <a:prstGeom prst="rect">
            <a:avLst/>
          </a:prstGeom>
        </p:spPr>
      </p:pic>
      <p:sp>
        <p:nvSpPr>
          <p:cNvPr id="69" name="Text 66"/>
          <p:cNvSpPr txBox="1"/>
          <p:nvPr/>
        </p:nvSpPr>
        <p:spPr>
          <a:xfrm>
            <a:off x="9710928" y="446227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governance</a:t>
            </a:r>
            <a:endParaRPr lang="en-US" sz="1150" dirty="0"/>
          </a:p>
        </p:txBody>
      </p:sp>
      <p:sp>
        <p:nvSpPr>
          <p:cNvPr id="70" name="Text 67"/>
          <p:cNvSpPr txBox="1"/>
          <p:nvPr/>
        </p:nvSpPr>
        <p:spPr>
          <a:xfrm>
            <a:off x="9235440" y="49377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Identity per agent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+ Entra PIM (JIT)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Vault for secrets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Content Safety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switch + auto-rollback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Agent: Autonomous DR Validation  ·  Team Azure Armada  ·  Azure Day 2026 Hackathon 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Autonomy with guardrails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enough for BFSI and healthcare: the riskier the action, the stronger the control.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LADDER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4846320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8463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discovery &amp; assessment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autonomous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88620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test failover (no user impact)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Autonomous, pre-approved policy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4754880" cy="777240"/>
          </a:xfrm>
          <a:prstGeom prst="roundRect">
            <a:avLst>
              <a:gd name="adj" fmla="val 9412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92608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drill in non-prod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in Teams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5303520" cy="777240"/>
          </a:xfrm>
          <a:prstGeom prst="roundRect">
            <a:avLst>
              <a:gd name="adj" fmla="val 9412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19659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game day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+ kill switch + auto-rollback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0" y="1645920"/>
            <a:ext cx="640080" cy="64008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0" y="1805940"/>
            <a:ext cx="320040" cy="32004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406640" y="16276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197510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Managed Identity per agent with scoped RBAC; write actions need just-in-time elevation via Entra PIM.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583680" y="2834640"/>
            <a:ext cx="640080" cy="64008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700" y="2994660"/>
            <a:ext cx="320040" cy="32004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406640" y="281635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switch &amp; rollback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7406640" y="316382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step can be halted; the agent rolls back automatically if health checks fail mid-test.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583680" y="4023360"/>
            <a:ext cx="640080" cy="64008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700" y="4183380"/>
            <a:ext cx="320040" cy="32004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406640" y="400507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traceability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435254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decision, tool call and approval logged to Log Analytics &amp; AI Foundry tracing.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583680" y="5212080"/>
            <a:ext cx="640080" cy="64008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700" y="5372100"/>
            <a:ext cx="320040" cy="32004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406640" y="519379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7406640" y="55412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shields on all inputs; secrets never reach prompts.</a:t>
            </a:r>
            <a:endParaRPr lang="en-US" sz="12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Agent: Autonomous DR Validation  ·  Team Azure Armada  ·  Azure Day 2026 Hackathon 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build and demo live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3-tier app across two regions with deliberately planted DR gaps — the DR Agent validates it for real.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10515600" cy="0"/>
          </a:xfrm>
          <a:prstGeom prst="line">
            <a:avLst/>
          </a:prstGeom>
          <a:noFill/>
          <a:ln w="25400">
            <a:solidFill>
              <a:srgbClr val="C9D3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274320" cy="274320"/>
          </a:xfrm>
          <a:prstGeom prst="ellipse">
            <a:avLst/>
          </a:prstGeom>
          <a:solidFill>
            <a:srgbClr val="0E8C8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03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15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9572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submitted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06040" y="1737360"/>
            <a:ext cx="274320" cy="274320"/>
          </a:xfrm>
          <a:prstGeom prst="ellipse">
            <a:avLst/>
          </a:prstGeom>
          <a:solidFill>
            <a:srgbClr val="0E8C8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2103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16–17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239572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Two-region workload + planted gaps (Bicep)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80560" y="1737360"/>
            <a:ext cx="274320" cy="274320"/>
          </a:xfrm>
          <a:prstGeom prst="ellipse">
            <a:avLst/>
          </a:prstGeom>
          <a:solidFill>
            <a:srgbClr val="0E8C8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2103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18–20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239572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tools &amp; Teams approvals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1737360"/>
            <a:ext cx="274320" cy="274320"/>
          </a:xfrm>
          <a:prstGeom prst="ellipse">
            <a:avLst/>
          </a:prstGeom>
          <a:solidFill>
            <a:srgbClr val="0E8C8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2103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21–22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239572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DR test runs, reports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0" y="1737360"/>
            <a:ext cx="274320" cy="274320"/>
          </a:xfrm>
          <a:prstGeom prst="ellipse">
            <a:avLst/>
          </a:prstGeom>
          <a:solidFill>
            <a:srgbClr val="F2A54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0" y="2103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239572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demo to panel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104120" y="1737360"/>
            <a:ext cx="274320" cy="274320"/>
          </a:xfrm>
          <a:prstGeom prst="ellipse">
            <a:avLst/>
          </a:prstGeom>
          <a:solidFill>
            <a:srgbClr val="F2A54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21240" y="2103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29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921240" y="239572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Finals at Azure Day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2004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3429000"/>
            <a:ext cx="502920" cy="50292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3554730"/>
            <a:ext cx="251460" cy="25146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417320" y="3429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Discover &amp; assess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4005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the app, flags planted gaps: LRS storage, stale runbook step.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297680" y="32004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526280" y="3429000"/>
            <a:ext cx="502920" cy="50292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010" y="3554730"/>
            <a:ext cx="251460" cy="25146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166360" y="3429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Approve in Teams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4526280" y="4005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proposes a DR test plan; a human approves with one click.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8046720" y="32004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DF0DB"/>
          </a:solidFill>
          <a:ln w="12700">
            <a:solidFill>
              <a:srgbClr val="FDF0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8275320" y="3429000"/>
            <a:ext cx="502920" cy="50292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1050" y="3554730"/>
            <a:ext cx="251460" cy="25146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8915400" y="3429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Run the DR test live</a:t>
            </a:r>
            <a:endParaRPr lang="en-US" sz="1500" dirty="0"/>
          </a:p>
        </p:txBody>
      </p:sp>
      <p:sp>
        <p:nvSpPr>
          <p:cNvPr id="37" name="Text 32"/>
          <p:cNvSpPr txBox="1"/>
          <p:nvPr/>
        </p:nvSpPr>
        <p:spPr>
          <a:xfrm>
            <a:off x="8275320" y="4005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failover group failover, Front Door switch to Region B, Chaos Studio zone-down.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548640" y="4800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DF0DB"/>
          </a:solidFill>
          <a:ln w="12700">
            <a:solidFill>
              <a:srgbClr val="FDF0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777240" y="5029200"/>
            <a:ext cx="502920" cy="50292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970" y="5154930"/>
            <a:ext cx="251460" cy="251460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1417320" y="5029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Catch a real failure</a:t>
            </a:r>
            <a:endParaRPr lang="en-US" sz="1500" dirty="0"/>
          </a:p>
        </p:txBody>
      </p:sp>
      <p:sp>
        <p:nvSpPr>
          <p:cNvPr id="42" name="Text 36"/>
          <p:cNvSpPr txBox="1"/>
          <p:nvPr/>
        </p:nvSpPr>
        <p:spPr>
          <a:xfrm>
            <a:off x="777240" y="56052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breaks in Region B — secret missing from secondary Key Vault. Measured RTO/RPO shown.</a:t>
            </a:r>
            <a:endParaRPr lang="en-US" sz="1150" dirty="0"/>
          </a:p>
        </p:txBody>
      </p:sp>
      <p:sp>
        <p:nvSpPr>
          <p:cNvPr id="43" name="Shape 37"/>
          <p:cNvSpPr/>
          <p:nvPr/>
        </p:nvSpPr>
        <p:spPr>
          <a:xfrm>
            <a:off x="4297680" y="4800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Shape 38"/>
          <p:cNvSpPr/>
          <p:nvPr/>
        </p:nvSpPr>
        <p:spPr>
          <a:xfrm>
            <a:off x="4526280" y="5029200"/>
            <a:ext cx="502920" cy="50292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2010" y="5154930"/>
            <a:ext cx="251460" cy="251460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5166360" y="5029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Fail back, fix, re-test</a:t>
            </a:r>
            <a:endParaRPr lang="en-US" sz="1500" dirty="0"/>
          </a:p>
        </p:txBody>
      </p:sp>
      <p:sp>
        <p:nvSpPr>
          <p:cNvPr id="47" name="Text 40"/>
          <p:cNvSpPr txBox="1"/>
          <p:nvPr/>
        </p:nvSpPr>
        <p:spPr>
          <a:xfrm>
            <a:off x="4526280" y="56052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back, raises a Bicep fix PR, re-runs the test: it now passes.</a:t>
            </a:r>
            <a:endParaRPr lang="en-US" sz="1150" dirty="0"/>
          </a:p>
        </p:txBody>
      </p:sp>
      <p:sp>
        <p:nvSpPr>
          <p:cNvPr id="48" name="Shape 41"/>
          <p:cNvSpPr/>
          <p:nvPr/>
        </p:nvSpPr>
        <p:spPr>
          <a:xfrm>
            <a:off x="8046720" y="480060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9" name="Shape 42"/>
          <p:cNvSpPr/>
          <p:nvPr/>
        </p:nvSpPr>
        <p:spPr>
          <a:xfrm>
            <a:off x="8275320" y="5029200"/>
            <a:ext cx="502920" cy="50292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5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1050" y="5154930"/>
            <a:ext cx="251460" cy="251460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8915400" y="5029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Prove it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8275320" y="56052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Publishes evidence pack &amp; resilience score to Power BI.</a:t>
            </a:r>
            <a:endParaRPr lang="en-US" sz="1150" dirty="0"/>
          </a:p>
        </p:txBody>
      </p:sp>
      <p:sp>
        <p:nvSpPr>
          <p:cNvPr id="53" name="Text 45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Agent: Autonomous DR Validation  ·  Team Azure Armada  ·  Azure Day 2026 Hackathon 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benefits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you can prove — continuously, safely and at a fraction of today's effort.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year</a:t>
            </a:r>
            <a:pPr indent="0" marL="0">
              <a:buNone/>
            </a:pPr>
            <a:r>
              <a:rPr lang="en-US" sz="15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</a:t>
            </a:r>
            <a:endParaRPr lang="en-US" sz="15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week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D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testing frequency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0" y="160020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7373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pPr indent="0" marL="0">
              <a:buNone/>
            </a:pPr>
            <a:r>
              <a:rPr lang="en-US" sz="15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</a:t>
            </a:r>
            <a:endParaRPr lang="en-US" sz="15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06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D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per DR test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60020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7373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Assumed</a:t>
            </a:r>
            <a:pPr indent="0" marL="0">
              <a:buNone/>
            </a:pPr>
            <a:r>
              <a:rPr lang="en-US" sz="15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</a:t>
            </a:r>
            <a:endParaRPr lang="en-US" sz="15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606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D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/ RPO on every test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20440"/>
            <a:ext cx="548640" cy="54864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65760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261872" y="35021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downtime risk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61872" y="3849624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 blockers found and fixed before a real outage — protecting revenue, SLAs and trust.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97680" y="3520440"/>
            <a:ext cx="548640" cy="54864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3657600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010912" y="35021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Audit-ready compliance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5010912" y="3849624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test evidence for RBI, SEBI, DORA, SOX, ISO 22301.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046720" y="3520440"/>
            <a:ext cx="548640" cy="54864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3657600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759952" y="35021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 posture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8759952" y="3849624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gap becomes a ready-to-merge IaC fix, re-tested automatically.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548640" y="4983480"/>
            <a:ext cx="548640" cy="54864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12064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261872" y="496519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runbooks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1261872" y="5312664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 always match the live architecture — less reliance on a few experts.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4297680" y="4983480"/>
            <a:ext cx="548640" cy="54864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5120640"/>
            <a:ext cx="274320" cy="27432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010912" y="496519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decisions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5010912" y="5312664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sees real recovery metrics per application to target investment.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046720" y="4983480"/>
            <a:ext cx="548640" cy="54864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3880" y="5120640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759952" y="496519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for Virtusa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8759952" y="5312664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"Resilience-as-a-Service" accelerator for BFSI and managed-services clients.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Agent: Autonomous DR Validation  ·  Team Azure Armada  ·  Azure Day 2026 Hackathon 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914400" cy="914400"/>
          </a:xfrm>
          <a:prstGeom prst="ellipse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96012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011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assume you can recover.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34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8FD6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 the DR Agent validate it, and prove it, every week.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DR tests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B8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Failover, validate, failback — executed by agents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42062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100% on Azure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B8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Foundry, Site Recovery, Chaos Studio, Monitor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2062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design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B8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autonomy, human approval, full audit trail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Team Azure Armada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Disaster Recovery (DR) Agent: Autonomous Disaster Recovery Validation</dc:title>
  <dc:subject>PptxGenJS Presentation</dc:subject>
  <dc:creator>Team Azure Armada</dc:creator>
  <cp:lastModifiedBy>Team Azure Armada</cp:lastModifiedBy>
  <cp:revision>1</cp:revision>
  <dcterms:created xsi:type="dcterms:W3CDTF">2026-10-14T09:53:06Z</dcterms:created>
  <dcterms:modified xsi:type="dcterms:W3CDTF">2026-10-14T09:53:06Z</dcterms:modified>
</cp:coreProperties>
</file>