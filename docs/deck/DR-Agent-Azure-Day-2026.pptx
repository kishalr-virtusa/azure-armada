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Disaster Recovery (DR) Agent is a team of AI agents built entirely on Azure that actually performs disaster recovery testing: it fails workloads over, measures real recovery time and data loss, fails back, and produces audit-ready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money. ITIC's 2024 survey of over 1,000 firms: for more than 90% of mid-size and large enterprises one hour of downtime costs over $300,000, and 41% say $1M to over $5M, excluding fines and litigation. Splunk with Oxford Economics (June 2024, 2,000 executives): downtime costs each Global 2000 company about $200M a year, roughly 9% of profits, including $22M of regulatory fines. And in July 2024 one faulty update caused an estimated $5.4B of direct losses to the Fortune 500, $1.15B of it in banking. Simple arithmetic: $300K an hour is $5,000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to home, the penalty is a growth freeze. HDFC Bank: after repeated outages, the most recent a power failure at a primary data centre, the RBI stopped new digital launches and new credit cards in December 2020; cards resumed in August 2021, digital launches only in March 2022. NSE: a nearly four-hour trading halt in February 2021 ended in a ₹72.64 crore settlement with SEBI. Kotak Mahindra Bank: in April 2024 the RBI cited deficiencies including business continuity and disaster recovery, plus frequent outages, and stopped online onboarding and new cards for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have moved from 'have a plan' to 'prove it works, on a schedule'. RBI's July 2026 directions: DR drills for critical systems at least half-yearly, and every major issue fixed and re-tested before the next cycle. SEBI: resume critical operations within two hours with a 15-minute RPO; exchanges must be running from DR within 45 minutes and drill every quarter. DORA in Europe: test continuity and recovery plans at least yearly. A common myth is that DORA fixes a 2%-of-turnover fine for banks; it does not. Penalties for financial entities are set by each member state; the fixed figure applies to critical ICT providers: up to 1% of average daily worldwide turnover, daily, for up to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don't companies just test? Cockroach Labs surveyed 1,000 executives: fewer than one in three do regular failover testing, and only 20% feel fully prepared. Uptime Institute found 85% of major human-error outages come from procedures not followed or flawed procedures, which is exactly what a stale runbook is. The reasons are structural: tests are disruptive and manual, environments drift between tests, runbooks go stale, and RTO/RPO are signed off on paper instead of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with transparent inputs. A tier-1 payments service with a 30-minute target that has never really been tested. On the day, recovery takes four hours, like the NSE halt. At ITIC's floor of $300,000 an hour, that is $1.2M of direct loss, $1.05M of it beyond the target, before any regulatory action: the NSE settlement was ₹72.64 crore, and the RBI froze HDFC's and Kotak's digital growth for 10 to 15 months. Our agent measured 34.35 seconds for the same kind of service, with zero payments lost, and it can prove it again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follows the DR lifecycle. Phase 1, design and prepare: the Architect picks the cheapest strategy that genuinely meets the targets using live Azure prices; Readiness runs seven live checks and catches drift; the Runbook agent finds stale steps. Phase 2: the Planner builds the drill from an allowlist, the engine executes it on real Azure resources and measures, the Validator diagnoses failures live, and the Reporter writes an audit-ready report. Humans approve every risky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is a versioned prompt agent in Azure AI Foundry with a strict JSON schema. Code gathers the facts, the agent decides, code checks the answer, and every agent has a deterministic fallback so the demo never depends on one model call. The live activity panel shows exactly what each agent did. It also exposed a real defect: we were giving the Architect a cost multiplier and a dollar budget; it guessed wrong. We fixed the input, not the model, and it is now right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it is safe for a bank. Models never touch Azure directly. The engine runs only allowlisted actions, in a mandatory order, with named human approvals at the risky points, a kill switch, rollback, and a fallback for every agent. We proved it with a surprise fault mid-drill: the Validator diagnosed it, proposed an allowlisted fix, a human approved, and the service recovered in 57.4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Azure. Users reach Contoso Payments through Traffic Manager with priority routing. App Service runs in both regions; Azure SQL replicates through a failover group; the reports VM is protected by Azure Site Recovery. The DR console and engine sit in South India, outside both regions, and call the six agents in Azure AI Foundry. Secrets live in Key Vault with managed identities; the whole environment is Bicep with one-click up and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estimated. Eight drills without chaos: RTO between 29.6 and 40.4 seconds, median 33.5, against a 30-minute target; RPO zero every time. Failback about three minutes with no data loss. The reports VM was recovered by Site Recovery in under six minutes and proven by running a command inside it. And every second of RTO is accounted for: the latest 34.35 seconds split into 15.4 s SQL failover, 5.9 s Traffic Manager, 11.6 s DNS and health checks, and under a second each for the injection and our own bookkeeping.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is where this gets compelling. Every AI agent call we made across two days and nine drills cost ₹8.33 in total, from Azure Cost Management. The entire environment so far cost ₹234. At Azure list prices the DR set-up itself is $38.26 a month. Compare that with ITIC's floor of $300,000 an hour: a month of DR costs less than half a second of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on your own phone. Then the roadmap, which we keep clearly separate from what is built: scheduled drills, more Azure services as new allowlisted actions, Chaos Studio's fault library, Teams approval cards, and a resilience score across many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64008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868680"/>
            <a:ext cx="457200" cy="457200"/>
          </a:xfrm>
          <a:prstGeom prst="rect">
            <a:avLst/>
          </a:prstGeom>
        </p:spPr>
      </p:pic>
      <p:sp>
        <p:nvSpPr>
          <p:cNvPr id="4" name="Text 1"/>
          <p:cNvSpPr txBox="1"/>
          <p:nvPr/>
        </p:nvSpPr>
        <p:spPr>
          <a:xfrm>
            <a:off x="1691640" y="868680"/>
            <a:ext cx="8229600" cy="457200"/>
          </a:xfrm>
          <a:prstGeom prst="rect">
            <a:avLst/>
          </a:prstGeom>
          <a:noFill/>
          <a:ln/>
        </p:spPr>
        <p:txBody>
          <a:bodyPr wrap="square" lIns="0" tIns="0" rIns="0" bIns="0" rtlCol="0" anchor="ctr"/>
          <a:lstStyle/>
          <a:p>
            <a:pPr indent="0" marL="0">
              <a:buNone/>
            </a:pPr>
            <a:r>
              <a:rPr lang="en-US" sz="1300" b="1" spc="200" kern="0" dirty="0">
                <a:solidFill>
                  <a:srgbClr val="B9A8FF"/>
                </a:solidFill>
                <a:latin typeface="Calibri" pitchFamily="34" charset="0"/>
                <a:ea typeface="Calibri" pitchFamily="34" charset="-122"/>
                <a:cs typeface="Calibri" pitchFamily="34" charset="-120"/>
              </a:rPr>
              <a:t>AZURE DAY 2026 HACKATHON  ·  DISASTER RECOVERY AGENT</a:t>
            </a:r>
            <a:endParaRPr lang="en-US" sz="1300" dirty="0"/>
          </a:p>
        </p:txBody>
      </p:sp>
      <p:sp>
        <p:nvSpPr>
          <p:cNvPr id="5" name="Text 2"/>
          <p:cNvSpPr txBox="1"/>
          <p:nvPr/>
        </p:nvSpPr>
        <p:spPr>
          <a:xfrm>
            <a:off x="548640" y="1920240"/>
            <a:ext cx="10972800" cy="118872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Disaster Recovery (DR) Agent</a:t>
            </a:r>
            <a:endParaRPr lang="en-US" sz="5400" dirty="0"/>
          </a:p>
        </p:txBody>
      </p:sp>
      <p:sp>
        <p:nvSpPr>
          <p:cNvPr id="6" name="Text 3"/>
          <p:cNvSpPr txBox="1"/>
          <p:nvPr/>
        </p:nvSpPr>
        <p:spPr>
          <a:xfrm>
            <a:off x="548640" y="3063240"/>
            <a:ext cx="10972800" cy="640080"/>
          </a:xfrm>
          <a:prstGeom prst="rect">
            <a:avLst/>
          </a:prstGeom>
          <a:noFill/>
          <a:ln/>
        </p:spPr>
        <p:txBody>
          <a:bodyPr wrap="square" lIns="0" tIns="0" rIns="0" bIns="0" rtlCol="0" anchor="ctr"/>
          <a:lstStyle/>
          <a:p>
            <a:pPr indent="0" marL="0">
              <a:buNone/>
            </a:pPr>
            <a:r>
              <a:rPr lang="en-US" sz="2800" dirty="0">
                <a:solidFill>
                  <a:srgbClr val="E4DFF7"/>
                </a:solidFill>
                <a:latin typeface="Calibri" pitchFamily="34" charset="0"/>
                <a:ea typeface="Calibri" pitchFamily="34" charset="-122"/>
                <a:cs typeface="Calibri" pitchFamily="34" charset="-120"/>
              </a:rPr>
              <a:t>Autonomous Disaster Recovery Validation</a:t>
            </a:r>
            <a:endParaRPr lang="en-US" sz="2800" dirty="0"/>
          </a:p>
        </p:txBody>
      </p:sp>
      <p:sp>
        <p:nvSpPr>
          <p:cNvPr id="7" name="Text 4"/>
          <p:cNvSpPr txBox="1"/>
          <p:nvPr/>
        </p:nvSpPr>
        <p:spPr>
          <a:xfrm>
            <a:off x="548640" y="3931920"/>
            <a:ext cx="8686800" cy="822960"/>
          </a:xfrm>
          <a:prstGeom prst="rect">
            <a:avLst/>
          </a:prstGeom>
          <a:noFill/>
          <a:ln/>
        </p:spPr>
        <p:txBody>
          <a:bodyPr wrap="square" lIns="0" tIns="0" rIns="0" bIns="0" rtlCol="0" anchor="ctr"/>
          <a:lstStyle/>
          <a:p>
            <a:pPr indent="0" marL="0">
              <a:buNone/>
            </a:pPr>
            <a:r>
              <a:rPr lang="en-US" sz="1700" i="1" dirty="0">
                <a:solidFill>
                  <a:srgbClr val="C9C3E6"/>
                </a:solidFill>
                <a:latin typeface="Calibri" pitchFamily="34" charset="0"/>
                <a:ea typeface="Calibri" pitchFamily="34" charset="-122"/>
                <a:cs typeface="Calibri" pitchFamily="34" charset="-120"/>
              </a:rPr>
              <a:t>Built 100% on Azure. AI agents that validate DR by executing real tests: fail over, measure RTO/RPO, fail back, and prove you can recover, on any day instead of once a year.</a:t>
            </a:r>
            <a:endParaRPr lang="en-US" sz="1700" dirty="0"/>
          </a:p>
        </p:txBody>
      </p:sp>
      <p:sp>
        <p:nvSpPr>
          <p:cNvPr id="8" name="Shape 5"/>
          <p:cNvSpPr/>
          <p:nvPr/>
        </p:nvSpPr>
        <p:spPr>
          <a:xfrm>
            <a:off x="548640" y="5166360"/>
            <a:ext cx="548640" cy="548640"/>
          </a:xfrm>
          <a:prstGeom prst="ellipse">
            <a:avLst/>
          </a:prstGeom>
          <a:solidFill>
            <a:srgbClr val="2A2340"/>
          </a:solidFill>
          <a:ln w="12700">
            <a:solidFill>
              <a:srgbClr val="2A2340"/>
            </a:solidFill>
            <a:prstDash val="solid"/>
          </a:ln>
        </p:spPr>
      </p:sp>
      <p:pic>
        <p:nvPicPr>
          <p:cNvPr id="9" name="Image 1" descr="preencoded.png">    </p:cNvPr>
          <p:cNvPicPr>
            <a:picLocks noChangeAspect="1"/>
          </p:cNvPicPr>
          <p:nvPr/>
        </p:nvPicPr>
        <p:blipFill>
          <a:blip r:embed="rId2"/>
          <a:stretch>
            <a:fillRect/>
          </a:stretch>
        </p:blipFill>
        <p:spPr>
          <a:xfrm>
            <a:off x="685800" y="5303520"/>
            <a:ext cx="274320" cy="274320"/>
          </a:xfrm>
          <a:prstGeom prst="rect">
            <a:avLst/>
          </a:prstGeom>
        </p:spPr>
      </p:pic>
      <p:sp>
        <p:nvSpPr>
          <p:cNvPr id="10" name="Text 6"/>
          <p:cNvSpPr txBox="1"/>
          <p:nvPr/>
        </p:nvSpPr>
        <p:spPr>
          <a:xfrm>
            <a:off x="120700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over</a:t>
            </a:r>
            <a:endParaRPr lang="en-US" sz="1500" dirty="0"/>
          </a:p>
        </p:txBody>
      </p:sp>
      <p:sp>
        <p:nvSpPr>
          <p:cNvPr id="11" name="Shape 7"/>
          <p:cNvSpPr/>
          <p:nvPr/>
        </p:nvSpPr>
        <p:spPr>
          <a:xfrm>
            <a:off x="2560320" y="5166360"/>
            <a:ext cx="548640" cy="548640"/>
          </a:xfrm>
          <a:prstGeom prst="ellipse">
            <a:avLst/>
          </a:prstGeom>
          <a:solidFill>
            <a:srgbClr val="2A2340"/>
          </a:solidFill>
          <a:ln w="12700">
            <a:solidFill>
              <a:srgbClr val="2A2340"/>
            </a:solidFill>
            <a:prstDash val="solid"/>
          </a:ln>
        </p:spPr>
      </p:sp>
      <p:pic>
        <p:nvPicPr>
          <p:cNvPr id="12" name="Image 2" descr="preencoded.png">    </p:cNvPr>
          <p:cNvPicPr>
            <a:picLocks noChangeAspect="1"/>
          </p:cNvPicPr>
          <p:nvPr/>
        </p:nvPicPr>
        <p:blipFill>
          <a:blip r:embed="rId3"/>
          <a:stretch>
            <a:fillRect/>
          </a:stretch>
        </p:blipFill>
        <p:spPr>
          <a:xfrm>
            <a:off x="2697480" y="5303520"/>
            <a:ext cx="274320" cy="274320"/>
          </a:xfrm>
          <a:prstGeom prst="rect">
            <a:avLst/>
          </a:prstGeom>
        </p:spPr>
      </p:pic>
      <p:sp>
        <p:nvSpPr>
          <p:cNvPr id="13" name="Text 8"/>
          <p:cNvSpPr txBox="1"/>
          <p:nvPr/>
        </p:nvSpPr>
        <p:spPr>
          <a:xfrm>
            <a:off x="321868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p>
        </p:txBody>
      </p:sp>
      <p:sp>
        <p:nvSpPr>
          <p:cNvPr id="14" name="Shape 9"/>
          <p:cNvSpPr/>
          <p:nvPr/>
        </p:nvSpPr>
        <p:spPr>
          <a:xfrm>
            <a:off x="4572000" y="5166360"/>
            <a:ext cx="548640" cy="548640"/>
          </a:xfrm>
          <a:prstGeom prst="ellipse">
            <a:avLst/>
          </a:prstGeom>
          <a:solidFill>
            <a:srgbClr val="2A2340"/>
          </a:solidFill>
          <a:ln w="12700">
            <a:solidFill>
              <a:srgbClr val="2A2340"/>
            </a:solidFill>
            <a:prstDash val="solid"/>
          </a:ln>
        </p:spPr>
      </p:sp>
      <p:pic>
        <p:nvPicPr>
          <p:cNvPr id="15" name="Image 3" descr="preencoded.png">    </p:cNvPr>
          <p:cNvPicPr>
            <a:picLocks noChangeAspect="1"/>
          </p:cNvPicPr>
          <p:nvPr/>
        </p:nvPicPr>
        <p:blipFill>
          <a:blip r:embed="rId4"/>
          <a:stretch>
            <a:fillRect/>
          </a:stretch>
        </p:blipFill>
        <p:spPr>
          <a:xfrm>
            <a:off x="4709160" y="5303520"/>
            <a:ext cx="274320" cy="274320"/>
          </a:xfrm>
          <a:prstGeom prst="rect">
            <a:avLst/>
          </a:prstGeom>
        </p:spPr>
      </p:pic>
      <p:sp>
        <p:nvSpPr>
          <p:cNvPr id="16" name="Text 10"/>
          <p:cNvSpPr txBox="1"/>
          <p:nvPr/>
        </p:nvSpPr>
        <p:spPr>
          <a:xfrm>
            <a:off x="523036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back</a:t>
            </a:r>
            <a:endParaRPr lang="en-US" sz="1500" dirty="0"/>
          </a:p>
        </p:txBody>
      </p:sp>
      <p:sp>
        <p:nvSpPr>
          <p:cNvPr id="17" name="Shape 11"/>
          <p:cNvSpPr/>
          <p:nvPr/>
        </p:nvSpPr>
        <p:spPr>
          <a:xfrm>
            <a:off x="6583680" y="5166360"/>
            <a:ext cx="548640" cy="548640"/>
          </a:xfrm>
          <a:prstGeom prst="ellipse">
            <a:avLst/>
          </a:prstGeom>
          <a:solidFill>
            <a:srgbClr val="2A2340"/>
          </a:solidFill>
          <a:ln w="12700">
            <a:solidFill>
              <a:srgbClr val="2A2340"/>
            </a:solidFill>
            <a:prstDash val="solid"/>
          </a:ln>
        </p:spPr>
      </p:sp>
      <p:pic>
        <p:nvPicPr>
          <p:cNvPr id="18" name="Image 4" descr="preencoded.png">    </p:cNvPr>
          <p:cNvPicPr>
            <a:picLocks noChangeAspect="1"/>
          </p:cNvPicPr>
          <p:nvPr/>
        </p:nvPicPr>
        <p:blipFill>
          <a:blip r:embed="rId5"/>
          <a:stretch>
            <a:fillRect/>
          </a:stretch>
        </p:blipFill>
        <p:spPr>
          <a:xfrm>
            <a:off x="6720840" y="5303520"/>
            <a:ext cx="274320" cy="274320"/>
          </a:xfrm>
          <a:prstGeom prst="rect">
            <a:avLst/>
          </a:prstGeom>
        </p:spPr>
      </p:pic>
      <p:sp>
        <p:nvSpPr>
          <p:cNvPr id="19" name="Text 12"/>
          <p:cNvSpPr txBox="1"/>
          <p:nvPr/>
        </p:nvSpPr>
        <p:spPr>
          <a:xfrm>
            <a:off x="724204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Prove</a:t>
            </a:r>
            <a:endParaRPr lang="en-US" sz="1500" dirty="0"/>
          </a:p>
        </p:txBody>
      </p:sp>
      <p:sp>
        <p:nvSpPr>
          <p:cNvPr id="20" name="Text 13"/>
          <p:cNvSpPr txBox="1"/>
          <p:nvPr/>
        </p:nvSpPr>
        <p:spPr>
          <a:xfrm>
            <a:off x="7955280" y="6172200"/>
            <a:ext cx="3657600" cy="365760"/>
          </a:xfrm>
          <a:prstGeom prst="rect">
            <a:avLst/>
          </a:prstGeom>
          <a:noFill/>
          <a:ln/>
        </p:spPr>
        <p:txBody>
          <a:bodyPr wrap="square" lIns="0" tIns="0" rIns="0" bIns="0" rtlCol="0" anchor="ctr"/>
          <a:lstStyle/>
          <a:p>
            <a:pPr algn="r" indent="0" marL="0">
              <a:buNone/>
            </a:pPr>
            <a:r>
              <a:rPr lang="en-US" sz="1300" dirty="0">
                <a:solidFill>
                  <a:srgbClr val="9C95BD"/>
                </a:solidFill>
                <a:latin typeface="Calibri" pitchFamily="34" charset="0"/>
                <a:ea typeface="Calibri" pitchFamily="34" charset="-122"/>
                <a:cs typeface="Calibri" pitchFamily="34" charset="-120"/>
              </a:rPr>
              <a:t>Team Azure Armada  ·  Virtusa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One hour of downtime now costs more than most DR budgets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Independent surveys and real incidents, 2024: the cost of not recovering on time.</a:t>
            </a:r>
            <a:endParaRPr lang="en-US" sz="1500" dirty="0"/>
          </a:p>
        </p:txBody>
      </p:sp>
      <p:sp>
        <p:nvSpPr>
          <p:cNvPr id="4" name="Shape 2"/>
          <p:cNvSpPr/>
          <p:nvPr/>
        </p:nvSpPr>
        <p:spPr>
          <a:xfrm>
            <a:off x="54864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$300K+</a:t>
            </a:r>
            <a:endParaRPr lang="en-US" sz="4800" dirty="0"/>
          </a:p>
        </p:txBody>
      </p:sp>
      <p:sp>
        <p:nvSpPr>
          <p:cNvPr id="6" name="Text 4"/>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hour of downtime</a:t>
            </a:r>
            <a:endParaRPr lang="en-US" sz="1600" dirty="0"/>
          </a:p>
        </p:txBody>
      </p:sp>
      <p:sp>
        <p:nvSpPr>
          <p:cNvPr id="7" name="Text 5"/>
          <p:cNvSpPr txBox="1"/>
          <p:nvPr/>
        </p:nvSpPr>
        <p:spPr>
          <a:xfrm>
            <a:off x="82296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for over 90% of mid-size and large enterprises. 41% put it at $1M to over $5M per hour, before fines and litigation.</a:t>
            </a:r>
            <a:endParaRPr lang="en-US" sz="1300" dirty="0"/>
          </a:p>
        </p:txBody>
      </p:sp>
      <p:sp>
        <p:nvSpPr>
          <p:cNvPr id="8" name="Text 6"/>
          <p:cNvSpPr txBox="1"/>
          <p:nvPr/>
        </p:nvSpPr>
        <p:spPr>
          <a:xfrm>
            <a:off x="82296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ITIC 2024 Hourly Cost of Downtime Survey (1,000+ firms) [1]</a:t>
            </a:r>
            <a:endParaRPr lang="en-US" sz="950" dirty="0"/>
          </a:p>
        </p:txBody>
      </p:sp>
      <p:sp>
        <p:nvSpPr>
          <p:cNvPr id="9" name="Shape 7"/>
          <p:cNvSpPr/>
          <p:nvPr/>
        </p:nvSpPr>
        <p:spPr>
          <a:xfrm>
            <a:off x="429768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457200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$200M</a:t>
            </a:r>
            <a:endParaRPr lang="en-US" sz="4800" dirty="0"/>
          </a:p>
        </p:txBody>
      </p:sp>
      <p:sp>
        <p:nvSpPr>
          <p:cNvPr id="11" name="Text 9"/>
          <p:cNvSpPr txBox="1"/>
          <p:nvPr/>
        </p:nvSpPr>
        <p:spPr>
          <a:xfrm>
            <a:off x="457200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company, every year</a:t>
            </a:r>
            <a:endParaRPr lang="en-US" sz="1600" dirty="0"/>
          </a:p>
        </p:txBody>
      </p:sp>
      <p:sp>
        <p:nvSpPr>
          <p:cNvPr id="12" name="Text 10"/>
          <p:cNvSpPr txBox="1"/>
          <p:nvPr/>
        </p:nvSpPr>
        <p:spPr>
          <a:xfrm>
            <a:off x="457200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lost to downtime by each Global 2000 company: about 9% of profits. Includes $49M lost revenue and $22M in regulatory fines.</a:t>
            </a:r>
            <a:endParaRPr lang="en-US" sz="1300" dirty="0"/>
          </a:p>
        </p:txBody>
      </p:sp>
      <p:sp>
        <p:nvSpPr>
          <p:cNvPr id="13" name="Text 11"/>
          <p:cNvSpPr txBox="1"/>
          <p:nvPr/>
        </p:nvSpPr>
        <p:spPr>
          <a:xfrm>
            <a:off x="457200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Splunk &amp; Oxford Economics, The Hidden Costs of Downtime, Jun 2024 (2,000 executives) [2]</a:t>
            </a:r>
            <a:endParaRPr lang="en-US" sz="950" dirty="0"/>
          </a:p>
        </p:txBody>
      </p:sp>
      <p:sp>
        <p:nvSpPr>
          <p:cNvPr id="14" name="Shape 12"/>
          <p:cNvSpPr/>
          <p:nvPr/>
        </p:nvSpPr>
        <p:spPr>
          <a:xfrm>
            <a:off x="804672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832104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$5.4B</a:t>
            </a:r>
            <a:endParaRPr lang="en-US" sz="4800" dirty="0"/>
          </a:p>
        </p:txBody>
      </p:sp>
      <p:sp>
        <p:nvSpPr>
          <p:cNvPr id="16" name="Text 14"/>
          <p:cNvSpPr txBox="1"/>
          <p:nvPr/>
        </p:nvSpPr>
        <p:spPr>
          <a:xfrm>
            <a:off x="832104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from one IT outage</a:t>
            </a:r>
            <a:endParaRPr lang="en-US" sz="1600" dirty="0"/>
          </a:p>
        </p:txBody>
      </p:sp>
      <p:sp>
        <p:nvSpPr>
          <p:cNvPr id="17" name="Text 15"/>
          <p:cNvSpPr txBox="1"/>
          <p:nvPr/>
        </p:nvSpPr>
        <p:spPr>
          <a:xfrm>
            <a:off x="832104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in direct losses to Fortune 500 companies from the 19 July 2024 CrowdStrike incident; banking alone about $1.15B. Insurance covers only 10–20%.</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Parametrix estimate, Jul 2024 [3]</a:t>
            </a:r>
            <a:endParaRPr lang="en-US" sz="950" dirty="0"/>
          </a:p>
        </p:txBody>
      </p:sp>
      <p:sp>
        <p:nvSpPr>
          <p:cNvPr id="19" name="Shape 17"/>
          <p:cNvSpPr/>
          <p:nvPr/>
        </p:nvSpPr>
        <p:spPr>
          <a:xfrm>
            <a:off x="548640" y="5596128"/>
            <a:ext cx="11064240" cy="658368"/>
          </a:xfrm>
          <a:prstGeom prst="roundRect">
            <a:avLst>
              <a:gd name="adj" fmla="val 11111"/>
            </a:avLst>
          </a:prstGeom>
          <a:solidFill>
            <a:srgbClr val="171721"/>
          </a:solidFill>
          <a:ln w="12700">
            <a:solidFill>
              <a:srgbClr val="171721"/>
            </a:solidFill>
            <a:prstDash val="solid"/>
          </a:ln>
        </p:spPr>
      </p:sp>
      <p:sp>
        <p:nvSpPr>
          <p:cNvPr id="20" name="Text 18"/>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At $300K per hour, every minute of downtime costs about $5,000.</a:t>
            </a:r>
            <a:pPr indent="0" marL="0">
              <a:buNone/>
            </a:pPr>
            <a:r>
              <a:rPr lang="en-US" sz="1600" dirty="0">
                <a:solidFill>
                  <a:srgbClr val="C9C3E6"/>
                </a:solidFill>
                <a:latin typeface="Calibri" pitchFamily="34" charset="0"/>
                <a:ea typeface="Calibri" pitchFamily="34" charset="-122"/>
                <a:cs typeface="Calibri" pitchFamily="34" charset="-120"/>
              </a:rPr>
              <a:t>   Recovery that is assumed, not proven, is an unpriced risk.</a:t>
            </a:r>
            <a:endParaRPr lang="en-US" sz="1600" dirty="0"/>
          </a:p>
        </p:txBody>
      </p:sp>
      <p:sp>
        <p:nvSpPr>
          <p:cNvPr id="21" name="Text 1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In India, failing to recover is punished by freezing growth</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Regulators act on outages and weak disaster recovery, not just on breaches.</a:t>
            </a:r>
            <a:endParaRPr lang="en-US" sz="1500" dirty="0"/>
          </a:p>
        </p:txBody>
      </p:sp>
      <p:sp>
        <p:nvSpPr>
          <p:cNvPr id="4" name="Shape 2"/>
          <p:cNvSpPr/>
          <p:nvPr/>
        </p:nvSpPr>
        <p:spPr>
          <a:xfrm>
            <a:off x="54864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HDFC Bank</a:t>
            </a:r>
            <a:endParaRPr lang="en-US" sz="1900" dirty="0"/>
          </a:p>
        </p:txBody>
      </p:sp>
      <p:sp>
        <p:nvSpPr>
          <p:cNvPr id="6" name="Text 4"/>
          <p:cNvSpPr txBox="1"/>
          <p:nvPr/>
        </p:nvSpPr>
        <p:spPr>
          <a:xfrm>
            <a:off x="288036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Dec 2020</a:t>
            </a:r>
            <a:endParaRPr lang="en-US" sz="1200" dirty="0"/>
          </a:p>
        </p:txBody>
      </p:sp>
      <p:sp>
        <p:nvSpPr>
          <p:cNvPr id="7" name="Text 5"/>
          <p:cNvSpPr txBox="1"/>
          <p:nvPr/>
        </p:nvSpPr>
        <p:spPr>
          <a:xfrm>
            <a:off x="82296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After repeated outages, the latest caused by a power failure at a primary data centre, the RBI stopped all new digital launches and new credit-card sourcing.</a:t>
            </a:r>
            <a:endParaRPr lang="en-US" sz="1300" dirty="0"/>
          </a:p>
        </p:txBody>
      </p:sp>
      <p:sp>
        <p:nvSpPr>
          <p:cNvPr id="8" name="Shape 6"/>
          <p:cNvSpPr/>
          <p:nvPr/>
        </p:nvSpPr>
        <p:spPr>
          <a:xfrm>
            <a:off x="822960" y="4297680"/>
            <a:ext cx="2971800" cy="0"/>
          </a:xfrm>
          <a:prstGeom prst="line">
            <a:avLst/>
          </a:prstGeom>
          <a:noFill/>
          <a:ln w="12700">
            <a:solidFill>
              <a:srgbClr val="C9D3DE"/>
            </a:solidFill>
            <a:prstDash val="solid"/>
          </a:ln>
        </p:spPr>
      </p:sp>
      <p:sp>
        <p:nvSpPr>
          <p:cNvPr id="9" name="Text 7"/>
          <p:cNvSpPr txBox="1"/>
          <p:nvPr/>
        </p:nvSpPr>
        <p:spPr>
          <a:xfrm>
            <a:off x="82296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≈15 months</a:t>
            </a:r>
            <a:endParaRPr lang="en-US" sz="3400" dirty="0"/>
          </a:p>
        </p:txBody>
      </p:sp>
      <p:sp>
        <p:nvSpPr>
          <p:cNvPr id="10" name="Text 8"/>
          <p:cNvSpPr txBox="1"/>
          <p:nvPr/>
        </p:nvSpPr>
        <p:spPr>
          <a:xfrm>
            <a:off x="82296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digital launches were allowed again (Mar 2022); cards resumed Aug 2021</a:t>
            </a:r>
            <a:endParaRPr lang="en-US" sz="1200" dirty="0"/>
          </a:p>
        </p:txBody>
      </p:sp>
      <p:sp>
        <p:nvSpPr>
          <p:cNvPr id="11" name="Text 9"/>
          <p:cNvSpPr txBox="1"/>
          <p:nvPr/>
        </p:nvSpPr>
        <p:spPr>
          <a:xfrm>
            <a:off x="338328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[4]</a:t>
            </a:r>
            <a:endParaRPr lang="en-US" sz="950" dirty="0"/>
          </a:p>
        </p:txBody>
      </p:sp>
      <p:sp>
        <p:nvSpPr>
          <p:cNvPr id="12" name="Shape 10"/>
          <p:cNvSpPr/>
          <p:nvPr/>
        </p:nvSpPr>
        <p:spPr>
          <a:xfrm>
            <a:off x="429768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457200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NSE</a:t>
            </a:r>
            <a:endParaRPr lang="en-US" sz="1900" dirty="0"/>
          </a:p>
        </p:txBody>
      </p:sp>
      <p:sp>
        <p:nvSpPr>
          <p:cNvPr id="14" name="Text 12"/>
          <p:cNvSpPr txBox="1"/>
          <p:nvPr/>
        </p:nvSpPr>
        <p:spPr>
          <a:xfrm>
            <a:off x="662940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Feb 2021</a:t>
            </a:r>
            <a:endParaRPr lang="en-US" sz="1200" dirty="0"/>
          </a:p>
        </p:txBody>
      </p:sp>
      <p:sp>
        <p:nvSpPr>
          <p:cNvPr id="15" name="Text 13"/>
          <p:cNvSpPr txBox="1"/>
          <p:nvPr/>
        </p:nvSpPr>
        <p:spPr>
          <a:xfrm>
            <a:off x="457200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Trading was halted for nearly four hours on 24 February 2021. NSE and NSE Clearing settled with SEBI; executives were ordered to do community service and training.</a:t>
            </a:r>
            <a:endParaRPr lang="en-US" sz="1300" dirty="0"/>
          </a:p>
        </p:txBody>
      </p:sp>
      <p:sp>
        <p:nvSpPr>
          <p:cNvPr id="16" name="Shape 14"/>
          <p:cNvSpPr/>
          <p:nvPr/>
        </p:nvSpPr>
        <p:spPr>
          <a:xfrm>
            <a:off x="4572000" y="4297680"/>
            <a:ext cx="2971800" cy="0"/>
          </a:xfrm>
          <a:prstGeom prst="line">
            <a:avLst/>
          </a:prstGeom>
          <a:noFill/>
          <a:ln w="12700">
            <a:solidFill>
              <a:srgbClr val="C9D3DE"/>
            </a:solidFill>
            <a:prstDash val="solid"/>
          </a:ln>
        </p:spPr>
      </p:sp>
      <p:sp>
        <p:nvSpPr>
          <p:cNvPr id="17" name="Text 15"/>
          <p:cNvSpPr txBox="1"/>
          <p:nvPr/>
        </p:nvSpPr>
        <p:spPr>
          <a:xfrm>
            <a:off x="457200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₹72.64 crore</a:t>
            </a:r>
            <a:endParaRPr lang="en-US" sz="3400" dirty="0"/>
          </a:p>
        </p:txBody>
      </p:sp>
      <p:sp>
        <p:nvSpPr>
          <p:cNvPr id="18" name="Text 16"/>
          <p:cNvSpPr txBox="1"/>
          <p:nvPr/>
        </p:nvSpPr>
        <p:spPr>
          <a:xfrm>
            <a:off x="457200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paid by NSE and NSE Clearing to settle (2023)</a:t>
            </a:r>
            <a:endParaRPr lang="en-US" sz="1200" dirty="0"/>
          </a:p>
        </p:txBody>
      </p:sp>
      <p:sp>
        <p:nvSpPr>
          <p:cNvPr id="19" name="Text 17"/>
          <p:cNvSpPr txBox="1"/>
          <p:nvPr/>
        </p:nvSpPr>
        <p:spPr>
          <a:xfrm>
            <a:off x="713232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[5]</a:t>
            </a:r>
            <a:endParaRPr lang="en-US" sz="950" dirty="0"/>
          </a:p>
        </p:txBody>
      </p:sp>
      <p:sp>
        <p:nvSpPr>
          <p:cNvPr id="20" name="Shape 18"/>
          <p:cNvSpPr/>
          <p:nvPr/>
        </p:nvSpPr>
        <p:spPr>
          <a:xfrm>
            <a:off x="804672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832104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Kotak Mahindra Bank</a:t>
            </a:r>
            <a:endParaRPr lang="en-US" sz="1900" dirty="0"/>
          </a:p>
        </p:txBody>
      </p:sp>
      <p:sp>
        <p:nvSpPr>
          <p:cNvPr id="22" name="Text 20"/>
          <p:cNvSpPr txBox="1"/>
          <p:nvPr/>
        </p:nvSpPr>
        <p:spPr>
          <a:xfrm>
            <a:off x="1037844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Apr 2024</a:t>
            </a:r>
            <a:endParaRPr lang="en-US" sz="1200" dirty="0"/>
          </a:p>
        </p:txBody>
      </p:sp>
      <p:sp>
        <p:nvSpPr>
          <p:cNvPr id="23" name="Text 21"/>
          <p:cNvSpPr txBox="1"/>
          <p:nvPr/>
        </p:nvSpPr>
        <p:spPr>
          <a:xfrm>
            <a:off x="832104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The RBI cited deficiencies including business continuity and disaster recovery, and frequent outages, and barred online customer onboarding and new credit cards.</a:t>
            </a:r>
            <a:endParaRPr lang="en-US" sz="1300" dirty="0"/>
          </a:p>
        </p:txBody>
      </p:sp>
      <p:sp>
        <p:nvSpPr>
          <p:cNvPr id="24" name="Shape 22"/>
          <p:cNvSpPr/>
          <p:nvPr/>
        </p:nvSpPr>
        <p:spPr>
          <a:xfrm>
            <a:off x="8321040" y="4297680"/>
            <a:ext cx="2971800" cy="0"/>
          </a:xfrm>
          <a:prstGeom prst="line">
            <a:avLst/>
          </a:prstGeom>
          <a:noFill/>
          <a:ln w="12700">
            <a:solidFill>
              <a:srgbClr val="C9D3DE"/>
            </a:solidFill>
            <a:prstDash val="solid"/>
          </a:ln>
        </p:spPr>
      </p:sp>
      <p:sp>
        <p:nvSpPr>
          <p:cNvPr id="25" name="Text 23"/>
          <p:cNvSpPr txBox="1"/>
          <p:nvPr/>
        </p:nvSpPr>
        <p:spPr>
          <a:xfrm>
            <a:off x="832104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≈10 months</a:t>
            </a:r>
            <a:endParaRPr lang="en-US" sz="3400" dirty="0"/>
          </a:p>
        </p:txBody>
      </p:sp>
      <p:sp>
        <p:nvSpPr>
          <p:cNvPr id="26" name="Text 24"/>
          <p:cNvSpPr txBox="1"/>
          <p:nvPr/>
        </p:nvSpPr>
        <p:spPr>
          <a:xfrm>
            <a:off x="832104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the restrictions were lifted (Feb 2025)</a:t>
            </a:r>
            <a:endParaRPr lang="en-US" sz="1200" dirty="0"/>
          </a:p>
        </p:txBody>
      </p:sp>
      <p:sp>
        <p:nvSpPr>
          <p:cNvPr id="27" name="Text 25"/>
          <p:cNvSpPr txBox="1"/>
          <p:nvPr/>
        </p:nvSpPr>
        <p:spPr>
          <a:xfrm>
            <a:off x="1088136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[6]</a:t>
            </a:r>
            <a:endParaRPr lang="en-US" sz="950" dirty="0"/>
          </a:p>
        </p:txBody>
      </p:sp>
      <p:sp>
        <p:nvSpPr>
          <p:cNvPr id="28" name="Text 26"/>
          <p:cNvSpPr txBox="1"/>
          <p:nvPr/>
        </p:nvSpPr>
        <p:spPr>
          <a:xfrm>
            <a:off x="548640" y="6144768"/>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For a bank, a 10–15 month ban on new digital customers costs far more than any fine.</a:t>
            </a:r>
            <a:endParaRPr lang="en-US" sz="1400" dirty="0"/>
          </a:p>
        </p:txBody>
      </p:sp>
      <p:sp>
        <p:nvSpPr>
          <p:cNvPr id="29"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Regulators now require proof of recovery, on a schedule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Having a DR plan is not enough. It must be tested, the gaps fixed, and the test repeated.</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5029200"/>
                <a:gridCol w="32918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Regulator</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fall short</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r>
              <a:tr h="109728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RBI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Technology: Risk, Resilience and Assurance Framework Directions, 31 Jul 2026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DR drills for critical information systems at least half-yearly. Any major issue found must be fixed and re-tested successfully before the next cycle. [7]</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Supervisory restrictions on business, as with HDFC Bank and Kotak Mahindra Bank. [4][6]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23444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SEBI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&amp; Cyber Resilience Framework</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Resume critical operations within 2 hours (RTO) with a 15-minute RPO. Market infrastructure: run from the DR site within 45 minutes of declaring a disaster, drills every quarter, unannounced live trading from the DR site every six months. [8][9]</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Enforcement and settlements, as with NSE: ₹72.64 crore. [5]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14300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EU DORA</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Regulation (EU) 2022/2554, applies from 17 Jan 2025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Test ICT business continuity and response and recovery plans at least yearly and after major changes (Art. 11(6)); test backup restoration periodically (Art. 12).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Penalties set by each EU state (Art. 50). Critical ICT providers: up to 1% of average daily worldwide turnover, every day, for up to six months (Art. 35).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10000"/>
            </a:avLst>
          </a:prstGeom>
          <a:solidFill>
            <a:srgbClr val="EFE9FF"/>
          </a:solidFill>
          <a:ln w="12700">
            <a:solidFill>
              <a:srgbClr val="EFE9FF"/>
            </a:solidFill>
            <a:prstDash val="solid"/>
          </a:ln>
        </p:spPr>
      </p:sp>
      <p:sp>
        <p:nvSpPr>
          <p:cNvPr id="6" name="Text 3"/>
          <p:cNvSpPr txBox="1"/>
          <p:nvPr/>
        </p:nvSpPr>
        <p:spPr>
          <a:xfrm>
            <a:off x="777240" y="5532120"/>
            <a:ext cx="10698480" cy="73152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Our demo uses the same yardstick:  </a:t>
            </a:r>
            <a:pPr indent="0" marL="0">
              <a:buNone/>
            </a:pPr>
            <a:r>
              <a:rPr lang="en-US" sz="1400" dirty="0">
                <a:solidFill>
                  <a:srgbClr val="1B2635"/>
                </a:solidFill>
                <a:latin typeface="Calibri" pitchFamily="34" charset="0"/>
                <a:ea typeface="Calibri" pitchFamily="34" charset="-122"/>
                <a:cs typeface="Calibri" pitchFamily="34" charset="-120"/>
              </a:rPr>
              <a:t>target RTO 30 min and RPO 15 min, stricter than SEBI's 2 hours, and every drill produces timestamped, audit-ready evidence.</a:t>
            </a:r>
            <a:endParaRPr lang="en-US" sz="140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Yet most organisations cannot prove their recovery works today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Plans exist on paper. Tests are rare, manual and partial, so the gaps surface during the real disaster.</a:t>
            </a:r>
            <a:endParaRPr lang="en-US" sz="1500" dirty="0"/>
          </a:p>
        </p:txBody>
      </p:sp>
      <p:sp>
        <p:nvSpPr>
          <p:cNvPr id="4" name="Shape 2"/>
          <p:cNvSpPr/>
          <p:nvPr/>
        </p:nvSpPr>
        <p:spPr>
          <a:xfrm>
            <a:off x="548640" y="160020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78308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&lt; 1 in 3</a:t>
            </a:r>
            <a:endParaRPr lang="en-US" sz="3800" dirty="0"/>
          </a:p>
        </p:txBody>
      </p:sp>
      <p:sp>
        <p:nvSpPr>
          <p:cNvPr id="6" name="Text 4"/>
          <p:cNvSpPr txBox="1"/>
          <p:nvPr/>
        </p:nvSpPr>
        <p:spPr>
          <a:xfrm>
            <a:off x="2651760" y="176479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organisations perform regular failover testing</a:t>
            </a:r>
            <a:endParaRPr lang="en-US" sz="1350" dirty="0"/>
          </a:p>
        </p:txBody>
      </p:sp>
      <p:sp>
        <p:nvSpPr>
          <p:cNvPr id="7" name="Text 5"/>
          <p:cNvSpPr txBox="1"/>
          <p:nvPr/>
        </p:nvSpPr>
        <p:spPr>
          <a:xfrm>
            <a:off x="2651760" y="246888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(1,000 executives) [11]</a:t>
            </a:r>
            <a:endParaRPr lang="en-US" sz="950" dirty="0"/>
          </a:p>
        </p:txBody>
      </p:sp>
      <p:sp>
        <p:nvSpPr>
          <p:cNvPr id="8" name="Shape 6"/>
          <p:cNvSpPr/>
          <p:nvPr/>
        </p:nvSpPr>
        <p:spPr>
          <a:xfrm>
            <a:off x="548640" y="306324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777240" y="324612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20%</a:t>
            </a:r>
            <a:endParaRPr lang="en-US" sz="3800" dirty="0"/>
          </a:p>
        </p:txBody>
      </p:sp>
      <p:sp>
        <p:nvSpPr>
          <p:cNvPr id="10" name="Text 8"/>
          <p:cNvSpPr txBox="1"/>
          <p:nvPr/>
        </p:nvSpPr>
        <p:spPr>
          <a:xfrm>
            <a:off x="2651760" y="322783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executives believe their organisation is fully prepared to prevent or respond to outages</a:t>
            </a:r>
            <a:endParaRPr lang="en-US" sz="1350" dirty="0"/>
          </a:p>
        </p:txBody>
      </p:sp>
      <p:sp>
        <p:nvSpPr>
          <p:cNvPr id="11" name="Text 9"/>
          <p:cNvSpPr txBox="1"/>
          <p:nvPr/>
        </p:nvSpPr>
        <p:spPr>
          <a:xfrm>
            <a:off x="2651760" y="393192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[11]</a:t>
            </a:r>
            <a:endParaRPr lang="en-US" sz="950" dirty="0"/>
          </a:p>
        </p:txBody>
      </p:sp>
      <p:sp>
        <p:nvSpPr>
          <p:cNvPr id="12" name="Shape 10"/>
          <p:cNvSpPr/>
          <p:nvPr/>
        </p:nvSpPr>
        <p:spPr>
          <a:xfrm>
            <a:off x="548640" y="452628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85%</a:t>
            </a:r>
            <a:endParaRPr lang="en-US" sz="3800" dirty="0"/>
          </a:p>
        </p:txBody>
      </p:sp>
      <p:sp>
        <p:nvSpPr>
          <p:cNvPr id="14" name="Text 12"/>
          <p:cNvSpPr txBox="1"/>
          <p:nvPr/>
        </p:nvSpPr>
        <p:spPr>
          <a:xfrm>
            <a:off x="2651760" y="469087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major human-error outages come from staff not following procedures, or from flawed procedures</a:t>
            </a:r>
            <a:endParaRPr lang="en-US" sz="1350" dirty="0"/>
          </a:p>
        </p:txBody>
      </p:sp>
      <p:sp>
        <p:nvSpPr>
          <p:cNvPr id="15" name="Text 13"/>
          <p:cNvSpPr txBox="1"/>
          <p:nvPr/>
        </p:nvSpPr>
        <p:spPr>
          <a:xfrm>
            <a:off x="2651760" y="539496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2025 [12]</a:t>
            </a:r>
            <a:endParaRPr lang="en-US" sz="950" dirty="0"/>
          </a:p>
        </p:txBody>
      </p:sp>
      <p:sp>
        <p:nvSpPr>
          <p:cNvPr id="16" name="Text 14"/>
          <p:cNvSpPr txBox="1"/>
          <p:nvPr/>
        </p:nvSpPr>
        <p:spPr>
          <a:xfrm>
            <a:off x="6583680" y="1600200"/>
            <a:ext cx="5029200" cy="41148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Why the gap persists</a:t>
            </a:r>
            <a:endParaRPr lang="en-US" sz="1800" dirty="0"/>
          </a:p>
        </p:txBody>
      </p:sp>
      <p:sp>
        <p:nvSpPr>
          <p:cNvPr id="17" name="Shape 15"/>
          <p:cNvSpPr/>
          <p:nvPr/>
        </p:nvSpPr>
        <p:spPr>
          <a:xfrm>
            <a:off x="6583680" y="2103120"/>
            <a:ext cx="502920" cy="502920"/>
          </a:xfrm>
          <a:prstGeom prst="ellipse">
            <a:avLst/>
          </a:prstGeom>
          <a:solidFill>
            <a:srgbClr val="171721"/>
          </a:solidFill>
          <a:ln w="12700">
            <a:solidFill>
              <a:srgbClr val="171721"/>
            </a:solidFill>
            <a:prstDash val="solid"/>
          </a:ln>
        </p:spPr>
      </p:sp>
      <p:pic>
        <p:nvPicPr>
          <p:cNvPr id="18" name="Image 0" descr="preencoded.png">    </p:cNvPr>
          <p:cNvPicPr>
            <a:picLocks noChangeAspect="1"/>
          </p:cNvPicPr>
          <p:nvPr/>
        </p:nvPicPr>
        <p:blipFill>
          <a:blip r:embed="rId1"/>
          <a:stretch>
            <a:fillRect/>
          </a:stretch>
        </p:blipFill>
        <p:spPr>
          <a:xfrm>
            <a:off x="6709410" y="2228850"/>
            <a:ext cx="251460" cy="251460"/>
          </a:xfrm>
          <a:prstGeom prst="rect">
            <a:avLst/>
          </a:prstGeom>
        </p:spPr>
      </p:pic>
      <p:sp>
        <p:nvSpPr>
          <p:cNvPr id="19" name="Text 16"/>
          <p:cNvSpPr txBox="1"/>
          <p:nvPr/>
        </p:nvSpPr>
        <p:spPr>
          <a:xfrm>
            <a:off x="7269480" y="2066544"/>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Tests are disruptive and manual</a:t>
            </a:r>
            <a:endParaRPr lang="en-US" sz="1400" dirty="0"/>
          </a:p>
        </p:txBody>
      </p:sp>
      <p:sp>
        <p:nvSpPr>
          <p:cNvPr id="20" name="Text 17"/>
          <p:cNvSpPr txBox="1"/>
          <p:nvPr/>
        </p:nvSpPr>
        <p:spPr>
          <a:xfrm>
            <a:off x="7269480" y="2395728"/>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real failover needs several teams, a change window and hand-written timings, so it happens rarely.</a:t>
            </a:r>
            <a:endParaRPr lang="en-US" sz="1200" dirty="0"/>
          </a:p>
        </p:txBody>
      </p:sp>
      <p:sp>
        <p:nvSpPr>
          <p:cNvPr id="21" name="Shape 18"/>
          <p:cNvSpPr/>
          <p:nvPr/>
        </p:nvSpPr>
        <p:spPr>
          <a:xfrm>
            <a:off x="6583680" y="3127248"/>
            <a:ext cx="502920" cy="502920"/>
          </a:xfrm>
          <a:prstGeom prst="ellipse">
            <a:avLst/>
          </a:prstGeom>
          <a:solidFill>
            <a:srgbClr val="171721"/>
          </a:solidFill>
          <a:ln w="12700">
            <a:solidFill>
              <a:srgbClr val="171721"/>
            </a:solidFill>
            <a:prstDash val="solid"/>
          </a:ln>
        </p:spPr>
      </p:sp>
      <p:pic>
        <p:nvPicPr>
          <p:cNvPr id="22" name="Image 1" descr="preencoded.png">    </p:cNvPr>
          <p:cNvPicPr>
            <a:picLocks noChangeAspect="1"/>
          </p:cNvPicPr>
          <p:nvPr/>
        </p:nvPicPr>
        <p:blipFill>
          <a:blip r:embed="rId2"/>
          <a:stretch>
            <a:fillRect/>
          </a:stretch>
        </p:blipFill>
        <p:spPr>
          <a:xfrm>
            <a:off x="6709410" y="3252978"/>
            <a:ext cx="251460" cy="251460"/>
          </a:xfrm>
          <a:prstGeom prst="rect">
            <a:avLst/>
          </a:prstGeom>
        </p:spPr>
      </p:pic>
      <p:sp>
        <p:nvSpPr>
          <p:cNvPr id="23" name="Text 19"/>
          <p:cNvSpPr txBox="1"/>
          <p:nvPr/>
        </p:nvSpPr>
        <p:spPr>
          <a:xfrm>
            <a:off x="7269480" y="3090672"/>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Environments drift between tests</a:t>
            </a:r>
            <a:endParaRPr lang="en-US" sz="1400" dirty="0"/>
          </a:p>
        </p:txBody>
      </p:sp>
      <p:sp>
        <p:nvSpPr>
          <p:cNvPr id="24" name="Text 20"/>
          <p:cNvSpPr txBox="1"/>
          <p:nvPr/>
        </p:nvSpPr>
        <p:spPr>
          <a:xfrm>
            <a:off x="7269480" y="3419856"/>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setting added in one region but not the other only shows up when you fail over.</a:t>
            </a:r>
            <a:endParaRPr lang="en-US" sz="1200" dirty="0"/>
          </a:p>
        </p:txBody>
      </p:sp>
      <p:sp>
        <p:nvSpPr>
          <p:cNvPr id="25" name="Shape 21"/>
          <p:cNvSpPr/>
          <p:nvPr/>
        </p:nvSpPr>
        <p:spPr>
          <a:xfrm>
            <a:off x="6583680" y="4151376"/>
            <a:ext cx="502920" cy="502920"/>
          </a:xfrm>
          <a:prstGeom prst="ellipse">
            <a:avLst/>
          </a:prstGeom>
          <a:solidFill>
            <a:srgbClr val="171721"/>
          </a:solidFill>
          <a:ln w="12700">
            <a:solidFill>
              <a:srgbClr val="171721"/>
            </a:solidFill>
            <a:prstDash val="solid"/>
          </a:ln>
        </p:spPr>
      </p:sp>
      <p:pic>
        <p:nvPicPr>
          <p:cNvPr id="26" name="Image 2" descr="preencoded.png">    </p:cNvPr>
          <p:cNvPicPr>
            <a:picLocks noChangeAspect="1"/>
          </p:cNvPicPr>
          <p:nvPr/>
        </p:nvPicPr>
        <p:blipFill>
          <a:blip r:embed="rId3"/>
          <a:stretch>
            <a:fillRect/>
          </a:stretch>
        </p:blipFill>
        <p:spPr>
          <a:xfrm>
            <a:off x="6709410" y="4277106"/>
            <a:ext cx="251460" cy="251460"/>
          </a:xfrm>
          <a:prstGeom prst="rect">
            <a:avLst/>
          </a:prstGeom>
        </p:spPr>
      </p:pic>
      <p:sp>
        <p:nvSpPr>
          <p:cNvPr id="27" name="Text 22"/>
          <p:cNvSpPr txBox="1"/>
          <p:nvPr/>
        </p:nvSpPr>
        <p:spPr>
          <a:xfrm>
            <a:off x="7269480" y="4114800"/>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Runbooks go stale</a:t>
            </a:r>
            <a:endParaRPr lang="en-US" sz="1400" dirty="0"/>
          </a:p>
        </p:txBody>
      </p:sp>
      <p:sp>
        <p:nvSpPr>
          <p:cNvPr id="28" name="Text 23"/>
          <p:cNvSpPr txBox="1"/>
          <p:nvPr/>
        </p:nvSpPr>
        <p:spPr>
          <a:xfrm>
            <a:off x="7269480" y="4443984"/>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Documents name servers and services that no longer exist; engineers find out mid-incident.</a:t>
            </a:r>
            <a:endParaRPr lang="en-US" sz="1200" dirty="0"/>
          </a:p>
        </p:txBody>
      </p:sp>
      <p:sp>
        <p:nvSpPr>
          <p:cNvPr id="29" name="Shape 24"/>
          <p:cNvSpPr/>
          <p:nvPr/>
        </p:nvSpPr>
        <p:spPr>
          <a:xfrm>
            <a:off x="6583680" y="5175504"/>
            <a:ext cx="502920" cy="502920"/>
          </a:xfrm>
          <a:prstGeom prst="ellipse">
            <a:avLst/>
          </a:prstGeom>
          <a:solidFill>
            <a:srgbClr val="171721"/>
          </a:solidFill>
          <a:ln w="12700">
            <a:solidFill>
              <a:srgbClr val="171721"/>
            </a:solidFill>
            <a:prstDash val="solid"/>
          </a:ln>
        </p:spPr>
      </p:sp>
      <p:pic>
        <p:nvPicPr>
          <p:cNvPr id="30" name="Image 3" descr="preencoded.png">    </p:cNvPr>
          <p:cNvPicPr>
            <a:picLocks noChangeAspect="1"/>
          </p:cNvPicPr>
          <p:nvPr/>
        </p:nvPicPr>
        <p:blipFill>
          <a:blip r:embed="rId4"/>
          <a:stretch>
            <a:fillRect/>
          </a:stretch>
        </p:blipFill>
        <p:spPr>
          <a:xfrm>
            <a:off x="6709410" y="5301234"/>
            <a:ext cx="251460" cy="251460"/>
          </a:xfrm>
          <a:prstGeom prst="rect">
            <a:avLst/>
          </a:prstGeom>
        </p:spPr>
      </p:pic>
      <p:sp>
        <p:nvSpPr>
          <p:cNvPr id="31" name="Text 25"/>
          <p:cNvSpPr txBox="1"/>
          <p:nvPr/>
        </p:nvSpPr>
        <p:spPr>
          <a:xfrm>
            <a:off x="7269480" y="5138928"/>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RTO and RPO are assumed</a:t>
            </a:r>
            <a:endParaRPr lang="en-US" sz="1400" dirty="0"/>
          </a:p>
        </p:txBody>
      </p:sp>
      <p:sp>
        <p:nvSpPr>
          <p:cNvPr id="32" name="Text 26"/>
          <p:cNvSpPr txBox="1"/>
          <p:nvPr/>
        </p:nvSpPr>
        <p:spPr>
          <a:xfrm>
            <a:off x="7269480" y="5468112"/>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Targets are signed off on paper; actual recovery time and data loss are rarely measured end to end.</a:t>
            </a:r>
            <a:endParaRPr lang="en-US" sz="1200" dirty="0"/>
          </a:p>
        </p:txBody>
      </p:sp>
      <p:sp>
        <p:nvSpPr>
          <p:cNvPr id="33"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an unproven DR plan costs: one bad morning</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Illustration for a tier-1 payments service, using the cited figures. Not a forecast; the inputs are shown.</a:t>
            </a:r>
            <a:endParaRPr lang="en-US" sz="1500" dirty="0"/>
          </a:p>
        </p:txBody>
      </p:sp>
      <p:sp>
        <p:nvSpPr>
          <p:cNvPr id="4" name="Shape 2"/>
          <p:cNvSpPr/>
          <p:nvPr/>
        </p:nvSpPr>
        <p:spPr>
          <a:xfrm>
            <a:off x="548640" y="1600200"/>
            <a:ext cx="11064240" cy="676656"/>
          </a:xfrm>
          <a:prstGeom prst="roundRect">
            <a:avLst>
              <a:gd name="adj" fmla="val 10811"/>
            </a:avLst>
          </a:prstGeom>
          <a:solidFill>
            <a:srgbClr val="F1F5F9"/>
          </a:solidFill>
          <a:ln w="12700">
            <a:solidFill>
              <a:srgbClr val="F1F5F9"/>
            </a:solidFill>
            <a:prstDash val="solid"/>
          </a:ln>
        </p:spPr>
      </p:sp>
      <p:sp>
        <p:nvSpPr>
          <p:cNvPr id="5" name="Text 3"/>
          <p:cNvSpPr txBox="1"/>
          <p:nvPr/>
        </p:nvSpPr>
        <p:spPr>
          <a:xfrm>
            <a:off x="777240" y="1600200"/>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Recovery target (RTO)</a:t>
            </a:r>
            <a:endParaRPr lang="en-US" sz="1400" dirty="0"/>
          </a:p>
        </p:txBody>
      </p:sp>
      <p:sp>
        <p:nvSpPr>
          <p:cNvPr id="6" name="Text 4"/>
          <p:cNvSpPr txBox="1"/>
          <p:nvPr/>
        </p:nvSpPr>
        <p:spPr>
          <a:xfrm>
            <a:off x="3931920" y="1600200"/>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 minutes</a:t>
            </a:r>
            <a:endParaRPr lang="en-US" sz="2200" dirty="0"/>
          </a:p>
        </p:txBody>
      </p:sp>
      <p:sp>
        <p:nvSpPr>
          <p:cNvPr id="7" name="Text 5"/>
          <p:cNvSpPr txBox="1"/>
          <p:nvPr/>
        </p:nvSpPr>
        <p:spPr>
          <a:xfrm>
            <a:off x="6400800" y="1600200"/>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Signed off on paper; never measured end to end</a:t>
            </a:r>
            <a:endParaRPr lang="en-US" sz="1200" dirty="0"/>
          </a:p>
        </p:txBody>
      </p:sp>
      <p:sp>
        <p:nvSpPr>
          <p:cNvPr id="8" name="Shape 6"/>
          <p:cNvSpPr/>
          <p:nvPr/>
        </p:nvSpPr>
        <p:spPr>
          <a:xfrm>
            <a:off x="548640" y="2386584"/>
            <a:ext cx="11064240" cy="676656"/>
          </a:xfrm>
          <a:prstGeom prst="roundRect">
            <a:avLst>
              <a:gd name="adj" fmla="val 10811"/>
            </a:avLst>
          </a:prstGeom>
          <a:solidFill>
            <a:srgbClr val="F1F5F9"/>
          </a:solidFill>
          <a:ln w="12700">
            <a:solidFill>
              <a:srgbClr val="F1F5F9"/>
            </a:solidFill>
            <a:prstDash val="solid"/>
          </a:ln>
        </p:spPr>
      </p:sp>
      <p:sp>
        <p:nvSpPr>
          <p:cNvPr id="9" name="Text 7"/>
          <p:cNvSpPr txBox="1"/>
          <p:nvPr/>
        </p:nvSpPr>
        <p:spPr>
          <a:xfrm>
            <a:off x="777240" y="2386584"/>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Actual recovery</a:t>
            </a:r>
            <a:endParaRPr lang="en-US" sz="1400" dirty="0"/>
          </a:p>
        </p:txBody>
      </p:sp>
      <p:sp>
        <p:nvSpPr>
          <p:cNvPr id="10" name="Text 8"/>
          <p:cNvSpPr txBox="1"/>
          <p:nvPr/>
        </p:nvSpPr>
        <p:spPr>
          <a:xfrm>
            <a:off x="3931920" y="2386584"/>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4 hours</a:t>
            </a:r>
            <a:endParaRPr lang="en-US" sz="2200" dirty="0"/>
          </a:p>
        </p:txBody>
      </p:sp>
      <p:sp>
        <p:nvSpPr>
          <p:cNvPr id="11" name="Text 9"/>
          <p:cNvSpPr txBox="1"/>
          <p:nvPr/>
        </p:nvSpPr>
        <p:spPr>
          <a:xfrm>
            <a:off x="6400800" y="2386584"/>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Comparable to the NSE trading halt of Feb 2021 [5]</a:t>
            </a:r>
            <a:endParaRPr lang="en-US" sz="1200" dirty="0"/>
          </a:p>
        </p:txBody>
      </p:sp>
      <p:sp>
        <p:nvSpPr>
          <p:cNvPr id="12" name="Shape 10"/>
          <p:cNvSpPr/>
          <p:nvPr/>
        </p:nvSpPr>
        <p:spPr>
          <a:xfrm>
            <a:off x="548640" y="3172968"/>
            <a:ext cx="11064240" cy="676656"/>
          </a:xfrm>
          <a:prstGeom prst="roundRect">
            <a:avLst>
              <a:gd name="adj" fmla="val 10811"/>
            </a:avLst>
          </a:prstGeom>
          <a:solidFill>
            <a:srgbClr val="F1F5F9"/>
          </a:solidFill>
          <a:ln w="12700">
            <a:solidFill>
              <a:srgbClr val="F1F5F9"/>
            </a:solidFill>
            <a:prstDash val="solid"/>
          </a:ln>
        </p:spPr>
      </p:sp>
      <p:sp>
        <p:nvSpPr>
          <p:cNvPr id="13" name="Text 11"/>
          <p:cNvSpPr txBox="1"/>
          <p:nvPr/>
        </p:nvSpPr>
        <p:spPr>
          <a:xfrm>
            <a:off x="777240" y="3172968"/>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Hourly cost of downtime</a:t>
            </a:r>
            <a:endParaRPr lang="en-US" sz="1400" dirty="0"/>
          </a:p>
        </p:txBody>
      </p:sp>
      <p:sp>
        <p:nvSpPr>
          <p:cNvPr id="14" name="Text 12"/>
          <p:cNvSpPr txBox="1"/>
          <p:nvPr/>
        </p:nvSpPr>
        <p:spPr>
          <a:xfrm>
            <a:off x="3931920" y="3172968"/>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$300,000</a:t>
            </a:r>
            <a:endParaRPr lang="en-US" sz="2200" dirty="0"/>
          </a:p>
        </p:txBody>
      </p:sp>
      <p:sp>
        <p:nvSpPr>
          <p:cNvPr id="15" name="Text 13"/>
          <p:cNvSpPr txBox="1"/>
          <p:nvPr/>
        </p:nvSpPr>
        <p:spPr>
          <a:xfrm>
            <a:off x="6400800" y="3172968"/>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ITIC 2024 floor for 90%+ of mid-size and large firms [1]</a:t>
            </a:r>
            <a:endParaRPr lang="en-US" sz="1200" dirty="0"/>
          </a:p>
        </p:txBody>
      </p:sp>
      <p:sp>
        <p:nvSpPr>
          <p:cNvPr id="16" name="Shape 14"/>
          <p:cNvSpPr/>
          <p:nvPr/>
        </p:nvSpPr>
        <p:spPr>
          <a:xfrm>
            <a:off x="548640" y="3959352"/>
            <a:ext cx="11064240" cy="676656"/>
          </a:xfrm>
          <a:prstGeom prst="roundRect">
            <a:avLst>
              <a:gd name="adj" fmla="val 10811"/>
            </a:avLst>
          </a:prstGeom>
          <a:solidFill>
            <a:srgbClr val="FDF0DB"/>
          </a:solidFill>
          <a:ln w="12700">
            <a:solidFill>
              <a:srgbClr val="FDF0DB"/>
            </a:solidFill>
            <a:prstDash val="solid"/>
          </a:ln>
        </p:spPr>
      </p:sp>
      <p:sp>
        <p:nvSpPr>
          <p:cNvPr id="17" name="Text 15"/>
          <p:cNvSpPr txBox="1"/>
          <p:nvPr/>
        </p:nvSpPr>
        <p:spPr>
          <a:xfrm>
            <a:off x="777240" y="3959352"/>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Direct loss</a:t>
            </a:r>
            <a:endParaRPr lang="en-US" sz="1400" dirty="0"/>
          </a:p>
        </p:txBody>
      </p:sp>
      <p:sp>
        <p:nvSpPr>
          <p:cNvPr id="18" name="Text 16"/>
          <p:cNvSpPr txBox="1"/>
          <p:nvPr/>
        </p:nvSpPr>
        <p:spPr>
          <a:xfrm>
            <a:off x="3931920" y="3959352"/>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$1.2M</a:t>
            </a:r>
            <a:endParaRPr lang="en-US" sz="2200" dirty="0"/>
          </a:p>
        </p:txBody>
      </p:sp>
      <p:sp>
        <p:nvSpPr>
          <p:cNvPr id="19" name="Text 17"/>
          <p:cNvSpPr txBox="1"/>
          <p:nvPr/>
        </p:nvSpPr>
        <p:spPr>
          <a:xfrm>
            <a:off x="6400800" y="3959352"/>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4 h × $300K; $1.05M of it beyond the 30-minute target</a:t>
            </a:r>
            <a:endParaRPr lang="en-US" sz="1200" dirty="0"/>
          </a:p>
        </p:txBody>
      </p:sp>
      <p:sp>
        <p:nvSpPr>
          <p:cNvPr id="20" name="Shape 18"/>
          <p:cNvSpPr/>
          <p:nvPr/>
        </p:nvSpPr>
        <p:spPr>
          <a:xfrm>
            <a:off x="548640" y="4745736"/>
            <a:ext cx="11064240" cy="676656"/>
          </a:xfrm>
          <a:prstGeom prst="roundRect">
            <a:avLst>
              <a:gd name="adj" fmla="val 10811"/>
            </a:avLst>
          </a:prstGeom>
          <a:solidFill>
            <a:srgbClr val="FDF0DB"/>
          </a:solidFill>
          <a:ln w="12700">
            <a:solidFill>
              <a:srgbClr val="FDF0DB"/>
            </a:solidFill>
            <a:prstDash val="solid"/>
          </a:ln>
        </p:spPr>
      </p:sp>
      <p:sp>
        <p:nvSpPr>
          <p:cNvPr id="21" name="Text 19"/>
          <p:cNvSpPr txBox="1"/>
          <p:nvPr/>
        </p:nvSpPr>
        <p:spPr>
          <a:xfrm>
            <a:off x="777240" y="4745736"/>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Regulatory precedent</a:t>
            </a:r>
            <a:endParaRPr lang="en-US" sz="1400" dirty="0"/>
          </a:p>
        </p:txBody>
      </p:sp>
      <p:sp>
        <p:nvSpPr>
          <p:cNvPr id="22" name="Text 20"/>
          <p:cNvSpPr txBox="1"/>
          <p:nvPr/>
        </p:nvSpPr>
        <p:spPr>
          <a:xfrm>
            <a:off x="3931920" y="4745736"/>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₹72.64 crore</a:t>
            </a:r>
            <a:endParaRPr lang="en-US" sz="2200" dirty="0"/>
          </a:p>
        </p:txBody>
      </p:sp>
      <p:sp>
        <p:nvSpPr>
          <p:cNvPr id="23" name="Text 21"/>
          <p:cNvSpPr txBox="1"/>
          <p:nvPr/>
        </p:nvSpPr>
        <p:spPr>
          <a:xfrm>
            <a:off x="6400800" y="4745736"/>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What NSE paid to settle its 2021 outage case [5]; banks have faced 10–15 month business restrictions [4][6]</a:t>
            </a:r>
            <a:endParaRPr lang="en-US" sz="1200" dirty="0"/>
          </a:p>
        </p:txBody>
      </p:sp>
      <p:sp>
        <p:nvSpPr>
          <p:cNvPr id="24" name="Shape 22"/>
          <p:cNvSpPr/>
          <p:nvPr/>
        </p:nvSpPr>
        <p:spPr>
          <a:xfrm>
            <a:off x="548640" y="5623560"/>
            <a:ext cx="11064240" cy="658368"/>
          </a:xfrm>
          <a:prstGeom prst="roundRect">
            <a:avLst>
              <a:gd name="adj" fmla="val 11111"/>
            </a:avLst>
          </a:prstGeom>
          <a:solidFill>
            <a:srgbClr val="171721"/>
          </a:solidFill>
          <a:ln w="12700">
            <a:solidFill>
              <a:srgbClr val="171721"/>
            </a:solidFill>
            <a:prstDash val="solid"/>
          </a:ln>
        </p:spPr>
      </p:sp>
      <p:sp>
        <p:nvSpPr>
          <p:cNvPr id="25" name="Text 2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DR Agent measured 34.35 s</a:t>
            </a:r>
            <a:pPr indent="0" marL="0">
              <a:buNone/>
            </a:pPr>
            <a:r>
              <a:rPr lang="en-US" sz="1450" dirty="0">
                <a:solidFill>
                  <a:srgbClr val="C9C3E6"/>
                </a:solidFill>
                <a:latin typeface="Calibri" pitchFamily="34" charset="0"/>
                <a:ea typeface="Calibri" pitchFamily="34" charset="-122"/>
                <a:cs typeface="Calibri" pitchFamily="34" charset="-120"/>
              </a:rPr>
              <a:t> to recover the same kind of service in our live Azure drill (18 Oct 2026), with zero payments lost, and proves it again on every run.</a:t>
            </a:r>
            <a:endParaRPr lang="en-US" sz="1450" dirty="0"/>
          </a:p>
        </p:txBody>
      </p:sp>
      <p:sp>
        <p:nvSpPr>
          <p:cNvPr id="26" name="Text 2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The DR Agent runs the real drill and proves the result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Six AI agents on Azure AI Foundry plan and judge; a guarded engine executes on live Azure resources; humans approve.</a:t>
            </a:r>
            <a:endParaRPr lang="en-US" sz="1500" dirty="0"/>
          </a:p>
        </p:txBody>
      </p:sp>
      <p:sp>
        <p:nvSpPr>
          <p:cNvPr id="4" name="Shape 2"/>
          <p:cNvSpPr/>
          <p:nvPr/>
        </p:nvSpPr>
        <p:spPr>
          <a:xfrm>
            <a:off x="54864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1</a:t>
            </a:r>
            <a:endParaRPr lang="en-US" sz="1100" dirty="0"/>
          </a:p>
        </p:txBody>
      </p:sp>
      <p:sp>
        <p:nvSpPr>
          <p:cNvPr id="6" name="Text 4"/>
          <p:cNvSpPr txBox="1"/>
          <p:nvPr/>
        </p:nvSpPr>
        <p:spPr>
          <a:xfrm>
            <a:off x="82296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Design &amp; prepare</a:t>
            </a:r>
            <a:endParaRPr lang="en-US" sz="1900" dirty="0"/>
          </a:p>
        </p:txBody>
      </p:sp>
      <p:sp>
        <p:nvSpPr>
          <p:cNvPr id="7" name="Text 5"/>
          <p:cNvSpPr txBox="1"/>
          <p:nvPr/>
        </p:nvSpPr>
        <p:spPr>
          <a:xfrm>
            <a:off x="82296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Architect</a:t>
            </a:r>
            <a:endParaRPr lang="en-US" sz="1300" dirty="0"/>
          </a:p>
        </p:txBody>
      </p:sp>
      <p:sp>
        <p:nvSpPr>
          <p:cNvPr id="8" name="Text 6"/>
          <p:cNvSpPr txBox="1"/>
          <p:nvPr/>
        </p:nvSpPr>
        <p:spPr>
          <a:xfrm>
            <a:off x="242316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picks the cheapest strategy that truly meets RTO/RPO, with real Azure prices</a:t>
            </a:r>
            <a:endParaRPr lang="en-US" sz="1250" dirty="0"/>
          </a:p>
        </p:txBody>
      </p:sp>
      <p:sp>
        <p:nvSpPr>
          <p:cNvPr id="9" name="Text 7"/>
          <p:cNvSpPr txBox="1"/>
          <p:nvPr/>
        </p:nvSpPr>
        <p:spPr>
          <a:xfrm>
            <a:off x="82296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Readiness</a:t>
            </a:r>
            <a:endParaRPr lang="en-US" sz="1300" dirty="0"/>
          </a:p>
        </p:txBody>
      </p:sp>
      <p:sp>
        <p:nvSpPr>
          <p:cNvPr id="10" name="Text 8"/>
          <p:cNvSpPr txBox="1"/>
          <p:nvPr/>
        </p:nvSpPr>
        <p:spPr>
          <a:xfrm>
            <a:off x="242316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7 live checks; finds drift before the disaster; one-click approved fix</a:t>
            </a:r>
            <a:endParaRPr lang="en-US" sz="1250" dirty="0"/>
          </a:p>
        </p:txBody>
      </p:sp>
      <p:sp>
        <p:nvSpPr>
          <p:cNvPr id="11" name="Text 9"/>
          <p:cNvSpPr txBox="1"/>
          <p:nvPr/>
        </p:nvSpPr>
        <p:spPr>
          <a:xfrm>
            <a:off x="82296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Runbook</a:t>
            </a:r>
            <a:endParaRPr lang="en-US" sz="1300" dirty="0"/>
          </a:p>
        </p:txBody>
      </p:sp>
      <p:sp>
        <p:nvSpPr>
          <p:cNvPr id="12" name="Text 10"/>
          <p:cNvSpPr txBox="1"/>
          <p:nvPr/>
        </p:nvSpPr>
        <p:spPr>
          <a:xfrm>
            <a:off x="242316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flags stale steps and writes the corrected runbook</a:t>
            </a:r>
            <a:endParaRPr lang="en-US" sz="1250" dirty="0"/>
          </a:p>
        </p:txBody>
      </p:sp>
      <p:sp>
        <p:nvSpPr>
          <p:cNvPr id="13" name="Shape 11"/>
          <p:cNvSpPr/>
          <p:nvPr/>
        </p:nvSpPr>
        <p:spPr>
          <a:xfrm>
            <a:off x="617220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2</a:t>
            </a:r>
            <a:endParaRPr lang="en-US" sz="1100" dirty="0"/>
          </a:p>
        </p:txBody>
      </p:sp>
      <p:sp>
        <p:nvSpPr>
          <p:cNvPr id="15" name="Text 13"/>
          <p:cNvSpPr txBox="1"/>
          <p:nvPr/>
        </p:nvSpPr>
        <p:spPr>
          <a:xfrm>
            <a:off x="644652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Plan, execute, fail back, report</a:t>
            </a:r>
            <a:endParaRPr lang="en-US" sz="1900" dirty="0"/>
          </a:p>
        </p:txBody>
      </p:sp>
      <p:sp>
        <p:nvSpPr>
          <p:cNvPr id="16" name="Text 14"/>
          <p:cNvSpPr txBox="1"/>
          <p:nvPr/>
        </p:nvSpPr>
        <p:spPr>
          <a:xfrm>
            <a:off x="644652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Planner</a:t>
            </a:r>
            <a:endParaRPr lang="en-US" sz="1300" dirty="0"/>
          </a:p>
        </p:txBody>
      </p:sp>
      <p:sp>
        <p:nvSpPr>
          <p:cNvPr id="17" name="Text 15"/>
          <p:cNvSpPr txBox="1"/>
          <p:nvPr/>
        </p:nvSpPr>
        <p:spPr>
          <a:xfrm>
            <a:off x="804672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builds a 21-step drill from an allowlist of safe actions</a:t>
            </a:r>
            <a:endParaRPr lang="en-US" sz="1250" dirty="0"/>
          </a:p>
        </p:txBody>
      </p:sp>
      <p:sp>
        <p:nvSpPr>
          <p:cNvPr id="18" name="Text 16"/>
          <p:cNvSpPr txBox="1"/>
          <p:nvPr/>
        </p:nvSpPr>
        <p:spPr>
          <a:xfrm>
            <a:off x="644652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Engine + Validator</a:t>
            </a:r>
            <a:endParaRPr lang="en-US" sz="1300" dirty="0"/>
          </a:p>
        </p:txBody>
      </p:sp>
      <p:sp>
        <p:nvSpPr>
          <p:cNvPr id="19" name="Text 17"/>
          <p:cNvSpPr txBox="1"/>
          <p:nvPr/>
        </p:nvSpPr>
        <p:spPr>
          <a:xfrm>
            <a:off x="804672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injects the outage, fails over, measures; diagnoses any failure live</a:t>
            </a:r>
            <a:endParaRPr lang="en-US" sz="1250" dirty="0"/>
          </a:p>
        </p:txBody>
      </p:sp>
      <p:sp>
        <p:nvSpPr>
          <p:cNvPr id="20" name="Text 18"/>
          <p:cNvSpPr txBox="1"/>
          <p:nvPr/>
        </p:nvSpPr>
        <p:spPr>
          <a:xfrm>
            <a:off x="644652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Reporter</a:t>
            </a:r>
            <a:endParaRPr lang="en-US" sz="1300" dirty="0"/>
          </a:p>
        </p:txBody>
      </p:sp>
      <p:sp>
        <p:nvSpPr>
          <p:cNvPr id="21" name="Text 19"/>
          <p:cNvSpPr txBox="1"/>
          <p:nvPr/>
        </p:nvSpPr>
        <p:spPr>
          <a:xfrm>
            <a:off x="804672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audit-ready report with every second of RTO accounted for</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017520"/>
                <a:gridCol w="3566160"/>
                <a:gridCol w="4480560"/>
              </a:tblGrid>
              <a:tr h="246888">
                <a:tc>
                  <a:txBody>
                    <a:bodyPr/>
                    <a:lstStyle/>
                    <a:p>
                      <a:pPr indent="0" marL="0">
                        <a:buNone/>
                      </a:pP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FFFFFF"/>
                    </a:solidFill>
                  </a:tcPr>
                </a:tc>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b="1" dirty="0">
                          <a:solidFill>
                            <a:srgbClr val="5E2CFE"/>
                          </a:solidFill>
                          <a:latin typeface="Calibri" pitchFamily="34" charset="0"/>
                          <a:ea typeface="Calibri" pitchFamily="34" charset="-122"/>
                          <a:cs typeface="Calibri" pitchFamily="34" charset="-120"/>
                        </a:rPr>
                        <a:t>With the DR Agent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How often DR is proven</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Once or twice a year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 demand, any 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RTO and RPO</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Assumed on paper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on every drill, to the millisecond</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Configuration drift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during the real outage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by readiness checks, fixed with approval</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Audit evidence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Screenshots and spreadsheets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Generated report with timestamps and approvals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23" name="Text 2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Six specialist agents, each with one job and a contract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Versioned prompt agents in Azure AI Foundry Agent Service. Every answer must match a strict JSON schema and pass code checks.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371600"/>
                <a:gridCol w="1417320"/>
                <a:gridCol w="2880360"/>
                <a:gridCol w="2514600"/>
                <a:gridCol w="28803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Gets (facts from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Checked by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Architect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Profile, inventory, live Azure prices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 all 5 options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Cheapest option that truly meets targets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Readiness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7 deterministic checks with evidence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GO / NO-GO, risks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Any failed check forces NO-GO</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Runbook markdown, inventory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Stale / valid per step, corrected 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Schema only (advisory)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Planner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risks, allowlist, safe sequence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21-step drill plan</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Allowlisted actions, mandatory sequence, approvals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Failed step, error, events, live probes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Cause, evidence, fix</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Fix allowlisted; never Region A mid-outage; human approves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Reporter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RTO/RPO, timeline, findings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Summary, remediation items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Numbers rendered by code, not retyped</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074920"/>
            <a:ext cx="11064240" cy="1188720"/>
          </a:xfrm>
          <a:prstGeom prst="roundRect">
            <a:avLst>
              <a:gd name="adj" fmla="val 6154"/>
            </a:avLst>
          </a:prstGeom>
          <a:solidFill>
            <a:srgbClr val="EFE9FF"/>
          </a:solidFill>
          <a:ln w="12700">
            <a:solidFill>
              <a:srgbClr val="EFE9FF"/>
            </a:solidFill>
            <a:prstDash val="solid"/>
          </a:ln>
        </p:spPr>
      </p:sp>
      <p:sp>
        <p:nvSpPr>
          <p:cNvPr id="6" name="Text 3"/>
          <p:cNvSpPr txBox="1"/>
          <p:nvPr/>
        </p:nvSpPr>
        <p:spPr>
          <a:xfrm>
            <a:off x="777240" y="5074920"/>
            <a:ext cx="10607040" cy="118872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Watch them think. </a:t>
            </a:r>
            <a:pPr indent="0" marL="0">
              <a:buNone/>
            </a:pPr>
            <a:r>
              <a:rPr lang="en-US" sz="1350" dirty="0">
                <a:solidFill>
                  <a:srgbClr val="1B2635"/>
                </a:solidFill>
                <a:latin typeface="Calibri" pitchFamily="34" charset="0"/>
                <a:ea typeface="Calibri" pitchFamily="34" charset="-122"/>
                <a:cs typeface="Calibri" pitchFamily="34" charset="-120"/>
              </a:rPr>
              <a:t>A live activity panel streams every Azure read, the Foundry call (agent version, latency, tokens) and the code check, as it happens. It caught a real defect: the Architect compared a cost multiplier with a dollar budget; we now give it Azure list prices and it is right first time (5 of 5 runs).</a:t>
            </a:r>
            <a:endParaRPr lang="en-US" sz="135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Agents decide. The engine acts. Humans approve.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DR touches production, so no model can call an Azure write API. Every action is allowlisted, ordered, approved and reversible.</a:t>
            </a:r>
            <a:endParaRPr lang="en-US" sz="1500" dirty="0"/>
          </a:p>
        </p:txBody>
      </p:sp>
      <p:sp>
        <p:nvSpPr>
          <p:cNvPr id="4" name="Shape 2"/>
          <p:cNvSpPr/>
          <p:nvPr/>
        </p:nvSpPr>
        <p:spPr>
          <a:xfrm>
            <a:off x="54864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502920" cy="50292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902970" y="1954530"/>
            <a:ext cx="251460" cy="251460"/>
          </a:xfrm>
          <a:prstGeom prst="rect">
            <a:avLst/>
          </a:prstGeom>
        </p:spPr>
      </p:pic>
      <p:sp>
        <p:nvSpPr>
          <p:cNvPr id="7" name="Text 4"/>
          <p:cNvSpPr txBox="1"/>
          <p:nvPr/>
        </p:nvSpPr>
        <p:spPr>
          <a:xfrm>
            <a:off x="141732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Allowlisted actions</a:t>
            </a:r>
            <a:endParaRPr lang="en-US" sz="1500" dirty="0"/>
          </a:p>
        </p:txBody>
      </p:sp>
      <p:sp>
        <p:nvSpPr>
          <p:cNvPr id="8" name="Text 5"/>
          <p:cNvSpPr txBox="1"/>
          <p:nvPr/>
        </p:nvSpPr>
        <p:spPr>
          <a:xfrm>
            <a:off x="77724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The engine runs only 15 known actions (stop/start app, SQL failover, endpoint on/off, ASR test). Anything else is rejected.</a:t>
            </a:r>
            <a:endParaRPr lang="en-US" sz="1200" dirty="0"/>
          </a:p>
        </p:txBody>
      </p:sp>
      <p:sp>
        <p:nvSpPr>
          <p:cNvPr id="9" name="Shape 6"/>
          <p:cNvSpPr/>
          <p:nvPr/>
        </p:nvSpPr>
        <p:spPr>
          <a:xfrm>
            <a:off x="429768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26280" y="1828800"/>
            <a:ext cx="502920" cy="502920"/>
          </a:xfrm>
          <a:prstGeom prst="ellipse">
            <a:avLst/>
          </a:prstGeom>
          <a:solidFill>
            <a:srgbClr val="171721"/>
          </a:solidFill>
          <a:ln w="12700">
            <a:solidFill>
              <a:srgbClr val="171721"/>
            </a:solidFill>
            <a:prstDash val="solid"/>
          </a:ln>
        </p:spPr>
      </p:sp>
      <p:pic>
        <p:nvPicPr>
          <p:cNvPr id="11" name="Image 1" descr="preencoded.png">    </p:cNvPr>
          <p:cNvPicPr>
            <a:picLocks noChangeAspect="1"/>
          </p:cNvPicPr>
          <p:nvPr/>
        </p:nvPicPr>
        <p:blipFill>
          <a:blip r:embed="rId2"/>
          <a:stretch>
            <a:fillRect/>
          </a:stretch>
        </p:blipFill>
        <p:spPr>
          <a:xfrm>
            <a:off x="4652010" y="1954530"/>
            <a:ext cx="251460" cy="251460"/>
          </a:xfrm>
          <a:prstGeom prst="rect">
            <a:avLst/>
          </a:prstGeom>
        </p:spPr>
      </p:pic>
      <p:sp>
        <p:nvSpPr>
          <p:cNvPr id="12" name="Text 8"/>
          <p:cNvSpPr txBox="1"/>
          <p:nvPr/>
        </p:nvSpPr>
        <p:spPr>
          <a:xfrm>
            <a:off x="516636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Mandatory safe sequence</a:t>
            </a:r>
            <a:endParaRPr lang="en-US" sz="1500" dirty="0"/>
          </a:p>
        </p:txBody>
      </p:sp>
      <p:sp>
        <p:nvSpPr>
          <p:cNvPr id="13" name="Text 9"/>
          <p:cNvSpPr txBox="1"/>
          <p:nvPr/>
        </p:nvSpPr>
        <p:spPr>
          <a:xfrm>
            <a:off x="452628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plan must contain heartbeat → outage → SQL failover → reroute → verify → measure → fail back, in that order.</a:t>
            </a:r>
            <a:endParaRPr lang="en-US" sz="1200" dirty="0"/>
          </a:p>
        </p:txBody>
      </p:sp>
      <p:sp>
        <p:nvSpPr>
          <p:cNvPr id="14" name="Shape 10"/>
          <p:cNvSpPr/>
          <p:nvPr/>
        </p:nvSpPr>
        <p:spPr>
          <a:xfrm>
            <a:off x="804672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8275320" y="1828800"/>
            <a:ext cx="502920" cy="502920"/>
          </a:xfrm>
          <a:prstGeom prst="ellipse">
            <a:avLst/>
          </a:prstGeom>
          <a:solidFill>
            <a:srgbClr val="171721"/>
          </a:solidFill>
          <a:ln w="12700">
            <a:solidFill>
              <a:srgbClr val="171721"/>
            </a:solidFill>
            <a:prstDash val="solid"/>
          </a:ln>
        </p:spPr>
      </p:sp>
      <p:pic>
        <p:nvPicPr>
          <p:cNvPr id="16" name="Image 2" descr="preencoded.png">    </p:cNvPr>
          <p:cNvPicPr>
            <a:picLocks noChangeAspect="1"/>
          </p:cNvPicPr>
          <p:nvPr/>
        </p:nvPicPr>
        <p:blipFill>
          <a:blip r:embed="rId3"/>
          <a:stretch>
            <a:fillRect/>
          </a:stretch>
        </p:blipFill>
        <p:spPr>
          <a:xfrm>
            <a:off x="8401050" y="1954530"/>
            <a:ext cx="251460" cy="251460"/>
          </a:xfrm>
          <a:prstGeom prst="rect">
            <a:avLst/>
          </a:prstGeom>
        </p:spPr>
      </p:pic>
      <p:sp>
        <p:nvSpPr>
          <p:cNvPr id="17" name="Text 12"/>
          <p:cNvSpPr txBox="1"/>
          <p:nvPr/>
        </p:nvSpPr>
        <p:spPr>
          <a:xfrm>
            <a:off x="891540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Human approval gates</a:t>
            </a:r>
            <a:endParaRPr lang="en-US" sz="1500" dirty="0"/>
          </a:p>
        </p:txBody>
      </p:sp>
      <p:sp>
        <p:nvSpPr>
          <p:cNvPr id="18" name="Text 13"/>
          <p:cNvSpPr txBox="1"/>
          <p:nvPr/>
        </p:nvSpPr>
        <p:spPr>
          <a:xfrm>
            <a:off x="827532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The plan, the forced database failover, the failback and any Validator fix wait for a named approver.</a:t>
            </a:r>
            <a:endParaRPr lang="en-US" sz="1200" dirty="0"/>
          </a:p>
        </p:txBody>
      </p:sp>
      <p:sp>
        <p:nvSpPr>
          <p:cNvPr id="19" name="Shape 14"/>
          <p:cNvSpPr/>
          <p:nvPr/>
        </p:nvSpPr>
        <p:spPr>
          <a:xfrm>
            <a:off x="54864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777240" y="3657600"/>
            <a:ext cx="502920" cy="502920"/>
          </a:xfrm>
          <a:prstGeom prst="ellipse">
            <a:avLst/>
          </a:prstGeom>
          <a:solidFill>
            <a:srgbClr val="171721"/>
          </a:solidFill>
          <a:ln w="12700">
            <a:solidFill>
              <a:srgbClr val="171721"/>
            </a:solidFill>
            <a:prstDash val="solid"/>
          </a:ln>
        </p:spPr>
      </p:sp>
      <p:pic>
        <p:nvPicPr>
          <p:cNvPr id="21" name="Image 3" descr="preencoded.png">    </p:cNvPr>
          <p:cNvPicPr>
            <a:picLocks noChangeAspect="1"/>
          </p:cNvPicPr>
          <p:nvPr/>
        </p:nvPicPr>
        <p:blipFill>
          <a:blip r:embed="rId4"/>
          <a:stretch>
            <a:fillRect/>
          </a:stretch>
        </p:blipFill>
        <p:spPr>
          <a:xfrm>
            <a:off x="902970" y="3783330"/>
            <a:ext cx="251460" cy="251460"/>
          </a:xfrm>
          <a:prstGeom prst="rect">
            <a:avLst/>
          </a:prstGeom>
        </p:spPr>
      </p:pic>
      <p:sp>
        <p:nvSpPr>
          <p:cNvPr id="22" name="Text 16"/>
          <p:cNvSpPr txBox="1"/>
          <p:nvPr/>
        </p:nvSpPr>
        <p:spPr>
          <a:xfrm>
            <a:off x="141732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Kill switch and rollback</a:t>
            </a:r>
            <a:endParaRPr lang="en-US" sz="1500" dirty="0"/>
          </a:p>
        </p:txBody>
      </p:sp>
      <p:sp>
        <p:nvSpPr>
          <p:cNvPr id="23" name="Text 17"/>
          <p:cNvSpPr txBox="1"/>
          <p:nvPr/>
        </p:nvSpPr>
        <p:spPr>
          <a:xfrm>
            <a:off x="77724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One click stops the drill; rollback restores the primary region and the database role.</a:t>
            </a:r>
            <a:endParaRPr lang="en-US" sz="1200" dirty="0"/>
          </a:p>
        </p:txBody>
      </p:sp>
      <p:sp>
        <p:nvSpPr>
          <p:cNvPr id="24" name="Shape 18"/>
          <p:cNvSpPr/>
          <p:nvPr/>
        </p:nvSpPr>
        <p:spPr>
          <a:xfrm>
            <a:off x="429768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5" name="Shape 19"/>
          <p:cNvSpPr/>
          <p:nvPr/>
        </p:nvSpPr>
        <p:spPr>
          <a:xfrm>
            <a:off x="4526280" y="3657600"/>
            <a:ext cx="502920" cy="502920"/>
          </a:xfrm>
          <a:prstGeom prst="ellipse">
            <a:avLst/>
          </a:prstGeom>
          <a:solidFill>
            <a:srgbClr val="171721"/>
          </a:solidFill>
          <a:ln w="12700">
            <a:solidFill>
              <a:srgbClr val="171721"/>
            </a:solidFill>
            <a:prstDash val="solid"/>
          </a:ln>
        </p:spPr>
      </p:sp>
      <p:pic>
        <p:nvPicPr>
          <p:cNvPr id="26" name="Image 4" descr="preencoded.png">    </p:cNvPr>
          <p:cNvPicPr>
            <a:picLocks noChangeAspect="1"/>
          </p:cNvPicPr>
          <p:nvPr/>
        </p:nvPicPr>
        <p:blipFill>
          <a:blip r:embed="rId5"/>
          <a:stretch>
            <a:fillRect/>
          </a:stretch>
        </p:blipFill>
        <p:spPr>
          <a:xfrm>
            <a:off x="4652010" y="3783330"/>
            <a:ext cx="251460" cy="251460"/>
          </a:xfrm>
          <a:prstGeom prst="rect">
            <a:avLst/>
          </a:prstGeom>
        </p:spPr>
      </p:pic>
      <p:sp>
        <p:nvSpPr>
          <p:cNvPr id="27" name="Text 20"/>
          <p:cNvSpPr txBox="1"/>
          <p:nvPr/>
        </p:nvSpPr>
        <p:spPr>
          <a:xfrm>
            <a:off x="516636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Fallback for every agent</a:t>
            </a:r>
            <a:endParaRPr lang="en-US" sz="1500" dirty="0"/>
          </a:p>
        </p:txBody>
      </p:sp>
      <p:sp>
        <p:nvSpPr>
          <p:cNvPr id="28" name="Text 21"/>
          <p:cNvSpPr txBox="1"/>
          <p:nvPr/>
        </p:nvSpPr>
        <p:spPr>
          <a:xfrm>
            <a:off x="452628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Foundry agent → model deployment → deterministic rules. The screen shows which one answered.</a:t>
            </a:r>
            <a:endParaRPr lang="en-US" sz="1200" dirty="0"/>
          </a:p>
        </p:txBody>
      </p:sp>
      <p:sp>
        <p:nvSpPr>
          <p:cNvPr id="29" name="Shape 22"/>
          <p:cNvSpPr/>
          <p:nvPr/>
        </p:nvSpPr>
        <p:spPr>
          <a:xfrm>
            <a:off x="804672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0" name="Shape 23"/>
          <p:cNvSpPr/>
          <p:nvPr/>
        </p:nvSpPr>
        <p:spPr>
          <a:xfrm>
            <a:off x="8275320" y="3657600"/>
            <a:ext cx="502920" cy="502920"/>
          </a:xfrm>
          <a:prstGeom prst="ellipse">
            <a:avLst/>
          </a:prstGeom>
          <a:solidFill>
            <a:srgbClr val="171721"/>
          </a:solidFill>
          <a:ln w="12700">
            <a:solidFill>
              <a:srgbClr val="171721"/>
            </a:solidFill>
            <a:prstDash val="solid"/>
          </a:ln>
        </p:spPr>
      </p:sp>
      <p:pic>
        <p:nvPicPr>
          <p:cNvPr id="31" name="Image 5" descr="preencoded.png">    </p:cNvPr>
          <p:cNvPicPr>
            <a:picLocks noChangeAspect="1"/>
          </p:cNvPicPr>
          <p:nvPr/>
        </p:nvPicPr>
        <p:blipFill>
          <a:blip r:embed="rId6"/>
          <a:stretch>
            <a:fillRect/>
          </a:stretch>
        </p:blipFill>
        <p:spPr>
          <a:xfrm>
            <a:off x="8401050" y="3783330"/>
            <a:ext cx="251460" cy="251460"/>
          </a:xfrm>
          <a:prstGeom prst="rect">
            <a:avLst/>
          </a:prstGeom>
        </p:spPr>
      </p:pic>
      <p:sp>
        <p:nvSpPr>
          <p:cNvPr id="32" name="Text 24"/>
          <p:cNvSpPr txBox="1"/>
          <p:nvPr/>
        </p:nvSpPr>
        <p:spPr>
          <a:xfrm>
            <a:off x="891540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Full audit trail</a:t>
            </a:r>
            <a:endParaRPr lang="en-US" sz="1500" dirty="0"/>
          </a:p>
        </p:txBody>
      </p:sp>
      <p:sp>
        <p:nvSpPr>
          <p:cNvPr id="33" name="Text 25"/>
          <p:cNvSpPr txBox="1"/>
          <p:nvPr/>
        </p:nvSpPr>
        <p:spPr>
          <a:xfrm>
            <a:off x="827532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event, approval and measurement is timestamped and stored, then written into the report.</a:t>
            </a:r>
            <a:endParaRPr lang="en-US" sz="1200" dirty="0"/>
          </a:p>
        </p:txBody>
      </p:sp>
      <p:sp>
        <p:nvSpPr>
          <p:cNvPr id="34" name="Shape 26"/>
          <p:cNvSpPr/>
          <p:nvPr/>
        </p:nvSpPr>
        <p:spPr>
          <a:xfrm>
            <a:off x="548640" y="5349240"/>
            <a:ext cx="11064240" cy="914400"/>
          </a:xfrm>
          <a:prstGeom prst="roundRect">
            <a:avLst>
              <a:gd name="adj" fmla="val 8000"/>
            </a:avLst>
          </a:prstGeom>
          <a:solidFill>
            <a:srgbClr val="171721"/>
          </a:solidFill>
          <a:ln w="12700">
            <a:solidFill>
              <a:srgbClr val="171721"/>
            </a:solidFill>
            <a:prstDash val="solid"/>
          </a:ln>
        </p:spPr>
      </p:sp>
      <p:sp>
        <p:nvSpPr>
          <p:cNvPr id="35" name="Text 27"/>
          <p:cNvSpPr txBox="1"/>
          <p:nvPr/>
        </p:nvSpPr>
        <p:spPr>
          <a:xfrm>
            <a:off x="777240" y="5349240"/>
            <a:ext cx="1060704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Proven in a chaos drill: </a:t>
            </a:r>
            <a:pPr indent="0" marL="0">
              <a:buNone/>
            </a:pPr>
            <a:r>
              <a:rPr lang="en-US" sz="1400" dirty="0">
                <a:solidFill>
                  <a:srgbClr val="C9C3E6"/>
                </a:solidFill>
                <a:latin typeface="Calibri" pitchFamily="34" charset="0"/>
                <a:ea typeface="Calibri" pitchFamily="34" charset="-122"/>
                <a:cs typeface="Calibri" pitchFamily="34" charset="-120"/>
              </a:rPr>
              <a:t>we disabled the DR traffic endpoint mid-failover. The Validator diagnosed it from live probes, proposed the allowlisted fix, a human approved, and recovery completed in 57.4 s.</a:t>
            </a:r>
            <a:endParaRPr lang="en-US" sz="1400" dirty="0"/>
          </a:p>
        </p:txBody>
      </p:sp>
      <p:sp>
        <p:nvSpPr>
          <p:cNvPr id="36" name="Text 28"/>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Architecture: 100% Azure, across an Azure paired region</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East Asia (primary) and Southeast Asia (DR). The control plane runs outside both, in South India, so it survives the disaster it manages.</a:t>
            </a:r>
            <a:endParaRPr lang="en-US" sz="1500" dirty="0"/>
          </a:p>
        </p:txBody>
      </p:sp>
      <p:pic>
        <p:nvPicPr>
          <p:cNvPr id="4" name="Image 0" descr="docs/deck/architecture-deck.png">    </p:cNvPr>
          <p:cNvPicPr>
            <a:picLocks noChangeAspect="1"/>
          </p:cNvPicPr>
          <p:nvPr/>
        </p:nvPicPr>
        <p:blipFill>
          <a:blip r:embed="rId1"/>
          <a:stretch>
            <a:fillRect/>
          </a:stretch>
        </p:blipFill>
        <p:spPr>
          <a:xfrm>
            <a:off x="548640" y="1508760"/>
            <a:ext cx="11064240" cy="4552474"/>
          </a:xfrm>
          <a:prstGeom prst="rect">
            <a:avLst/>
          </a:prstGeom>
        </p:spPr>
      </p:pic>
      <p:sp>
        <p:nvSpPr>
          <p:cNvPr id="5" name="Shape 2"/>
          <p:cNvSpPr/>
          <p:nvPr/>
        </p:nvSpPr>
        <p:spPr>
          <a:xfrm>
            <a:off x="548640" y="6144768"/>
            <a:ext cx="1170432" cy="292608"/>
          </a:xfrm>
          <a:prstGeom prst="roundRect">
            <a:avLst>
              <a:gd name="adj" fmla="val 18750"/>
            </a:avLst>
          </a:prstGeom>
          <a:solidFill>
            <a:srgbClr val="EFE9FF"/>
          </a:solidFill>
          <a:ln w="12700">
            <a:solidFill>
              <a:srgbClr val="EFE9FF"/>
            </a:solidFill>
            <a:prstDash val="solid"/>
          </a:ln>
        </p:spPr>
      </p:sp>
      <p:sp>
        <p:nvSpPr>
          <p:cNvPr id="6" name="Text 3"/>
          <p:cNvSpPr txBox="1"/>
          <p:nvPr/>
        </p:nvSpPr>
        <p:spPr>
          <a:xfrm>
            <a:off x="54864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App Service ×2</a:t>
            </a:r>
            <a:endParaRPr lang="en-US" sz="850" dirty="0"/>
          </a:p>
        </p:txBody>
      </p:sp>
      <p:sp>
        <p:nvSpPr>
          <p:cNvPr id="7" name="Shape 4"/>
          <p:cNvSpPr/>
          <p:nvPr/>
        </p:nvSpPr>
        <p:spPr>
          <a:xfrm>
            <a:off x="1787652" y="6144768"/>
            <a:ext cx="1170432" cy="292608"/>
          </a:xfrm>
          <a:prstGeom prst="roundRect">
            <a:avLst>
              <a:gd name="adj" fmla="val 18750"/>
            </a:avLst>
          </a:prstGeom>
          <a:solidFill>
            <a:srgbClr val="EFE9FF"/>
          </a:solidFill>
          <a:ln w="12700">
            <a:solidFill>
              <a:srgbClr val="EFE9FF"/>
            </a:solidFill>
            <a:prstDash val="solid"/>
          </a:ln>
        </p:spPr>
      </p:sp>
      <p:sp>
        <p:nvSpPr>
          <p:cNvPr id="8" name="Text 5"/>
          <p:cNvSpPr txBox="1"/>
          <p:nvPr/>
        </p:nvSpPr>
        <p:spPr>
          <a:xfrm>
            <a:off x="178765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Azure SQL failover group</a:t>
            </a:r>
            <a:endParaRPr lang="en-US" sz="850" dirty="0"/>
          </a:p>
        </p:txBody>
      </p:sp>
      <p:sp>
        <p:nvSpPr>
          <p:cNvPr id="9" name="Shape 6"/>
          <p:cNvSpPr/>
          <p:nvPr/>
        </p:nvSpPr>
        <p:spPr>
          <a:xfrm>
            <a:off x="3026664" y="6144768"/>
            <a:ext cx="1170432" cy="292608"/>
          </a:xfrm>
          <a:prstGeom prst="roundRect">
            <a:avLst>
              <a:gd name="adj" fmla="val 18750"/>
            </a:avLst>
          </a:prstGeom>
          <a:solidFill>
            <a:srgbClr val="EFE9FF"/>
          </a:solidFill>
          <a:ln w="12700">
            <a:solidFill>
              <a:srgbClr val="EFE9FF"/>
            </a:solidFill>
            <a:prstDash val="solid"/>
          </a:ln>
        </p:spPr>
      </p:sp>
      <p:sp>
        <p:nvSpPr>
          <p:cNvPr id="10" name="Text 7"/>
          <p:cNvSpPr txBox="1"/>
          <p:nvPr/>
        </p:nvSpPr>
        <p:spPr>
          <a:xfrm>
            <a:off x="302666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Traffic Manager</a:t>
            </a:r>
            <a:endParaRPr lang="en-US" sz="850" dirty="0"/>
          </a:p>
        </p:txBody>
      </p:sp>
      <p:sp>
        <p:nvSpPr>
          <p:cNvPr id="11" name="Shape 8"/>
          <p:cNvSpPr/>
          <p:nvPr/>
        </p:nvSpPr>
        <p:spPr>
          <a:xfrm>
            <a:off x="4265676" y="6144768"/>
            <a:ext cx="1170432" cy="292608"/>
          </a:xfrm>
          <a:prstGeom prst="roundRect">
            <a:avLst>
              <a:gd name="adj" fmla="val 18750"/>
            </a:avLst>
          </a:prstGeom>
          <a:solidFill>
            <a:srgbClr val="EFE9FF"/>
          </a:solidFill>
          <a:ln w="12700">
            <a:solidFill>
              <a:srgbClr val="EFE9FF"/>
            </a:solidFill>
            <a:prstDash val="solid"/>
          </a:ln>
        </p:spPr>
      </p:sp>
      <p:sp>
        <p:nvSpPr>
          <p:cNvPr id="12" name="Text 9"/>
          <p:cNvSpPr txBox="1"/>
          <p:nvPr/>
        </p:nvSpPr>
        <p:spPr>
          <a:xfrm>
            <a:off x="426567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Site Recovery</a:t>
            </a:r>
            <a:endParaRPr lang="en-US" sz="850" dirty="0"/>
          </a:p>
        </p:txBody>
      </p:sp>
      <p:sp>
        <p:nvSpPr>
          <p:cNvPr id="13" name="Shape 10"/>
          <p:cNvSpPr/>
          <p:nvPr/>
        </p:nvSpPr>
        <p:spPr>
          <a:xfrm>
            <a:off x="5504688" y="6144768"/>
            <a:ext cx="1170432" cy="292608"/>
          </a:xfrm>
          <a:prstGeom prst="roundRect">
            <a:avLst>
              <a:gd name="adj" fmla="val 18750"/>
            </a:avLst>
          </a:prstGeom>
          <a:solidFill>
            <a:srgbClr val="EFE9FF"/>
          </a:solidFill>
          <a:ln w="12700">
            <a:solidFill>
              <a:srgbClr val="EFE9FF"/>
            </a:solidFill>
            <a:prstDash val="solid"/>
          </a:ln>
        </p:spPr>
      </p:sp>
      <p:sp>
        <p:nvSpPr>
          <p:cNvPr id="14" name="Text 11"/>
          <p:cNvSpPr txBox="1"/>
          <p:nvPr/>
        </p:nvSpPr>
        <p:spPr>
          <a:xfrm>
            <a:off x="5504688"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AI Foundry Agent Service</a:t>
            </a:r>
            <a:endParaRPr lang="en-US" sz="850" dirty="0"/>
          </a:p>
        </p:txBody>
      </p:sp>
      <p:sp>
        <p:nvSpPr>
          <p:cNvPr id="15" name="Shape 12"/>
          <p:cNvSpPr/>
          <p:nvPr/>
        </p:nvSpPr>
        <p:spPr>
          <a:xfrm>
            <a:off x="6743700" y="6144768"/>
            <a:ext cx="1170432" cy="292608"/>
          </a:xfrm>
          <a:prstGeom prst="roundRect">
            <a:avLst>
              <a:gd name="adj" fmla="val 18750"/>
            </a:avLst>
          </a:prstGeom>
          <a:solidFill>
            <a:srgbClr val="EFE9FF"/>
          </a:solidFill>
          <a:ln w="12700">
            <a:solidFill>
              <a:srgbClr val="EFE9FF"/>
            </a:solidFill>
            <a:prstDash val="solid"/>
          </a:ln>
        </p:spPr>
      </p:sp>
      <p:sp>
        <p:nvSpPr>
          <p:cNvPr id="16" name="Text 13"/>
          <p:cNvSpPr txBox="1"/>
          <p:nvPr/>
        </p:nvSpPr>
        <p:spPr>
          <a:xfrm>
            <a:off x="674370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Key Vault + managed identity</a:t>
            </a:r>
            <a:endParaRPr lang="en-US" sz="850" dirty="0"/>
          </a:p>
        </p:txBody>
      </p:sp>
      <p:sp>
        <p:nvSpPr>
          <p:cNvPr id="17" name="Shape 14"/>
          <p:cNvSpPr/>
          <p:nvPr/>
        </p:nvSpPr>
        <p:spPr>
          <a:xfrm>
            <a:off x="7982712" y="6144768"/>
            <a:ext cx="1170432" cy="292608"/>
          </a:xfrm>
          <a:prstGeom prst="roundRect">
            <a:avLst>
              <a:gd name="adj" fmla="val 18750"/>
            </a:avLst>
          </a:prstGeom>
          <a:solidFill>
            <a:srgbClr val="EFE9FF"/>
          </a:solidFill>
          <a:ln w="12700">
            <a:solidFill>
              <a:srgbClr val="EFE9FF"/>
            </a:solidFill>
            <a:prstDash val="solid"/>
          </a:ln>
        </p:spPr>
      </p:sp>
      <p:sp>
        <p:nvSpPr>
          <p:cNvPr id="18" name="Text 15"/>
          <p:cNvSpPr txBox="1"/>
          <p:nvPr/>
        </p:nvSpPr>
        <p:spPr>
          <a:xfrm>
            <a:off x="798271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Storage</a:t>
            </a:r>
            <a:endParaRPr lang="en-US" sz="850" dirty="0"/>
          </a:p>
        </p:txBody>
      </p:sp>
      <p:sp>
        <p:nvSpPr>
          <p:cNvPr id="19" name="Shape 16"/>
          <p:cNvSpPr/>
          <p:nvPr/>
        </p:nvSpPr>
        <p:spPr>
          <a:xfrm>
            <a:off x="9221724" y="6144768"/>
            <a:ext cx="1170432" cy="292608"/>
          </a:xfrm>
          <a:prstGeom prst="roundRect">
            <a:avLst>
              <a:gd name="adj" fmla="val 18750"/>
            </a:avLst>
          </a:prstGeom>
          <a:solidFill>
            <a:srgbClr val="EFE9FF"/>
          </a:solidFill>
          <a:ln w="12700">
            <a:solidFill>
              <a:srgbClr val="EFE9FF"/>
            </a:solidFill>
            <a:prstDash val="solid"/>
          </a:ln>
        </p:spPr>
      </p:sp>
      <p:sp>
        <p:nvSpPr>
          <p:cNvPr id="20" name="Text 17"/>
          <p:cNvSpPr txBox="1"/>
          <p:nvPr/>
        </p:nvSpPr>
        <p:spPr>
          <a:xfrm>
            <a:off x="922172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Monitor + App Insights</a:t>
            </a:r>
            <a:endParaRPr lang="en-US" sz="850" dirty="0"/>
          </a:p>
        </p:txBody>
      </p:sp>
      <p:sp>
        <p:nvSpPr>
          <p:cNvPr id="21" name="Shape 18"/>
          <p:cNvSpPr/>
          <p:nvPr/>
        </p:nvSpPr>
        <p:spPr>
          <a:xfrm>
            <a:off x="10460736" y="6144768"/>
            <a:ext cx="1170432" cy="292608"/>
          </a:xfrm>
          <a:prstGeom prst="roundRect">
            <a:avLst>
              <a:gd name="adj" fmla="val 18750"/>
            </a:avLst>
          </a:prstGeom>
          <a:solidFill>
            <a:srgbClr val="EFE9FF"/>
          </a:solidFill>
          <a:ln w="12700">
            <a:solidFill>
              <a:srgbClr val="EFE9FF"/>
            </a:solidFill>
            <a:prstDash val="solid"/>
          </a:ln>
        </p:spPr>
      </p:sp>
      <p:sp>
        <p:nvSpPr>
          <p:cNvPr id="22" name="Text 19"/>
          <p:cNvSpPr txBox="1"/>
          <p:nvPr/>
        </p:nvSpPr>
        <p:spPr>
          <a:xfrm>
            <a:off x="1046073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Bicep: one-click up / down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Measured on live Azure, not assumed</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Real failovers of the payments service, East Asia → Southeast Asia, 17–18 Oct 2026. Target: RTO 30 min, RPO 15 min.</a:t>
            </a:r>
            <a:endParaRPr lang="en-US" sz="1500" dirty="0"/>
          </a:p>
        </p:txBody>
      </p:sp>
      <p:sp>
        <p:nvSpPr>
          <p:cNvPr id="4" name="Shape 2"/>
          <p:cNvSpPr/>
          <p:nvPr/>
        </p:nvSpPr>
        <p:spPr>
          <a:xfrm>
            <a:off x="548640"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34.35 s</a:t>
            </a:r>
            <a:endParaRPr lang="en-US" sz="3000" dirty="0"/>
          </a:p>
        </p:txBody>
      </p:sp>
      <p:sp>
        <p:nvSpPr>
          <p:cNvPr id="6" name="Text 4"/>
          <p:cNvSpPr txBox="1"/>
          <p:nvPr/>
        </p:nvSpPr>
        <p:spPr>
          <a:xfrm>
            <a:off x="731520"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RTO, latest drill</a:t>
            </a:r>
            <a:endParaRPr lang="en-US" sz="1300" dirty="0"/>
          </a:p>
        </p:txBody>
      </p:sp>
      <p:sp>
        <p:nvSpPr>
          <p:cNvPr id="7" name="Text 5"/>
          <p:cNvSpPr txBox="1"/>
          <p:nvPr/>
        </p:nvSpPr>
        <p:spPr>
          <a:xfrm>
            <a:off x="731520"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29.6–40.4 s across 8 drills (median 33.5 s)</a:t>
            </a:r>
            <a:endParaRPr lang="en-US" sz="1100" dirty="0"/>
          </a:p>
        </p:txBody>
      </p:sp>
      <p:sp>
        <p:nvSpPr>
          <p:cNvPr id="8" name="Shape 6"/>
          <p:cNvSpPr/>
          <p:nvPr/>
        </p:nvSpPr>
        <p:spPr>
          <a:xfrm>
            <a:off x="3346704"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529584"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0 s</a:t>
            </a:r>
            <a:endParaRPr lang="en-US" sz="3000" dirty="0"/>
          </a:p>
        </p:txBody>
      </p:sp>
      <p:sp>
        <p:nvSpPr>
          <p:cNvPr id="10" name="Text 8"/>
          <p:cNvSpPr txBox="1"/>
          <p:nvPr/>
        </p:nvSpPr>
        <p:spPr>
          <a:xfrm>
            <a:off x="3529584"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RPO, every drill</a:t>
            </a:r>
            <a:endParaRPr lang="en-US" sz="1300" dirty="0"/>
          </a:p>
        </p:txBody>
      </p:sp>
      <p:sp>
        <p:nvSpPr>
          <p:cNvPr id="11" name="Text 9"/>
          <p:cNvSpPr txBox="1"/>
          <p:nvPr/>
        </p:nvSpPr>
        <p:spPr>
          <a:xfrm>
            <a:off x="3529584"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no confirmed payment lost (1 s heartbeat proof)</a:t>
            </a:r>
            <a:endParaRPr lang="en-US" sz="1100" dirty="0"/>
          </a:p>
        </p:txBody>
      </p:sp>
      <p:sp>
        <p:nvSpPr>
          <p:cNvPr id="12" name="Shape 10"/>
          <p:cNvSpPr/>
          <p:nvPr/>
        </p:nvSpPr>
        <p:spPr>
          <a:xfrm>
            <a:off x="6144768"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327648"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3 min 14 s</a:t>
            </a:r>
            <a:endParaRPr lang="en-US" sz="3000" dirty="0"/>
          </a:p>
        </p:txBody>
      </p:sp>
      <p:sp>
        <p:nvSpPr>
          <p:cNvPr id="14" name="Text 12"/>
          <p:cNvSpPr txBox="1"/>
          <p:nvPr/>
        </p:nvSpPr>
        <p:spPr>
          <a:xfrm>
            <a:off x="6327648"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Failback to primary</a:t>
            </a:r>
            <a:endParaRPr lang="en-US" sz="1300" dirty="0"/>
          </a:p>
        </p:txBody>
      </p:sp>
      <p:sp>
        <p:nvSpPr>
          <p:cNvPr id="15" name="Text 13"/>
          <p:cNvSpPr txBox="1"/>
          <p:nvPr/>
        </p:nvSpPr>
        <p:spPr>
          <a:xfrm>
            <a:off x="6327648"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planned, no data loss</a:t>
            </a:r>
            <a:endParaRPr lang="en-US" sz="1100" dirty="0"/>
          </a:p>
        </p:txBody>
      </p:sp>
      <p:sp>
        <p:nvSpPr>
          <p:cNvPr id="16" name="Shape 14"/>
          <p:cNvSpPr/>
          <p:nvPr/>
        </p:nvSpPr>
        <p:spPr>
          <a:xfrm>
            <a:off x="8942832"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9125712"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5 min 45 s</a:t>
            </a:r>
            <a:endParaRPr lang="en-US" sz="3000" dirty="0"/>
          </a:p>
        </p:txBody>
      </p:sp>
      <p:sp>
        <p:nvSpPr>
          <p:cNvPr id="18" name="Text 16"/>
          <p:cNvSpPr txBox="1"/>
          <p:nvPr/>
        </p:nvSpPr>
        <p:spPr>
          <a:xfrm>
            <a:off x="9125712"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VM recovered by Site Recovery</a:t>
            </a:r>
            <a:endParaRPr lang="en-US" sz="1300" dirty="0"/>
          </a:p>
        </p:txBody>
      </p:sp>
      <p:sp>
        <p:nvSpPr>
          <p:cNvPr id="19" name="Text 17"/>
          <p:cNvSpPr txBox="1"/>
          <p:nvPr/>
        </p:nvSpPr>
        <p:spPr>
          <a:xfrm>
            <a:off x="9125712"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proven by a command inside the VM</a:t>
            </a:r>
            <a:endParaRPr lang="en-US" sz="1100" dirty="0"/>
          </a:p>
        </p:txBody>
      </p:sp>
      <p:sp>
        <p:nvSpPr>
          <p:cNvPr id="20" name="Text 18"/>
          <p:cNvSpPr txBox="1"/>
          <p:nvPr/>
        </p:nvSpPr>
        <p:spPr>
          <a:xfrm>
            <a:off x="548640" y="3566160"/>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Where the 34.35 s went (latest drill, one clock, segments add up exactly)</a:t>
            </a:r>
            <a:endParaRPr lang="en-US" sz="1400" dirty="0"/>
          </a:p>
        </p:txBody>
      </p:sp>
      <p:sp>
        <p:nvSpPr>
          <p:cNvPr id="21" name="Shape 19"/>
          <p:cNvSpPr/>
          <p:nvPr/>
        </p:nvSpPr>
        <p:spPr>
          <a:xfrm>
            <a:off x="548640" y="3977640"/>
            <a:ext cx="167157" cy="457200"/>
          </a:xfrm>
          <a:prstGeom prst="rect">
            <a:avLst/>
          </a:prstGeom>
          <a:solidFill>
            <a:srgbClr val="9F86FF"/>
          </a:solidFill>
          <a:ln w="12700">
            <a:solidFill>
              <a:srgbClr val="FFFFFF"/>
            </a:solidFill>
            <a:prstDash val="solid"/>
          </a:ln>
        </p:spPr>
      </p:sp>
      <p:sp>
        <p:nvSpPr>
          <p:cNvPr id="22" name="Shape 20"/>
          <p:cNvSpPr/>
          <p:nvPr/>
        </p:nvSpPr>
        <p:spPr>
          <a:xfrm>
            <a:off x="715797" y="3977640"/>
            <a:ext cx="4945461" cy="457200"/>
          </a:xfrm>
          <a:prstGeom prst="rect">
            <a:avLst/>
          </a:prstGeom>
          <a:solidFill>
            <a:srgbClr val="5E2CFE"/>
          </a:solidFill>
          <a:ln w="12700">
            <a:solidFill>
              <a:srgbClr val="FFFFFF"/>
            </a:solidFill>
            <a:prstDash val="solid"/>
          </a:ln>
        </p:spPr>
      </p:sp>
      <p:sp>
        <p:nvSpPr>
          <p:cNvPr id="23" name="Text 21"/>
          <p:cNvSpPr txBox="1"/>
          <p:nvPr/>
        </p:nvSpPr>
        <p:spPr>
          <a:xfrm>
            <a:off x="715797" y="3977640"/>
            <a:ext cx="4945461"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15.355 s</a:t>
            </a:r>
            <a:endParaRPr lang="en-US" sz="1200" dirty="0"/>
          </a:p>
        </p:txBody>
      </p:sp>
      <p:sp>
        <p:nvSpPr>
          <p:cNvPr id="24" name="Shape 22"/>
          <p:cNvSpPr/>
          <p:nvPr/>
        </p:nvSpPr>
        <p:spPr>
          <a:xfrm>
            <a:off x="5661257" y="3977640"/>
            <a:ext cx="1905395" cy="457200"/>
          </a:xfrm>
          <a:prstGeom prst="rect">
            <a:avLst/>
          </a:prstGeom>
          <a:solidFill>
            <a:srgbClr val="C105B2"/>
          </a:solidFill>
          <a:ln w="12700">
            <a:solidFill>
              <a:srgbClr val="FFFFFF"/>
            </a:solidFill>
            <a:prstDash val="solid"/>
          </a:ln>
        </p:spPr>
      </p:sp>
      <p:sp>
        <p:nvSpPr>
          <p:cNvPr id="25" name="Text 23"/>
          <p:cNvSpPr txBox="1"/>
          <p:nvPr/>
        </p:nvSpPr>
        <p:spPr>
          <a:xfrm>
            <a:off x="5661257" y="3977640"/>
            <a:ext cx="1905395"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5.916 s</a:t>
            </a:r>
            <a:endParaRPr lang="en-US" sz="1200" dirty="0"/>
          </a:p>
        </p:txBody>
      </p:sp>
      <p:sp>
        <p:nvSpPr>
          <p:cNvPr id="26" name="Shape 24"/>
          <p:cNvSpPr/>
          <p:nvPr/>
        </p:nvSpPr>
        <p:spPr>
          <a:xfrm>
            <a:off x="7566653" y="3977640"/>
            <a:ext cx="3742189" cy="457200"/>
          </a:xfrm>
          <a:prstGeom prst="rect">
            <a:avLst/>
          </a:prstGeom>
          <a:solidFill>
            <a:srgbClr val="7C5CFF"/>
          </a:solidFill>
          <a:ln w="12700">
            <a:solidFill>
              <a:srgbClr val="FFFFFF"/>
            </a:solidFill>
            <a:prstDash val="solid"/>
          </a:ln>
        </p:spPr>
      </p:sp>
      <p:sp>
        <p:nvSpPr>
          <p:cNvPr id="27" name="Text 25"/>
          <p:cNvSpPr txBox="1"/>
          <p:nvPr/>
        </p:nvSpPr>
        <p:spPr>
          <a:xfrm>
            <a:off x="7566653" y="3977640"/>
            <a:ext cx="3742189"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11.619 s</a:t>
            </a:r>
            <a:endParaRPr lang="en-US" sz="1200" dirty="0"/>
          </a:p>
        </p:txBody>
      </p:sp>
      <p:sp>
        <p:nvSpPr>
          <p:cNvPr id="28" name="Shape 26"/>
          <p:cNvSpPr/>
          <p:nvPr/>
        </p:nvSpPr>
        <p:spPr>
          <a:xfrm>
            <a:off x="11308841" y="3977640"/>
            <a:ext cx="304039" cy="457200"/>
          </a:xfrm>
          <a:prstGeom prst="rect">
            <a:avLst/>
          </a:prstGeom>
          <a:solidFill>
            <a:srgbClr val="BDBDC7"/>
          </a:solidFill>
          <a:ln w="12700">
            <a:solidFill>
              <a:srgbClr val="FFFFFF"/>
            </a:solidFill>
            <a:prstDash val="solid"/>
          </a:ln>
        </p:spPr>
      </p:sp>
      <p:sp>
        <p:nvSpPr>
          <p:cNvPr id="29" name="Shape 27"/>
          <p:cNvSpPr/>
          <p:nvPr/>
        </p:nvSpPr>
        <p:spPr>
          <a:xfrm>
            <a:off x="548640" y="4617720"/>
            <a:ext cx="164592" cy="164592"/>
          </a:xfrm>
          <a:prstGeom prst="rect">
            <a:avLst/>
          </a:prstGeom>
          <a:solidFill>
            <a:srgbClr val="9F86FF"/>
          </a:solidFill>
          <a:ln w="12700">
            <a:solidFill>
              <a:srgbClr val="9F86FF"/>
            </a:solidFill>
            <a:prstDash val="solid"/>
          </a:ln>
        </p:spPr>
      </p:sp>
      <p:sp>
        <p:nvSpPr>
          <p:cNvPr id="30" name="Text 28"/>
          <p:cNvSpPr txBox="1"/>
          <p:nvPr/>
        </p:nvSpPr>
        <p:spPr>
          <a:xfrm>
            <a:off x="777240"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Outage injected  0.519 s</a:t>
            </a:r>
            <a:endParaRPr lang="en-US" sz="1050" dirty="0"/>
          </a:p>
        </p:txBody>
      </p:sp>
      <p:sp>
        <p:nvSpPr>
          <p:cNvPr id="31" name="Shape 29"/>
          <p:cNvSpPr/>
          <p:nvPr/>
        </p:nvSpPr>
        <p:spPr>
          <a:xfrm>
            <a:off x="2761488" y="4617720"/>
            <a:ext cx="164592" cy="164592"/>
          </a:xfrm>
          <a:prstGeom prst="rect">
            <a:avLst/>
          </a:prstGeom>
          <a:solidFill>
            <a:srgbClr val="5E2CFE"/>
          </a:solidFill>
          <a:ln w="12700">
            <a:solidFill>
              <a:srgbClr val="5E2CFE"/>
            </a:solidFill>
            <a:prstDash val="solid"/>
          </a:ln>
        </p:spPr>
      </p:sp>
      <p:sp>
        <p:nvSpPr>
          <p:cNvPr id="32" name="Text 30"/>
          <p:cNvSpPr txBox="1"/>
          <p:nvPr/>
        </p:nvSpPr>
        <p:spPr>
          <a:xfrm>
            <a:off x="2990088"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SQL forced failover  15.355 s</a:t>
            </a:r>
            <a:endParaRPr lang="en-US" sz="1050" dirty="0"/>
          </a:p>
        </p:txBody>
      </p:sp>
      <p:sp>
        <p:nvSpPr>
          <p:cNvPr id="33" name="Shape 31"/>
          <p:cNvSpPr/>
          <p:nvPr/>
        </p:nvSpPr>
        <p:spPr>
          <a:xfrm>
            <a:off x="4974336" y="4617720"/>
            <a:ext cx="164592" cy="164592"/>
          </a:xfrm>
          <a:prstGeom prst="rect">
            <a:avLst/>
          </a:prstGeom>
          <a:solidFill>
            <a:srgbClr val="C105B2"/>
          </a:solidFill>
          <a:ln w="12700">
            <a:solidFill>
              <a:srgbClr val="C105B2"/>
            </a:solidFill>
            <a:prstDash val="solid"/>
          </a:ln>
        </p:spPr>
      </p:sp>
      <p:sp>
        <p:nvSpPr>
          <p:cNvPr id="34" name="Text 32"/>
          <p:cNvSpPr txBox="1"/>
          <p:nvPr/>
        </p:nvSpPr>
        <p:spPr>
          <a:xfrm>
            <a:off x="5202936"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Traffic Manager reroute  5.916 s</a:t>
            </a:r>
            <a:endParaRPr lang="en-US" sz="1050" dirty="0"/>
          </a:p>
        </p:txBody>
      </p:sp>
      <p:sp>
        <p:nvSpPr>
          <p:cNvPr id="35" name="Shape 33"/>
          <p:cNvSpPr/>
          <p:nvPr/>
        </p:nvSpPr>
        <p:spPr>
          <a:xfrm>
            <a:off x="7187184" y="4617720"/>
            <a:ext cx="164592" cy="164592"/>
          </a:xfrm>
          <a:prstGeom prst="rect">
            <a:avLst/>
          </a:prstGeom>
          <a:solidFill>
            <a:srgbClr val="7C5CFF"/>
          </a:solidFill>
          <a:ln w="12700">
            <a:solidFill>
              <a:srgbClr val="7C5CFF"/>
            </a:solidFill>
            <a:prstDash val="solid"/>
          </a:ln>
        </p:spPr>
      </p:sp>
      <p:sp>
        <p:nvSpPr>
          <p:cNvPr id="36" name="Text 34"/>
          <p:cNvSpPr txBox="1"/>
          <p:nvPr/>
        </p:nvSpPr>
        <p:spPr>
          <a:xfrm>
            <a:off x="7415784"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DNS + health checks reach DR  11.619 s</a:t>
            </a:r>
            <a:endParaRPr lang="en-US" sz="1050" dirty="0"/>
          </a:p>
        </p:txBody>
      </p:sp>
      <p:sp>
        <p:nvSpPr>
          <p:cNvPr id="37" name="Shape 35"/>
          <p:cNvSpPr/>
          <p:nvPr/>
        </p:nvSpPr>
        <p:spPr>
          <a:xfrm>
            <a:off x="9400032" y="4617720"/>
            <a:ext cx="164592" cy="164592"/>
          </a:xfrm>
          <a:prstGeom prst="rect">
            <a:avLst/>
          </a:prstGeom>
          <a:solidFill>
            <a:srgbClr val="BDBDC7"/>
          </a:solidFill>
          <a:ln w="12700">
            <a:solidFill>
              <a:srgbClr val="BDBDC7"/>
            </a:solidFill>
            <a:prstDash val="solid"/>
          </a:ln>
        </p:spPr>
      </p:sp>
      <p:sp>
        <p:nvSpPr>
          <p:cNvPr id="38" name="Text 36"/>
          <p:cNvSpPr txBox="1"/>
          <p:nvPr/>
        </p:nvSpPr>
        <p:spPr>
          <a:xfrm>
            <a:off x="9628632"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Engine bookkeeping  0.944 s</a:t>
            </a:r>
            <a:endParaRPr lang="en-US" sz="1050" dirty="0"/>
          </a:p>
        </p:txBody>
      </p:sp>
      <p:sp>
        <p:nvSpPr>
          <p:cNvPr id="39" name="Shape 37"/>
          <p:cNvSpPr/>
          <p:nvPr/>
        </p:nvSpPr>
        <p:spPr>
          <a:xfrm>
            <a:off x="548640" y="5120640"/>
            <a:ext cx="11064240" cy="1143000"/>
          </a:xfrm>
          <a:prstGeom prst="roundRect">
            <a:avLst>
              <a:gd name="adj" fmla="val 6400"/>
            </a:avLst>
          </a:prstGeom>
          <a:solidFill>
            <a:srgbClr val="EFE9FF"/>
          </a:solidFill>
          <a:ln w="12700">
            <a:solidFill>
              <a:srgbClr val="EFE9FF"/>
            </a:solidFill>
            <a:prstDash val="solid"/>
          </a:ln>
        </p:spPr>
      </p:sp>
      <p:sp>
        <p:nvSpPr>
          <p:cNvPr id="40" name="Text 38"/>
          <p:cNvSpPr txBox="1"/>
          <p:nvPr/>
        </p:nvSpPr>
        <p:spPr>
          <a:xfrm>
            <a:off x="777240" y="5120640"/>
            <a:ext cx="10607040" cy="1143000"/>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Why judges can trust the numbers: </a:t>
            </a:r>
            <a:pPr indent="0" marL="0">
              <a:buNone/>
            </a:pPr>
            <a:r>
              <a:rPr lang="en-US" sz="1250" dirty="0">
                <a:solidFill>
                  <a:srgbClr val="1B2635"/>
                </a:solidFill>
                <a:latin typeface="Calibri" pitchFamily="34" charset="0"/>
                <a:ea typeface="Calibri" pitchFamily="34" charset="-122"/>
                <a:cs typeface="Calibri" pitchFamily="34" charset="-120"/>
              </a:rPr>
              <a:t>RTO runs from the injected outage to the first healthy check through Traffic Manager (1 s probes; the previous failed check is shown as the precision window). RPO compares every confirmed heartbeat write with the rows that survived in the new primary. Chaos drill with a surprise fault: 57.4 s.</a:t>
            </a:r>
            <a:endParaRPr lang="en-US" sz="1250" dirty="0"/>
          </a:p>
        </p:txBody>
      </p:sp>
      <p:sp>
        <p:nvSpPr>
          <p:cNvPr id="41" name="Text 3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it costs to prove recovery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Actual Azure bills and list prices for what we built, compared with the cost of downtime.</a:t>
            </a:r>
            <a:endParaRPr lang="en-US" sz="1500" dirty="0"/>
          </a:p>
        </p:txBody>
      </p:sp>
      <p:sp>
        <p:nvSpPr>
          <p:cNvPr id="4" name="Shape 2"/>
          <p:cNvSpPr/>
          <p:nvPr/>
        </p:nvSpPr>
        <p:spPr>
          <a:xfrm>
            <a:off x="54864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₹8.33</a:t>
            </a:r>
            <a:endParaRPr lang="en-US" sz="4000" dirty="0"/>
          </a:p>
        </p:txBody>
      </p:sp>
      <p:sp>
        <p:nvSpPr>
          <p:cNvPr id="6" name="Text 4"/>
          <p:cNvSpPr txBox="1"/>
          <p:nvPr/>
        </p:nvSpPr>
        <p:spPr>
          <a:xfrm>
            <a:off x="82296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 AI agent calls</a:t>
            </a:r>
            <a:endParaRPr lang="en-US" sz="1500" dirty="0"/>
          </a:p>
        </p:txBody>
      </p:sp>
      <p:sp>
        <p:nvSpPr>
          <p:cNvPr id="7" name="Text 5"/>
          <p:cNvSpPr txBox="1"/>
          <p:nvPr/>
        </p:nvSpPr>
        <p:spPr>
          <a:xfrm>
            <a:off x="82296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every Foundry agent run across 2 days of building and 9 drills (Azure Cost Management) [13]</a:t>
            </a:r>
            <a:endParaRPr lang="en-US" sz="1150" dirty="0"/>
          </a:p>
        </p:txBody>
      </p:sp>
      <p:sp>
        <p:nvSpPr>
          <p:cNvPr id="8" name="Shape 6"/>
          <p:cNvSpPr/>
          <p:nvPr/>
        </p:nvSpPr>
        <p:spPr>
          <a:xfrm>
            <a:off x="429768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457200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₹234</a:t>
            </a:r>
            <a:endParaRPr lang="en-US" sz="4000" dirty="0"/>
          </a:p>
        </p:txBody>
      </p:sp>
      <p:sp>
        <p:nvSpPr>
          <p:cNvPr id="10" name="Text 8"/>
          <p:cNvSpPr txBox="1"/>
          <p:nvPr/>
        </p:nvSpPr>
        <p:spPr>
          <a:xfrm>
            <a:off x="457200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entire environment so far</a:t>
            </a:r>
            <a:endParaRPr lang="en-US" sz="1500" dirty="0"/>
          </a:p>
        </p:txBody>
      </p:sp>
      <p:sp>
        <p:nvSpPr>
          <p:cNvPr id="11" name="Text 9"/>
          <p:cNvSpPr txBox="1"/>
          <p:nvPr/>
        </p:nvSpPr>
        <p:spPr>
          <a:xfrm>
            <a:off x="457200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two regions, database, VM, console, monitoring: everything, 17–18 Oct 2026 [13]</a:t>
            </a:r>
            <a:endParaRPr lang="en-US" sz="1150" dirty="0"/>
          </a:p>
        </p:txBody>
      </p:sp>
      <p:sp>
        <p:nvSpPr>
          <p:cNvPr id="12" name="Shape 10"/>
          <p:cNvSpPr/>
          <p:nvPr/>
        </p:nvSpPr>
        <p:spPr>
          <a:xfrm>
            <a:off x="804672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32104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$38.26</a:t>
            </a:r>
            <a:endParaRPr lang="en-US" sz="4000" dirty="0"/>
          </a:p>
        </p:txBody>
      </p:sp>
      <p:sp>
        <p:nvSpPr>
          <p:cNvPr id="14" name="Text 12"/>
          <p:cNvSpPr txBox="1"/>
          <p:nvPr/>
        </p:nvSpPr>
        <p:spPr>
          <a:xfrm>
            <a:off x="832104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per month for the DR set-up</a:t>
            </a:r>
            <a:endParaRPr lang="en-US" sz="1500" dirty="0"/>
          </a:p>
        </p:txBody>
      </p:sp>
      <p:sp>
        <p:nvSpPr>
          <p:cNvPr id="15" name="Text 13"/>
          <p:cNvSpPr txBox="1"/>
          <p:nvPr/>
        </p:nvSpPr>
        <p:spPr>
          <a:xfrm>
            <a:off x="832104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both regions + Traffic Manager at Azure list prices (Retail Prices API) [14]</a:t>
            </a:r>
            <a:endParaRPr lang="en-US" sz="1150" dirty="0"/>
          </a:p>
        </p:txBody>
      </p:sp>
      <p:sp>
        <p:nvSpPr>
          <p:cNvPr id="16" name="Shape 14"/>
          <p:cNvSpPr/>
          <p:nvPr/>
        </p:nvSpPr>
        <p:spPr>
          <a:xfrm>
            <a:off x="548640" y="4160520"/>
            <a:ext cx="11064240" cy="1051560"/>
          </a:xfrm>
          <a:prstGeom prst="roundRect">
            <a:avLst>
              <a:gd name="adj" fmla="val 6957"/>
            </a:avLst>
          </a:prstGeom>
          <a:solidFill>
            <a:srgbClr val="171721"/>
          </a:solidFill>
          <a:ln w="12700">
            <a:solidFill>
              <a:srgbClr val="171721"/>
            </a:solidFill>
            <a:prstDash val="solid"/>
          </a:ln>
        </p:spPr>
      </p:sp>
      <p:sp>
        <p:nvSpPr>
          <p:cNvPr id="17" name="Text 15"/>
          <p:cNvSpPr txBox="1"/>
          <p:nvPr/>
        </p:nvSpPr>
        <p:spPr>
          <a:xfrm>
            <a:off x="777240" y="4160520"/>
            <a:ext cx="10607040" cy="10515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month of this DR set-up costs less than half a second of downtime </a:t>
            </a:r>
            <a:pPr indent="0" marL="0">
              <a:buNone/>
            </a:pPr>
            <a:r>
              <a:rPr lang="en-US" sz="1600" dirty="0">
                <a:solidFill>
                  <a:srgbClr val="C9C3E6"/>
                </a:solidFill>
                <a:latin typeface="Calibri" pitchFamily="34" charset="0"/>
                <a:ea typeface="Calibri" pitchFamily="34" charset="-122"/>
                <a:cs typeface="Calibri" pitchFamily="34" charset="-120"/>
              </a:rPr>
              <a:t>at the ITIC floor of $300,000 an hour ($38.26 ÷ $83.33 per second = 0.46 s). [1][14]</a:t>
            </a:r>
            <a:endParaRPr lang="en-US" sz="1600" dirty="0"/>
          </a:p>
        </p:txBody>
      </p:sp>
      <p:sp>
        <p:nvSpPr>
          <p:cNvPr id="18" name="Text 16"/>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Cost-aware by design: </a:t>
            </a:r>
            <a:pPr indent="0" marL="0">
              <a:buNone/>
            </a:pPr>
            <a:r>
              <a:rPr lang="en-US" sz="1300" dirty="0">
                <a:solidFill>
                  <a:srgbClr val="1B2635"/>
                </a:solidFill>
                <a:latin typeface="Calibri" pitchFamily="34" charset="0"/>
                <a:ea typeface="Calibri" pitchFamily="34" charset="-122"/>
                <a:cs typeface="Calibri" pitchFamily="34" charset="-120"/>
              </a:rPr>
              <a:t>the Architect prices every strategy from live Azure list prices and flags anything over budget; the whole environment is created and removed with one command (up.sh / down.sh), so nothing runs when it is not needed.</a:t>
            </a:r>
            <a:endParaRPr lang="en-US" sz="1300" dirty="0"/>
          </a:p>
        </p:txBody>
      </p:sp>
      <p:sp>
        <p:nvSpPr>
          <p:cNvPr id="19" name="Text 1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Live demo, and where it goes next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What you will see in the next minutes, on your own phone.</a:t>
            </a:r>
            <a:endParaRPr lang="en-US" sz="1500" dirty="0"/>
          </a:p>
        </p:txBody>
      </p:sp>
      <p:sp>
        <p:nvSpPr>
          <p:cNvPr id="4" name="Text 2"/>
          <p:cNvSpPr txBox="1"/>
          <p:nvPr/>
        </p:nvSpPr>
        <p:spPr>
          <a:xfrm>
            <a:off x="548640" y="1554480"/>
            <a:ext cx="54864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The demo</a:t>
            </a:r>
            <a:endParaRPr lang="en-US" sz="1800" dirty="0"/>
          </a:p>
        </p:txBody>
      </p:sp>
      <p:sp>
        <p:nvSpPr>
          <p:cNvPr id="5" name="Shape 3"/>
          <p:cNvSpPr/>
          <p:nvPr/>
        </p:nvSpPr>
        <p:spPr>
          <a:xfrm>
            <a:off x="548640" y="2057400"/>
            <a:ext cx="411480" cy="411480"/>
          </a:xfrm>
          <a:prstGeom prst="ellipse">
            <a:avLst/>
          </a:prstGeom>
          <a:solidFill>
            <a:srgbClr val="5E2CFE"/>
          </a:solidFill>
          <a:ln w="12700">
            <a:solidFill>
              <a:srgbClr val="5E2CFE"/>
            </a:solidFill>
            <a:prstDash val="solid"/>
          </a:ln>
        </p:spPr>
      </p:sp>
      <p:sp>
        <p:nvSpPr>
          <p:cNvPr id="6" name="Text 4"/>
          <p:cNvSpPr txBox="1"/>
          <p:nvPr/>
        </p:nvSpPr>
        <p:spPr>
          <a:xfrm>
            <a:off x="548640" y="2057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97280" y="2011680"/>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Scan the QR code: Contoso Payments opens on your phone; make a payment</a:t>
            </a:r>
            <a:endParaRPr lang="en-US" sz="1350" dirty="0"/>
          </a:p>
        </p:txBody>
      </p:sp>
      <p:sp>
        <p:nvSpPr>
          <p:cNvPr id="8" name="Shape 6"/>
          <p:cNvSpPr/>
          <p:nvPr/>
        </p:nvSpPr>
        <p:spPr>
          <a:xfrm>
            <a:off x="548640" y="2843784"/>
            <a:ext cx="411480" cy="411480"/>
          </a:xfrm>
          <a:prstGeom prst="ellipse">
            <a:avLst/>
          </a:prstGeom>
          <a:solidFill>
            <a:srgbClr val="5E2CFE"/>
          </a:solidFill>
          <a:ln w="12700">
            <a:solidFill>
              <a:srgbClr val="5E2CFE"/>
            </a:solidFill>
            <a:prstDash val="solid"/>
          </a:ln>
        </p:spPr>
      </p:sp>
      <p:sp>
        <p:nvSpPr>
          <p:cNvPr id="9" name="Text 7"/>
          <p:cNvSpPr txBox="1"/>
          <p:nvPr/>
        </p:nvSpPr>
        <p:spPr>
          <a:xfrm>
            <a:off x="548640" y="28437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97280" y="2798064"/>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Readiness says NO-GO: Southeast Asia is missing a setting; one approved click fixes it</a:t>
            </a:r>
            <a:endParaRPr lang="en-US" sz="1350" dirty="0"/>
          </a:p>
        </p:txBody>
      </p:sp>
      <p:sp>
        <p:nvSpPr>
          <p:cNvPr id="11" name="Shape 9"/>
          <p:cNvSpPr/>
          <p:nvPr/>
        </p:nvSpPr>
        <p:spPr>
          <a:xfrm>
            <a:off x="548640" y="3630168"/>
            <a:ext cx="411480" cy="411480"/>
          </a:xfrm>
          <a:prstGeom prst="ellipse">
            <a:avLst/>
          </a:prstGeom>
          <a:solidFill>
            <a:srgbClr val="5E2CFE"/>
          </a:solidFill>
          <a:ln w="12700">
            <a:solidFill>
              <a:srgbClr val="5E2CFE"/>
            </a:solidFill>
            <a:prstDash val="solid"/>
          </a:ln>
        </p:spPr>
      </p:sp>
      <p:sp>
        <p:nvSpPr>
          <p:cNvPr id="12" name="Text 10"/>
          <p:cNvSpPr txBox="1"/>
          <p:nvPr/>
        </p:nvSpPr>
        <p:spPr>
          <a:xfrm>
            <a:off x="548640" y="36301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097280" y="3584448"/>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The Planner builds the drill; we approve it and inject the outage</a:t>
            </a:r>
            <a:endParaRPr lang="en-US" sz="1350" dirty="0"/>
          </a:p>
        </p:txBody>
      </p:sp>
      <p:sp>
        <p:nvSpPr>
          <p:cNvPr id="14" name="Shape 12"/>
          <p:cNvSpPr/>
          <p:nvPr/>
        </p:nvSpPr>
        <p:spPr>
          <a:xfrm>
            <a:off x="548640" y="4416552"/>
            <a:ext cx="411480" cy="411480"/>
          </a:xfrm>
          <a:prstGeom prst="ellipse">
            <a:avLst/>
          </a:prstGeom>
          <a:solidFill>
            <a:srgbClr val="5E2CFE"/>
          </a:solidFill>
          <a:ln w="12700">
            <a:solidFill>
              <a:srgbClr val="5E2CFE"/>
            </a:solidFill>
            <a:prstDash val="solid"/>
          </a:ln>
        </p:spPr>
      </p:sp>
      <p:sp>
        <p:nvSpPr>
          <p:cNvPr id="15" name="Text 13"/>
          <p:cNvSpPr txBox="1"/>
          <p:nvPr/>
        </p:nvSpPr>
        <p:spPr>
          <a:xfrm>
            <a:off x="548640" y="44165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1097280" y="4370832"/>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Your phone goes red, then reconnects to Southeast Asia in ~30 s with the same balance</a:t>
            </a:r>
            <a:endParaRPr lang="en-US" sz="1350" dirty="0"/>
          </a:p>
        </p:txBody>
      </p:sp>
      <p:sp>
        <p:nvSpPr>
          <p:cNvPr id="17" name="Shape 15"/>
          <p:cNvSpPr/>
          <p:nvPr/>
        </p:nvSpPr>
        <p:spPr>
          <a:xfrm>
            <a:off x="548640" y="5202936"/>
            <a:ext cx="411480" cy="411480"/>
          </a:xfrm>
          <a:prstGeom prst="ellipse">
            <a:avLst/>
          </a:prstGeom>
          <a:solidFill>
            <a:srgbClr val="5E2CFE"/>
          </a:solidFill>
          <a:ln w="12700">
            <a:solidFill>
              <a:srgbClr val="5E2CFE"/>
            </a:solidFill>
            <a:prstDash val="solid"/>
          </a:ln>
        </p:spPr>
      </p:sp>
      <p:sp>
        <p:nvSpPr>
          <p:cNvPr id="18" name="Text 16"/>
          <p:cNvSpPr txBox="1"/>
          <p:nvPr/>
        </p:nvSpPr>
        <p:spPr>
          <a:xfrm>
            <a:off x="548640" y="52029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1097280" y="5157216"/>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Failback, then the report: RTO, RPO and every second accounted for</a:t>
            </a:r>
            <a:endParaRPr lang="en-US" sz="1350" dirty="0"/>
          </a:p>
        </p:txBody>
      </p:sp>
      <p:sp>
        <p:nvSpPr>
          <p:cNvPr id="20" name="Shape 18"/>
          <p:cNvSpPr/>
          <p:nvPr/>
        </p:nvSpPr>
        <p:spPr>
          <a:xfrm>
            <a:off x="6583680" y="1554480"/>
            <a:ext cx="5029200" cy="4709160"/>
          </a:xfrm>
          <a:prstGeom prst="roundRect">
            <a:avLst>
              <a:gd name="adj" fmla="val 1553"/>
            </a:avLst>
          </a:prstGeom>
          <a:solidFill>
            <a:srgbClr val="F1F5F9"/>
          </a:solidFill>
          <a:ln w="12700">
            <a:solidFill>
              <a:srgbClr val="F1F5F9"/>
            </a:solidFill>
            <a:prstDash val="solid"/>
          </a:ln>
        </p:spPr>
      </p:sp>
      <p:sp>
        <p:nvSpPr>
          <p:cNvPr id="21" name="Text 19"/>
          <p:cNvSpPr txBox="1"/>
          <p:nvPr/>
        </p:nvSpPr>
        <p:spPr>
          <a:xfrm>
            <a:off x="6858000" y="1737360"/>
            <a:ext cx="45720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Roadmap (not in the demo)</a:t>
            </a:r>
            <a:endParaRPr lang="en-US" sz="1800" dirty="0"/>
          </a:p>
        </p:txBody>
      </p:sp>
      <p:sp>
        <p:nvSpPr>
          <p:cNvPr id="22" name="Text 20"/>
          <p:cNvSpPr txBox="1"/>
          <p:nvPr/>
        </p:nvSpPr>
        <p:spPr>
          <a:xfrm>
            <a:off x="6858000" y="224028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Scheduled drills</a:t>
            </a:r>
            <a:endParaRPr lang="en-US" sz="1350" dirty="0"/>
          </a:p>
        </p:txBody>
      </p:sp>
      <p:sp>
        <p:nvSpPr>
          <p:cNvPr id="23" name="Text 21"/>
          <p:cNvSpPr txBox="1"/>
          <p:nvPr/>
        </p:nvSpPr>
        <p:spPr>
          <a:xfrm>
            <a:off x="6858000" y="253288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weekly, and after every infrastructure change</a:t>
            </a:r>
            <a:endParaRPr lang="en-US" sz="1200" dirty="0"/>
          </a:p>
        </p:txBody>
      </p:sp>
      <p:sp>
        <p:nvSpPr>
          <p:cNvPr id="24" name="Text 22"/>
          <p:cNvSpPr txBox="1"/>
          <p:nvPr/>
        </p:nvSpPr>
        <p:spPr>
          <a:xfrm>
            <a:off x="6858000" y="301752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More services</a:t>
            </a:r>
            <a:endParaRPr lang="en-US" sz="1350" dirty="0"/>
          </a:p>
        </p:txBody>
      </p:sp>
      <p:sp>
        <p:nvSpPr>
          <p:cNvPr id="25" name="Text 23"/>
          <p:cNvSpPr txBox="1"/>
          <p:nvPr/>
        </p:nvSpPr>
        <p:spPr>
          <a:xfrm>
            <a:off x="6858000" y="331012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AKS, Cosmos DB, Storage, Service Bus as new allowlisted actions</a:t>
            </a:r>
            <a:endParaRPr lang="en-US" sz="1200" dirty="0"/>
          </a:p>
        </p:txBody>
      </p:sp>
      <p:sp>
        <p:nvSpPr>
          <p:cNvPr id="26" name="Text 24"/>
          <p:cNvSpPr txBox="1"/>
          <p:nvPr/>
        </p:nvSpPr>
        <p:spPr>
          <a:xfrm>
            <a:off x="6858000" y="379476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Azure Chaos Studio</a:t>
            </a:r>
            <a:endParaRPr lang="en-US" sz="1350" dirty="0"/>
          </a:p>
        </p:txBody>
      </p:sp>
      <p:sp>
        <p:nvSpPr>
          <p:cNvPr id="27" name="Text 25"/>
          <p:cNvSpPr txBox="1"/>
          <p:nvPr/>
        </p:nvSpPr>
        <p:spPr>
          <a:xfrm>
            <a:off x="6858000" y="408736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standard fault library alongside our own faults</a:t>
            </a:r>
            <a:endParaRPr lang="en-US" sz="1200" dirty="0"/>
          </a:p>
        </p:txBody>
      </p:sp>
      <p:sp>
        <p:nvSpPr>
          <p:cNvPr id="28" name="Text 26"/>
          <p:cNvSpPr txBox="1"/>
          <p:nvPr/>
        </p:nvSpPr>
        <p:spPr>
          <a:xfrm>
            <a:off x="6858000" y="457200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Approvals where teams work</a:t>
            </a:r>
            <a:endParaRPr lang="en-US" sz="1350" dirty="0"/>
          </a:p>
        </p:txBody>
      </p:sp>
      <p:sp>
        <p:nvSpPr>
          <p:cNvPr id="29" name="Text 27"/>
          <p:cNvSpPr txBox="1"/>
          <p:nvPr/>
        </p:nvSpPr>
        <p:spPr>
          <a:xfrm>
            <a:off x="6858000" y="486460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Microsoft Teams approval cards</a:t>
            </a:r>
            <a:endParaRPr lang="en-US" sz="1200" dirty="0"/>
          </a:p>
        </p:txBody>
      </p:sp>
      <p:sp>
        <p:nvSpPr>
          <p:cNvPr id="30" name="Text 28"/>
          <p:cNvSpPr txBox="1"/>
          <p:nvPr/>
        </p:nvSpPr>
        <p:spPr>
          <a:xfrm>
            <a:off x="6858000" y="534924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Portfolio view</a:t>
            </a:r>
            <a:endParaRPr lang="en-US" sz="1350" dirty="0"/>
          </a:p>
        </p:txBody>
      </p:sp>
      <p:sp>
        <p:nvSpPr>
          <p:cNvPr id="31" name="Text 29"/>
          <p:cNvSpPr txBox="1"/>
          <p:nvPr/>
        </p:nvSpPr>
        <p:spPr>
          <a:xfrm>
            <a:off x="6858000" y="564184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resilience score across many applications</a:t>
            </a:r>
            <a:endParaRPr lang="en-US" sz="1200" dirty="0"/>
          </a:p>
        </p:txBody>
      </p:sp>
      <p:sp>
        <p:nvSpPr>
          <p:cNvPr id="32" name="Text 3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Sources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figure in this deck is taken from the source below. Our own figures come from live drills on Azure.</a:t>
            </a:r>
            <a:endParaRPr lang="en-US" sz="1500" dirty="0"/>
          </a:p>
        </p:txBody>
      </p:sp>
      <p:sp>
        <p:nvSpPr>
          <p:cNvPr id="4" name="Text 2"/>
          <p:cNvSpPr txBox="1"/>
          <p:nvPr/>
        </p:nvSpPr>
        <p:spPr>
          <a:xfrm>
            <a:off x="548640" y="1508760"/>
            <a:ext cx="11064240" cy="4846320"/>
          </a:xfrm>
          <a:prstGeom prst="rect">
            <a:avLst/>
          </a:prstGeom>
          <a:noFill/>
          <a:ln/>
        </p:spPr>
        <p:txBody>
          <a:bodyPr wrap="square" lIns="0" tIns="0" rIns="0" bIns="0" rtlCol="0" anchor="t"/>
          <a:lstStyle/>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 ITIC, 2024 Hourly Cost of Downtime Survey, Part 2 (L. DiDio), 1,000+ firms, Nov 2023–Mar 2024. calyptix.com/wp-content/uploads/ITIC-2024-Hourly-Cost-of-Downtime-Survey-Results-Part-2.pdf</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[2] Splunk with Oxford Economics, The Hidden Costs of Downtime, 12 Jun 2024. splunk.com/en_us/blog/cio-office/uncovering-downtime.html</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[3] Parametrix estimate of CrowdStrike outage losses (19 Jul 2024), reported by Dark Reading and Cybersecurity Dive, Jul 2024. darkreading.com/cybersecurity-operations/crowdstrike-outage-losses-estimated-staggering-54b</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[4] RBI order to HDFC Bank, 2 Dec 2020 (Outlook Business, 3 Dec 2020); curbs lifted 17 Aug 2021 (cards) and 11 Mar 2022 (digital) (Business Standard, 12 Mar 2022).</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[5] NSE and NSE Clearing settle the 24 Feb 2021 trading-halt case with SEBI for ₹72.64 crore (Moneylife; Business Standard, Jun 2023).</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[6] RBI action on Kotak Mahindra Bank under Sec. 35A, 24 Apr 2024 (TechCrunch); restrictions lifted 12 Feb 2025 (Business Standard).</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[7] RBI, Cybersecurity, Technology: Risk, Resilience and Assurance Framework Directions, 31 Jul 2026, summarised by KPMG India, Sep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[8] SEBI Cybersecurity and Cyber Resilience Framework: RTO 2 hours, RPO 15 minutes (clarification reported by PTI / The Week, 28 Aug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[9] SEBI framework for market infrastructure institutions: DR site within 45 minutes, quarterly drills (Business Standard, 22 Mar 2021).</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[10] Regulation (EU) 2022/2554 (DORA), Articles 11(6), 12, 35(7)–(8), 50, 51. eur-lex.europa.eu/eli/reg/2022/2554/oj</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[11] Cockroach Labs with Wakefield Research, The State of Resilience 2025 (1,000 executives, Aug–Sep 2024). cockroachlabs.com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[12] Uptime Institute, Annual Outage Analysis 2025, press release 6 May 2025. uptimeinstitute.com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[13] Azure Cost Management, subscription actual cost by service, month to date, queried 18 Oct 2026 (our environment).</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[14] Azure Retail Prices API (prices.azure.com), East Asia / Southeast Asia list prices for App Service B1 Linux, SQL Database Basic, Traffic Manager, 18 Oct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Our measurements: 9 drills recorded by the DR Agent (17–18 Oct 2026); each report keeps the raw timestamps, events and approvals.</a:t>
            </a:r>
            <a:endParaRPr lang="en-US" sz="1050" dirty="0"/>
          </a:p>
        </p:txBody>
      </p:sp>
      <p:sp>
        <p:nvSpPr>
          <p:cNvPr id="5" name="Text 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73152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960120"/>
            <a:ext cx="457200" cy="457200"/>
          </a:xfrm>
          <a:prstGeom prst="rect">
            <a:avLst/>
          </a:prstGeom>
        </p:spPr>
      </p:pic>
      <p:sp>
        <p:nvSpPr>
          <p:cNvPr id="4" name="Text 1"/>
          <p:cNvSpPr txBox="1"/>
          <p:nvPr/>
        </p:nvSpPr>
        <p:spPr>
          <a:xfrm>
            <a:off x="548640" y="2011680"/>
            <a:ext cx="109728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Don't assume you can recover.</a:t>
            </a:r>
            <a:endParaRPr lang="en-US" sz="4400" dirty="0"/>
          </a:p>
        </p:txBody>
      </p:sp>
      <p:sp>
        <p:nvSpPr>
          <p:cNvPr id="5" name="Text 2"/>
          <p:cNvSpPr txBox="1"/>
          <p:nvPr/>
        </p:nvSpPr>
        <p:spPr>
          <a:xfrm>
            <a:off x="548640" y="2834640"/>
            <a:ext cx="10972800" cy="731520"/>
          </a:xfrm>
          <a:prstGeom prst="rect">
            <a:avLst/>
          </a:prstGeom>
          <a:noFill/>
          <a:ln/>
        </p:spPr>
        <p:txBody>
          <a:bodyPr wrap="square" lIns="0" tIns="0" rIns="0" bIns="0" rtlCol="0" anchor="ctr"/>
          <a:lstStyle/>
          <a:p>
            <a:pPr indent="0" marL="0">
              <a:buNone/>
            </a:pPr>
            <a:r>
              <a:rPr lang="en-US" sz="3000" dirty="0">
                <a:solidFill>
                  <a:srgbClr val="C9C3E6"/>
                </a:solidFill>
                <a:latin typeface="Calibri" pitchFamily="34" charset="0"/>
                <a:ea typeface="Calibri" pitchFamily="34" charset="-122"/>
                <a:cs typeface="Calibri" pitchFamily="34" charset="-120"/>
              </a:rPr>
              <a:t>Let the DR Agent test it for real, and prove it, whenever you need.</a:t>
            </a:r>
            <a:endParaRPr lang="en-US" sz="3000" dirty="0"/>
          </a:p>
        </p:txBody>
      </p:sp>
      <p:sp>
        <p:nvSpPr>
          <p:cNvPr id="6" name="Text 3"/>
          <p:cNvSpPr txBox="1"/>
          <p:nvPr/>
        </p:nvSpPr>
        <p:spPr>
          <a:xfrm>
            <a:off x="54864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Real DR drills</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Fail over, measure, fail back: 9 live drills, RTO ~34 s, RPO 0</a:t>
            </a:r>
            <a:endParaRPr lang="en-US" sz="1700" dirty="0"/>
          </a:p>
        </p:txBody>
      </p:sp>
      <p:sp>
        <p:nvSpPr>
          <p:cNvPr id="7" name="Text 4"/>
          <p:cNvSpPr txBox="1"/>
          <p:nvPr/>
        </p:nvSpPr>
        <p:spPr>
          <a:xfrm>
            <a:off x="429768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Built 100% on Azure</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AI Foundry, SQL failover groups, Traffic Manager, Site Recovery, Monitor</a:t>
            </a:r>
            <a:endParaRPr lang="en-US" sz="1700" dirty="0"/>
          </a:p>
        </p:txBody>
      </p:sp>
      <p:sp>
        <p:nvSpPr>
          <p:cNvPr id="8" name="Text 5"/>
          <p:cNvSpPr txBox="1"/>
          <p:nvPr/>
        </p:nvSpPr>
        <p:spPr>
          <a:xfrm>
            <a:off x="804672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Safe by design</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Allowlisted actions, human approval, kill switch, full audit trail</a:t>
            </a:r>
            <a:endParaRPr lang="en-US" sz="1700" dirty="0"/>
          </a:p>
        </p:txBody>
      </p:sp>
      <p:sp>
        <p:nvSpPr>
          <p:cNvPr id="9" name="Text 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9C95BD"/>
                </a:solidFill>
                <a:latin typeface="Calibri" pitchFamily="34" charset="0"/>
                <a:ea typeface="Calibri" pitchFamily="34" charset="-122"/>
                <a:cs typeface="Calibri" pitchFamily="34" charset="-120"/>
              </a:rPr>
              <a:t>Thank you  ·  Team Azure Armada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Disaster Recovery (DR) Agent: Autonomous Disaster Recovery Validation</dc:title>
  <dc:subject>PptxGenJS Presentation</dc:subject>
  <dc:creator>Team Azure Armada</dc:creator>
  <cp:lastModifiedBy>Team Azure Armada</cp:lastModifiedBy>
  <cp:revision>1</cp:revision>
  <dcterms:created xsi:type="dcterms:W3CDTF">2026-10-18T09:07:02Z</dcterms:created>
  <dcterms:modified xsi:type="dcterms:W3CDTF">2026-10-18T09:07:02Z</dcterms:modified>
</cp:coreProperties>
</file>