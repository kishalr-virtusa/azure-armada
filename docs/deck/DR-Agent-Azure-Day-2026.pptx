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Disaster Recovery (DR) Agent is a team of AI agents built entirely on Azure that actually performs disaster recovery testing: it fails workloads over, measures real recovery time and data loss, fails back, and produces audit-ready proof.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Start with money, using the latest research. Splunk with Oxford Economics, May 2026, 2,000 executives: downtime now costs Global 2000 companies $15,000 a minute on average, about $900,000 an hour and $600 billion a year, including $51 million a year in regulatory fines per company. Uptime Institute's 2026 analysis: 57% say their last major outage cost over $100,000, and one in five over $1 million. And in October 2025 a single AWS region outage cost US companies an estimated $500 to $650 million. Even hyperscalers fail; what matters is whether your recovery works.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Closer to home, the penalty is a growth freeze. HDFC Bank: after repeated outages, the most recent a power failure at a primary data centre, the RBI stopped new digital launches and new credit cards in December 2020; cards resumed in August 2021, digital launches only in March 2022. NSE: a nearly four-hour trading halt in February 2021 ended in a settlement of about $8.8 million with SEBI. Kotak Mahindra Bank: in April 2024 the RBI cited deficiencies including business continuity and disaster recovery, plus frequent outages, and stopped online onboarding and new cards for about ten months.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Regulators have moved from 'have a plan' to 'prove it works, on a schedule'. RBI's July 2026 directions: DR drills for critical systems at least half-yearly, and every major issue fixed and re-tested before the next cycle. SEBI: resume critical operations within two hours with a 15-minute RPO; exchanges must be running from DR within 45 minutes and drill every quarter. DORA in Europe: test continuity and recovery plans at least yearly. A common myth is that DORA fixes a 2%-of-turnover fine for banks; it does not. Penalties for financial entities are set by each member state; the fixed figure applies to critical ICT providers: up to 1% of average daily worldwide turnover, daily, for up to six months.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why don't companies just test? Cockroach Labs surveyed 1,000 executives: fewer than one in three do regular failover testing, and only 20% feel fully prepared. Uptime Institute's 2026 analysis names failure to follow established procedures as the leading driver of human-error outages, which is exactly what a stale runbook causes. The reasons are structural: tests are disruptive and manual, environments drift between tests, runbooks go stale, and RTO/RPO are signed off on paper instead of measured.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Put it together with transparent inputs. A tier-1 payments service with a 30-minute target that has never really been tested. On the day, recovery takes four hours, like the NSE halt. At the 2026 average of $15,000 a minute, that is $3.6 million of direct loss, $3.15 million of it beyond the target, before any regulatory action: NSE paid about $8.8 million to settle, and the RBI froze HDFC's and Kotak's digital growth for 10 to 15 months. Our agent measured 34.35 seconds for the same kind of service, with zero payments lost, and it can prove it again on demand.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answer follows the DR lifecycle. Phase 1, design and prepare: the Architect picks the cheapest strategy that genuinely meets the targets using live Azure prices; Readiness runs seven live checks and catches drift; the Runbook agent finds stale steps. Phase 2: the Planner builds the drill from an allowlist, the engine executes it on real Azure resources and measures, the Validator diagnoses failures live, and the Reporter writes an audit-ready report. Humans approve every risky step.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agent is a versioned prompt agent in Azure AI Foundry with a strict JSON schema. Code gathers the facts, the agent decides, code checks the answer, and every agent has a deterministic fallback so the demo never depends on one model call. The live activity panel shows exactly what each agent did. It also exposed a real defect: we were giving the Architect a cost multiplier and a dollar budget; it guessed wrong. We fixed the input, not the model, and it is now right first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why it is safe for a bank. Models never touch Azure directly. The engine runs only allowlisted actions, in a mandatory order, with named human approvals at the risky points, a kill switch, rollback, and a fallback for every agent. We proved it with a surprise fault mid-drill: the Validator diagnosed it, proposed an allowlisted fix, a human approved, and the service recovered in 57.4 seconds.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runs on Azure. Users reach Contoso Payments through Traffic Manager with priority routing. App Service runs in both regions; Azure SQL replicates through a failover group; the reports VM is protected by Azure Site Recovery. The DR console and engine sit in South India, outside both regions, and call the six agents in Azure AI Foundry. Secrets live in Key Vault with managed identities; the whole environment is Bicep with one-click up and down.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measured, not estimated. Eight drills without chaos: RTO between 29.6 and 40.4 seconds, median 33.5, against a 30-minute target; RPO zero every time. Failback about three minutes with no data loss. The reports VM was recovered by Site Recovery in under six minutes and proven by running a command inside it. And every second of RTO is accounted for: the latest 34.35 seconds split into 15.4 s SQL failover, 5.9 s Traffic Manager, 11.6 s DNS and health checks, and under a second each for the injection and our own bookkeeping.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Cost is where this gets compelling. Every AI agent call we made across two days and nine drills cost 9 cents in total, from Azure Cost Management. The entire environment so far cost $2.44. At Azure list prices the DR set-up itself is $38.26 a month. At the 2026 average of $15,000 a minute, a whole month of DR costs less than a fifth of a second of downtime.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the demo, on your own phone. Then the roadmap, which we keep clearly separate from what is built: scheduled drills, more Azure services as new allowlisted actions, Chaos Studio's fault library, Teams approval cards, and a resilience score across many applications.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slideLayout" Target="../slideLayouts/slideLayout1.xml"/><Relationship Id="rId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1.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slideLayout" Target="../slideLayouts/slideLayout1.xml"/><Relationship Id="rId8"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71721"/>
        </a:solidFill>
      </p:bgPr>
    </p:bg>
    <p:spTree>
      <p:nvGrpSpPr>
        <p:cNvPr id="1" name=""/>
        <p:cNvGrpSpPr/>
        <p:nvPr/>
      </p:nvGrpSpPr>
      <p:grpSpPr>
        <a:xfrm>
          <a:off x="0" y="0"/>
          <a:ext cx="0" cy="0"/>
          <a:chOff x="0" y="0"/>
          <a:chExt cx="0" cy="0"/>
        </a:xfrm>
      </p:grpSpPr>
      <p:sp>
        <p:nvSpPr>
          <p:cNvPr id="2" name="Shape 0"/>
          <p:cNvSpPr/>
          <p:nvPr/>
        </p:nvSpPr>
        <p:spPr>
          <a:xfrm>
            <a:off x="548640" y="640080"/>
            <a:ext cx="914400" cy="914400"/>
          </a:xfrm>
          <a:prstGeom prst="ellipse">
            <a:avLst/>
          </a:prstGeom>
          <a:solidFill>
            <a:srgbClr val="5E2CFE"/>
          </a:solidFill>
          <a:ln w="12700">
            <a:solidFill>
              <a:srgbClr val="5E2CFE"/>
            </a:solidFill>
            <a:prstDash val="solid"/>
          </a:ln>
        </p:spPr>
      </p:sp>
      <p:pic>
        <p:nvPicPr>
          <p:cNvPr id="3" name="Image 0" descr="preencoded.png">    </p:cNvPr>
          <p:cNvPicPr>
            <a:picLocks noChangeAspect="1"/>
          </p:cNvPicPr>
          <p:nvPr/>
        </p:nvPicPr>
        <p:blipFill>
          <a:blip r:embed="rId1"/>
          <a:stretch>
            <a:fillRect/>
          </a:stretch>
        </p:blipFill>
        <p:spPr>
          <a:xfrm>
            <a:off x="777240" y="868680"/>
            <a:ext cx="457200" cy="457200"/>
          </a:xfrm>
          <a:prstGeom prst="rect">
            <a:avLst/>
          </a:prstGeom>
        </p:spPr>
      </p:pic>
      <p:sp>
        <p:nvSpPr>
          <p:cNvPr id="4" name="Text 1"/>
          <p:cNvSpPr txBox="1"/>
          <p:nvPr/>
        </p:nvSpPr>
        <p:spPr>
          <a:xfrm>
            <a:off x="1691640" y="868680"/>
            <a:ext cx="8229600" cy="457200"/>
          </a:xfrm>
          <a:prstGeom prst="rect">
            <a:avLst/>
          </a:prstGeom>
          <a:noFill/>
          <a:ln/>
        </p:spPr>
        <p:txBody>
          <a:bodyPr wrap="square" lIns="0" tIns="0" rIns="0" bIns="0" rtlCol="0" anchor="ctr"/>
          <a:lstStyle/>
          <a:p>
            <a:pPr indent="0" marL="0">
              <a:buNone/>
            </a:pPr>
            <a:r>
              <a:rPr lang="en-US" sz="1300" b="1" spc="200" kern="0" dirty="0">
                <a:solidFill>
                  <a:srgbClr val="B9A8FF"/>
                </a:solidFill>
                <a:latin typeface="Calibri" pitchFamily="34" charset="0"/>
                <a:ea typeface="Calibri" pitchFamily="34" charset="-122"/>
                <a:cs typeface="Calibri" pitchFamily="34" charset="-120"/>
              </a:rPr>
              <a:t>AZURE DAY 2026 HACKATHON  ·  DISASTER RECOVERY AGENT</a:t>
            </a:r>
            <a:endParaRPr lang="en-US" sz="1300" dirty="0"/>
          </a:p>
        </p:txBody>
      </p:sp>
      <p:sp>
        <p:nvSpPr>
          <p:cNvPr id="5" name="Text 2"/>
          <p:cNvSpPr txBox="1"/>
          <p:nvPr/>
        </p:nvSpPr>
        <p:spPr>
          <a:xfrm>
            <a:off x="548640" y="1920240"/>
            <a:ext cx="10972800" cy="1188720"/>
          </a:xfrm>
          <a:prstGeom prst="rect">
            <a:avLst/>
          </a:prstGeom>
          <a:noFill/>
          <a:ln/>
        </p:spPr>
        <p:txBody>
          <a:bodyPr wrap="square" lIns="0" tIns="0" rIns="0" bIns="0" rtlCol="0" anchor="ctr"/>
          <a:lstStyle/>
          <a:p>
            <a:pPr indent="0" marL="0">
              <a:buNone/>
            </a:pPr>
            <a:r>
              <a:rPr lang="en-US" sz="5400" b="1" dirty="0">
                <a:solidFill>
                  <a:srgbClr val="FFFFFF"/>
                </a:solidFill>
                <a:latin typeface="Calibri" pitchFamily="34" charset="0"/>
                <a:ea typeface="Calibri" pitchFamily="34" charset="-122"/>
                <a:cs typeface="Calibri" pitchFamily="34" charset="-120"/>
              </a:rPr>
              <a:t>Disaster Recovery (DR) Agent</a:t>
            </a:r>
            <a:endParaRPr lang="en-US" sz="5400" dirty="0"/>
          </a:p>
        </p:txBody>
      </p:sp>
      <p:sp>
        <p:nvSpPr>
          <p:cNvPr id="6" name="Text 3"/>
          <p:cNvSpPr txBox="1"/>
          <p:nvPr/>
        </p:nvSpPr>
        <p:spPr>
          <a:xfrm>
            <a:off x="548640" y="3063240"/>
            <a:ext cx="10972800" cy="640080"/>
          </a:xfrm>
          <a:prstGeom prst="rect">
            <a:avLst/>
          </a:prstGeom>
          <a:noFill/>
          <a:ln/>
        </p:spPr>
        <p:txBody>
          <a:bodyPr wrap="square" lIns="0" tIns="0" rIns="0" bIns="0" rtlCol="0" anchor="ctr"/>
          <a:lstStyle/>
          <a:p>
            <a:pPr indent="0" marL="0">
              <a:buNone/>
            </a:pPr>
            <a:r>
              <a:rPr lang="en-US" sz="2800" dirty="0">
                <a:solidFill>
                  <a:srgbClr val="E4DFF7"/>
                </a:solidFill>
                <a:latin typeface="Calibri" pitchFamily="34" charset="0"/>
                <a:ea typeface="Calibri" pitchFamily="34" charset="-122"/>
                <a:cs typeface="Calibri" pitchFamily="34" charset="-120"/>
              </a:rPr>
              <a:t>Autonomous Disaster Recovery Validation</a:t>
            </a:r>
            <a:endParaRPr lang="en-US" sz="2800" dirty="0"/>
          </a:p>
        </p:txBody>
      </p:sp>
      <p:sp>
        <p:nvSpPr>
          <p:cNvPr id="7" name="Text 4"/>
          <p:cNvSpPr txBox="1"/>
          <p:nvPr/>
        </p:nvSpPr>
        <p:spPr>
          <a:xfrm>
            <a:off x="548640" y="3931920"/>
            <a:ext cx="8686800" cy="822960"/>
          </a:xfrm>
          <a:prstGeom prst="rect">
            <a:avLst/>
          </a:prstGeom>
          <a:noFill/>
          <a:ln/>
        </p:spPr>
        <p:txBody>
          <a:bodyPr wrap="square" lIns="0" tIns="0" rIns="0" bIns="0" rtlCol="0" anchor="ctr"/>
          <a:lstStyle/>
          <a:p>
            <a:pPr indent="0" marL="0">
              <a:buNone/>
            </a:pPr>
            <a:r>
              <a:rPr lang="en-US" sz="1700" i="1" dirty="0">
                <a:solidFill>
                  <a:srgbClr val="C9C3E6"/>
                </a:solidFill>
                <a:latin typeface="Calibri" pitchFamily="34" charset="0"/>
                <a:ea typeface="Calibri" pitchFamily="34" charset="-122"/>
                <a:cs typeface="Calibri" pitchFamily="34" charset="-120"/>
              </a:rPr>
              <a:t>Built 100% on Azure. AI agents that validate DR by executing real tests: fail over, measure RTO/RPO, fail back, and prove you can recover, on any day instead of once a year.</a:t>
            </a:r>
            <a:endParaRPr lang="en-US" sz="1700" dirty="0"/>
          </a:p>
        </p:txBody>
      </p:sp>
      <p:sp>
        <p:nvSpPr>
          <p:cNvPr id="8" name="Shape 5"/>
          <p:cNvSpPr/>
          <p:nvPr/>
        </p:nvSpPr>
        <p:spPr>
          <a:xfrm>
            <a:off x="548640" y="5166360"/>
            <a:ext cx="548640" cy="548640"/>
          </a:xfrm>
          <a:prstGeom prst="ellipse">
            <a:avLst/>
          </a:prstGeom>
          <a:solidFill>
            <a:srgbClr val="2A2340"/>
          </a:solidFill>
          <a:ln w="12700">
            <a:solidFill>
              <a:srgbClr val="2A2340"/>
            </a:solidFill>
            <a:prstDash val="solid"/>
          </a:ln>
        </p:spPr>
      </p:sp>
      <p:pic>
        <p:nvPicPr>
          <p:cNvPr id="9" name="Image 1" descr="preencoded.png">    </p:cNvPr>
          <p:cNvPicPr>
            <a:picLocks noChangeAspect="1"/>
          </p:cNvPicPr>
          <p:nvPr/>
        </p:nvPicPr>
        <p:blipFill>
          <a:blip r:embed="rId2"/>
          <a:stretch>
            <a:fillRect/>
          </a:stretch>
        </p:blipFill>
        <p:spPr>
          <a:xfrm>
            <a:off x="685800" y="5303520"/>
            <a:ext cx="274320" cy="274320"/>
          </a:xfrm>
          <a:prstGeom prst="rect">
            <a:avLst/>
          </a:prstGeom>
        </p:spPr>
      </p:pic>
      <p:sp>
        <p:nvSpPr>
          <p:cNvPr id="10" name="Text 6"/>
          <p:cNvSpPr txBox="1"/>
          <p:nvPr/>
        </p:nvSpPr>
        <p:spPr>
          <a:xfrm>
            <a:off x="1207008" y="5166360"/>
            <a:ext cx="1280160" cy="548640"/>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Fail over</a:t>
            </a:r>
            <a:endParaRPr lang="en-US" sz="1500" dirty="0"/>
          </a:p>
        </p:txBody>
      </p:sp>
      <p:sp>
        <p:nvSpPr>
          <p:cNvPr id="11" name="Shape 7"/>
          <p:cNvSpPr/>
          <p:nvPr/>
        </p:nvSpPr>
        <p:spPr>
          <a:xfrm>
            <a:off x="2560320" y="5166360"/>
            <a:ext cx="548640" cy="548640"/>
          </a:xfrm>
          <a:prstGeom prst="ellipse">
            <a:avLst/>
          </a:prstGeom>
          <a:solidFill>
            <a:srgbClr val="2A2340"/>
          </a:solidFill>
          <a:ln w="12700">
            <a:solidFill>
              <a:srgbClr val="2A2340"/>
            </a:solidFill>
            <a:prstDash val="solid"/>
          </a:ln>
        </p:spPr>
      </p:sp>
      <p:pic>
        <p:nvPicPr>
          <p:cNvPr id="12" name="Image 2" descr="preencoded.png">    </p:cNvPr>
          <p:cNvPicPr>
            <a:picLocks noChangeAspect="1"/>
          </p:cNvPicPr>
          <p:nvPr/>
        </p:nvPicPr>
        <p:blipFill>
          <a:blip r:embed="rId3"/>
          <a:stretch>
            <a:fillRect/>
          </a:stretch>
        </p:blipFill>
        <p:spPr>
          <a:xfrm>
            <a:off x="2697480" y="5303520"/>
            <a:ext cx="274320" cy="274320"/>
          </a:xfrm>
          <a:prstGeom prst="rect">
            <a:avLst/>
          </a:prstGeom>
        </p:spPr>
      </p:pic>
      <p:sp>
        <p:nvSpPr>
          <p:cNvPr id="13" name="Text 8"/>
          <p:cNvSpPr txBox="1"/>
          <p:nvPr/>
        </p:nvSpPr>
        <p:spPr>
          <a:xfrm>
            <a:off x="3218688" y="5166360"/>
            <a:ext cx="1280160" cy="548640"/>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Measure</a:t>
            </a:r>
            <a:endParaRPr lang="en-US" sz="1500" dirty="0"/>
          </a:p>
        </p:txBody>
      </p:sp>
      <p:sp>
        <p:nvSpPr>
          <p:cNvPr id="14" name="Shape 9"/>
          <p:cNvSpPr/>
          <p:nvPr/>
        </p:nvSpPr>
        <p:spPr>
          <a:xfrm>
            <a:off x="4572000" y="5166360"/>
            <a:ext cx="548640" cy="548640"/>
          </a:xfrm>
          <a:prstGeom prst="ellipse">
            <a:avLst/>
          </a:prstGeom>
          <a:solidFill>
            <a:srgbClr val="2A2340"/>
          </a:solidFill>
          <a:ln w="12700">
            <a:solidFill>
              <a:srgbClr val="2A2340"/>
            </a:solidFill>
            <a:prstDash val="solid"/>
          </a:ln>
        </p:spPr>
      </p:sp>
      <p:pic>
        <p:nvPicPr>
          <p:cNvPr id="15" name="Image 3" descr="preencoded.png">    </p:cNvPr>
          <p:cNvPicPr>
            <a:picLocks noChangeAspect="1"/>
          </p:cNvPicPr>
          <p:nvPr/>
        </p:nvPicPr>
        <p:blipFill>
          <a:blip r:embed="rId4"/>
          <a:stretch>
            <a:fillRect/>
          </a:stretch>
        </p:blipFill>
        <p:spPr>
          <a:xfrm>
            <a:off x="4709160" y="5303520"/>
            <a:ext cx="274320" cy="274320"/>
          </a:xfrm>
          <a:prstGeom prst="rect">
            <a:avLst/>
          </a:prstGeom>
        </p:spPr>
      </p:pic>
      <p:sp>
        <p:nvSpPr>
          <p:cNvPr id="16" name="Text 10"/>
          <p:cNvSpPr txBox="1"/>
          <p:nvPr/>
        </p:nvSpPr>
        <p:spPr>
          <a:xfrm>
            <a:off x="5230368" y="5166360"/>
            <a:ext cx="1280160" cy="548640"/>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Fail back</a:t>
            </a:r>
            <a:endParaRPr lang="en-US" sz="1500" dirty="0"/>
          </a:p>
        </p:txBody>
      </p:sp>
      <p:sp>
        <p:nvSpPr>
          <p:cNvPr id="17" name="Shape 11"/>
          <p:cNvSpPr/>
          <p:nvPr/>
        </p:nvSpPr>
        <p:spPr>
          <a:xfrm>
            <a:off x="6583680" y="5166360"/>
            <a:ext cx="548640" cy="548640"/>
          </a:xfrm>
          <a:prstGeom prst="ellipse">
            <a:avLst/>
          </a:prstGeom>
          <a:solidFill>
            <a:srgbClr val="2A2340"/>
          </a:solidFill>
          <a:ln w="12700">
            <a:solidFill>
              <a:srgbClr val="2A2340"/>
            </a:solidFill>
            <a:prstDash val="solid"/>
          </a:ln>
        </p:spPr>
      </p:sp>
      <p:pic>
        <p:nvPicPr>
          <p:cNvPr id="18" name="Image 4" descr="preencoded.png">    </p:cNvPr>
          <p:cNvPicPr>
            <a:picLocks noChangeAspect="1"/>
          </p:cNvPicPr>
          <p:nvPr/>
        </p:nvPicPr>
        <p:blipFill>
          <a:blip r:embed="rId5"/>
          <a:stretch>
            <a:fillRect/>
          </a:stretch>
        </p:blipFill>
        <p:spPr>
          <a:xfrm>
            <a:off x="6720840" y="5303520"/>
            <a:ext cx="274320" cy="274320"/>
          </a:xfrm>
          <a:prstGeom prst="rect">
            <a:avLst/>
          </a:prstGeom>
        </p:spPr>
      </p:pic>
      <p:sp>
        <p:nvSpPr>
          <p:cNvPr id="19" name="Text 12"/>
          <p:cNvSpPr txBox="1"/>
          <p:nvPr/>
        </p:nvSpPr>
        <p:spPr>
          <a:xfrm>
            <a:off x="7242048" y="5166360"/>
            <a:ext cx="1280160" cy="548640"/>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Prove</a:t>
            </a:r>
            <a:endParaRPr lang="en-US" sz="1500" dirty="0"/>
          </a:p>
        </p:txBody>
      </p:sp>
      <p:sp>
        <p:nvSpPr>
          <p:cNvPr id="20" name="Text 13"/>
          <p:cNvSpPr txBox="1"/>
          <p:nvPr/>
        </p:nvSpPr>
        <p:spPr>
          <a:xfrm>
            <a:off x="7955280" y="6172200"/>
            <a:ext cx="3657600" cy="365760"/>
          </a:xfrm>
          <a:prstGeom prst="rect">
            <a:avLst/>
          </a:prstGeom>
          <a:noFill/>
          <a:ln/>
        </p:spPr>
        <p:txBody>
          <a:bodyPr wrap="square" lIns="0" tIns="0" rIns="0" bIns="0" rtlCol="0" anchor="ctr"/>
          <a:lstStyle/>
          <a:p>
            <a:pPr algn="r" indent="0" marL="0">
              <a:buNone/>
            </a:pPr>
            <a:r>
              <a:rPr lang="en-US" sz="1300" dirty="0">
                <a:solidFill>
                  <a:srgbClr val="9C95BD"/>
                </a:solidFill>
                <a:latin typeface="Calibri" pitchFamily="34" charset="0"/>
                <a:ea typeface="Calibri" pitchFamily="34" charset="-122"/>
                <a:cs typeface="Calibri" pitchFamily="34" charset="-120"/>
              </a:rPr>
              <a:t>Team Azure Armada  ·  Virtusa</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1064240" cy="685800"/>
          </a:xfrm>
          <a:prstGeom prst="rect">
            <a:avLst/>
          </a:prstGeom>
          <a:noFill/>
          <a:ln/>
        </p:spPr>
        <p:txBody>
          <a:bodyPr wrap="square" lIns="0" tIns="0" rIns="0" bIns="0" rtlCol="0" anchor="ctr"/>
          <a:lstStyle/>
          <a:p>
            <a:pPr indent="0" marL="0">
              <a:buNone/>
            </a:pPr>
            <a:r>
              <a:rPr lang="en-US" sz="3200" b="1" dirty="0">
                <a:solidFill>
                  <a:srgbClr val="171721"/>
                </a:solidFill>
                <a:latin typeface="Calibri" pitchFamily="34" charset="0"/>
                <a:ea typeface="Calibri" pitchFamily="34" charset="-122"/>
                <a:cs typeface="Calibri" pitchFamily="34" charset="-120"/>
              </a:rPr>
              <a:t>Downtime now costs about $900,000 an hour</a:t>
            </a:r>
            <a:endParaRPr lang="en-US" sz="3200" dirty="0"/>
          </a:p>
        </p:txBody>
      </p:sp>
      <p:sp>
        <p:nvSpPr>
          <p:cNvPr id="3" name="Text 1"/>
          <p:cNvSpPr txBox="1"/>
          <p:nvPr/>
        </p:nvSpPr>
        <p:spPr>
          <a:xfrm>
            <a:off x="548640" y="987552"/>
            <a:ext cx="11064240" cy="365760"/>
          </a:xfrm>
          <a:prstGeom prst="rect">
            <a:avLst/>
          </a:prstGeom>
          <a:noFill/>
          <a:ln/>
        </p:spPr>
        <p:txBody>
          <a:bodyPr wrap="square" lIns="0" tIns="0" rIns="0" bIns="0" rtlCol="0" anchor="ctr"/>
          <a:lstStyle/>
          <a:p>
            <a:pPr indent="0" marL="0">
              <a:buNone/>
            </a:pPr>
            <a:r>
              <a:rPr lang="en-US" sz="1500" i="1" dirty="0">
                <a:solidFill>
                  <a:srgbClr val="5B6B7F"/>
                </a:solidFill>
                <a:latin typeface="Calibri" pitchFamily="34" charset="0"/>
                <a:ea typeface="Calibri" pitchFamily="34" charset="-122"/>
                <a:cs typeface="Calibri" pitchFamily="34" charset="-120"/>
              </a:rPr>
              <a:t>The latest independent research (2026) and a 2025 cloud outage: the cost of not recovering on time.</a:t>
            </a:r>
            <a:endParaRPr lang="en-US" sz="1500" dirty="0"/>
          </a:p>
        </p:txBody>
      </p:sp>
      <p:sp>
        <p:nvSpPr>
          <p:cNvPr id="4" name="Shape 2"/>
          <p:cNvSpPr/>
          <p:nvPr/>
        </p:nvSpPr>
        <p:spPr>
          <a:xfrm>
            <a:off x="548640" y="1600200"/>
            <a:ext cx="3520440" cy="3794760"/>
          </a:xfrm>
          <a:prstGeom prst="roundRect">
            <a:avLst>
              <a:gd name="adj" fmla="val 2078"/>
            </a:avLst>
          </a:prstGeom>
          <a:solidFill>
            <a:srgbClr val="F1F5F9"/>
          </a:solidFill>
          <a:ln w="12700">
            <a:solidFill>
              <a:srgbClr val="F1F5F9"/>
            </a:solidFill>
            <a:prstDash val="solid"/>
          </a:ln>
          <a:effectLst>
            <a:outerShdw sx="100000" sy="100000" kx="0" ky="0" algn="bl" rotWithShape="0" blurRad="76200" dist="25400" dir="5400000">
              <a:srgbClr val="000000">
                <a:alpha val="12000"/>
              </a:srgbClr>
            </a:outerShdw>
          </a:effectLst>
        </p:spPr>
      </p:sp>
      <p:sp>
        <p:nvSpPr>
          <p:cNvPr id="5" name="Text 3"/>
          <p:cNvSpPr txBox="1"/>
          <p:nvPr/>
        </p:nvSpPr>
        <p:spPr>
          <a:xfrm>
            <a:off x="822960" y="1874520"/>
            <a:ext cx="3017520" cy="914400"/>
          </a:xfrm>
          <a:prstGeom prst="rect">
            <a:avLst/>
          </a:prstGeom>
          <a:noFill/>
          <a:ln/>
        </p:spPr>
        <p:txBody>
          <a:bodyPr wrap="square" lIns="0" tIns="0" rIns="0" bIns="0" rtlCol="0" anchor="ctr"/>
          <a:lstStyle/>
          <a:p>
            <a:pPr indent="0" marL="0">
              <a:buNone/>
            </a:pPr>
            <a:r>
              <a:rPr lang="en-US" sz="4200" b="1" dirty="0">
                <a:solidFill>
                  <a:srgbClr val="5E2CFE"/>
                </a:solidFill>
                <a:latin typeface="Calibri" pitchFamily="34" charset="0"/>
                <a:ea typeface="Calibri" pitchFamily="34" charset="-122"/>
                <a:cs typeface="Calibri" pitchFamily="34" charset="-120"/>
              </a:rPr>
              <a:t>$15,000</a:t>
            </a:r>
            <a:endParaRPr lang="en-US" sz="4200" dirty="0"/>
          </a:p>
        </p:txBody>
      </p:sp>
      <p:sp>
        <p:nvSpPr>
          <p:cNvPr id="6" name="Text 4"/>
          <p:cNvSpPr txBox="1"/>
          <p:nvPr/>
        </p:nvSpPr>
        <p:spPr>
          <a:xfrm>
            <a:off x="822960" y="2788920"/>
            <a:ext cx="3017520" cy="411480"/>
          </a:xfrm>
          <a:prstGeom prst="rect">
            <a:avLst/>
          </a:prstGeom>
          <a:noFill/>
          <a:ln/>
        </p:spPr>
        <p:txBody>
          <a:bodyPr wrap="square" lIns="0" tIns="0" rIns="0" bIns="0" rtlCol="0" anchor="ctr"/>
          <a:lstStyle/>
          <a:p>
            <a:pPr indent="0" marL="0">
              <a:buNone/>
            </a:pPr>
            <a:r>
              <a:rPr lang="en-US" sz="1600" b="1" dirty="0">
                <a:solidFill>
                  <a:srgbClr val="171721"/>
                </a:solidFill>
                <a:latin typeface="Calibri" pitchFamily="34" charset="0"/>
                <a:ea typeface="Calibri" pitchFamily="34" charset="-122"/>
                <a:cs typeface="Calibri" pitchFamily="34" charset="-120"/>
              </a:rPr>
              <a:t>per minute of downtime</a:t>
            </a:r>
            <a:endParaRPr lang="en-US" sz="1600" dirty="0"/>
          </a:p>
        </p:txBody>
      </p:sp>
      <p:sp>
        <p:nvSpPr>
          <p:cNvPr id="7" name="Text 5"/>
          <p:cNvSpPr txBox="1"/>
          <p:nvPr/>
        </p:nvSpPr>
        <p:spPr>
          <a:xfrm>
            <a:off x="822960" y="3291840"/>
            <a:ext cx="3017520" cy="1325880"/>
          </a:xfrm>
          <a:prstGeom prst="rect">
            <a:avLst/>
          </a:prstGeom>
          <a:noFill/>
          <a:ln/>
        </p:spPr>
        <p:txBody>
          <a:bodyPr wrap="square" lIns="0" tIns="0" rIns="0" bIns="0" rtlCol="0" anchor="t"/>
          <a:lstStyle/>
          <a:p>
            <a:pPr indent="0" marL="0">
              <a:buNone/>
            </a:pPr>
            <a:r>
              <a:rPr lang="en-US" sz="1300" dirty="0">
                <a:solidFill>
                  <a:srgbClr val="1B2635"/>
                </a:solidFill>
                <a:latin typeface="Calibri" pitchFamily="34" charset="0"/>
                <a:ea typeface="Calibri" pitchFamily="34" charset="-122"/>
                <a:cs typeface="Calibri" pitchFamily="34" charset="-120"/>
              </a:rPr>
              <a:t>is the average for Global 2000 companies: about $900,000 an hour and $600B a year in total. Regulatory fines alone average $51M per company a year.</a:t>
            </a:r>
            <a:endParaRPr lang="en-US" sz="1300" dirty="0"/>
          </a:p>
        </p:txBody>
      </p:sp>
      <p:sp>
        <p:nvSpPr>
          <p:cNvPr id="8" name="Text 6"/>
          <p:cNvSpPr txBox="1"/>
          <p:nvPr/>
        </p:nvSpPr>
        <p:spPr>
          <a:xfrm>
            <a:off x="822960" y="4663440"/>
            <a:ext cx="3017520" cy="548640"/>
          </a:xfrm>
          <a:prstGeom prst="rect">
            <a:avLst/>
          </a:prstGeom>
          <a:noFill/>
          <a:ln/>
        </p:spPr>
        <p:txBody>
          <a:bodyPr wrap="square" lIns="0" tIns="0" rIns="0" bIns="0" rtlCol="0" anchor="b"/>
          <a:lstStyle/>
          <a:p>
            <a:pPr indent="0" marL="0">
              <a:buNone/>
            </a:pPr>
            <a:r>
              <a:rPr lang="en-US" sz="950" i="1" dirty="0">
                <a:solidFill>
                  <a:srgbClr val="5B6B7F"/>
                </a:solidFill>
                <a:latin typeface="Calibri" pitchFamily="34" charset="0"/>
                <a:ea typeface="Calibri" pitchFamily="34" charset="-122"/>
                <a:cs typeface="Calibri" pitchFamily="34" charset="-120"/>
              </a:rPr>
              <a:t>Splunk &amp; Oxford Economics, The Hidden Costs of Downtime, May 2026 (2,000 executives) [1]</a:t>
            </a:r>
            <a:endParaRPr lang="en-US" sz="950" dirty="0"/>
          </a:p>
        </p:txBody>
      </p:sp>
      <p:sp>
        <p:nvSpPr>
          <p:cNvPr id="9" name="Shape 7"/>
          <p:cNvSpPr/>
          <p:nvPr/>
        </p:nvSpPr>
        <p:spPr>
          <a:xfrm>
            <a:off x="4297680" y="1600200"/>
            <a:ext cx="3520440" cy="3794760"/>
          </a:xfrm>
          <a:prstGeom prst="roundRect">
            <a:avLst>
              <a:gd name="adj" fmla="val 2078"/>
            </a:avLst>
          </a:prstGeom>
          <a:solidFill>
            <a:srgbClr val="F1F5F9"/>
          </a:solidFill>
          <a:ln w="12700">
            <a:solidFill>
              <a:srgbClr val="F1F5F9"/>
            </a:solidFill>
            <a:prstDash val="solid"/>
          </a:ln>
          <a:effectLst>
            <a:outerShdw sx="100000" sy="100000" kx="0" ky="0" algn="bl" rotWithShape="0" blurRad="76200" dist="25400" dir="5400000">
              <a:srgbClr val="000000">
                <a:alpha val="12000"/>
              </a:srgbClr>
            </a:outerShdw>
          </a:effectLst>
        </p:spPr>
      </p:sp>
      <p:sp>
        <p:nvSpPr>
          <p:cNvPr id="10" name="Text 8"/>
          <p:cNvSpPr txBox="1"/>
          <p:nvPr/>
        </p:nvSpPr>
        <p:spPr>
          <a:xfrm>
            <a:off x="4572000" y="1874520"/>
            <a:ext cx="3017520" cy="914400"/>
          </a:xfrm>
          <a:prstGeom prst="rect">
            <a:avLst/>
          </a:prstGeom>
          <a:noFill/>
          <a:ln/>
        </p:spPr>
        <p:txBody>
          <a:bodyPr wrap="square" lIns="0" tIns="0" rIns="0" bIns="0" rtlCol="0" anchor="ctr"/>
          <a:lstStyle/>
          <a:p>
            <a:pPr indent="0" marL="0">
              <a:buNone/>
            </a:pPr>
            <a:r>
              <a:rPr lang="en-US" sz="4200" b="1" dirty="0">
                <a:solidFill>
                  <a:srgbClr val="5E2CFE"/>
                </a:solidFill>
                <a:latin typeface="Calibri" pitchFamily="34" charset="0"/>
                <a:ea typeface="Calibri" pitchFamily="34" charset="-122"/>
                <a:cs typeface="Calibri" pitchFamily="34" charset="-120"/>
              </a:rPr>
              <a:t>57%</a:t>
            </a:r>
            <a:endParaRPr lang="en-US" sz="4200" dirty="0"/>
          </a:p>
        </p:txBody>
      </p:sp>
      <p:sp>
        <p:nvSpPr>
          <p:cNvPr id="11" name="Text 9"/>
          <p:cNvSpPr txBox="1"/>
          <p:nvPr/>
        </p:nvSpPr>
        <p:spPr>
          <a:xfrm>
            <a:off x="4572000" y="2788920"/>
            <a:ext cx="3017520" cy="411480"/>
          </a:xfrm>
          <a:prstGeom prst="rect">
            <a:avLst/>
          </a:prstGeom>
          <a:noFill/>
          <a:ln/>
        </p:spPr>
        <p:txBody>
          <a:bodyPr wrap="square" lIns="0" tIns="0" rIns="0" bIns="0" rtlCol="0" anchor="ctr"/>
          <a:lstStyle/>
          <a:p>
            <a:pPr indent="0" marL="0">
              <a:buNone/>
            </a:pPr>
            <a:r>
              <a:rPr lang="en-US" sz="1600" b="1" dirty="0">
                <a:solidFill>
                  <a:srgbClr val="171721"/>
                </a:solidFill>
                <a:latin typeface="Calibri" pitchFamily="34" charset="0"/>
                <a:ea typeface="Calibri" pitchFamily="34" charset="-122"/>
                <a:cs typeface="Calibri" pitchFamily="34" charset="-120"/>
              </a:rPr>
              <a:t>had a last major outage over $100K</a:t>
            </a:r>
            <a:endParaRPr lang="en-US" sz="1600" dirty="0"/>
          </a:p>
        </p:txBody>
      </p:sp>
      <p:sp>
        <p:nvSpPr>
          <p:cNvPr id="12" name="Text 10"/>
          <p:cNvSpPr txBox="1"/>
          <p:nvPr/>
        </p:nvSpPr>
        <p:spPr>
          <a:xfrm>
            <a:off x="4572000" y="3291840"/>
            <a:ext cx="3017520" cy="1325880"/>
          </a:xfrm>
          <a:prstGeom prst="rect">
            <a:avLst/>
          </a:prstGeom>
          <a:noFill/>
          <a:ln/>
        </p:spPr>
        <p:txBody>
          <a:bodyPr wrap="square" lIns="0" tIns="0" rIns="0" bIns="0" rtlCol="0" anchor="t"/>
          <a:lstStyle/>
          <a:p>
            <a:pPr indent="0" marL="0">
              <a:buNone/>
            </a:pPr>
            <a:r>
              <a:rPr lang="en-US" sz="1300" dirty="0">
                <a:solidFill>
                  <a:srgbClr val="1B2635"/>
                </a:solidFill>
                <a:latin typeface="Calibri" pitchFamily="34" charset="0"/>
                <a:ea typeface="Calibri" pitchFamily="34" charset="-122"/>
                <a:cs typeface="Calibri" pitchFamily="34" charset="-120"/>
              </a:rPr>
              <a:t>and 1 in 5 operators said their last major outage cost more than $1 million, for the second year running.</a:t>
            </a:r>
            <a:endParaRPr lang="en-US" sz="1300" dirty="0"/>
          </a:p>
        </p:txBody>
      </p:sp>
      <p:sp>
        <p:nvSpPr>
          <p:cNvPr id="13" name="Text 11"/>
          <p:cNvSpPr txBox="1"/>
          <p:nvPr/>
        </p:nvSpPr>
        <p:spPr>
          <a:xfrm>
            <a:off x="4572000" y="4663440"/>
            <a:ext cx="3017520" cy="548640"/>
          </a:xfrm>
          <a:prstGeom prst="rect">
            <a:avLst/>
          </a:prstGeom>
          <a:noFill/>
          <a:ln/>
        </p:spPr>
        <p:txBody>
          <a:bodyPr wrap="square" lIns="0" tIns="0" rIns="0" bIns="0" rtlCol="0" anchor="b"/>
          <a:lstStyle/>
          <a:p>
            <a:pPr indent="0" marL="0">
              <a:buNone/>
            </a:pPr>
            <a:r>
              <a:rPr lang="en-US" sz="950" i="1" dirty="0">
                <a:solidFill>
                  <a:srgbClr val="5B6B7F"/>
                </a:solidFill>
                <a:latin typeface="Calibri" pitchFamily="34" charset="0"/>
                <a:ea typeface="Calibri" pitchFamily="34" charset="-122"/>
                <a:cs typeface="Calibri" pitchFamily="34" charset="-120"/>
              </a:rPr>
              <a:t>Uptime Institute, Annual Outage Analysis 2026 [2]</a:t>
            </a:r>
            <a:endParaRPr lang="en-US" sz="950" dirty="0"/>
          </a:p>
        </p:txBody>
      </p:sp>
      <p:sp>
        <p:nvSpPr>
          <p:cNvPr id="14" name="Shape 12"/>
          <p:cNvSpPr/>
          <p:nvPr/>
        </p:nvSpPr>
        <p:spPr>
          <a:xfrm>
            <a:off x="8046720" y="1600200"/>
            <a:ext cx="3520440" cy="3794760"/>
          </a:xfrm>
          <a:prstGeom prst="roundRect">
            <a:avLst>
              <a:gd name="adj" fmla="val 2078"/>
            </a:avLst>
          </a:prstGeom>
          <a:solidFill>
            <a:srgbClr val="F1F5F9"/>
          </a:solidFill>
          <a:ln w="12700">
            <a:solidFill>
              <a:srgbClr val="F1F5F9"/>
            </a:solidFill>
            <a:prstDash val="solid"/>
          </a:ln>
          <a:effectLst>
            <a:outerShdw sx="100000" sy="100000" kx="0" ky="0" algn="bl" rotWithShape="0" blurRad="76200" dist="25400" dir="5400000">
              <a:srgbClr val="000000">
                <a:alpha val="12000"/>
              </a:srgbClr>
            </a:outerShdw>
          </a:effectLst>
        </p:spPr>
      </p:sp>
      <p:sp>
        <p:nvSpPr>
          <p:cNvPr id="15" name="Text 13"/>
          <p:cNvSpPr txBox="1"/>
          <p:nvPr/>
        </p:nvSpPr>
        <p:spPr>
          <a:xfrm>
            <a:off x="8321040" y="1874520"/>
            <a:ext cx="3017520" cy="914400"/>
          </a:xfrm>
          <a:prstGeom prst="rect">
            <a:avLst/>
          </a:prstGeom>
          <a:noFill/>
          <a:ln/>
        </p:spPr>
        <p:txBody>
          <a:bodyPr wrap="square" lIns="0" tIns="0" rIns="0" bIns="0" rtlCol="0" anchor="ctr"/>
          <a:lstStyle/>
          <a:p>
            <a:pPr indent="0" marL="0">
              <a:buNone/>
            </a:pPr>
            <a:r>
              <a:rPr lang="en-US" sz="4200" b="1" dirty="0">
                <a:solidFill>
                  <a:srgbClr val="5E2CFE"/>
                </a:solidFill>
                <a:latin typeface="Calibri" pitchFamily="34" charset="0"/>
                <a:ea typeface="Calibri" pitchFamily="34" charset="-122"/>
                <a:cs typeface="Calibri" pitchFamily="34" charset="-120"/>
              </a:rPr>
              <a:t>$500–650M</a:t>
            </a:r>
            <a:endParaRPr lang="en-US" sz="4200" dirty="0"/>
          </a:p>
        </p:txBody>
      </p:sp>
      <p:sp>
        <p:nvSpPr>
          <p:cNvPr id="16" name="Text 14"/>
          <p:cNvSpPr txBox="1"/>
          <p:nvPr/>
        </p:nvSpPr>
        <p:spPr>
          <a:xfrm>
            <a:off x="8321040" y="2788920"/>
            <a:ext cx="3017520" cy="411480"/>
          </a:xfrm>
          <a:prstGeom prst="rect">
            <a:avLst/>
          </a:prstGeom>
          <a:noFill/>
          <a:ln/>
        </p:spPr>
        <p:txBody>
          <a:bodyPr wrap="square" lIns="0" tIns="0" rIns="0" bIns="0" rtlCol="0" anchor="ctr"/>
          <a:lstStyle/>
          <a:p>
            <a:pPr indent="0" marL="0">
              <a:buNone/>
            </a:pPr>
            <a:r>
              <a:rPr lang="en-US" sz="1600" b="1" dirty="0">
                <a:solidFill>
                  <a:srgbClr val="171721"/>
                </a:solidFill>
                <a:latin typeface="Calibri" pitchFamily="34" charset="0"/>
                <a:ea typeface="Calibri" pitchFamily="34" charset="-122"/>
                <a:cs typeface="Calibri" pitchFamily="34" charset="-120"/>
              </a:rPr>
              <a:t>from one cloud-region outage</a:t>
            </a:r>
            <a:endParaRPr lang="en-US" sz="1600" dirty="0"/>
          </a:p>
        </p:txBody>
      </p:sp>
      <p:sp>
        <p:nvSpPr>
          <p:cNvPr id="17" name="Text 15"/>
          <p:cNvSpPr txBox="1"/>
          <p:nvPr/>
        </p:nvSpPr>
        <p:spPr>
          <a:xfrm>
            <a:off x="8321040" y="3291840"/>
            <a:ext cx="3017520" cy="1325880"/>
          </a:xfrm>
          <a:prstGeom prst="rect">
            <a:avLst/>
          </a:prstGeom>
          <a:noFill/>
          <a:ln/>
        </p:spPr>
        <p:txBody>
          <a:bodyPr wrap="square" lIns="0" tIns="0" rIns="0" bIns="0" rtlCol="0" anchor="t"/>
          <a:lstStyle/>
          <a:p>
            <a:pPr indent="0" marL="0">
              <a:buNone/>
            </a:pPr>
            <a:r>
              <a:rPr lang="en-US" sz="1300" dirty="0">
                <a:solidFill>
                  <a:srgbClr val="1B2635"/>
                </a:solidFill>
                <a:latin typeface="Calibri" pitchFamily="34" charset="0"/>
                <a:ea typeface="Calibri" pitchFamily="34" charset="-122"/>
                <a:cs typeface="Calibri" pitchFamily="34" charset="-120"/>
              </a:rPr>
              <a:t>lost by US companies when AWS us-east-1 failed on 20 October 2025. Even hyperscalers fail; what matters is whether your recovery works.</a:t>
            </a:r>
            <a:endParaRPr lang="en-US" sz="1300" dirty="0"/>
          </a:p>
        </p:txBody>
      </p:sp>
      <p:sp>
        <p:nvSpPr>
          <p:cNvPr id="18" name="Text 16"/>
          <p:cNvSpPr txBox="1"/>
          <p:nvPr/>
        </p:nvSpPr>
        <p:spPr>
          <a:xfrm>
            <a:off x="8321040" y="4663440"/>
            <a:ext cx="3017520" cy="548640"/>
          </a:xfrm>
          <a:prstGeom prst="rect">
            <a:avLst/>
          </a:prstGeom>
          <a:noFill/>
          <a:ln/>
        </p:spPr>
        <p:txBody>
          <a:bodyPr wrap="square" lIns="0" tIns="0" rIns="0" bIns="0" rtlCol="0" anchor="b"/>
          <a:lstStyle/>
          <a:p>
            <a:pPr indent="0" marL="0">
              <a:buNone/>
            </a:pPr>
            <a:r>
              <a:rPr lang="en-US" sz="950" i="1" dirty="0">
                <a:solidFill>
                  <a:srgbClr val="5B6B7F"/>
                </a:solidFill>
                <a:latin typeface="Calibri" pitchFamily="34" charset="0"/>
                <a:ea typeface="Calibri" pitchFamily="34" charset="-122"/>
                <a:cs typeface="Calibri" pitchFamily="34" charset="-120"/>
              </a:rPr>
              <a:t>Parametrix estimate, Oct 2025 [3]</a:t>
            </a:r>
            <a:endParaRPr lang="en-US" sz="950" dirty="0"/>
          </a:p>
        </p:txBody>
      </p:sp>
      <p:sp>
        <p:nvSpPr>
          <p:cNvPr id="19" name="Shape 17"/>
          <p:cNvSpPr/>
          <p:nvPr/>
        </p:nvSpPr>
        <p:spPr>
          <a:xfrm>
            <a:off x="548640" y="5596128"/>
            <a:ext cx="11064240" cy="658368"/>
          </a:xfrm>
          <a:prstGeom prst="roundRect">
            <a:avLst>
              <a:gd name="adj" fmla="val 11111"/>
            </a:avLst>
          </a:prstGeom>
          <a:solidFill>
            <a:srgbClr val="171721"/>
          </a:solidFill>
          <a:ln w="12700">
            <a:solidFill>
              <a:srgbClr val="171721"/>
            </a:solidFill>
            <a:prstDash val="solid"/>
          </a:ln>
        </p:spPr>
      </p:sp>
      <p:sp>
        <p:nvSpPr>
          <p:cNvPr id="20" name="Text 18"/>
          <p:cNvSpPr txBox="1"/>
          <p:nvPr/>
        </p:nvSpPr>
        <p:spPr>
          <a:xfrm>
            <a:off x="777240" y="5596128"/>
            <a:ext cx="10698480" cy="658368"/>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At $15,000 a minute, one hour of downtime costs about $900,000.</a:t>
            </a:r>
            <a:pPr indent="0" marL="0">
              <a:buNone/>
            </a:pPr>
            <a:r>
              <a:rPr lang="en-US" sz="1600" dirty="0">
                <a:solidFill>
                  <a:srgbClr val="C9C3E6"/>
                </a:solidFill>
                <a:latin typeface="Calibri" pitchFamily="34" charset="0"/>
                <a:ea typeface="Calibri" pitchFamily="34" charset="-122"/>
                <a:cs typeface="Calibri" pitchFamily="34" charset="-120"/>
              </a:rPr>
              <a:t>   Recovery that is assumed, not proven, is an unpriced risk.</a:t>
            </a:r>
            <a:endParaRPr lang="en-US" sz="1600" dirty="0"/>
          </a:p>
        </p:txBody>
      </p:sp>
      <p:sp>
        <p:nvSpPr>
          <p:cNvPr id="21" name="Text 19"/>
          <p:cNvSpPr txBox="1"/>
          <p:nvPr/>
        </p:nvSpPr>
        <p:spPr>
          <a:xfrm>
            <a:off x="548640" y="6473952"/>
            <a:ext cx="11064240" cy="274320"/>
          </a:xfrm>
          <a:prstGeom prst="rect">
            <a:avLst/>
          </a:prstGeom>
          <a:noFill/>
          <a:ln/>
        </p:spPr>
        <p:txBody>
          <a:bodyPr wrap="square" lIns="0" tIns="0" rIns="0" bIns="0" rtlCol="0" anchor="ctr"/>
          <a:lstStyle/>
          <a:p>
            <a:pPr algn="r" indent="0" marL="0">
              <a:buNone/>
            </a:pPr>
            <a:r>
              <a:rPr lang="en-US" sz="900" dirty="0">
                <a:solidFill>
                  <a:srgbClr val="8C99AA"/>
                </a:solidFill>
                <a:latin typeface="Calibri" pitchFamily="34" charset="0"/>
                <a:ea typeface="Calibri" pitchFamily="34" charset="-122"/>
                <a:cs typeface="Calibri" pitchFamily="34" charset="-120"/>
              </a:rPr>
              <a:t>DR Agent: Autonomous DR Validation  ·  Team Azure Armada  ·  Azure Day 2026 Hackathon   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1064240" cy="685800"/>
          </a:xfrm>
          <a:prstGeom prst="rect">
            <a:avLst/>
          </a:prstGeom>
          <a:noFill/>
          <a:ln/>
        </p:spPr>
        <p:txBody>
          <a:bodyPr wrap="square" lIns="0" tIns="0" rIns="0" bIns="0" rtlCol="0" anchor="ctr"/>
          <a:lstStyle/>
          <a:p>
            <a:pPr indent="0" marL="0">
              <a:buNone/>
            </a:pPr>
            <a:r>
              <a:rPr lang="en-US" sz="3200" b="1" dirty="0">
                <a:solidFill>
                  <a:srgbClr val="171721"/>
                </a:solidFill>
                <a:latin typeface="Calibri" pitchFamily="34" charset="0"/>
                <a:ea typeface="Calibri" pitchFamily="34" charset="-122"/>
                <a:cs typeface="Calibri" pitchFamily="34" charset="-120"/>
              </a:rPr>
              <a:t>In India, failing to recover is punished by freezing growth</a:t>
            </a:r>
            <a:endParaRPr lang="en-US" sz="3200" dirty="0"/>
          </a:p>
        </p:txBody>
      </p:sp>
      <p:sp>
        <p:nvSpPr>
          <p:cNvPr id="3" name="Text 1"/>
          <p:cNvSpPr txBox="1"/>
          <p:nvPr/>
        </p:nvSpPr>
        <p:spPr>
          <a:xfrm>
            <a:off x="548640" y="987552"/>
            <a:ext cx="11064240" cy="365760"/>
          </a:xfrm>
          <a:prstGeom prst="rect">
            <a:avLst/>
          </a:prstGeom>
          <a:noFill/>
          <a:ln/>
        </p:spPr>
        <p:txBody>
          <a:bodyPr wrap="square" lIns="0" tIns="0" rIns="0" bIns="0" rtlCol="0" anchor="ctr"/>
          <a:lstStyle/>
          <a:p>
            <a:pPr indent="0" marL="0">
              <a:buNone/>
            </a:pPr>
            <a:r>
              <a:rPr lang="en-US" sz="1500" i="1" dirty="0">
                <a:solidFill>
                  <a:srgbClr val="5B6B7F"/>
                </a:solidFill>
                <a:latin typeface="Calibri" pitchFamily="34" charset="0"/>
                <a:ea typeface="Calibri" pitchFamily="34" charset="-122"/>
                <a:cs typeface="Calibri" pitchFamily="34" charset="-120"/>
              </a:rPr>
              <a:t>Regulators act on outages and weak disaster recovery, not just on breaches.</a:t>
            </a:r>
            <a:endParaRPr lang="en-US" sz="1500" dirty="0"/>
          </a:p>
        </p:txBody>
      </p:sp>
      <p:sp>
        <p:nvSpPr>
          <p:cNvPr id="4" name="Shape 2"/>
          <p:cNvSpPr/>
          <p:nvPr/>
        </p:nvSpPr>
        <p:spPr>
          <a:xfrm>
            <a:off x="548640" y="1600200"/>
            <a:ext cx="3520440" cy="4434840"/>
          </a:xfrm>
          <a:prstGeom prst="roundRect">
            <a:avLst>
              <a:gd name="adj" fmla="val 2078"/>
            </a:avLst>
          </a:prstGeom>
          <a:solidFill>
            <a:srgbClr val="F1F5F9"/>
          </a:solidFill>
          <a:ln w="12700">
            <a:solidFill>
              <a:srgbClr val="F1F5F9"/>
            </a:solidFill>
            <a:prstDash val="solid"/>
          </a:ln>
          <a:effectLst>
            <a:outerShdw sx="100000" sy="100000" kx="0" ky="0" algn="bl" rotWithShape="0" blurRad="76200" dist="25400" dir="5400000">
              <a:srgbClr val="000000">
                <a:alpha val="12000"/>
              </a:srgbClr>
            </a:outerShdw>
          </a:effectLst>
        </p:spPr>
      </p:sp>
      <p:sp>
        <p:nvSpPr>
          <p:cNvPr id="5" name="Text 3"/>
          <p:cNvSpPr txBox="1"/>
          <p:nvPr/>
        </p:nvSpPr>
        <p:spPr>
          <a:xfrm>
            <a:off x="822960" y="1856232"/>
            <a:ext cx="2194560" cy="411480"/>
          </a:xfrm>
          <a:prstGeom prst="rect">
            <a:avLst/>
          </a:prstGeom>
          <a:noFill/>
          <a:ln/>
        </p:spPr>
        <p:txBody>
          <a:bodyPr wrap="square" lIns="0" tIns="0" rIns="0" bIns="0" rtlCol="0" anchor="ctr"/>
          <a:lstStyle/>
          <a:p>
            <a:pPr indent="0" marL="0">
              <a:buNone/>
            </a:pPr>
            <a:r>
              <a:rPr lang="en-US" sz="1900" b="1" dirty="0">
                <a:solidFill>
                  <a:srgbClr val="171721"/>
                </a:solidFill>
                <a:latin typeface="Calibri" pitchFamily="34" charset="0"/>
                <a:ea typeface="Calibri" pitchFamily="34" charset="-122"/>
                <a:cs typeface="Calibri" pitchFamily="34" charset="-120"/>
              </a:rPr>
              <a:t>HDFC Bank</a:t>
            </a:r>
            <a:endParaRPr lang="en-US" sz="1900" dirty="0"/>
          </a:p>
        </p:txBody>
      </p:sp>
      <p:sp>
        <p:nvSpPr>
          <p:cNvPr id="6" name="Text 4"/>
          <p:cNvSpPr txBox="1"/>
          <p:nvPr/>
        </p:nvSpPr>
        <p:spPr>
          <a:xfrm>
            <a:off x="2880360" y="1874520"/>
            <a:ext cx="914400" cy="365760"/>
          </a:xfrm>
          <a:prstGeom prst="rect">
            <a:avLst/>
          </a:prstGeom>
          <a:noFill/>
          <a:ln/>
        </p:spPr>
        <p:txBody>
          <a:bodyPr wrap="square" lIns="0" tIns="0" rIns="0" bIns="0" rtlCol="0" anchor="ctr"/>
          <a:lstStyle/>
          <a:p>
            <a:pPr algn="r" indent="0" marL="0">
              <a:buNone/>
            </a:pPr>
            <a:r>
              <a:rPr lang="en-US" sz="1200" b="1" dirty="0">
                <a:solidFill>
                  <a:srgbClr val="5E2CFE"/>
                </a:solidFill>
                <a:latin typeface="Calibri" pitchFamily="34" charset="0"/>
                <a:ea typeface="Calibri" pitchFamily="34" charset="-122"/>
                <a:cs typeface="Calibri" pitchFamily="34" charset="-120"/>
              </a:rPr>
              <a:t>Dec 2020</a:t>
            </a:r>
            <a:endParaRPr lang="en-US" sz="1200" dirty="0"/>
          </a:p>
        </p:txBody>
      </p:sp>
      <p:sp>
        <p:nvSpPr>
          <p:cNvPr id="7" name="Text 5"/>
          <p:cNvSpPr txBox="1"/>
          <p:nvPr/>
        </p:nvSpPr>
        <p:spPr>
          <a:xfrm>
            <a:off x="822960" y="2377440"/>
            <a:ext cx="3017520" cy="1783080"/>
          </a:xfrm>
          <a:prstGeom prst="rect">
            <a:avLst/>
          </a:prstGeom>
          <a:noFill/>
          <a:ln/>
        </p:spPr>
        <p:txBody>
          <a:bodyPr wrap="square" lIns="0" tIns="0" rIns="0" bIns="0" rtlCol="0" anchor="t"/>
          <a:lstStyle/>
          <a:p>
            <a:pPr indent="0" marL="0">
              <a:buNone/>
            </a:pPr>
            <a:r>
              <a:rPr lang="en-US" sz="1300" dirty="0">
                <a:solidFill>
                  <a:srgbClr val="1B2635"/>
                </a:solidFill>
                <a:latin typeface="Calibri" pitchFamily="34" charset="0"/>
                <a:ea typeface="Calibri" pitchFamily="34" charset="-122"/>
                <a:cs typeface="Calibri" pitchFamily="34" charset="-120"/>
              </a:rPr>
              <a:t>After repeated outages, the latest caused by a power failure at a primary data centre, the RBI stopped all new digital launches and new credit-card sourcing.</a:t>
            </a:r>
            <a:endParaRPr lang="en-US" sz="1300" dirty="0"/>
          </a:p>
        </p:txBody>
      </p:sp>
      <p:sp>
        <p:nvSpPr>
          <p:cNvPr id="8" name="Shape 6"/>
          <p:cNvSpPr/>
          <p:nvPr/>
        </p:nvSpPr>
        <p:spPr>
          <a:xfrm>
            <a:off x="822960" y="4297680"/>
            <a:ext cx="2971800" cy="0"/>
          </a:xfrm>
          <a:prstGeom prst="line">
            <a:avLst/>
          </a:prstGeom>
          <a:noFill/>
          <a:ln w="12700">
            <a:solidFill>
              <a:srgbClr val="C9D3DE"/>
            </a:solidFill>
            <a:prstDash val="solid"/>
          </a:ln>
        </p:spPr>
      </p:sp>
      <p:sp>
        <p:nvSpPr>
          <p:cNvPr id="9" name="Text 7"/>
          <p:cNvSpPr txBox="1"/>
          <p:nvPr/>
        </p:nvSpPr>
        <p:spPr>
          <a:xfrm>
            <a:off x="822960" y="4434840"/>
            <a:ext cx="3017520" cy="731520"/>
          </a:xfrm>
          <a:prstGeom prst="rect">
            <a:avLst/>
          </a:prstGeom>
          <a:noFill/>
          <a:ln/>
        </p:spPr>
        <p:txBody>
          <a:bodyPr wrap="square" lIns="0" tIns="0" rIns="0" bIns="0" rtlCol="0" anchor="ctr"/>
          <a:lstStyle/>
          <a:p>
            <a:pPr indent="0" marL="0">
              <a:buNone/>
            </a:pPr>
            <a:r>
              <a:rPr lang="en-US" sz="3400" b="1" dirty="0">
                <a:solidFill>
                  <a:srgbClr val="D64545"/>
                </a:solidFill>
                <a:latin typeface="Calibri" pitchFamily="34" charset="0"/>
                <a:ea typeface="Calibri" pitchFamily="34" charset="-122"/>
                <a:cs typeface="Calibri" pitchFamily="34" charset="-120"/>
              </a:rPr>
              <a:t>≈15 months</a:t>
            </a:r>
            <a:endParaRPr lang="en-US" sz="3400" dirty="0"/>
          </a:p>
        </p:txBody>
      </p:sp>
      <p:sp>
        <p:nvSpPr>
          <p:cNvPr id="10" name="Text 8"/>
          <p:cNvSpPr txBox="1"/>
          <p:nvPr/>
        </p:nvSpPr>
        <p:spPr>
          <a:xfrm>
            <a:off x="822960" y="5166360"/>
            <a:ext cx="3017520" cy="548640"/>
          </a:xfrm>
          <a:prstGeom prst="rect">
            <a:avLst/>
          </a:prstGeom>
          <a:noFill/>
          <a:ln/>
        </p:spPr>
        <p:txBody>
          <a:bodyPr wrap="square" lIns="0" tIns="0" rIns="0" bIns="0" rtlCol="0" anchor="t"/>
          <a:lstStyle/>
          <a:p>
            <a:pPr indent="0" marL="0">
              <a:buNone/>
            </a:pPr>
            <a:r>
              <a:rPr lang="en-US" sz="1200" dirty="0">
                <a:solidFill>
                  <a:srgbClr val="5B6B7F"/>
                </a:solidFill>
                <a:latin typeface="Calibri" pitchFamily="34" charset="0"/>
                <a:ea typeface="Calibri" pitchFamily="34" charset="-122"/>
                <a:cs typeface="Calibri" pitchFamily="34" charset="-120"/>
              </a:rPr>
              <a:t>until digital launches were allowed again (Mar 2022); cards resumed Aug 2021</a:t>
            </a:r>
            <a:endParaRPr lang="en-US" sz="1200" dirty="0"/>
          </a:p>
        </p:txBody>
      </p:sp>
      <p:sp>
        <p:nvSpPr>
          <p:cNvPr id="11" name="Text 9"/>
          <p:cNvSpPr txBox="1"/>
          <p:nvPr/>
        </p:nvSpPr>
        <p:spPr>
          <a:xfrm>
            <a:off x="3383280" y="5669280"/>
            <a:ext cx="457200" cy="274320"/>
          </a:xfrm>
          <a:prstGeom prst="rect">
            <a:avLst/>
          </a:prstGeom>
          <a:noFill/>
          <a:ln/>
        </p:spPr>
        <p:txBody>
          <a:bodyPr wrap="square" lIns="0" tIns="0" rIns="0" bIns="0" rtlCol="0" anchor="ctr"/>
          <a:lstStyle/>
          <a:p>
            <a:pPr algn="r" indent="0" marL="0">
              <a:buNone/>
            </a:pPr>
            <a:r>
              <a:rPr lang="en-US" sz="950" dirty="0">
                <a:solidFill>
                  <a:srgbClr val="5B6B7F"/>
                </a:solidFill>
                <a:latin typeface="Calibri" pitchFamily="34" charset="0"/>
                <a:ea typeface="Calibri" pitchFamily="34" charset="-122"/>
                <a:cs typeface="Calibri" pitchFamily="34" charset="-120"/>
              </a:rPr>
              <a:t>[4]</a:t>
            </a:r>
            <a:endParaRPr lang="en-US" sz="950" dirty="0"/>
          </a:p>
        </p:txBody>
      </p:sp>
      <p:sp>
        <p:nvSpPr>
          <p:cNvPr id="12" name="Shape 10"/>
          <p:cNvSpPr/>
          <p:nvPr/>
        </p:nvSpPr>
        <p:spPr>
          <a:xfrm>
            <a:off x="4297680" y="1600200"/>
            <a:ext cx="3520440" cy="4434840"/>
          </a:xfrm>
          <a:prstGeom prst="roundRect">
            <a:avLst>
              <a:gd name="adj" fmla="val 2078"/>
            </a:avLst>
          </a:prstGeom>
          <a:solidFill>
            <a:srgbClr val="F1F5F9"/>
          </a:solidFill>
          <a:ln w="12700">
            <a:solidFill>
              <a:srgbClr val="F1F5F9"/>
            </a:solidFill>
            <a:prstDash val="solid"/>
          </a:ln>
          <a:effectLst>
            <a:outerShdw sx="100000" sy="100000" kx="0" ky="0" algn="bl" rotWithShape="0" blurRad="76200" dist="25400" dir="5400000">
              <a:srgbClr val="000000">
                <a:alpha val="12000"/>
              </a:srgbClr>
            </a:outerShdw>
          </a:effectLst>
        </p:spPr>
      </p:sp>
      <p:sp>
        <p:nvSpPr>
          <p:cNvPr id="13" name="Text 11"/>
          <p:cNvSpPr txBox="1"/>
          <p:nvPr/>
        </p:nvSpPr>
        <p:spPr>
          <a:xfrm>
            <a:off x="4572000" y="1856232"/>
            <a:ext cx="2194560" cy="411480"/>
          </a:xfrm>
          <a:prstGeom prst="rect">
            <a:avLst/>
          </a:prstGeom>
          <a:noFill/>
          <a:ln/>
        </p:spPr>
        <p:txBody>
          <a:bodyPr wrap="square" lIns="0" tIns="0" rIns="0" bIns="0" rtlCol="0" anchor="ctr"/>
          <a:lstStyle/>
          <a:p>
            <a:pPr indent="0" marL="0">
              <a:buNone/>
            </a:pPr>
            <a:r>
              <a:rPr lang="en-US" sz="1900" b="1" dirty="0">
                <a:solidFill>
                  <a:srgbClr val="171721"/>
                </a:solidFill>
                <a:latin typeface="Calibri" pitchFamily="34" charset="0"/>
                <a:ea typeface="Calibri" pitchFamily="34" charset="-122"/>
                <a:cs typeface="Calibri" pitchFamily="34" charset="-120"/>
              </a:rPr>
              <a:t>NSE</a:t>
            </a:r>
            <a:endParaRPr lang="en-US" sz="1900" dirty="0"/>
          </a:p>
        </p:txBody>
      </p:sp>
      <p:sp>
        <p:nvSpPr>
          <p:cNvPr id="14" name="Text 12"/>
          <p:cNvSpPr txBox="1"/>
          <p:nvPr/>
        </p:nvSpPr>
        <p:spPr>
          <a:xfrm>
            <a:off x="6629400" y="1874520"/>
            <a:ext cx="914400" cy="365760"/>
          </a:xfrm>
          <a:prstGeom prst="rect">
            <a:avLst/>
          </a:prstGeom>
          <a:noFill/>
          <a:ln/>
        </p:spPr>
        <p:txBody>
          <a:bodyPr wrap="square" lIns="0" tIns="0" rIns="0" bIns="0" rtlCol="0" anchor="ctr"/>
          <a:lstStyle/>
          <a:p>
            <a:pPr algn="r" indent="0" marL="0">
              <a:buNone/>
            </a:pPr>
            <a:r>
              <a:rPr lang="en-US" sz="1200" b="1" dirty="0">
                <a:solidFill>
                  <a:srgbClr val="5E2CFE"/>
                </a:solidFill>
                <a:latin typeface="Calibri" pitchFamily="34" charset="0"/>
                <a:ea typeface="Calibri" pitchFamily="34" charset="-122"/>
                <a:cs typeface="Calibri" pitchFamily="34" charset="-120"/>
              </a:rPr>
              <a:t>Feb 2021</a:t>
            </a:r>
            <a:endParaRPr lang="en-US" sz="1200" dirty="0"/>
          </a:p>
        </p:txBody>
      </p:sp>
      <p:sp>
        <p:nvSpPr>
          <p:cNvPr id="15" name="Text 13"/>
          <p:cNvSpPr txBox="1"/>
          <p:nvPr/>
        </p:nvSpPr>
        <p:spPr>
          <a:xfrm>
            <a:off x="4572000" y="2377440"/>
            <a:ext cx="3017520" cy="1783080"/>
          </a:xfrm>
          <a:prstGeom prst="rect">
            <a:avLst/>
          </a:prstGeom>
          <a:noFill/>
          <a:ln/>
        </p:spPr>
        <p:txBody>
          <a:bodyPr wrap="square" lIns="0" tIns="0" rIns="0" bIns="0" rtlCol="0" anchor="t"/>
          <a:lstStyle/>
          <a:p>
            <a:pPr indent="0" marL="0">
              <a:buNone/>
            </a:pPr>
            <a:r>
              <a:rPr lang="en-US" sz="1300" dirty="0">
                <a:solidFill>
                  <a:srgbClr val="1B2635"/>
                </a:solidFill>
                <a:latin typeface="Calibri" pitchFamily="34" charset="0"/>
                <a:ea typeface="Calibri" pitchFamily="34" charset="-122"/>
                <a:cs typeface="Calibri" pitchFamily="34" charset="-120"/>
              </a:rPr>
              <a:t>Trading was halted for nearly four hours on 24 February 2021. NSE and NSE Clearing settled with SEBI; executives were ordered to do community service and training.</a:t>
            </a:r>
            <a:endParaRPr lang="en-US" sz="1300" dirty="0"/>
          </a:p>
        </p:txBody>
      </p:sp>
      <p:sp>
        <p:nvSpPr>
          <p:cNvPr id="16" name="Shape 14"/>
          <p:cNvSpPr/>
          <p:nvPr/>
        </p:nvSpPr>
        <p:spPr>
          <a:xfrm>
            <a:off x="4572000" y="4297680"/>
            <a:ext cx="2971800" cy="0"/>
          </a:xfrm>
          <a:prstGeom prst="line">
            <a:avLst/>
          </a:prstGeom>
          <a:noFill/>
          <a:ln w="12700">
            <a:solidFill>
              <a:srgbClr val="C9D3DE"/>
            </a:solidFill>
            <a:prstDash val="solid"/>
          </a:ln>
        </p:spPr>
      </p:sp>
      <p:sp>
        <p:nvSpPr>
          <p:cNvPr id="17" name="Text 15"/>
          <p:cNvSpPr txBox="1"/>
          <p:nvPr/>
        </p:nvSpPr>
        <p:spPr>
          <a:xfrm>
            <a:off x="4572000" y="4434840"/>
            <a:ext cx="3017520" cy="731520"/>
          </a:xfrm>
          <a:prstGeom prst="rect">
            <a:avLst/>
          </a:prstGeom>
          <a:noFill/>
          <a:ln/>
        </p:spPr>
        <p:txBody>
          <a:bodyPr wrap="square" lIns="0" tIns="0" rIns="0" bIns="0" rtlCol="0" anchor="ctr"/>
          <a:lstStyle/>
          <a:p>
            <a:pPr indent="0" marL="0">
              <a:buNone/>
            </a:pPr>
            <a:r>
              <a:rPr lang="en-US" sz="3400" b="1" dirty="0">
                <a:solidFill>
                  <a:srgbClr val="D64545"/>
                </a:solidFill>
                <a:latin typeface="Calibri" pitchFamily="34" charset="0"/>
                <a:ea typeface="Calibri" pitchFamily="34" charset="-122"/>
                <a:cs typeface="Calibri" pitchFamily="34" charset="-120"/>
              </a:rPr>
              <a:t>≈ $8.8M</a:t>
            </a:r>
            <a:endParaRPr lang="en-US" sz="3400" dirty="0"/>
          </a:p>
        </p:txBody>
      </p:sp>
      <p:sp>
        <p:nvSpPr>
          <p:cNvPr id="18" name="Text 16"/>
          <p:cNvSpPr txBox="1"/>
          <p:nvPr/>
        </p:nvSpPr>
        <p:spPr>
          <a:xfrm>
            <a:off x="4572000" y="5166360"/>
            <a:ext cx="3017520" cy="548640"/>
          </a:xfrm>
          <a:prstGeom prst="rect">
            <a:avLst/>
          </a:prstGeom>
          <a:noFill/>
          <a:ln/>
        </p:spPr>
        <p:txBody>
          <a:bodyPr wrap="square" lIns="0" tIns="0" rIns="0" bIns="0" rtlCol="0" anchor="t"/>
          <a:lstStyle/>
          <a:p>
            <a:pPr indent="0" marL="0">
              <a:buNone/>
            </a:pPr>
            <a:r>
              <a:rPr lang="en-US" sz="1200" dirty="0">
                <a:solidFill>
                  <a:srgbClr val="5B6B7F"/>
                </a:solidFill>
                <a:latin typeface="Calibri" pitchFamily="34" charset="0"/>
                <a:ea typeface="Calibri" pitchFamily="34" charset="-122"/>
                <a:cs typeface="Calibri" pitchFamily="34" charset="-120"/>
              </a:rPr>
              <a:t>paid by NSE and NSE Clearing to settle with SEBI (2023)</a:t>
            </a:r>
            <a:endParaRPr lang="en-US" sz="1200" dirty="0"/>
          </a:p>
        </p:txBody>
      </p:sp>
      <p:sp>
        <p:nvSpPr>
          <p:cNvPr id="19" name="Text 17"/>
          <p:cNvSpPr txBox="1"/>
          <p:nvPr/>
        </p:nvSpPr>
        <p:spPr>
          <a:xfrm>
            <a:off x="7132320" y="5669280"/>
            <a:ext cx="457200" cy="274320"/>
          </a:xfrm>
          <a:prstGeom prst="rect">
            <a:avLst/>
          </a:prstGeom>
          <a:noFill/>
          <a:ln/>
        </p:spPr>
        <p:txBody>
          <a:bodyPr wrap="square" lIns="0" tIns="0" rIns="0" bIns="0" rtlCol="0" anchor="ctr"/>
          <a:lstStyle/>
          <a:p>
            <a:pPr algn="r" indent="0" marL="0">
              <a:buNone/>
            </a:pPr>
            <a:r>
              <a:rPr lang="en-US" sz="950" dirty="0">
                <a:solidFill>
                  <a:srgbClr val="5B6B7F"/>
                </a:solidFill>
                <a:latin typeface="Calibri" pitchFamily="34" charset="0"/>
                <a:ea typeface="Calibri" pitchFamily="34" charset="-122"/>
                <a:cs typeface="Calibri" pitchFamily="34" charset="-120"/>
              </a:rPr>
              <a:t>[5]</a:t>
            </a:r>
            <a:endParaRPr lang="en-US" sz="950" dirty="0"/>
          </a:p>
        </p:txBody>
      </p:sp>
      <p:sp>
        <p:nvSpPr>
          <p:cNvPr id="20" name="Shape 18"/>
          <p:cNvSpPr/>
          <p:nvPr/>
        </p:nvSpPr>
        <p:spPr>
          <a:xfrm>
            <a:off x="8046720" y="1600200"/>
            <a:ext cx="3520440" cy="4434840"/>
          </a:xfrm>
          <a:prstGeom prst="roundRect">
            <a:avLst>
              <a:gd name="adj" fmla="val 2078"/>
            </a:avLst>
          </a:prstGeom>
          <a:solidFill>
            <a:srgbClr val="F1F5F9"/>
          </a:solidFill>
          <a:ln w="12700">
            <a:solidFill>
              <a:srgbClr val="F1F5F9"/>
            </a:solidFill>
            <a:prstDash val="solid"/>
          </a:ln>
          <a:effectLst>
            <a:outerShdw sx="100000" sy="100000" kx="0" ky="0" algn="bl" rotWithShape="0" blurRad="76200" dist="25400" dir="5400000">
              <a:srgbClr val="000000">
                <a:alpha val="12000"/>
              </a:srgbClr>
            </a:outerShdw>
          </a:effectLst>
        </p:spPr>
      </p:sp>
      <p:sp>
        <p:nvSpPr>
          <p:cNvPr id="21" name="Text 19"/>
          <p:cNvSpPr txBox="1"/>
          <p:nvPr/>
        </p:nvSpPr>
        <p:spPr>
          <a:xfrm>
            <a:off x="8321040" y="1856232"/>
            <a:ext cx="2194560" cy="411480"/>
          </a:xfrm>
          <a:prstGeom prst="rect">
            <a:avLst/>
          </a:prstGeom>
          <a:noFill/>
          <a:ln/>
        </p:spPr>
        <p:txBody>
          <a:bodyPr wrap="square" lIns="0" tIns="0" rIns="0" bIns="0" rtlCol="0" anchor="ctr"/>
          <a:lstStyle/>
          <a:p>
            <a:pPr indent="0" marL="0">
              <a:buNone/>
            </a:pPr>
            <a:r>
              <a:rPr lang="en-US" sz="1900" b="1" dirty="0">
                <a:solidFill>
                  <a:srgbClr val="171721"/>
                </a:solidFill>
                <a:latin typeface="Calibri" pitchFamily="34" charset="0"/>
                <a:ea typeface="Calibri" pitchFamily="34" charset="-122"/>
                <a:cs typeface="Calibri" pitchFamily="34" charset="-120"/>
              </a:rPr>
              <a:t>Kotak Mahindra Bank</a:t>
            </a:r>
            <a:endParaRPr lang="en-US" sz="1900" dirty="0"/>
          </a:p>
        </p:txBody>
      </p:sp>
      <p:sp>
        <p:nvSpPr>
          <p:cNvPr id="22" name="Text 20"/>
          <p:cNvSpPr txBox="1"/>
          <p:nvPr/>
        </p:nvSpPr>
        <p:spPr>
          <a:xfrm>
            <a:off x="10378440" y="1874520"/>
            <a:ext cx="914400" cy="365760"/>
          </a:xfrm>
          <a:prstGeom prst="rect">
            <a:avLst/>
          </a:prstGeom>
          <a:noFill/>
          <a:ln/>
        </p:spPr>
        <p:txBody>
          <a:bodyPr wrap="square" lIns="0" tIns="0" rIns="0" bIns="0" rtlCol="0" anchor="ctr"/>
          <a:lstStyle/>
          <a:p>
            <a:pPr algn="r" indent="0" marL="0">
              <a:buNone/>
            </a:pPr>
            <a:r>
              <a:rPr lang="en-US" sz="1200" b="1" dirty="0">
                <a:solidFill>
                  <a:srgbClr val="5E2CFE"/>
                </a:solidFill>
                <a:latin typeface="Calibri" pitchFamily="34" charset="0"/>
                <a:ea typeface="Calibri" pitchFamily="34" charset="-122"/>
                <a:cs typeface="Calibri" pitchFamily="34" charset="-120"/>
              </a:rPr>
              <a:t>Apr 2024</a:t>
            </a:r>
            <a:endParaRPr lang="en-US" sz="1200" dirty="0"/>
          </a:p>
        </p:txBody>
      </p:sp>
      <p:sp>
        <p:nvSpPr>
          <p:cNvPr id="23" name="Text 21"/>
          <p:cNvSpPr txBox="1"/>
          <p:nvPr/>
        </p:nvSpPr>
        <p:spPr>
          <a:xfrm>
            <a:off x="8321040" y="2377440"/>
            <a:ext cx="3017520" cy="1783080"/>
          </a:xfrm>
          <a:prstGeom prst="rect">
            <a:avLst/>
          </a:prstGeom>
          <a:noFill/>
          <a:ln/>
        </p:spPr>
        <p:txBody>
          <a:bodyPr wrap="square" lIns="0" tIns="0" rIns="0" bIns="0" rtlCol="0" anchor="t"/>
          <a:lstStyle/>
          <a:p>
            <a:pPr indent="0" marL="0">
              <a:buNone/>
            </a:pPr>
            <a:r>
              <a:rPr lang="en-US" sz="1300" dirty="0">
                <a:solidFill>
                  <a:srgbClr val="1B2635"/>
                </a:solidFill>
                <a:latin typeface="Calibri" pitchFamily="34" charset="0"/>
                <a:ea typeface="Calibri" pitchFamily="34" charset="-122"/>
                <a:cs typeface="Calibri" pitchFamily="34" charset="-120"/>
              </a:rPr>
              <a:t>The RBI cited deficiencies including business continuity and disaster recovery, and frequent outages, and barred online customer onboarding and new credit cards.</a:t>
            </a:r>
            <a:endParaRPr lang="en-US" sz="1300" dirty="0"/>
          </a:p>
        </p:txBody>
      </p:sp>
      <p:sp>
        <p:nvSpPr>
          <p:cNvPr id="24" name="Shape 22"/>
          <p:cNvSpPr/>
          <p:nvPr/>
        </p:nvSpPr>
        <p:spPr>
          <a:xfrm>
            <a:off x="8321040" y="4297680"/>
            <a:ext cx="2971800" cy="0"/>
          </a:xfrm>
          <a:prstGeom prst="line">
            <a:avLst/>
          </a:prstGeom>
          <a:noFill/>
          <a:ln w="12700">
            <a:solidFill>
              <a:srgbClr val="C9D3DE"/>
            </a:solidFill>
            <a:prstDash val="solid"/>
          </a:ln>
        </p:spPr>
      </p:sp>
      <p:sp>
        <p:nvSpPr>
          <p:cNvPr id="25" name="Text 23"/>
          <p:cNvSpPr txBox="1"/>
          <p:nvPr/>
        </p:nvSpPr>
        <p:spPr>
          <a:xfrm>
            <a:off x="8321040" y="4434840"/>
            <a:ext cx="3017520" cy="731520"/>
          </a:xfrm>
          <a:prstGeom prst="rect">
            <a:avLst/>
          </a:prstGeom>
          <a:noFill/>
          <a:ln/>
        </p:spPr>
        <p:txBody>
          <a:bodyPr wrap="square" lIns="0" tIns="0" rIns="0" bIns="0" rtlCol="0" anchor="ctr"/>
          <a:lstStyle/>
          <a:p>
            <a:pPr indent="0" marL="0">
              <a:buNone/>
            </a:pPr>
            <a:r>
              <a:rPr lang="en-US" sz="3400" b="1" dirty="0">
                <a:solidFill>
                  <a:srgbClr val="D64545"/>
                </a:solidFill>
                <a:latin typeface="Calibri" pitchFamily="34" charset="0"/>
                <a:ea typeface="Calibri" pitchFamily="34" charset="-122"/>
                <a:cs typeface="Calibri" pitchFamily="34" charset="-120"/>
              </a:rPr>
              <a:t>≈10 months</a:t>
            </a:r>
            <a:endParaRPr lang="en-US" sz="3400" dirty="0"/>
          </a:p>
        </p:txBody>
      </p:sp>
      <p:sp>
        <p:nvSpPr>
          <p:cNvPr id="26" name="Text 24"/>
          <p:cNvSpPr txBox="1"/>
          <p:nvPr/>
        </p:nvSpPr>
        <p:spPr>
          <a:xfrm>
            <a:off x="8321040" y="5166360"/>
            <a:ext cx="3017520" cy="548640"/>
          </a:xfrm>
          <a:prstGeom prst="rect">
            <a:avLst/>
          </a:prstGeom>
          <a:noFill/>
          <a:ln/>
        </p:spPr>
        <p:txBody>
          <a:bodyPr wrap="square" lIns="0" tIns="0" rIns="0" bIns="0" rtlCol="0" anchor="t"/>
          <a:lstStyle/>
          <a:p>
            <a:pPr indent="0" marL="0">
              <a:buNone/>
            </a:pPr>
            <a:r>
              <a:rPr lang="en-US" sz="1200" dirty="0">
                <a:solidFill>
                  <a:srgbClr val="5B6B7F"/>
                </a:solidFill>
                <a:latin typeface="Calibri" pitchFamily="34" charset="0"/>
                <a:ea typeface="Calibri" pitchFamily="34" charset="-122"/>
                <a:cs typeface="Calibri" pitchFamily="34" charset="-120"/>
              </a:rPr>
              <a:t>until the restrictions were lifted (Feb 2025)</a:t>
            </a:r>
            <a:endParaRPr lang="en-US" sz="1200" dirty="0"/>
          </a:p>
        </p:txBody>
      </p:sp>
      <p:sp>
        <p:nvSpPr>
          <p:cNvPr id="27" name="Text 25"/>
          <p:cNvSpPr txBox="1"/>
          <p:nvPr/>
        </p:nvSpPr>
        <p:spPr>
          <a:xfrm>
            <a:off x="10881360" y="5669280"/>
            <a:ext cx="457200" cy="274320"/>
          </a:xfrm>
          <a:prstGeom prst="rect">
            <a:avLst/>
          </a:prstGeom>
          <a:noFill/>
          <a:ln/>
        </p:spPr>
        <p:txBody>
          <a:bodyPr wrap="square" lIns="0" tIns="0" rIns="0" bIns="0" rtlCol="0" anchor="ctr"/>
          <a:lstStyle/>
          <a:p>
            <a:pPr algn="r" indent="0" marL="0">
              <a:buNone/>
            </a:pPr>
            <a:r>
              <a:rPr lang="en-US" sz="950" dirty="0">
                <a:solidFill>
                  <a:srgbClr val="5B6B7F"/>
                </a:solidFill>
                <a:latin typeface="Calibri" pitchFamily="34" charset="0"/>
                <a:ea typeface="Calibri" pitchFamily="34" charset="-122"/>
                <a:cs typeface="Calibri" pitchFamily="34" charset="-120"/>
              </a:rPr>
              <a:t>[6]</a:t>
            </a:r>
            <a:endParaRPr lang="en-US" sz="950" dirty="0"/>
          </a:p>
        </p:txBody>
      </p:sp>
      <p:sp>
        <p:nvSpPr>
          <p:cNvPr id="28" name="Text 26"/>
          <p:cNvSpPr txBox="1"/>
          <p:nvPr/>
        </p:nvSpPr>
        <p:spPr>
          <a:xfrm>
            <a:off x="548640" y="6144768"/>
            <a:ext cx="11064240" cy="320040"/>
          </a:xfrm>
          <a:prstGeom prst="rect">
            <a:avLst/>
          </a:prstGeom>
          <a:noFill/>
          <a:ln/>
        </p:spPr>
        <p:txBody>
          <a:bodyPr wrap="square" lIns="0" tIns="0" rIns="0" bIns="0" rtlCol="0" anchor="ctr"/>
          <a:lstStyle/>
          <a:p>
            <a:pPr indent="0" marL="0">
              <a:buNone/>
            </a:pPr>
            <a:r>
              <a:rPr lang="en-US" sz="1400" b="1" dirty="0">
                <a:solidFill>
                  <a:srgbClr val="171721"/>
                </a:solidFill>
                <a:latin typeface="Calibri" pitchFamily="34" charset="0"/>
                <a:ea typeface="Calibri" pitchFamily="34" charset="-122"/>
                <a:cs typeface="Calibri" pitchFamily="34" charset="-120"/>
              </a:rPr>
              <a:t>For a bank, a 10–15 month ban on new digital customers costs far more than any fine.</a:t>
            </a:r>
            <a:endParaRPr lang="en-US" sz="1400" dirty="0"/>
          </a:p>
        </p:txBody>
      </p:sp>
      <p:sp>
        <p:nvSpPr>
          <p:cNvPr id="29" name="Text 27"/>
          <p:cNvSpPr txBox="1"/>
          <p:nvPr/>
        </p:nvSpPr>
        <p:spPr>
          <a:xfrm>
            <a:off x="548640" y="6473952"/>
            <a:ext cx="11064240" cy="274320"/>
          </a:xfrm>
          <a:prstGeom prst="rect">
            <a:avLst/>
          </a:prstGeom>
          <a:noFill/>
          <a:ln/>
        </p:spPr>
        <p:txBody>
          <a:bodyPr wrap="square" lIns="0" tIns="0" rIns="0" bIns="0" rtlCol="0" anchor="ctr"/>
          <a:lstStyle/>
          <a:p>
            <a:pPr algn="r" indent="0" marL="0">
              <a:buNone/>
            </a:pPr>
            <a:r>
              <a:rPr lang="en-US" sz="900" dirty="0">
                <a:solidFill>
                  <a:srgbClr val="8C99AA"/>
                </a:solidFill>
                <a:latin typeface="Calibri" pitchFamily="34" charset="0"/>
                <a:ea typeface="Calibri" pitchFamily="34" charset="-122"/>
                <a:cs typeface="Calibri" pitchFamily="34" charset="-120"/>
              </a:rPr>
              <a:t>DR Agent: Autonomous DR Validation  ·  Team Azure Armada  ·  Azure Day 2026 Hackathon   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1064240" cy="685800"/>
          </a:xfrm>
          <a:prstGeom prst="rect">
            <a:avLst/>
          </a:prstGeom>
          <a:noFill/>
          <a:ln/>
        </p:spPr>
        <p:txBody>
          <a:bodyPr wrap="square" lIns="0" tIns="0" rIns="0" bIns="0" rtlCol="0" anchor="ctr"/>
          <a:lstStyle/>
          <a:p>
            <a:pPr indent="0" marL="0">
              <a:buNone/>
            </a:pPr>
            <a:r>
              <a:rPr lang="en-US" sz="3200" b="1" dirty="0">
                <a:solidFill>
                  <a:srgbClr val="171721"/>
                </a:solidFill>
                <a:latin typeface="Calibri" pitchFamily="34" charset="0"/>
                <a:ea typeface="Calibri" pitchFamily="34" charset="-122"/>
                <a:cs typeface="Calibri" pitchFamily="34" charset="-120"/>
              </a:rPr>
              <a:t>Regulators now require proof of recovery, on a schedule</a:t>
            </a:r>
            <a:endParaRPr lang="en-US" sz="3200" dirty="0"/>
          </a:p>
        </p:txBody>
      </p:sp>
      <p:sp>
        <p:nvSpPr>
          <p:cNvPr id="3" name="Text 1"/>
          <p:cNvSpPr txBox="1"/>
          <p:nvPr/>
        </p:nvSpPr>
        <p:spPr>
          <a:xfrm>
            <a:off x="548640" y="987552"/>
            <a:ext cx="11064240" cy="365760"/>
          </a:xfrm>
          <a:prstGeom prst="rect">
            <a:avLst/>
          </a:prstGeom>
          <a:noFill/>
          <a:ln/>
        </p:spPr>
        <p:txBody>
          <a:bodyPr wrap="square" lIns="0" tIns="0" rIns="0" bIns="0" rtlCol="0" anchor="ctr"/>
          <a:lstStyle/>
          <a:p>
            <a:pPr indent="0" marL="0">
              <a:buNone/>
            </a:pPr>
            <a:r>
              <a:rPr lang="en-US" sz="1500" i="1" dirty="0">
                <a:solidFill>
                  <a:srgbClr val="5B6B7F"/>
                </a:solidFill>
                <a:latin typeface="Calibri" pitchFamily="34" charset="0"/>
                <a:ea typeface="Calibri" pitchFamily="34" charset="-122"/>
                <a:cs typeface="Calibri" pitchFamily="34" charset="-120"/>
              </a:rPr>
              <a:t>Having a DR plan is not enough. It must be tested, the gaps fixed, and the test repeated.</a:t>
            </a:r>
            <a:endParaRPr lang="en-US" sz="15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48640" y="1600200"/>
          <a:ext cx="11064240" cy="914400"/>
        </p:xfrm>
        <a:graphic>
          <a:graphicData uri="http://schemas.openxmlformats.org/drawingml/2006/table">
            <a:tbl>
              <a:tblPr/>
              <a:tblGrid>
                <a:gridCol w="2743200"/>
                <a:gridCol w="5029200"/>
                <a:gridCol w="3291840"/>
              </a:tblGrid>
              <a:tr h="384048">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Regulator</a:t>
                      </a:r>
                      <a:endParaRPr lang="en-US" sz="1300" dirty="0">
                        <a:latin typeface="Calibri" charset="0"/>
                        <a:ea typeface="Calibri" charset="0"/>
                        <a:cs typeface="Calibri" charset="0"/>
                      </a:endParaRPr>
                    </a:p>
                  </a:txBody>
                  <a:tcPr marL="101600" marR="101600" marT="76200" marB="76200">
                    <a:lnL w="12700" cap="flat" cmpd="sng" algn="ctr">
                      <a:solidFill>
                        <a:srgbClr val="C9D3DE"/>
                      </a:solidFill>
                      <a:prstDash val="solid"/>
                      <a:round/>
                      <a:headEnd type="none" w="med" len="med"/>
                      <a:tailEnd type="none" w="med" len="med"/>
                    </a:lnL>
                    <a:lnR w="12700" cap="flat" cmpd="sng" algn="ctr">
                      <a:solidFill>
                        <a:srgbClr val="C9D3DE"/>
                      </a:solidFill>
                      <a:prstDash val="solid"/>
                      <a:round/>
                      <a:headEnd type="none" w="med" len="med"/>
                      <a:tailEnd type="none" w="med" len="med"/>
                    </a:lnR>
                    <a:lnT w="12700" cap="flat" cmpd="sng" algn="ctr">
                      <a:solidFill>
                        <a:srgbClr val="C9D3DE"/>
                      </a:solidFill>
                      <a:prstDash val="solid"/>
                      <a:round/>
                      <a:headEnd type="none" w="med" len="med"/>
                      <a:tailEnd type="none" w="med" len="med"/>
                    </a:lnT>
                    <a:lnB w="12700" cap="flat" cmpd="sng" algn="ctr">
                      <a:solidFill>
                        <a:srgbClr val="C9D3DE"/>
                      </a:solidFill>
                      <a:prstDash val="solid"/>
                      <a:round/>
                      <a:headEnd type="none" w="med" len="med"/>
                      <a:tailEnd type="none" w="med" len="med"/>
                    </a:lnB>
                    <a:solidFill>
                      <a:srgbClr val="171721"/>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What it requires</a:t>
                      </a:r>
                      <a:endParaRPr lang="en-US" sz="1300" dirty="0">
                        <a:latin typeface="Calibri" charset="0"/>
                        <a:ea typeface="Calibri" charset="0"/>
                        <a:cs typeface="Calibri" charset="0"/>
                      </a:endParaRPr>
                    </a:p>
                  </a:txBody>
                  <a:tcPr marL="101600" marR="101600" marT="76200" marB="76200">
                    <a:lnL w="12700" cap="flat" cmpd="sng" algn="ctr">
                      <a:solidFill>
                        <a:srgbClr val="C9D3DE"/>
                      </a:solidFill>
                      <a:prstDash val="solid"/>
                      <a:round/>
                      <a:headEnd type="none" w="med" len="med"/>
                      <a:tailEnd type="none" w="med" len="med"/>
                    </a:lnL>
                    <a:lnR w="12700" cap="flat" cmpd="sng" algn="ctr">
                      <a:solidFill>
                        <a:srgbClr val="C9D3DE"/>
                      </a:solidFill>
                      <a:prstDash val="solid"/>
                      <a:round/>
                      <a:headEnd type="none" w="med" len="med"/>
                      <a:tailEnd type="none" w="med" len="med"/>
                    </a:lnR>
                    <a:lnT w="12700" cap="flat" cmpd="sng" algn="ctr">
                      <a:solidFill>
                        <a:srgbClr val="C9D3DE"/>
                      </a:solidFill>
                      <a:prstDash val="solid"/>
                      <a:round/>
                      <a:headEnd type="none" w="med" len="med"/>
                      <a:tailEnd type="none" w="med" len="med"/>
                    </a:lnT>
                    <a:lnB w="12700" cap="flat" cmpd="sng" algn="ctr">
                      <a:solidFill>
                        <a:srgbClr val="C9D3DE"/>
                      </a:solidFill>
                      <a:prstDash val="solid"/>
                      <a:round/>
                      <a:headEnd type="none" w="med" len="med"/>
                      <a:tailEnd type="none" w="med" len="med"/>
                    </a:lnB>
                    <a:solidFill>
                      <a:srgbClr val="171721"/>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If you fall short</a:t>
                      </a:r>
                      <a:endParaRPr lang="en-US" sz="1300" dirty="0">
                        <a:latin typeface="Calibri" charset="0"/>
                        <a:ea typeface="Calibri" charset="0"/>
                        <a:cs typeface="Calibri" charset="0"/>
                      </a:endParaRPr>
                    </a:p>
                  </a:txBody>
                  <a:tcPr marL="101600" marR="101600" marT="76200" marB="76200">
                    <a:lnL w="12700" cap="flat" cmpd="sng" algn="ctr">
                      <a:solidFill>
                        <a:srgbClr val="C9D3DE"/>
                      </a:solidFill>
                      <a:prstDash val="solid"/>
                      <a:round/>
                      <a:headEnd type="none" w="med" len="med"/>
                      <a:tailEnd type="none" w="med" len="med"/>
                    </a:lnL>
                    <a:lnR w="12700" cap="flat" cmpd="sng" algn="ctr">
                      <a:solidFill>
                        <a:srgbClr val="C9D3DE"/>
                      </a:solidFill>
                      <a:prstDash val="solid"/>
                      <a:round/>
                      <a:headEnd type="none" w="med" len="med"/>
                      <a:tailEnd type="none" w="med" len="med"/>
                    </a:lnR>
                    <a:lnT w="12700" cap="flat" cmpd="sng" algn="ctr">
                      <a:solidFill>
                        <a:srgbClr val="C9D3DE"/>
                      </a:solidFill>
                      <a:prstDash val="solid"/>
                      <a:round/>
                      <a:headEnd type="none" w="med" len="med"/>
                      <a:tailEnd type="none" w="med" len="med"/>
                    </a:lnT>
                    <a:lnB w="12700" cap="flat" cmpd="sng" algn="ctr">
                      <a:solidFill>
                        <a:srgbClr val="C9D3DE"/>
                      </a:solidFill>
                      <a:prstDash val="solid"/>
                      <a:round/>
                      <a:headEnd type="none" w="med" len="med"/>
                      <a:tailEnd type="none" w="med" len="med"/>
                    </a:lnB>
                    <a:solidFill>
                      <a:srgbClr val="171721"/>
                    </a:solidFill>
                  </a:tcPr>
                </a:tc>
              </a:tr>
              <a:tr h="1097280">
                <a:tc>
                  <a:txBody>
                    <a:bodyPr/>
                    <a:lstStyle/>
                    <a:p>
                      <a:pPr indent="0" marL="0">
                        <a:buNone/>
                      </a:pPr>
                      <a:r>
                        <a:rPr lang="en-US" sz="1200" b="1" dirty="0">
                          <a:solidFill>
                            <a:srgbClr val="1B2635"/>
                          </a:solidFill>
                          <a:latin typeface="Calibri" pitchFamily="34" charset="0"/>
                          <a:ea typeface="Calibri" pitchFamily="34" charset="-122"/>
                          <a:cs typeface="Calibri" pitchFamily="34" charset="-120"/>
                        </a:rPr>
                        <a:t>RBI</a:t>
                      </a:r>
                      <a:endParaRPr lang="en-US" sz="1200" dirty="0">
                        <a:latin typeface="Calibri" charset="0"/>
                        <a:ea typeface="Calibri" charset="0"/>
                        <a:cs typeface="Calibri" charset="0"/>
                      </a:endParaRPr>
                    </a:p>
                    <a:p>
                      <a:pPr indent="0" marL="0">
                        <a:buNone/>
                      </a:pPr>
                      <a:r>
                        <a:rPr lang="en-US" sz="1200" b="1" dirty="0">
                          <a:solidFill>
                            <a:srgbClr val="1B2635"/>
                          </a:solidFill>
                          <a:latin typeface="Calibri" pitchFamily="34" charset="0"/>
                          <a:ea typeface="Calibri" pitchFamily="34" charset="-122"/>
                          <a:cs typeface="Calibri" pitchFamily="34" charset="-120"/>
                        </a:rPr>
                        <a:t>Cybersecurity, Technology: Risk, Resilience and Assurance Framework Directions, 31 Jul 2026</a:t>
                      </a:r>
                      <a:endParaRPr lang="en-US" sz="1200" dirty="0">
                        <a:latin typeface="Calibri" charset="0"/>
                        <a:ea typeface="Calibri" charset="0"/>
                        <a:cs typeface="Calibri" charset="0"/>
                      </a:endParaRPr>
                    </a:p>
                  </a:txBody>
                  <a:tcPr marL="101600" marR="101600" marT="76200" marB="76200" anchor="t">
                    <a:lnL w="12700" cap="flat" cmpd="sng" algn="ctr">
                      <a:solidFill>
                        <a:srgbClr val="C9D3DE"/>
                      </a:solidFill>
                      <a:prstDash val="solid"/>
                      <a:round/>
                      <a:headEnd type="none" w="med" len="med"/>
                      <a:tailEnd type="none" w="med" len="med"/>
                    </a:lnL>
                    <a:lnR w="12700" cap="flat" cmpd="sng" algn="ctr">
                      <a:solidFill>
                        <a:srgbClr val="C9D3DE"/>
                      </a:solidFill>
                      <a:prstDash val="solid"/>
                      <a:round/>
                      <a:headEnd type="none" w="med" len="med"/>
                      <a:tailEnd type="none" w="med" len="med"/>
                    </a:lnR>
                    <a:lnT w="12700" cap="flat" cmpd="sng" algn="ctr">
                      <a:solidFill>
                        <a:srgbClr val="C9D3DE"/>
                      </a:solidFill>
                      <a:prstDash val="solid"/>
                      <a:round/>
                      <a:headEnd type="none" w="med" len="med"/>
                      <a:tailEnd type="none" w="med" len="med"/>
                    </a:lnT>
                    <a:lnB w="12700" cap="flat" cmpd="sng" algn="ctr">
                      <a:solidFill>
                        <a:srgbClr val="C9D3DE"/>
                      </a:solidFill>
                      <a:prstDash val="solid"/>
                      <a:round/>
                      <a:headEnd type="none" w="med" len="med"/>
                      <a:tailEnd type="none" w="med" len="med"/>
                    </a:lnB>
                  </a:tcPr>
                </a:tc>
                <a:tc>
                  <a:txBody>
                    <a:bodyPr/>
                    <a:lstStyle/>
                    <a:p>
                      <a:pPr indent="0" marL="0">
                        <a:buNone/>
                      </a:pPr>
                      <a:r>
                        <a:rPr lang="en-US" sz="1200" dirty="0">
                          <a:solidFill>
                            <a:srgbClr val="1B2635"/>
                          </a:solidFill>
                          <a:latin typeface="Calibri" pitchFamily="34" charset="0"/>
                          <a:ea typeface="Calibri" pitchFamily="34" charset="-122"/>
                          <a:cs typeface="Calibri" pitchFamily="34" charset="-120"/>
                        </a:rPr>
                        <a:t>DR drills for critical information systems at least half-yearly. Any major issue found must be fixed and re-tested successfully before the next cycle. [7]</a:t>
                      </a:r>
                      <a:endParaRPr lang="en-US" sz="1200" dirty="0">
                        <a:latin typeface="Calibri" charset="0"/>
                        <a:ea typeface="Calibri" charset="0"/>
                        <a:cs typeface="Calibri" charset="0"/>
                      </a:endParaRPr>
                    </a:p>
                  </a:txBody>
                  <a:tcPr marL="101600" marR="101600" marT="76200" marB="76200" anchor="t">
                    <a:lnL w="12700" cap="flat" cmpd="sng" algn="ctr">
                      <a:solidFill>
                        <a:srgbClr val="C9D3DE"/>
                      </a:solidFill>
                      <a:prstDash val="solid"/>
                      <a:round/>
                      <a:headEnd type="none" w="med" len="med"/>
                      <a:tailEnd type="none" w="med" len="med"/>
                    </a:lnL>
                    <a:lnR w="12700" cap="flat" cmpd="sng" algn="ctr">
                      <a:solidFill>
                        <a:srgbClr val="C9D3DE"/>
                      </a:solidFill>
                      <a:prstDash val="solid"/>
                      <a:round/>
                      <a:headEnd type="none" w="med" len="med"/>
                      <a:tailEnd type="none" w="med" len="med"/>
                    </a:lnR>
                    <a:lnT w="12700" cap="flat" cmpd="sng" algn="ctr">
                      <a:solidFill>
                        <a:srgbClr val="C9D3DE"/>
                      </a:solidFill>
                      <a:prstDash val="solid"/>
                      <a:round/>
                      <a:headEnd type="none" w="med" len="med"/>
                      <a:tailEnd type="none" w="med" len="med"/>
                    </a:lnT>
                    <a:lnB w="12700" cap="flat" cmpd="sng" algn="ctr">
                      <a:solidFill>
                        <a:srgbClr val="C9D3DE"/>
                      </a:solidFill>
                      <a:prstDash val="solid"/>
                      <a:round/>
                      <a:headEnd type="none" w="med" len="med"/>
                      <a:tailEnd type="none" w="med" len="med"/>
                    </a:lnB>
                  </a:tcPr>
                </a:tc>
                <a:tc>
                  <a:txBody>
                    <a:bodyPr/>
                    <a:lstStyle/>
                    <a:p>
                      <a:pPr indent="0" marL="0">
                        <a:buNone/>
                      </a:pPr>
                      <a:r>
                        <a:rPr lang="en-US" sz="1200" dirty="0">
                          <a:solidFill>
                            <a:srgbClr val="1B2635"/>
                          </a:solidFill>
                          <a:latin typeface="Calibri" pitchFamily="34" charset="0"/>
                          <a:ea typeface="Calibri" pitchFamily="34" charset="-122"/>
                          <a:cs typeface="Calibri" pitchFamily="34" charset="-120"/>
                        </a:rPr>
                        <a:t>Supervisory restrictions on business, as with HDFC Bank and Kotak Mahindra Bank. [4][6]</a:t>
                      </a:r>
                      <a:endParaRPr lang="en-US" sz="1200" dirty="0">
                        <a:latin typeface="Calibri" charset="0"/>
                        <a:ea typeface="Calibri" charset="0"/>
                        <a:cs typeface="Calibri" charset="0"/>
                      </a:endParaRPr>
                    </a:p>
                  </a:txBody>
                  <a:tcPr marL="101600" marR="101600" marT="76200" marB="76200" anchor="t">
                    <a:lnL w="12700" cap="flat" cmpd="sng" algn="ctr">
                      <a:solidFill>
                        <a:srgbClr val="C9D3DE"/>
                      </a:solidFill>
                      <a:prstDash val="solid"/>
                      <a:round/>
                      <a:headEnd type="none" w="med" len="med"/>
                      <a:tailEnd type="none" w="med" len="med"/>
                    </a:lnL>
                    <a:lnR w="12700" cap="flat" cmpd="sng" algn="ctr">
                      <a:solidFill>
                        <a:srgbClr val="C9D3DE"/>
                      </a:solidFill>
                      <a:prstDash val="solid"/>
                      <a:round/>
                      <a:headEnd type="none" w="med" len="med"/>
                      <a:tailEnd type="none" w="med" len="med"/>
                    </a:lnR>
                    <a:lnT w="12700" cap="flat" cmpd="sng" algn="ctr">
                      <a:solidFill>
                        <a:srgbClr val="C9D3DE"/>
                      </a:solidFill>
                      <a:prstDash val="solid"/>
                      <a:round/>
                      <a:headEnd type="none" w="med" len="med"/>
                      <a:tailEnd type="none" w="med" len="med"/>
                    </a:lnT>
                    <a:lnB w="12700" cap="flat" cmpd="sng" algn="ctr">
                      <a:solidFill>
                        <a:srgbClr val="C9D3DE"/>
                      </a:solidFill>
                      <a:prstDash val="solid"/>
                      <a:round/>
                      <a:headEnd type="none" w="med" len="med"/>
                      <a:tailEnd type="none" w="med" len="med"/>
                    </a:lnB>
                  </a:tcPr>
                </a:tc>
              </a:tr>
              <a:tr h="1234440">
                <a:tc>
                  <a:txBody>
                    <a:bodyPr/>
                    <a:lstStyle/>
                    <a:p>
                      <a:pPr indent="0" marL="0">
                        <a:buNone/>
                      </a:pPr>
                      <a:r>
                        <a:rPr lang="en-US" sz="1200" b="1" dirty="0">
                          <a:solidFill>
                            <a:srgbClr val="1B2635"/>
                          </a:solidFill>
                          <a:latin typeface="Calibri" pitchFamily="34" charset="0"/>
                          <a:ea typeface="Calibri" pitchFamily="34" charset="-122"/>
                          <a:cs typeface="Calibri" pitchFamily="34" charset="-120"/>
                        </a:rPr>
                        <a:t>SEBI</a:t>
                      </a:r>
                      <a:endParaRPr lang="en-US" sz="1200" dirty="0">
                        <a:latin typeface="Calibri" charset="0"/>
                        <a:ea typeface="Calibri" charset="0"/>
                        <a:cs typeface="Calibri" charset="0"/>
                      </a:endParaRPr>
                    </a:p>
                    <a:p>
                      <a:pPr indent="0" marL="0">
                        <a:buNone/>
                      </a:pPr>
                      <a:r>
                        <a:rPr lang="en-US" sz="1200" b="1" dirty="0">
                          <a:solidFill>
                            <a:srgbClr val="1B2635"/>
                          </a:solidFill>
                          <a:latin typeface="Calibri" pitchFamily="34" charset="0"/>
                          <a:ea typeface="Calibri" pitchFamily="34" charset="-122"/>
                          <a:cs typeface="Calibri" pitchFamily="34" charset="-120"/>
                        </a:rPr>
                        <a:t>Cybersecurity &amp; Cyber Resilience Framework</a:t>
                      </a:r>
                      <a:endParaRPr lang="en-US" sz="1200" dirty="0">
                        <a:latin typeface="Calibri" charset="0"/>
                        <a:ea typeface="Calibri" charset="0"/>
                        <a:cs typeface="Calibri" charset="0"/>
                      </a:endParaRPr>
                    </a:p>
                  </a:txBody>
                  <a:tcPr marL="101600" marR="101600" marT="76200" marB="76200" anchor="t">
                    <a:lnL w="12700" cap="flat" cmpd="sng" algn="ctr">
                      <a:solidFill>
                        <a:srgbClr val="C9D3DE"/>
                      </a:solidFill>
                      <a:prstDash val="solid"/>
                      <a:round/>
                      <a:headEnd type="none" w="med" len="med"/>
                      <a:tailEnd type="none" w="med" len="med"/>
                    </a:lnL>
                    <a:lnR w="12700" cap="flat" cmpd="sng" algn="ctr">
                      <a:solidFill>
                        <a:srgbClr val="C9D3DE"/>
                      </a:solidFill>
                      <a:prstDash val="solid"/>
                      <a:round/>
                      <a:headEnd type="none" w="med" len="med"/>
                      <a:tailEnd type="none" w="med" len="med"/>
                    </a:lnR>
                    <a:lnT w="12700" cap="flat" cmpd="sng" algn="ctr">
                      <a:solidFill>
                        <a:srgbClr val="C9D3DE"/>
                      </a:solidFill>
                      <a:prstDash val="solid"/>
                      <a:round/>
                      <a:headEnd type="none" w="med" len="med"/>
                      <a:tailEnd type="none" w="med" len="med"/>
                    </a:lnT>
                    <a:lnB w="12700" cap="flat" cmpd="sng" algn="ctr">
                      <a:solidFill>
                        <a:srgbClr val="C9D3DE"/>
                      </a:solidFill>
                      <a:prstDash val="solid"/>
                      <a:round/>
                      <a:headEnd type="none" w="med" len="med"/>
                      <a:tailEnd type="none" w="med" len="med"/>
                    </a:lnB>
                  </a:tcPr>
                </a:tc>
                <a:tc>
                  <a:txBody>
                    <a:bodyPr/>
                    <a:lstStyle/>
                    <a:p>
                      <a:pPr indent="0" marL="0">
                        <a:buNone/>
                      </a:pPr>
                      <a:r>
                        <a:rPr lang="en-US" sz="1200" dirty="0">
                          <a:solidFill>
                            <a:srgbClr val="1B2635"/>
                          </a:solidFill>
                          <a:latin typeface="Calibri" pitchFamily="34" charset="0"/>
                          <a:ea typeface="Calibri" pitchFamily="34" charset="-122"/>
                          <a:cs typeface="Calibri" pitchFamily="34" charset="-120"/>
                        </a:rPr>
                        <a:t>Resume critical operations within 2 hours (RTO) with a 15-minute RPO. Market infrastructure: run from the DR site within 45 minutes of declaring a disaster, drills every quarter, unannounced live trading from the DR site every six months. [8][9]</a:t>
                      </a:r>
                      <a:endParaRPr lang="en-US" sz="1200" dirty="0">
                        <a:latin typeface="Calibri" charset="0"/>
                        <a:ea typeface="Calibri" charset="0"/>
                        <a:cs typeface="Calibri" charset="0"/>
                      </a:endParaRPr>
                    </a:p>
                  </a:txBody>
                  <a:tcPr marL="101600" marR="101600" marT="76200" marB="76200" anchor="t">
                    <a:lnL w="12700" cap="flat" cmpd="sng" algn="ctr">
                      <a:solidFill>
                        <a:srgbClr val="C9D3DE"/>
                      </a:solidFill>
                      <a:prstDash val="solid"/>
                      <a:round/>
                      <a:headEnd type="none" w="med" len="med"/>
                      <a:tailEnd type="none" w="med" len="med"/>
                    </a:lnL>
                    <a:lnR w="12700" cap="flat" cmpd="sng" algn="ctr">
                      <a:solidFill>
                        <a:srgbClr val="C9D3DE"/>
                      </a:solidFill>
                      <a:prstDash val="solid"/>
                      <a:round/>
                      <a:headEnd type="none" w="med" len="med"/>
                      <a:tailEnd type="none" w="med" len="med"/>
                    </a:lnR>
                    <a:lnT w="12700" cap="flat" cmpd="sng" algn="ctr">
                      <a:solidFill>
                        <a:srgbClr val="C9D3DE"/>
                      </a:solidFill>
                      <a:prstDash val="solid"/>
                      <a:round/>
                      <a:headEnd type="none" w="med" len="med"/>
                      <a:tailEnd type="none" w="med" len="med"/>
                    </a:lnT>
                    <a:lnB w="12700" cap="flat" cmpd="sng" algn="ctr">
                      <a:solidFill>
                        <a:srgbClr val="C9D3DE"/>
                      </a:solidFill>
                      <a:prstDash val="solid"/>
                      <a:round/>
                      <a:headEnd type="none" w="med" len="med"/>
                      <a:tailEnd type="none" w="med" len="med"/>
                    </a:lnB>
                  </a:tcPr>
                </a:tc>
                <a:tc>
                  <a:txBody>
                    <a:bodyPr/>
                    <a:lstStyle/>
                    <a:p>
                      <a:pPr indent="0" marL="0">
                        <a:buNone/>
                      </a:pPr>
                      <a:r>
                        <a:rPr lang="en-US" sz="1200" dirty="0">
                          <a:solidFill>
                            <a:srgbClr val="1B2635"/>
                          </a:solidFill>
                          <a:latin typeface="Calibri" pitchFamily="34" charset="0"/>
                          <a:ea typeface="Calibri" pitchFamily="34" charset="-122"/>
                          <a:cs typeface="Calibri" pitchFamily="34" charset="-120"/>
                        </a:rPr>
                        <a:t>Enforcement and settlements, as with NSE: about $8.8M. [5]</a:t>
                      </a:r>
                      <a:endParaRPr lang="en-US" sz="1200" dirty="0">
                        <a:latin typeface="Calibri" charset="0"/>
                        <a:ea typeface="Calibri" charset="0"/>
                        <a:cs typeface="Calibri" charset="0"/>
                      </a:endParaRPr>
                    </a:p>
                  </a:txBody>
                  <a:tcPr marL="101600" marR="101600" marT="76200" marB="76200" anchor="t">
                    <a:lnL w="12700" cap="flat" cmpd="sng" algn="ctr">
                      <a:solidFill>
                        <a:srgbClr val="C9D3DE"/>
                      </a:solidFill>
                      <a:prstDash val="solid"/>
                      <a:round/>
                      <a:headEnd type="none" w="med" len="med"/>
                      <a:tailEnd type="none" w="med" len="med"/>
                    </a:lnL>
                    <a:lnR w="12700" cap="flat" cmpd="sng" algn="ctr">
                      <a:solidFill>
                        <a:srgbClr val="C9D3DE"/>
                      </a:solidFill>
                      <a:prstDash val="solid"/>
                      <a:round/>
                      <a:headEnd type="none" w="med" len="med"/>
                      <a:tailEnd type="none" w="med" len="med"/>
                    </a:lnR>
                    <a:lnT w="12700" cap="flat" cmpd="sng" algn="ctr">
                      <a:solidFill>
                        <a:srgbClr val="C9D3DE"/>
                      </a:solidFill>
                      <a:prstDash val="solid"/>
                      <a:round/>
                      <a:headEnd type="none" w="med" len="med"/>
                      <a:tailEnd type="none" w="med" len="med"/>
                    </a:lnT>
                    <a:lnB w="12700" cap="flat" cmpd="sng" algn="ctr">
                      <a:solidFill>
                        <a:srgbClr val="C9D3DE"/>
                      </a:solidFill>
                      <a:prstDash val="solid"/>
                      <a:round/>
                      <a:headEnd type="none" w="med" len="med"/>
                      <a:tailEnd type="none" w="med" len="med"/>
                    </a:lnB>
                  </a:tcPr>
                </a:tc>
              </a:tr>
              <a:tr h="1143000">
                <a:tc>
                  <a:txBody>
                    <a:bodyPr/>
                    <a:lstStyle/>
                    <a:p>
                      <a:pPr indent="0" marL="0">
                        <a:buNone/>
                      </a:pPr>
                      <a:r>
                        <a:rPr lang="en-US" sz="1200" b="1" dirty="0">
                          <a:solidFill>
                            <a:srgbClr val="1B2635"/>
                          </a:solidFill>
                          <a:latin typeface="Calibri" pitchFamily="34" charset="0"/>
                          <a:ea typeface="Calibri" pitchFamily="34" charset="-122"/>
                          <a:cs typeface="Calibri" pitchFamily="34" charset="-120"/>
                        </a:rPr>
                        <a:t>EU DORA</a:t>
                      </a:r>
                      <a:endParaRPr lang="en-US" sz="1200" dirty="0">
                        <a:latin typeface="Calibri" charset="0"/>
                        <a:ea typeface="Calibri" charset="0"/>
                        <a:cs typeface="Calibri" charset="0"/>
                      </a:endParaRPr>
                    </a:p>
                    <a:p>
                      <a:pPr indent="0" marL="0">
                        <a:buNone/>
                      </a:pPr>
                      <a:r>
                        <a:rPr lang="en-US" sz="1200" b="1" dirty="0">
                          <a:solidFill>
                            <a:srgbClr val="1B2635"/>
                          </a:solidFill>
                          <a:latin typeface="Calibri" pitchFamily="34" charset="0"/>
                          <a:ea typeface="Calibri" pitchFamily="34" charset="-122"/>
                          <a:cs typeface="Calibri" pitchFamily="34" charset="-120"/>
                        </a:rPr>
                        <a:t>Regulation (EU) 2022/2554, applies from 17 Jan 2025</a:t>
                      </a:r>
                      <a:endParaRPr lang="en-US" sz="1200" dirty="0">
                        <a:latin typeface="Calibri" charset="0"/>
                        <a:ea typeface="Calibri" charset="0"/>
                        <a:cs typeface="Calibri" charset="0"/>
                      </a:endParaRPr>
                    </a:p>
                  </a:txBody>
                  <a:tcPr marL="101600" marR="101600" marT="76200" marB="76200" anchor="t">
                    <a:lnL w="12700" cap="flat" cmpd="sng" algn="ctr">
                      <a:solidFill>
                        <a:srgbClr val="C9D3DE"/>
                      </a:solidFill>
                      <a:prstDash val="solid"/>
                      <a:round/>
                      <a:headEnd type="none" w="med" len="med"/>
                      <a:tailEnd type="none" w="med" len="med"/>
                    </a:lnL>
                    <a:lnR w="12700" cap="flat" cmpd="sng" algn="ctr">
                      <a:solidFill>
                        <a:srgbClr val="C9D3DE"/>
                      </a:solidFill>
                      <a:prstDash val="solid"/>
                      <a:round/>
                      <a:headEnd type="none" w="med" len="med"/>
                      <a:tailEnd type="none" w="med" len="med"/>
                    </a:lnR>
                    <a:lnT w="12700" cap="flat" cmpd="sng" algn="ctr">
                      <a:solidFill>
                        <a:srgbClr val="C9D3DE"/>
                      </a:solidFill>
                      <a:prstDash val="solid"/>
                      <a:round/>
                      <a:headEnd type="none" w="med" len="med"/>
                      <a:tailEnd type="none" w="med" len="med"/>
                    </a:lnT>
                    <a:lnB w="12700" cap="flat" cmpd="sng" algn="ctr">
                      <a:solidFill>
                        <a:srgbClr val="C9D3DE"/>
                      </a:solidFill>
                      <a:prstDash val="solid"/>
                      <a:round/>
                      <a:headEnd type="none" w="med" len="med"/>
                      <a:tailEnd type="none" w="med" len="med"/>
                    </a:lnB>
                  </a:tcPr>
                </a:tc>
                <a:tc>
                  <a:txBody>
                    <a:bodyPr/>
                    <a:lstStyle/>
                    <a:p>
                      <a:pPr indent="0" marL="0">
                        <a:buNone/>
                      </a:pPr>
                      <a:r>
                        <a:rPr lang="en-US" sz="1200" dirty="0">
                          <a:solidFill>
                            <a:srgbClr val="1B2635"/>
                          </a:solidFill>
                          <a:latin typeface="Calibri" pitchFamily="34" charset="0"/>
                          <a:ea typeface="Calibri" pitchFamily="34" charset="-122"/>
                          <a:cs typeface="Calibri" pitchFamily="34" charset="-120"/>
                        </a:rPr>
                        <a:t>Test ICT business continuity and response and recovery plans at least yearly and after major changes (Art. 11(6)); test backup restoration periodically (Art. 12). [10]</a:t>
                      </a:r>
                      <a:endParaRPr lang="en-US" sz="1200" dirty="0">
                        <a:latin typeface="Calibri" charset="0"/>
                        <a:ea typeface="Calibri" charset="0"/>
                        <a:cs typeface="Calibri" charset="0"/>
                      </a:endParaRPr>
                    </a:p>
                  </a:txBody>
                  <a:tcPr marL="101600" marR="101600" marT="76200" marB="76200" anchor="t">
                    <a:lnL w="12700" cap="flat" cmpd="sng" algn="ctr">
                      <a:solidFill>
                        <a:srgbClr val="C9D3DE"/>
                      </a:solidFill>
                      <a:prstDash val="solid"/>
                      <a:round/>
                      <a:headEnd type="none" w="med" len="med"/>
                      <a:tailEnd type="none" w="med" len="med"/>
                    </a:lnL>
                    <a:lnR w="12700" cap="flat" cmpd="sng" algn="ctr">
                      <a:solidFill>
                        <a:srgbClr val="C9D3DE"/>
                      </a:solidFill>
                      <a:prstDash val="solid"/>
                      <a:round/>
                      <a:headEnd type="none" w="med" len="med"/>
                      <a:tailEnd type="none" w="med" len="med"/>
                    </a:lnR>
                    <a:lnT w="12700" cap="flat" cmpd="sng" algn="ctr">
                      <a:solidFill>
                        <a:srgbClr val="C9D3DE"/>
                      </a:solidFill>
                      <a:prstDash val="solid"/>
                      <a:round/>
                      <a:headEnd type="none" w="med" len="med"/>
                      <a:tailEnd type="none" w="med" len="med"/>
                    </a:lnT>
                    <a:lnB w="12700" cap="flat" cmpd="sng" algn="ctr">
                      <a:solidFill>
                        <a:srgbClr val="C9D3DE"/>
                      </a:solidFill>
                      <a:prstDash val="solid"/>
                      <a:round/>
                      <a:headEnd type="none" w="med" len="med"/>
                      <a:tailEnd type="none" w="med" len="med"/>
                    </a:lnB>
                  </a:tcPr>
                </a:tc>
                <a:tc>
                  <a:txBody>
                    <a:bodyPr/>
                    <a:lstStyle/>
                    <a:p>
                      <a:pPr indent="0" marL="0">
                        <a:buNone/>
                      </a:pPr>
                      <a:r>
                        <a:rPr lang="en-US" sz="1200" dirty="0">
                          <a:solidFill>
                            <a:srgbClr val="1B2635"/>
                          </a:solidFill>
                          <a:latin typeface="Calibri" pitchFamily="34" charset="0"/>
                          <a:ea typeface="Calibri" pitchFamily="34" charset="-122"/>
                          <a:cs typeface="Calibri" pitchFamily="34" charset="-120"/>
                        </a:rPr>
                        <a:t>Penalties set by each EU state (Art. 50). Critical ICT providers: up to 1% of average daily worldwide turnover, every day, for up to six months (Art. 35). [10]</a:t>
                      </a:r>
                      <a:endParaRPr lang="en-US" sz="1200" dirty="0">
                        <a:latin typeface="Calibri" charset="0"/>
                        <a:ea typeface="Calibri" charset="0"/>
                        <a:cs typeface="Calibri" charset="0"/>
                      </a:endParaRPr>
                    </a:p>
                  </a:txBody>
                  <a:tcPr marL="101600" marR="101600" marT="76200" marB="76200" anchor="t">
                    <a:lnL w="12700" cap="flat" cmpd="sng" algn="ctr">
                      <a:solidFill>
                        <a:srgbClr val="C9D3DE"/>
                      </a:solidFill>
                      <a:prstDash val="solid"/>
                      <a:round/>
                      <a:headEnd type="none" w="med" len="med"/>
                      <a:tailEnd type="none" w="med" len="med"/>
                    </a:lnL>
                    <a:lnR w="12700" cap="flat" cmpd="sng" algn="ctr">
                      <a:solidFill>
                        <a:srgbClr val="C9D3DE"/>
                      </a:solidFill>
                      <a:prstDash val="solid"/>
                      <a:round/>
                      <a:headEnd type="none" w="med" len="med"/>
                      <a:tailEnd type="none" w="med" len="med"/>
                    </a:lnR>
                    <a:lnT w="12700" cap="flat" cmpd="sng" algn="ctr">
                      <a:solidFill>
                        <a:srgbClr val="C9D3DE"/>
                      </a:solidFill>
                      <a:prstDash val="solid"/>
                      <a:round/>
                      <a:headEnd type="none" w="med" len="med"/>
                      <a:tailEnd type="none" w="med" len="med"/>
                    </a:lnT>
                    <a:lnB w="12700" cap="flat" cmpd="sng" algn="ctr">
                      <a:solidFill>
                        <a:srgbClr val="C9D3DE"/>
                      </a:solidFill>
                      <a:prstDash val="solid"/>
                      <a:round/>
                      <a:headEnd type="none" w="med" len="med"/>
                      <a:tailEnd type="none" w="med" len="med"/>
                    </a:lnB>
                  </a:tcPr>
                </a:tc>
              </a:tr>
            </a:tbl>
          </a:graphicData>
        </a:graphic>
      </p:graphicFrame>
      <p:sp>
        <p:nvSpPr>
          <p:cNvPr id="5" name="Shape 2"/>
          <p:cNvSpPr/>
          <p:nvPr/>
        </p:nvSpPr>
        <p:spPr>
          <a:xfrm>
            <a:off x="548640" y="5532120"/>
            <a:ext cx="11064240" cy="731520"/>
          </a:xfrm>
          <a:prstGeom prst="roundRect">
            <a:avLst>
              <a:gd name="adj" fmla="val 10000"/>
            </a:avLst>
          </a:prstGeom>
          <a:solidFill>
            <a:srgbClr val="EFE9FF"/>
          </a:solidFill>
          <a:ln w="12700">
            <a:solidFill>
              <a:srgbClr val="EFE9FF"/>
            </a:solidFill>
            <a:prstDash val="solid"/>
          </a:ln>
        </p:spPr>
      </p:sp>
      <p:sp>
        <p:nvSpPr>
          <p:cNvPr id="6" name="Text 3"/>
          <p:cNvSpPr txBox="1"/>
          <p:nvPr/>
        </p:nvSpPr>
        <p:spPr>
          <a:xfrm>
            <a:off x="777240" y="5532120"/>
            <a:ext cx="10698480" cy="731520"/>
          </a:xfrm>
          <a:prstGeom prst="rect">
            <a:avLst/>
          </a:prstGeom>
          <a:noFill/>
          <a:ln/>
        </p:spPr>
        <p:txBody>
          <a:bodyPr wrap="square" lIns="0" tIns="0" rIns="0" bIns="0" rtlCol="0" anchor="ctr"/>
          <a:lstStyle/>
          <a:p>
            <a:pPr indent="0" marL="0">
              <a:buNone/>
            </a:pPr>
            <a:r>
              <a:rPr lang="en-US" sz="1400" b="1" dirty="0">
                <a:solidFill>
                  <a:srgbClr val="171721"/>
                </a:solidFill>
                <a:latin typeface="Calibri" pitchFamily="34" charset="0"/>
                <a:ea typeface="Calibri" pitchFamily="34" charset="-122"/>
                <a:cs typeface="Calibri" pitchFamily="34" charset="-120"/>
              </a:rPr>
              <a:t>Our demo uses the same yardstick:  </a:t>
            </a:r>
            <a:pPr indent="0" marL="0">
              <a:buNone/>
            </a:pPr>
            <a:r>
              <a:rPr lang="en-US" sz="1400" dirty="0">
                <a:solidFill>
                  <a:srgbClr val="1B2635"/>
                </a:solidFill>
                <a:latin typeface="Calibri" pitchFamily="34" charset="0"/>
                <a:ea typeface="Calibri" pitchFamily="34" charset="-122"/>
                <a:cs typeface="Calibri" pitchFamily="34" charset="-120"/>
              </a:rPr>
              <a:t>target RTO 30 min and RPO 15 min, stricter than SEBI's 2 hours, and every drill produces timestamped, audit-ready evidence.</a:t>
            </a:r>
            <a:endParaRPr lang="en-US" sz="1400" dirty="0"/>
          </a:p>
        </p:txBody>
      </p:sp>
      <p:sp>
        <p:nvSpPr>
          <p:cNvPr id="7" name="Text 4"/>
          <p:cNvSpPr txBox="1"/>
          <p:nvPr/>
        </p:nvSpPr>
        <p:spPr>
          <a:xfrm>
            <a:off x="548640" y="6473952"/>
            <a:ext cx="11064240" cy="274320"/>
          </a:xfrm>
          <a:prstGeom prst="rect">
            <a:avLst/>
          </a:prstGeom>
          <a:noFill/>
          <a:ln/>
        </p:spPr>
        <p:txBody>
          <a:bodyPr wrap="square" lIns="0" tIns="0" rIns="0" bIns="0" rtlCol="0" anchor="ctr"/>
          <a:lstStyle/>
          <a:p>
            <a:pPr algn="r" indent="0" marL="0">
              <a:buNone/>
            </a:pPr>
            <a:r>
              <a:rPr lang="en-US" sz="900" dirty="0">
                <a:solidFill>
                  <a:srgbClr val="8C99AA"/>
                </a:solidFill>
                <a:latin typeface="Calibri" pitchFamily="34" charset="0"/>
                <a:ea typeface="Calibri" pitchFamily="34" charset="-122"/>
                <a:cs typeface="Calibri" pitchFamily="34" charset="-120"/>
              </a:rPr>
              <a:t>DR Agent: Autonomous DR Validation  ·  Team Azure Armada  ·  Azure Day 2026 Hackathon   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1064240" cy="685800"/>
          </a:xfrm>
          <a:prstGeom prst="rect">
            <a:avLst/>
          </a:prstGeom>
          <a:noFill/>
          <a:ln/>
        </p:spPr>
        <p:txBody>
          <a:bodyPr wrap="square" lIns="0" tIns="0" rIns="0" bIns="0" rtlCol="0" anchor="ctr"/>
          <a:lstStyle/>
          <a:p>
            <a:pPr indent="0" marL="0">
              <a:buNone/>
            </a:pPr>
            <a:r>
              <a:rPr lang="en-US" sz="3200" b="1" dirty="0">
                <a:solidFill>
                  <a:srgbClr val="171721"/>
                </a:solidFill>
                <a:latin typeface="Calibri" pitchFamily="34" charset="0"/>
                <a:ea typeface="Calibri" pitchFamily="34" charset="-122"/>
                <a:cs typeface="Calibri" pitchFamily="34" charset="-120"/>
              </a:rPr>
              <a:t>Yet most organisations cannot prove their recovery works today</a:t>
            </a:r>
            <a:endParaRPr lang="en-US" sz="3200" dirty="0"/>
          </a:p>
        </p:txBody>
      </p:sp>
      <p:sp>
        <p:nvSpPr>
          <p:cNvPr id="3" name="Text 1"/>
          <p:cNvSpPr txBox="1"/>
          <p:nvPr/>
        </p:nvSpPr>
        <p:spPr>
          <a:xfrm>
            <a:off x="548640" y="987552"/>
            <a:ext cx="11064240" cy="365760"/>
          </a:xfrm>
          <a:prstGeom prst="rect">
            <a:avLst/>
          </a:prstGeom>
          <a:noFill/>
          <a:ln/>
        </p:spPr>
        <p:txBody>
          <a:bodyPr wrap="square" lIns="0" tIns="0" rIns="0" bIns="0" rtlCol="0" anchor="ctr"/>
          <a:lstStyle/>
          <a:p>
            <a:pPr indent="0" marL="0">
              <a:buNone/>
            </a:pPr>
            <a:r>
              <a:rPr lang="en-US" sz="1500" i="1" dirty="0">
                <a:solidFill>
                  <a:srgbClr val="5B6B7F"/>
                </a:solidFill>
                <a:latin typeface="Calibri" pitchFamily="34" charset="0"/>
                <a:ea typeface="Calibri" pitchFamily="34" charset="-122"/>
                <a:cs typeface="Calibri" pitchFamily="34" charset="-120"/>
              </a:rPr>
              <a:t>Plans exist on paper. Tests are rare, manual and partial, so the gaps surface during the real disaster.</a:t>
            </a:r>
            <a:endParaRPr lang="en-US" sz="1500" dirty="0"/>
          </a:p>
        </p:txBody>
      </p:sp>
      <p:sp>
        <p:nvSpPr>
          <p:cNvPr id="4" name="Shape 2"/>
          <p:cNvSpPr/>
          <p:nvPr/>
        </p:nvSpPr>
        <p:spPr>
          <a:xfrm>
            <a:off x="548640" y="1600200"/>
            <a:ext cx="5669280" cy="1280160"/>
          </a:xfrm>
          <a:prstGeom prst="roundRect">
            <a:avLst>
              <a:gd name="adj" fmla="val 5714"/>
            </a:avLst>
          </a:prstGeom>
          <a:solidFill>
            <a:srgbClr val="F1F5F9"/>
          </a:solidFill>
          <a:ln w="12700">
            <a:solidFill>
              <a:srgbClr val="F1F5F9"/>
            </a:solidFill>
            <a:prstDash val="solid"/>
          </a:ln>
          <a:effectLst>
            <a:outerShdw sx="100000" sy="100000" kx="0" ky="0" algn="bl" rotWithShape="0" blurRad="76200" dist="25400" dir="5400000">
              <a:srgbClr val="000000">
                <a:alpha val="12000"/>
              </a:srgbClr>
            </a:outerShdw>
          </a:effectLst>
        </p:spPr>
      </p:sp>
      <p:sp>
        <p:nvSpPr>
          <p:cNvPr id="5" name="Text 3"/>
          <p:cNvSpPr txBox="1"/>
          <p:nvPr/>
        </p:nvSpPr>
        <p:spPr>
          <a:xfrm>
            <a:off x="777240" y="1783080"/>
            <a:ext cx="1828800" cy="914400"/>
          </a:xfrm>
          <a:prstGeom prst="rect">
            <a:avLst/>
          </a:prstGeom>
          <a:noFill/>
          <a:ln/>
        </p:spPr>
        <p:txBody>
          <a:bodyPr wrap="square" lIns="0" tIns="0" rIns="0" bIns="0" rtlCol="0" anchor="ctr"/>
          <a:lstStyle/>
          <a:p>
            <a:pPr indent="0" marL="0">
              <a:buNone/>
            </a:pPr>
            <a:r>
              <a:rPr lang="en-US" sz="3800" b="1" dirty="0">
                <a:solidFill>
                  <a:srgbClr val="5E2CFE"/>
                </a:solidFill>
                <a:latin typeface="Calibri" pitchFamily="34" charset="0"/>
                <a:ea typeface="Calibri" pitchFamily="34" charset="-122"/>
                <a:cs typeface="Calibri" pitchFamily="34" charset="-120"/>
              </a:rPr>
              <a:t>&lt; 1 in 3</a:t>
            </a:r>
            <a:endParaRPr lang="en-US" sz="3800" dirty="0"/>
          </a:p>
        </p:txBody>
      </p:sp>
      <p:sp>
        <p:nvSpPr>
          <p:cNvPr id="6" name="Text 4"/>
          <p:cNvSpPr txBox="1"/>
          <p:nvPr/>
        </p:nvSpPr>
        <p:spPr>
          <a:xfrm>
            <a:off x="2651760" y="1764792"/>
            <a:ext cx="3383280" cy="685800"/>
          </a:xfrm>
          <a:prstGeom prst="rect">
            <a:avLst/>
          </a:prstGeom>
          <a:noFill/>
          <a:ln/>
        </p:spPr>
        <p:txBody>
          <a:bodyPr wrap="square" lIns="0" tIns="0" rIns="0" bIns="0" rtlCol="0" anchor="t"/>
          <a:lstStyle/>
          <a:p>
            <a:pPr indent="0" marL="0">
              <a:buNone/>
            </a:pPr>
            <a:r>
              <a:rPr lang="en-US" sz="1350" dirty="0">
                <a:solidFill>
                  <a:srgbClr val="1B2635"/>
                </a:solidFill>
                <a:latin typeface="Calibri" pitchFamily="34" charset="0"/>
                <a:ea typeface="Calibri" pitchFamily="34" charset="-122"/>
                <a:cs typeface="Calibri" pitchFamily="34" charset="-120"/>
              </a:rPr>
              <a:t>organisations perform regular failover testing</a:t>
            </a:r>
            <a:endParaRPr lang="en-US" sz="1350" dirty="0"/>
          </a:p>
        </p:txBody>
      </p:sp>
      <p:sp>
        <p:nvSpPr>
          <p:cNvPr id="7" name="Text 5"/>
          <p:cNvSpPr txBox="1"/>
          <p:nvPr/>
        </p:nvSpPr>
        <p:spPr>
          <a:xfrm>
            <a:off x="2651760" y="2468880"/>
            <a:ext cx="3383280" cy="320040"/>
          </a:xfrm>
          <a:prstGeom prst="rect">
            <a:avLst/>
          </a:prstGeom>
          <a:noFill/>
          <a:ln/>
        </p:spPr>
        <p:txBody>
          <a:bodyPr wrap="square" lIns="0" tIns="0" rIns="0" bIns="0" rtlCol="0" anchor="ctr"/>
          <a:lstStyle/>
          <a:p>
            <a:pPr indent="0" marL="0">
              <a:buNone/>
            </a:pPr>
            <a:r>
              <a:rPr lang="en-US" sz="950" i="1" dirty="0">
                <a:solidFill>
                  <a:srgbClr val="5B6B7F"/>
                </a:solidFill>
                <a:latin typeface="Calibri" pitchFamily="34" charset="0"/>
                <a:ea typeface="Calibri" pitchFamily="34" charset="-122"/>
                <a:cs typeface="Calibri" pitchFamily="34" charset="-120"/>
              </a:rPr>
              <a:t>Cockroach Labs, State of Resilience 2025 (1,000 executives) [11]</a:t>
            </a:r>
            <a:endParaRPr lang="en-US" sz="950" dirty="0"/>
          </a:p>
        </p:txBody>
      </p:sp>
      <p:sp>
        <p:nvSpPr>
          <p:cNvPr id="8" name="Shape 6"/>
          <p:cNvSpPr/>
          <p:nvPr/>
        </p:nvSpPr>
        <p:spPr>
          <a:xfrm>
            <a:off x="548640" y="3063240"/>
            <a:ext cx="5669280" cy="1280160"/>
          </a:xfrm>
          <a:prstGeom prst="roundRect">
            <a:avLst>
              <a:gd name="adj" fmla="val 5714"/>
            </a:avLst>
          </a:prstGeom>
          <a:solidFill>
            <a:srgbClr val="F1F5F9"/>
          </a:solidFill>
          <a:ln w="12700">
            <a:solidFill>
              <a:srgbClr val="F1F5F9"/>
            </a:solidFill>
            <a:prstDash val="solid"/>
          </a:ln>
          <a:effectLst>
            <a:outerShdw sx="100000" sy="100000" kx="0" ky="0" algn="bl" rotWithShape="0" blurRad="76200" dist="25400" dir="5400000">
              <a:srgbClr val="000000">
                <a:alpha val="12000"/>
              </a:srgbClr>
            </a:outerShdw>
          </a:effectLst>
        </p:spPr>
      </p:sp>
      <p:sp>
        <p:nvSpPr>
          <p:cNvPr id="9" name="Text 7"/>
          <p:cNvSpPr txBox="1"/>
          <p:nvPr/>
        </p:nvSpPr>
        <p:spPr>
          <a:xfrm>
            <a:off x="777240" y="3246120"/>
            <a:ext cx="1828800" cy="914400"/>
          </a:xfrm>
          <a:prstGeom prst="rect">
            <a:avLst/>
          </a:prstGeom>
          <a:noFill/>
          <a:ln/>
        </p:spPr>
        <p:txBody>
          <a:bodyPr wrap="square" lIns="0" tIns="0" rIns="0" bIns="0" rtlCol="0" anchor="ctr"/>
          <a:lstStyle/>
          <a:p>
            <a:pPr indent="0" marL="0">
              <a:buNone/>
            </a:pPr>
            <a:r>
              <a:rPr lang="en-US" sz="3800" b="1" dirty="0">
                <a:solidFill>
                  <a:srgbClr val="5E2CFE"/>
                </a:solidFill>
                <a:latin typeface="Calibri" pitchFamily="34" charset="0"/>
                <a:ea typeface="Calibri" pitchFamily="34" charset="-122"/>
                <a:cs typeface="Calibri" pitchFamily="34" charset="-120"/>
              </a:rPr>
              <a:t>20%</a:t>
            </a:r>
            <a:endParaRPr lang="en-US" sz="3800" dirty="0"/>
          </a:p>
        </p:txBody>
      </p:sp>
      <p:sp>
        <p:nvSpPr>
          <p:cNvPr id="10" name="Text 8"/>
          <p:cNvSpPr txBox="1"/>
          <p:nvPr/>
        </p:nvSpPr>
        <p:spPr>
          <a:xfrm>
            <a:off x="2651760" y="3227832"/>
            <a:ext cx="3383280" cy="685800"/>
          </a:xfrm>
          <a:prstGeom prst="rect">
            <a:avLst/>
          </a:prstGeom>
          <a:noFill/>
          <a:ln/>
        </p:spPr>
        <p:txBody>
          <a:bodyPr wrap="square" lIns="0" tIns="0" rIns="0" bIns="0" rtlCol="0" anchor="t"/>
          <a:lstStyle/>
          <a:p>
            <a:pPr indent="0" marL="0">
              <a:buNone/>
            </a:pPr>
            <a:r>
              <a:rPr lang="en-US" sz="1350" dirty="0">
                <a:solidFill>
                  <a:srgbClr val="1B2635"/>
                </a:solidFill>
                <a:latin typeface="Calibri" pitchFamily="34" charset="0"/>
                <a:ea typeface="Calibri" pitchFamily="34" charset="-122"/>
                <a:cs typeface="Calibri" pitchFamily="34" charset="-120"/>
              </a:rPr>
              <a:t>of executives believe their organisation is fully prepared to prevent or respond to outages</a:t>
            </a:r>
            <a:endParaRPr lang="en-US" sz="1350" dirty="0"/>
          </a:p>
        </p:txBody>
      </p:sp>
      <p:sp>
        <p:nvSpPr>
          <p:cNvPr id="11" name="Text 9"/>
          <p:cNvSpPr txBox="1"/>
          <p:nvPr/>
        </p:nvSpPr>
        <p:spPr>
          <a:xfrm>
            <a:off x="2651760" y="3931920"/>
            <a:ext cx="3383280" cy="320040"/>
          </a:xfrm>
          <a:prstGeom prst="rect">
            <a:avLst/>
          </a:prstGeom>
          <a:noFill/>
          <a:ln/>
        </p:spPr>
        <p:txBody>
          <a:bodyPr wrap="square" lIns="0" tIns="0" rIns="0" bIns="0" rtlCol="0" anchor="ctr"/>
          <a:lstStyle/>
          <a:p>
            <a:pPr indent="0" marL="0">
              <a:buNone/>
            </a:pPr>
            <a:r>
              <a:rPr lang="en-US" sz="950" i="1" dirty="0">
                <a:solidFill>
                  <a:srgbClr val="5B6B7F"/>
                </a:solidFill>
                <a:latin typeface="Calibri" pitchFamily="34" charset="0"/>
                <a:ea typeface="Calibri" pitchFamily="34" charset="-122"/>
                <a:cs typeface="Calibri" pitchFamily="34" charset="-120"/>
              </a:rPr>
              <a:t>Cockroach Labs, State of Resilience 2025 [11]</a:t>
            </a:r>
            <a:endParaRPr lang="en-US" sz="950" dirty="0"/>
          </a:p>
        </p:txBody>
      </p:sp>
      <p:sp>
        <p:nvSpPr>
          <p:cNvPr id="12" name="Shape 10"/>
          <p:cNvSpPr/>
          <p:nvPr/>
        </p:nvSpPr>
        <p:spPr>
          <a:xfrm>
            <a:off x="548640" y="4526280"/>
            <a:ext cx="5669280" cy="1280160"/>
          </a:xfrm>
          <a:prstGeom prst="roundRect">
            <a:avLst>
              <a:gd name="adj" fmla="val 5714"/>
            </a:avLst>
          </a:prstGeom>
          <a:solidFill>
            <a:srgbClr val="F1F5F9"/>
          </a:solidFill>
          <a:ln w="12700">
            <a:solidFill>
              <a:srgbClr val="F1F5F9"/>
            </a:solidFill>
            <a:prstDash val="solid"/>
          </a:ln>
          <a:effectLst>
            <a:outerShdw sx="100000" sy="100000" kx="0" ky="0" algn="bl" rotWithShape="0" blurRad="76200" dist="25400" dir="5400000">
              <a:srgbClr val="000000">
                <a:alpha val="12000"/>
              </a:srgbClr>
            </a:outerShdw>
          </a:effectLst>
        </p:spPr>
      </p:sp>
      <p:sp>
        <p:nvSpPr>
          <p:cNvPr id="13" name="Text 11"/>
          <p:cNvSpPr txBox="1"/>
          <p:nvPr/>
        </p:nvSpPr>
        <p:spPr>
          <a:xfrm>
            <a:off x="777240" y="4709160"/>
            <a:ext cx="1828800" cy="914400"/>
          </a:xfrm>
          <a:prstGeom prst="rect">
            <a:avLst/>
          </a:prstGeom>
          <a:noFill/>
          <a:ln/>
        </p:spPr>
        <p:txBody>
          <a:bodyPr wrap="square" lIns="0" tIns="0" rIns="0" bIns="0" rtlCol="0" anchor="ctr"/>
          <a:lstStyle/>
          <a:p>
            <a:pPr indent="0" marL="0">
              <a:buNone/>
            </a:pPr>
            <a:r>
              <a:rPr lang="en-US" sz="3800" b="1" dirty="0">
                <a:solidFill>
                  <a:srgbClr val="5E2CFE"/>
                </a:solidFill>
                <a:latin typeface="Calibri" pitchFamily="34" charset="0"/>
                <a:ea typeface="Calibri" pitchFamily="34" charset="-122"/>
                <a:cs typeface="Calibri" pitchFamily="34" charset="-120"/>
              </a:rPr>
              <a:t>#1</a:t>
            </a:r>
            <a:endParaRPr lang="en-US" sz="3800" dirty="0"/>
          </a:p>
        </p:txBody>
      </p:sp>
      <p:sp>
        <p:nvSpPr>
          <p:cNvPr id="14" name="Text 12"/>
          <p:cNvSpPr txBox="1"/>
          <p:nvPr/>
        </p:nvSpPr>
        <p:spPr>
          <a:xfrm>
            <a:off x="2651760" y="4690872"/>
            <a:ext cx="3383280" cy="685800"/>
          </a:xfrm>
          <a:prstGeom prst="rect">
            <a:avLst/>
          </a:prstGeom>
          <a:noFill/>
          <a:ln/>
        </p:spPr>
        <p:txBody>
          <a:bodyPr wrap="square" lIns="0" tIns="0" rIns="0" bIns="0" rtlCol="0" anchor="t"/>
          <a:lstStyle/>
          <a:p>
            <a:pPr indent="0" marL="0">
              <a:buNone/>
            </a:pPr>
            <a:r>
              <a:rPr lang="en-US" sz="1350" dirty="0">
                <a:solidFill>
                  <a:srgbClr val="1B2635"/>
                </a:solidFill>
                <a:latin typeface="Calibri" pitchFamily="34" charset="0"/>
                <a:ea typeface="Calibri" pitchFamily="34" charset="-122"/>
                <a:cs typeface="Calibri" pitchFamily="34" charset="-120"/>
              </a:rPr>
              <a:t>cause of human-error outages: staff not following established procedures</a:t>
            </a:r>
            <a:endParaRPr lang="en-US" sz="1350" dirty="0"/>
          </a:p>
        </p:txBody>
      </p:sp>
      <p:sp>
        <p:nvSpPr>
          <p:cNvPr id="15" name="Text 13"/>
          <p:cNvSpPr txBox="1"/>
          <p:nvPr/>
        </p:nvSpPr>
        <p:spPr>
          <a:xfrm>
            <a:off x="2651760" y="5394960"/>
            <a:ext cx="3383280" cy="320040"/>
          </a:xfrm>
          <a:prstGeom prst="rect">
            <a:avLst/>
          </a:prstGeom>
          <a:noFill/>
          <a:ln/>
        </p:spPr>
        <p:txBody>
          <a:bodyPr wrap="square" lIns="0" tIns="0" rIns="0" bIns="0" rtlCol="0" anchor="ctr"/>
          <a:lstStyle/>
          <a:p>
            <a:pPr indent="0" marL="0">
              <a:buNone/>
            </a:pPr>
            <a:r>
              <a:rPr lang="en-US" sz="950" i="1" dirty="0">
                <a:solidFill>
                  <a:srgbClr val="5B6B7F"/>
                </a:solidFill>
                <a:latin typeface="Calibri" pitchFamily="34" charset="0"/>
                <a:ea typeface="Calibri" pitchFamily="34" charset="-122"/>
                <a:cs typeface="Calibri" pitchFamily="34" charset="-120"/>
              </a:rPr>
              <a:t>Uptime Institute, Annual Outage Analysis 2026 [2]</a:t>
            </a:r>
            <a:endParaRPr lang="en-US" sz="950" dirty="0"/>
          </a:p>
        </p:txBody>
      </p:sp>
      <p:sp>
        <p:nvSpPr>
          <p:cNvPr id="16" name="Text 14"/>
          <p:cNvSpPr txBox="1"/>
          <p:nvPr/>
        </p:nvSpPr>
        <p:spPr>
          <a:xfrm>
            <a:off x="6583680" y="1600200"/>
            <a:ext cx="5029200" cy="411480"/>
          </a:xfrm>
          <a:prstGeom prst="rect">
            <a:avLst/>
          </a:prstGeom>
          <a:noFill/>
          <a:ln/>
        </p:spPr>
        <p:txBody>
          <a:bodyPr wrap="square" lIns="0" tIns="0" rIns="0" bIns="0" rtlCol="0" anchor="ctr"/>
          <a:lstStyle/>
          <a:p>
            <a:pPr indent="0" marL="0">
              <a:buNone/>
            </a:pPr>
            <a:r>
              <a:rPr lang="en-US" sz="1800" b="1" dirty="0">
                <a:solidFill>
                  <a:srgbClr val="171721"/>
                </a:solidFill>
                <a:latin typeface="Calibri" pitchFamily="34" charset="0"/>
                <a:ea typeface="Calibri" pitchFamily="34" charset="-122"/>
                <a:cs typeface="Calibri" pitchFamily="34" charset="-120"/>
              </a:rPr>
              <a:t>Why the gap persists</a:t>
            </a:r>
            <a:endParaRPr lang="en-US" sz="1800" dirty="0"/>
          </a:p>
        </p:txBody>
      </p:sp>
      <p:sp>
        <p:nvSpPr>
          <p:cNvPr id="17" name="Shape 15"/>
          <p:cNvSpPr/>
          <p:nvPr/>
        </p:nvSpPr>
        <p:spPr>
          <a:xfrm>
            <a:off x="6583680" y="2103120"/>
            <a:ext cx="502920" cy="502920"/>
          </a:xfrm>
          <a:prstGeom prst="ellipse">
            <a:avLst/>
          </a:prstGeom>
          <a:solidFill>
            <a:srgbClr val="171721"/>
          </a:solidFill>
          <a:ln w="12700">
            <a:solidFill>
              <a:srgbClr val="171721"/>
            </a:solidFill>
            <a:prstDash val="solid"/>
          </a:ln>
        </p:spPr>
      </p:sp>
      <p:pic>
        <p:nvPicPr>
          <p:cNvPr id="18" name="Image 0" descr="preencoded.png">    </p:cNvPr>
          <p:cNvPicPr>
            <a:picLocks noChangeAspect="1"/>
          </p:cNvPicPr>
          <p:nvPr/>
        </p:nvPicPr>
        <p:blipFill>
          <a:blip r:embed="rId1"/>
          <a:stretch>
            <a:fillRect/>
          </a:stretch>
        </p:blipFill>
        <p:spPr>
          <a:xfrm>
            <a:off x="6709410" y="2228850"/>
            <a:ext cx="251460" cy="251460"/>
          </a:xfrm>
          <a:prstGeom prst="rect">
            <a:avLst/>
          </a:prstGeom>
        </p:spPr>
      </p:pic>
      <p:sp>
        <p:nvSpPr>
          <p:cNvPr id="19" name="Text 16"/>
          <p:cNvSpPr txBox="1"/>
          <p:nvPr/>
        </p:nvSpPr>
        <p:spPr>
          <a:xfrm>
            <a:off x="7269480" y="2066544"/>
            <a:ext cx="4389120" cy="320040"/>
          </a:xfrm>
          <a:prstGeom prst="rect">
            <a:avLst/>
          </a:prstGeom>
          <a:noFill/>
          <a:ln/>
        </p:spPr>
        <p:txBody>
          <a:bodyPr wrap="square" lIns="0" tIns="0" rIns="0" bIns="0" rtlCol="0" anchor="ctr"/>
          <a:lstStyle/>
          <a:p>
            <a:pPr indent="0" marL="0">
              <a:buNone/>
            </a:pPr>
            <a:r>
              <a:rPr lang="en-US" sz="1400" b="1" dirty="0">
                <a:solidFill>
                  <a:srgbClr val="171721"/>
                </a:solidFill>
                <a:latin typeface="Calibri" pitchFamily="34" charset="0"/>
                <a:ea typeface="Calibri" pitchFamily="34" charset="-122"/>
                <a:cs typeface="Calibri" pitchFamily="34" charset="-120"/>
              </a:rPr>
              <a:t>Tests are disruptive and manual</a:t>
            </a:r>
            <a:endParaRPr lang="en-US" sz="1400" dirty="0"/>
          </a:p>
        </p:txBody>
      </p:sp>
      <p:sp>
        <p:nvSpPr>
          <p:cNvPr id="20" name="Text 17"/>
          <p:cNvSpPr txBox="1"/>
          <p:nvPr/>
        </p:nvSpPr>
        <p:spPr>
          <a:xfrm>
            <a:off x="7269480" y="2395728"/>
            <a:ext cx="4389120" cy="594360"/>
          </a:xfrm>
          <a:prstGeom prst="rect">
            <a:avLst/>
          </a:prstGeom>
          <a:noFill/>
          <a:ln/>
        </p:spPr>
        <p:txBody>
          <a:bodyPr wrap="square" lIns="0" tIns="0" rIns="0" bIns="0" rtlCol="0" anchor="t"/>
          <a:lstStyle/>
          <a:p>
            <a:pPr indent="0" marL="0">
              <a:buNone/>
            </a:pPr>
            <a:r>
              <a:rPr lang="en-US" sz="1200" dirty="0">
                <a:solidFill>
                  <a:srgbClr val="1B2635"/>
                </a:solidFill>
                <a:latin typeface="Calibri" pitchFamily="34" charset="0"/>
                <a:ea typeface="Calibri" pitchFamily="34" charset="-122"/>
                <a:cs typeface="Calibri" pitchFamily="34" charset="-120"/>
              </a:rPr>
              <a:t>A real failover needs several teams, a change window and hand-written timings, so it happens rarely.</a:t>
            </a:r>
            <a:endParaRPr lang="en-US" sz="1200" dirty="0"/>
          </a:p>
        </p:txBody>
      </p:sp>
      <p:sp>
        <p:nvSpPr>
          <p:cNvPr id="21" name="Shape 18"/>
          <p:cNvSpPr/>
          <p:nvPr/>
        </p:nvSpPr>
        <p:spPr>
          <a:xfrm>
            <a:off x="6583680" y="3127248"/>
            <a:ext cx="502920" cy="502920"/>
          </a:xfrm>
          <a:prstGeom prst="ellipse">
            <a:avLst/>
          </a:prstGeom>
          <a:solidFill>
            <a:srgbClr val="171721"/>
          </a:solidFill>
          <a:ln w="12700">
            <a:solidFill>
              <a:srgbClr val="171721"/>
            </a:solidFill>
            <a:prstDash val="solid"/>
          </a:ln>
        </p:spPr>
      </p:sp>
      <p:pic>
        <p:nvPicPr>
          <p:cNvPr id="22" name="Image 1" descr="preencoded.png">    </p:cNvPr>
          <p:cNvPicPr>
            <a:picLocks noChangeAspect="1"/>
          </p:cNvPicPr>
          <p:nvPr/>
        </p:nvPicPr>
        <p:blipFill>
          <a:blip r:embed="rId2"/>
          <a:stretch>
            <a:fillRect/>
          </a:stretch>
        </p:blipFill>
        <p:spPr>
          <a:xfrm>
            <a:off x="6709410" y="3252978"/>
            <a:ext cx="251460" cy="251460"/>
          </a:xfrm>
          <a:prstGeom prst="rect">
            <a:avLst/>
          </a:prstGeom>
        </p:spPr>
      </p:pic>
      <p:sp>
        <p:nvSpPr>
          <p:cNvPr id="23" name="Text 19"/>
          <p:cNvSpPr txBox="1"/>
          <p:nvPr/>
        </p:nvSpPr>
        <p:spPr>
          <a:xfrm>
            <a:off x="7269480" y="3090672"/>
            <a:ext cx="4389120" cy="320040"/>
          </a:xfrm>
          <a:prstGeom prst="rect">
            <a:avLst/>
          </a:prstGeom>
          <a:noFill/>
          <a:ln/>
        </p:spPr>
        <p:txBody>
          <a:bodyPr wrap="square" lIns="0" tIns="0" rIns="0" bIns="0" rtlCol="0" anchor="ctr"/>
          <a:lstStyle/>
          <a:p>
            <a:pPr indent="0" marL="0">
              <a:buNone/>
            </a:pPr>
            <a:r>
              <a:rPr lang="en-US" sz="1400" b="1" dirty="0">
                <a:solidFill>
                  <a:srgbClr val="171721"/>
                </a:solidFill>
                <a:latin typeface="Calibri" pitchFamily="34" charset="0"/>
                <a:ea typeface="Calibri" pitchFamily="34" charset="-122"/>
                <a:cs typeface="Calibri" pitchFamily="34" charset="-120"/>
              </a:rPr>
              <a:t>Environments drift between tests</a:t>
            </a:r>
            <a:endParaRPr lang="en-US" sz="1400" dirty="0"/>
          </a:p>
        </p:txBody>
      </p:sp>
      <p:sp>
        <p:nvSpPr>
          <p:cNvPr id="24" name="Text 20"/>
          <p:cNvSpPr txBox="1"/>
          <p:nvPr/>
        </p:nvSpPr>
        <p:spPr>
          <a:xfrm>
            <a:off x="7269480" y="3419856"/>
            <a:ext cx="4389120" cy="594360"/>
          </a:xfrm>
          <a:prstGeom prst="rect">
            <a:avLst/>
          </a:prstGeom>
          <a:noFill/>
          <a:ln/>
        </p:spPr>
        <p:txBody>
          <a:bodyPr wrap="square" lIns="0" tIns="0" rIns="0" bIns="0" rtlCol="0" anchor="t"/>
          <a:lstStyle/>
          <a:p>
            <a:pPr indent="0" marL="0">
              <a:buNone/>
            </a:pPr>
            <a:r>
              <a:rPr lang="en-US" sz="1200" dirty="0">
                <a:solidFill>
                  <a:srgbClr val="1B2635"/>
                </a:solidFill>
                <a:latin typeface="Calibri" pitchFamily="34" charset="0"/>
                <a:ea typeface="Calibri" pitchFamily="34" charset="-122"/>
                <a:cs typeface="Calibri" pitchFamily="34" charset="-120"/>
              </a:rPr>
              <a:t>A setting added in one region but not the other only shows up when you fail over.</a:t>
            </a:r>
            <a:endParaRPr lang="en-US" sz="1200" dirty="0"/>
          </a:p>
        </p:txBody>
      </p:sp>
      <p:sp>
        <p:nvSpPr>
          <p:cNvPr id="25" name="Shape 21"/>
          <p:cNvSpPr/>
          <p:nvPr/>
        </p:nvSpPr>
        <p:spPr>
          <a:xfrm>
            <a:off x="6583680" y="4151376"/>
            <a:ext cx="502920" cy="502920"/>
          </a:xfrm>
          <a:prstGeom prst="ellipse">
            <a:avLst/>
          </a:prstGeom>
          <a:solidFill>
            <a:srgbClr val="171721"/>
          </a:solidFill>
          <a:ln w="12700">
            <a:solidFill>
              <a:srgbClr val="171721"/>
            </a:solidFill>
            <a:prstDash val="solid"/>
          </a:ln>
        </p:spPr>
      </p:sp>
      <p:pic>
        <p:nvPicPr>
          <p:cNvPr id="26" name="Image 2" descr="preencoded.png">    </p:cNvPr>
          <p:cNvPicPr>
            <a:picLocks noChangeAspect="1"/>
          </p:cNvPicPr>
          <p:nvPr/>
        </p:nvPicPr>
        <p:blipFill>
          <a:blip r:embed="rId3"/>
          <a:stretch>
            <a:fillRect/>
          </a:stretch>
        </p:blipFill>
        <p:spPr>
          <a:xfrm>
            <a:off x="6709410" y="4277106"/>
            <a:ext cx="251460" cy="251460"/>
          </a:xfrm>
          <a:prstGeom prst="rect">
            <a:avLst/>
          </a:prstGeom>
        </p:spPr>
      </p:pic>
      <p:sp>
        <p:nvSpPr>
          <p:cNvPr id="27" name="Text 22"/>
          <p:cNvSpPr txBox="1"/>
          <p:nvPr/>
        </p:nvSpPr>
        <p:spPr>
          <a:xfrm>
            <a:off x="7269480" y="4114800"/>
            <a:ext cx="4389120" cy="320040"/>
          </a:xfrm>
          <a:prstGeom prst="rect">
            <a:avLst/>
          </a:prstGeom>
          <a:noFill/>
          <a:ln/>
        </p:spPr>
        <p:txBody>
          <a:bodyPr wrap="square" lIns="0" tIns="0" rIns="0" bIns="0" rtlCol="0" anchor="ctr"/>
          <a:lstStyle/>
          <a:p>
            <a:pPr indent="0" marL="0">
              <a:buNone/>
            </a:pPr>
            <a:r>
              <a:rPr lang="en-US" sz="1400" b="1" dirty="0">
                <a:solidFill>
                  <a:srgbClr val="171721"/>
                </a:solidFill>
                <a:latin typeface="Calibri" pitchFamily="34" charset="0"/>
                <a:ea typeface="Calibri" pitchFamily="34" charset="-122"/>
                <a:cs typeface="Calibri" pitchFamily="34" charset="-120"/>
              </a:rPr>
              <a:t>Runbooks go stale</a:t>
            </a:r>
            <a:endParaRPr lang="en-US" sz="1400" dirty="0"/>
          </a:p>
        </p:txBody>
      </p:sp>
      <p:sp>
        <p:nvSpPr>
          <p:cNvPr id="28" name="Text 23"/>
          <p:cNvSpPr txBox="1"/>
          <p:nvPr/>
        </p:nvSpPr>
        <p:spPr>
          <a:xfrm>
            <a:off x="7269480" y="4443984"/>
            <a:ext cx="4389120" cy="594360"/>
          </a:xfrm>
          <a:prstGeom prst="rect">
            <a:avLst/>
          </a:prstGeom>
          <a:noFill/>
          <a:ln/>
        </p:spPr>
        <p:txBody>
          <a:bodyPr wrap="square" lIns="0" tIns="0" rIns="0" bIns="0" rtlCol="0" anchor="t"/>
          <a:lstStyle/>
          <a:p>
            <a:pPr indent="0" marL="0">
              <a:buNone/>
            </a:pPr>
            <a:r>
              <a:rPr lang="en-US" sz="1200" dirty="0">
                <a:solidFill>
                  <a:srgbClr val="1B2635"/>
                </a:solidFill>
                <a:latin typeface="Calibri" pitchFamily="34" charset="0"/>
                <a:ea typeface="Calibri" pitchFamily="34" charset="-122"/>
                <a:cs typeface="Calibri" pitchFamily="34" charset="-120"/>
              </a:rPr>
              <a:t>Documents name servers and services that no longer exist; engineers find out mid-incident.</a:t>
            </a:r>
            <a:endParaRPr lang="en-US" sz="1200" dirty="0"/>
          </a:p>
        </p:txBody>
      </p:sp>
      <p:sp>
        <p:nvSpPr>
          <p:cNvPr id="29" name="Shape 24"/>
          <p:cNvSpPr/>
          <p:nvPr/>
        </p:nvSpPr>
        <p:spPr>
          <a:xfrm>
            <a:off x="6583680" y="5175504"/>
            <a:ext cx="502920" cy="502920"/>
          </a:xfrm>
          <a:prstGeom prst="ellipse">
            <a:avLst/>
          </a:prstGeom>
          <a:solidFill>
            <a:srgbClr val="171721"/>
          </a:solidFill>
          <a:ln w="12700">
            <a:solidFill>
              <a:srgbClr val="171721"/>
            </a:solidFill>
            <a:prstDash val="solid"/>
          </a:ln>
        </p:spPr>
      </p:sp>
      <p:pic>
        <p:nvPicPr>
          <p:cNvPr id="30" name="Image 3" descr="preencoded.png">    </p:cNvPr>
          <p:cNvPicPr>
            <a:picLocks noChangeAspect="1"/>
          </p:cNvPicPr>
          <p:nvPr/>
        </p:nvPicPr>
        <p:blipFill>
          <a:blip r:embed="rId4"/>
          <a:stretch>
            <a:fillRect/>
          </a:stretch>
        </p:blipFill>
        <p:spPr>
          <a:xfrm>
            <a:off x="6709410" y="5301234"/>
            <a:ext cx="251460" cy="251460"/>
          </a:xfrm>
          <a:prstGeom prst="rect">
            <a:avLst/>
          </a:prstGeom>
        </p:spPr>
      </p:pic>
      <p:sp>
        <p:nvSpPr>
          <p:cNvPr id="31" name="Text 25"/>
          <p:cNvSpPr txBox="1"/>
          <p:nvPr/>
        </p:nvSpPr>
        <p:spPr>
          <a:xfrm>
            <a:off x="7269480" y="5138928"/>
            <a:ext cx="4389120" cy="320040"/>
          </a:xfrm>
          <a:prstGeom prst="rect">
            <a:avLst/>
          </a:prstGeom>
          <a:noFill/>
          <a:ln/>
        </p:spPr>
        <p:txBody>
          <a:bodyPr wrap="square" lIns="0" tIns="0" rIns="0" bIns="0" rtlCol="0" anchor="ctr"/>
          <a:lstStyle/>
          <a:p>
            <a:pPr indent="0" marL="0">
              <a:buNone/>
            </a:pPr>
            <a:r>
              <a:rPr lang="en-US" sz="1400" b="1" dirty="0">
                <a:solidFill>
                  <a:srgbClr val="171721"/>
                </a:solidFill>
                <a:latin typeface="Calibri" pitchFamily="34" charset="0"/>
                <a:ea typeface="Calibri" pitchFamily="34" charset="-122"/>
                <a:cs typeface="Calibri" pitchFamily="34" charset="-120"/>
              </a:rPr>
              <a:t>RTO and RPO are assumed</a:t>
            </a:r>
            <a:endParaRPr lang="en-US" sz="1400" dirty="0"/>
          </a:p>
        </p:txBody>
      </p:sp>
      <p:sp>
        <p:nvSpPr>
          <p:cNvPr id="32" name="Text 26"/>
          <p:cNvSpPr txBox="1"/>
          <p:nvPr/>
        </p:nvSpPr>
        <p:spPr>
          <a:xfrm>
            <a:off x="7269480" y="5468112"/>
            <a:ext cx="4389120" cy="594360"/>
          </a:xfrm>
          <a:prstGeom prst="rect">
            <a:avLst/>
          </a:prstGeom>
          <a:noFill/>
          <a:ln/>
        </p:spPr>
        <p:txBody>
          <a:bodyPr wrap="square" lIns="0" tIns="0" rIns="0" bIns="0" rtlCol="0" anchor="t"/>
          <a:lstStyle/>
          <a:p>
            <a:pPr indent="0" marL="0">
              <a:buNone/>
            </a:pPr>
            <a:r>
              <a:rPr lang="en-US" sz="1200" dirty="0">
                <a:solidFill>
                  <a:srgbClr val="1B2635"/>
                </a:solidFill>
                <a:latin typeface="Calibri" pitchFamily="34" charset="0"/>
                <a:ea typeface="Calibri" pitchFamily="34" charset="-122"/>
                <a:cs typeface="Calibri" pitchFamily="34" charset="-120"/>
              </a:rPr>
              <a:t>Targets are signed off on paper; actual recovery time and data loss are rarely measured end to end.</a:t>
            </a:r>
            <a:endParaRPr lang="en-US" sz="1200" dirty="0"/>
          </a:p>
        </p:txBody>
      </p:sp>
      <p:sp>
        <p:nvSpPr>
          <p:cNvPr id="33" name="Text 27"/>
          <p:cNvSpPr txBox="1"/>
          <p:nvPr/>
        </p:nvSpPr>
        <p:spPr>
          <a:xfrm>
            <a:off x="548640" y="6473952"/>
            <a:ext cx="11064240" cy="274320"/>
          </a:xfrm>
          <a:prstGeom prst="rect">
            <a:avLst/>
          </a:prstGeom>
          <a:noFill/>
          <a:ln/>
        </p:spPr>
        <p:txBody>
          <a:bodyPr wrap="square" lIns="0" tIns="0" rIns="0" bIns="0" rtlCol="0" anchor="ctr"/>
          <a:lstStyle/>
          <a:p>
            <a:pPr algn="r" indent="0" marL="0">
              <a:buNone/>
            </a:pPr>
            <a:r>
              <a:rPr lang="en-US" sz="900" dirty="0">
                <a:solidFill>
                  <a:srgbClr val="8C99AA"/>
                </a:solidFill>
                <a:latin typeface="Calibri" pitchFamily="34" charset="0"/>
                <a:ea typeface="Calibri" pitchFamily="34" charset="-122"/>
                <a:cs typeface="Calibri" pitchFamily="34" charset="-120"/>
              </a:rPr>
              <a:t>DR Agent: Autonomous DR Validation  ·  Team Azure Armada  ·  Azure Day 2026 Hackathon   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1064240" cy="685800"/>
          </a:xfrm>
          <a:prstGeom prst="rect">
            <a:avLst/>
          </a:prstGeom>
          <a:noFill/>
          <a:ln/>
        </p:spPr>
        <p:txBody>
          <a:bodyPr wrap="square" lIns="0" tIns="0" rIns="0" bIns="0" rtlCol="0" anchor="ctr"/>
          <a:lstStyle/>
          <a:p>
            <a:pPr indent="0" marL="0">
              <a:buNone/>
            </a:pPr>
            <a:r>
              <a:rPr lang="en-US" sz="3200" b="1" dirty="0">
                <a:solidFill>
                  <a:srgbClr val="171721"/>
                </a:solidFill>
                <a:latin typeface="Calibri" pitchFamily="34" charset="0"/>
                <a:ea typeface="Calibri" pitchFamily="34" charset="-122"/>
                <a:cs typeface="Calibri" pitchFamily="34" charset="-120"/>
              </a:rPr>
              <a:t>What an unproven DR plan costs: one bad morning</a:t>
            </a:r>
            <a:endParaRPr lang="en-US" sz="3200" dirty="0"/>
          </a:p>
        </p:txBody>
      </p:sp>
      <p:sp>
        <p:nvSpPr>
          <p:cNvPr id="3" name="Text 1"/>
          <p:cNvSpPr txBox="1"/>
          <p:nvPr/>
        </p:nvSpPr>
        <p:spPr>
          <a:xfrm>
            <a:off x="548640" y="987552"/>
            <a:ext cx="11064240" cy="365760"/>
          </a:xfrm>
          <a:prstGeom prst="rect">
            <a:avLst/>
          </a:prstGeom>
          <a:noFill/>
          <a:ln/>
        </p:spPr>
        <p:txBody>
          <a:bodyPr wrap="square" lIns="0" tIns="0" rIns="0" bIns="0" rtlCol="0" anchor="ctr"/>
          <a:lstStyle/>
          <a:p>
            <a:pPr indent="0" marL="0">
              <a:buNone/>
            </a:pPr>
            <a:r>
              <a:rPr lang="en-US" sz="1500" i="1" dirty="0">
                <a:solidFill>
                  <a:srgbClr val="5B6B7F"/>
                </a:solidFill>
                <a:latin typeface="Calibri" pitchFamily="34" charset="0"/>
                <a:ea typeface="Calibri" pitchFamily="34" charset="-122"/>
                <a:cs typeface="Calibri" pitchFamily="34" charset="-120"/>
              </a:rPr>
              <a:t>Illustration for a tier-1 payments service, using the cited figures. Not a forecast; the inputs are shown.</a:t>
            </a:r>
            <a:endParaRPr lang="en-US" sz="1500" dirty="0"/>
          </a:p>
        </p:txBody>
      </p:sp>
      <p:sp>
        <p:nvSpPr>
          <p:cNvPr id="4" name="Shape 2"/>
          <p:cNvSpPr/>
          <p:nvPr/>
        </p:nvSpPr>
        <p:spPr>
          <a:xfrm>
            <a:off x="548640" y="1600200"/>
            <a:ext cx="11064240" cy="676656"/>
          </a:xfrm>
          <a:prstGeom prst="roundRect">
            <a:avLst>
              <a:gd name="adj" fmla="val 10811"/>
            </a:avLst>
          </a:prstGeom>
          <a:solidFill>
            <a:srgbClr val="F1F5F9"/>
          </a:solidFill>
          <a:ln w="12700">
            <a:solidFill>
              <a:srgbClr val="F1F5F9"/>
            </a:solidFill>
            <a:prstDash val="solid"/>
          </a:ln>
        </p:spPr>
      </p:sp>
      <p:sp>
        <p:nvSpPr>
          <p:cNvPr id="5" name="Text 3"/>
          <p:cNvSpPr txBox="1"/>
          <p:nvPr/>
        </p:nvSpPr>
        <p:spPr>
          <a:xfrm>
            <a:off x="777240" y="1600200"/>
            <a:ext cx="3108960" cy="676656"/>
          </a:xfrm>
          <a:prstGeom prst="rect">
            <a:avLst/>
          </a:prstGeom>
          <a:noFill/>
          <a:ln/>
        </p:spPr>
        <p:txBody>
          <a:bodyPr wrap="square" lIns="0" tIns="0" rIns="0" bIns="0" rtlCol="0" anchor="ctr"/>
          <a:lstStyle/>
          <a:p>
            <a:pPr indent="0" marL="0">
              <a:buNone/>
            </a:pPr>
            <a:r>
              <a:rPr lang="en-US" sz="1400" b="1" dirty="0">
                <a:solidFill>
                  <a:srgbClr val="171721"/>
                </a:solidFill>
                <a:latin typeface="Calibri" pitchFamily="34" charset="0"/>
                <a:ea typeface="Calibri" pitchFamily="34" charset="-122"/>
                <a:cs typeface="Calibri" pitchFamily="34" charset="-120"/>
              </a:rPr>
              <a:t>Recovery target (RTO)</a:t>
            </a:r>
            <a:endParaRPr lang="en-US" sz="1400" dirty="0"/>
          </a:p>
        </p:txBody>
      </p:sp>
      <p:sp>
        <p:nvSpPr>
          <p:cNvPr id="6" name="Text 4"/>
          <p:cNvSpPr txBox="1"/>
          <p:nvPr/>
        </p:nvSpPr>
        <p:spPr>
          <a:xfrm>
            <a:off x="3931920" y="1600200"/>
            <a:ext cx="2377440" cy="676656"/>
          </a:xfrm>
          <a:prstGeom prst="rect">
            <a:avLst/>
          </a:prstGeom>
          <a:noFill/>
          <a:ln/>
        </p:spPr>
        <p:txBody>
          <a:bodyPr wrap="square" lIns="0" tIns="0" rIns="0" bIns="0" rtlCol="0" anchor="ctr"/>
          <a:lstStyle/>
          <a:p>
            <a:pPr indent="0" marL="0">
              <a:buNone/>
            </a:pPr>
            <a:r>
              <a:rPr lang="en-US" sz="2200" b="1" dirty="0">
                <a:solidFill>
                  <a:srgbClr val="1B2635"/>
                </a:solidFill>
                <a:latin typeface="Calibri" pitchFamily="34" charset="0"/>
                <a:ea typeface="Calibri" pitchFamily="34" charset="-122"/>
                <a:cs typeface="Calibri" pitchFamily="34" charset="-120"/>
              </a:rPr>
              <a:t>30 minutes</a:t>
            </a:r>
            <a:endParaRPr lang="en-US" sz="2200" dirty="0"/>
          </a:p>
        </p:txBody>
      </p:sp>
      <p:sp>
        <p:nvSpPr>
          <p:cNvPr id="7" name="Text 5"/>
          <p:cNvSpPr txBox="1"/>
          <p:nvPr/>
        </p:nvSpPr>
        <p:spPr>
          <a:xfrm>
            <a:off x="6400800" y="1600200"/>
            <a:ext cx="5029200" cy="676656"/>
          </a:xfrm>
          <a:prstGeom prst="rect">
            <a:avLst/>
          </a:prstGeom>
          <a:noFill/>
          <a:ln/>
        </p:spPr>
        <p:txBody>
          <a:bodyPr wrap="square" lIns="0" tIns="0" rIns="0" bIns="0" rtlCol="0" anchor="ctr"/>
          <a:lstStyle/>
          <a:p>
            <a:pPr indent="0" marL="0">
              <a:buNone/>
            </a:pPr>
            <a:r>
              <a:rPr lang="en-US" sz="1200" dirty="0">
                <a:solidFill>
                  <a:srgbClr val="5B6B7F"/>
                </a:solidFill>
                <a:latin typeface="Calibri" pitchFamily="34" charset="0"/>
                <a:ea typeface="Calibri" pitchFamily="34" charset="-122"/>
                <a:cs typeface="Calibri" pitchFamily="34" charset="-120"/>
              </a:rPr>
              <a:t>Signed off on paper; never measured end to end</a:t>
            </a:r>
            <a:endParaRPr lang="en-US" sz="1200" dirty="0"/>
          </a:p>
        </p:txBody>
      </p:sp>
      <p:sp>
        <p:nvSpPr>
          <p:cNvPr id="8" name="Shape 6"/>
          <p:cNvSpPr/>
          <p:nvPr/>
        </p:nvSpPr>
        <p:spPr>
          <a:xfrm>
            <a:off x="548640" y="2386584"/>
            <a:ext cx="11064240" cy="676656"/>
          </a:xfrm>
          <a:prstGeom prst="roundRect">
            <a:avLst>
              <a:gd name="adj" fmla="val 10811"/>
            </a:avLst>
          </a:prstGeom>
          <a:solidFill>
            <a:srgbClr val="F1F5F9"/>
          </a:solidFill>
          <a:ln w="12700">
            <a:solidFill>
              <a:srgbClr val="F1F5F9"/>
            </a:solidFill>
            <a:prstDash val="solid"/>
          </a:ln>
        </p:spPr>
      </p:sp>
      <p:sp>
        <p:nvSpPr>
          <p:cNvPr id="9" name="Text 7"/>
          <p:cNvSpPr txBox="1"/>
          <p:nvPr/>
        </p:nvSpPr>
        <p:spPr>
          <a:xfrm>
            <a:off x="777240" y="2386584"/>
            <a:ext cx="3108960" cy="676656"/>
          </a:xfrm>
          <a:prstGeom prst="rect">
            <a:avLst/>
          </a:prstGeom>
          <a:noFill/>
          <a:ln/>
        </p:spPr>
        <p:txBody>
          <a:bodyPr wrap="square" lIns="0" tIns="0" rIns="0" bIns="0" rtlCol="0" anchor="ctr"/>
          <a:lstStyle/>
          <a:p>
            <a:pPr indent="0" marL="0">
              <a:buNone/>
            </a:pPr>
            <a:r>
              <a:rPr lang="en-US" sz="1400" b="1" dirty="0">
                <a:solidFill>
                  <a:srgbClr val="171721"/>
                </a:solidFill>
                <a:latin typeface="Calibri" pitchFamily="34" charset="0"/>
                <a:ea typeface="Calibri" pitchFamily="34" charset="-122"/>
                <a:cs typeface="Calibri" pitchFamily="34" charset="-120"/>
              </a:rPr>
              <a:t>Actual recovery</a:t>
            </a:r>
            <a:endParaRPr lang="en-US" sz="1400" dirty="0"/>
          </a:p>
        </p:txBody>
      </p:sp>
      <p:sp>
        <p:nvSpPr>
          <p:cNvPr id="10" name="Text 8"/>
          <p:cNvSpPr txBox="1"/>
          <p:nvPr/>
        </p:nvSpPr>
        <p:spPr>
          <a:xfrm>
            <a:off x="3931920" y="2386584"/>
            <a:ext cx="2377440" cy="676656"/>
          </a:xfrm>
          <a:prstGeom prst="rect">
            <a:avLst/>
          </a:prstGeom>
          <a:noFill/>
          <a:ln/>
        </p:spPr>
        <p:txBody>
          <a:bodyPr wrap="square" lIns="0" tIns="0" rIns="0" bIns="0" rtlCol="0" anchor="ctr"/>
          <a:lstStyle/>
          <a:p>
            <a:pPr indent="0" marL="0">
              <a:buNone/>
            </a:pPr>
            <a:r>
              <a:rPr lang="en-US" sz="2200" b="1" dirty="0">
                <a:solidFill>
                  <a:srgbClr val="1B2635"/>
                </a:solidFill>
                <a:latin typeface="Calibri" pitchFamily="34" charset="0"/>
                <a:ea typeface="Calibri" pitchFamily="34" charset="-122"/>
                <a:cs typeface="Calibri" pitchFamily="34" charset="-120"/>
              </a:rPr>
              <a:t>4 hours</a:t>
            </a:r>
            <a:endParaRPr lang="en-US" sz="2200" dirty="0"/>
          </a:p>
        </p:txBody>
      </p:sp>
      <p:sp>
        <p:nvSpPr>
          <p:cNvPr id="11" name="Text 9"/>
          <p:cNvSpPr txBox="1"/>
          <p:nvPr/>
        </p:nvSpPr>
        <p:spPr>
          <a:xfrm>
            <a:off x="6400800" y="2386584"/>
            <a:ext cx="5029200" cy="676656"/>
          </a:xfrm>
          <a:prstGeom prst="rect">
            <a:avLst/>
          </a:prstGeom>
          <a:noFill/>
          <a:ln/>
        </p:spPr>
        <p:txBody>
          <a:bodyPr wrap="square" lIns="0" tIns="0" rIns="0" bIns="0" rtlCol="0" anchor="ctr"/>
          <a:lstStyle/>
          <a:p>
            <a:pPr indent="0" marL="0">
              <a:buNone/>
            </a:pPr>
            <a:r>
              <a:rPr lang="en-US" sz="1200" dirty="0">
                <a:solidFill>
                  <a:srgbClr val="5B6B7F"/>
                </a:solidFill>
                <a:latin typeface="Calibri" pitchFamily="34" charset="0"/>
                <a:ea typeface="Calibri" pitchFamily="34" charset="-122"/>
                <a:cs typeface="Calibri" pitchFamily="34" charset="-120"/>
              </a:rPr>
              <a:t>Comparable to the NSE trading halt of Feb 2021 [5]</a:t>
            </a:r>
            <a:endParaRPr lang="en-US" sz="1200" dirty="0"/>
          </a:p>
        </p:txBody>
      </p:sp>
      <p:sp>
        <p:nvSpPr>
          <p:cNvPr id="12" name="Shape 10"/>
          <p:cNvSpPr/>
          <p:nvPr/>
        </p:nvSpPr>
        <p:spPr>
          <a:xfrm>
            <a:off x="548640" y="3172968"/>
            <a:ext cx="11064240" cy="676656"/>
          </a:xfrm>
          <a:prstGeom prst="roundRect">
            <a:avLst>
              <a:gd name="adj" fmla="val 10811"/>
            </a:avLst>
          </a:prstGeom>
          <a:solidFill>
            <a:srgbClr val="F1F5F9"/>
          </a:solidFill>
          <a:ln w="12700">
            <a:solidFill>
              <a:srgbClr val="F1F5F9"/>
            </a:solidFill>
            <a:prstDash val="solid"/>
          </a:ln>
        </p:spPr>
      </p:sp>
      <p:sp>
        <p:nvSpPr>
          <p:cNvPr id="13" name="Text 11"/>
          <p:cNvSpPr txBox="1"/>
          <p:nvPr/>
        </p:nvSpPr>
        <p:spPr>
          <a:xfrm>
            <a:off x="777240" y="3172968"/>
            <a:ext cx="3108960" cy="676656"/>
          </a:xfrm>
          <a:prstGeom prst="rect">
            <a:avLst/>
          </a:prstGeom>
          <a:noFill/>
          <a:ln/>
        </p:spPr>
        <p:txBody>
          <a:bodyPr wrap="square" lIns="0" tIns="0" rIns="0" bIns="0" rtlCol="0" anchor="ctr"/>
          <a:lstStyle/>
          <a:p>
            <a:pPr indent="0" marL="0">
              <a:buNone/>
            </a:pPr>
            <a:r>
              <a:rPr lang="en-US" sz="1400" b="1" dirty="0">
                <a:solidFill>
                  <a:srgbClr val="171721"/>
                </a:solidFill>
                <a:latin typeface="Calibri" pitchFamily="34" charset="0"/>
                <a:ea typeface="Calibri" pitchFamily="34" charset="-122"/>
                <a:cs typeface="Calibri" pitchFamily="34" charset="-120"/>
              </a:rPr>
              <a:t>Hourly cost of downtime</a:t>
            </a:r>
            <a:endParaRPr lang="en-US" sz="1400" dirty="0"/>
          </a:p>
        </p:txBody>
      </p:sp>
      <p:sp>
        <p:nvSpPr>
          <p:cNvPr id="14" name="Text 12"/>
          <p:cNvSpPr txBox="1"/>
          <p:nvPr/>
        </p:nvSpPr>
        <p:spPr>
          <a:xfrm>
            <a:off x="3931920" y="3172968"/>
            <a:ext cx="2377440" cy="676656"/>
          </a:xfrm>
          <a:prstGeom prst="rect">
            <a:avLst/>
          </a:prstGeom>
          <a:noFill/>
          <a:ln/>
        </p:spPr>
        <p:txBody>
          <a:bodyPr wrap="square" lIns="0" tIns="0" rIns="0" bIns="0" rtlCol="0" anchor="ctr"/>
          <a:lstStyle/>
          <a:p>
            <a:pPr indent="0" marL="0">
              <a:buNone/>
            </a:pPr>
            <a:r>
              <a:rPr lang="en-US" sz="2200" b="1" dirty="0">
                <a:solidFill>
                  <a:srgbClr val="1B2635"/>
                </a:solidFill>
                <a:latin typeface="Calibri" pitchFamily="34" charset="0"/>
                <a:ea typeface="Calibri" pitchFamily="34" charset="-122"/>
                <a:cs typeface="Calibri" pitchFamily="34" charset="-120"/>
              </a:rPr>
              <a:t>$900,000</a:t>
            </a:r>
            <a:endParaRPr lang="en-US" sz="2200" dirty="0"/>
          </a:p>
        </p:txBody>
      </p:sp>
      <p:sp>
        <p:nvSpPr>
          <p:cNvPr id="15" name="Text 13"/>
          <p:cNvSpPr txBox="1"/>
          <p:nvPr/>
        </p:nvSpPr>
        <p:spPr>
          <a:xfrm>
            <a:off x="6400800" y="3172968"/>
            <a:ext cx="5029200" cy="676656"/>
          </a:xfrm>
          <a:prstGeom prst="rect">
            <a:avLst/>
          </a:prstGeom>
          <a:noFill/>
          <a:ln/>
        </p:spPr>
        <p:txBody>
          <a:bodyPr wrap="square" lIns="0" tIns="0" rIns="0" bIns="0" rtlCol="0" anchor="ctr"/>
          <a:lstStyle/>
          <a:p>
            <a:pPr indent="0" marL="0">
              <a:buNone/>
            </a:pPr>
            <a:r>
              <a:rPr lang="en-US" sz="1200" dirty="0">
                <a:solidFill>
                  <a:srgbClr val="5B6B7F"/>
                </a:solidFill>
                <a:latin typeface="Calibri" pitchFamily="34" charset="0"/>
                <a:ea typeface="Calibri" pitchFamily="34" charset="-122"/>
                <a:cs typeface="Calibri" pitchFamily="34" charset="-120"/>
              </a:rPr>
              <a:t>$15,000 a minute, the Global 2000 average (Splunk &amp; Oxford Economics, 2026) [1]</a:t>
            </a:r>
            <a:endParaRPr lang="en-US" sz="1200" dirty="0"/>
          </a:p>
        </p:txBody>
      </p:sp>
      <p:sp>
        <p:nvSpPr>
          <p:cNvPr id="16" name="Shape 14"/>
          <p:cNvSpPr/>
          <p:nvPr/>
        </p:nvSpPr>
        <p:spPr>
          <a:xfrm>
            <a:off x="548640" y="3959352"/>
            <a:ext cx="11064240" cy="676656"/>
          </a:xfrm>
          <a:prstGeom prst="roundRect">
            <a:avLst>
              <a:gd name="adj" fmla="val 10811"/>
            </a:avLst>
          </a:prstGeom>
          <a:solidFill>
            <a:srgbClr val="FDF0DB"/>
          </a:solidFill>
          <a:ln w="12700">
            <a:solidFill>
              <a:srgbClr val="FDF0DB"/>
            </a:solidFill>
            <a:prstDash val="solid"/>
          </a:ln>
        </p:spPr>
      </p:sp>
      <p:sp>
        <p:nvSpPr>
          <p:cNvPr id="17" name="Text 15"/>
          <p:cNvSpPr txBox="1"/>
          <p:nvPr/>
        </p:nvSpPr>
        <p:spPr>
          <a:xfrm>
            <a:off x="777240" y="3959352"/>
            <a:ext cx="3108960" cy="676656"/>
          </a:xfrm>
          <a:prstGeom prst="rect">
            <a:avLst/>
          </a:prstGeom>
          <a:noFill/>
          <a:ln/>
        </p:spPr>
        <p:txBody>
          <a:bodyPr wrap="square" lIns="0" tIns="0" rIns="0" bIns="0" rtlCol="0" anchor="ctr"/>
          <a:lstStyle/>
          <a:p>
            <a:pPr indent="0" marL="0">
              <a:buNone/>
            </a:pPr>
            <a:r>
              <a:rPr lang="en-US" sz="1400" b="1" dirty="0">
                <a:solidFill>
                  <a:srgbClr val="171721"/>
                </a:solidFill>
                <a:latin typeface="Calibri" pitchFamily="34" charset="0"/>
                <a:ea typeface="Calibri" pitchFamily="34" charset="-122"/>
                <a:cs typeface="Calibri" pitchFamily="34" charset="-120"/>
              </a:rPr>
              <a:t>Direct loss</a:t>
            </a:r>
            <a:endParaRPr lang="en-US" sz="1400" dirty="0"/>
          </a:p>
        </p:txBody>
      </p:sp>
      <p:sp>
        <p:nvSpPr>
          <p:cNvPr id="18" name="Text 16"/>
          <p:cNvSpPr txBox="1"/>
          <p:nvPr/>
        </p:nvSpPr>
        <p:spPr>
          <a:xfrm>
            <a:off x="3931920" y="3959352"/>
            <a:ext cx="2377440" cy="676656"/>
          </a:xfrm>
          <a:prstGeom prst="rect">
            <a:avLst/>
          </a:prstGeom>
          <a:noFill/>
          <a:ln/>
        </p:spPr>
        <p:txBody>
          <a:bodyPr wrap="square" lIns="0" tIns="0" rIns="0" bIns="0" rtlCol="0" anchor="ctr"/>
          <a:lstStyle/>
          <a:p>
            <a:pPr indent="0" marL="0">
              <a:buNone/>
            </a:pPr>
            <a:r>
              <a:rPr lang="en-US" sz="2200" b="1" dirty="0">
                <a:solidFill>
                  <a:srgbClr val="D64545"/>
                </a:solidFill>
                <a:latin typeface="Calibri" pitchFamily="34" charset="0"/>
                <a:ea typeface="Calibri" pitchFamily="34" charset="-122"/>
                <a:cs typeface="Calibri" pitchFamily="34" charset="-120"/>
              </a:rPr>
              <a:t>$3.6M</a:t>
            </a:r>
            <a:endParaRPr lang="en-US" sz="2200" dirty="0"/>
          </a:p>
        </p:txBody>
      </p:sp>
      <p:sp>
        <p:nvSpPr>
          <p:cNvPr id="19" name="Text 17"/>
          <p:cNvSpPr txBox="1"/>
          <p:nvPr/>
        </p:nvSpPr>
        <p:spPr>
          <a:xfrm>
            <a:off x="6400800" y="3959352"/>
            <a:ext cx="5029200" cy="676656"/>
          </a:xfrm>
          <a:prstGeom prst="rect">
            <a:avLst/>
          </a:prstGeom>
          <a:noFill/>
          <a:ln/>
        </p:spPr>
        <p:txBody>
          <a:bodyPr wrap="square" lIns="0" tIns="0" rIns="0" bIns="0" rtlCol="0" anchor="ctr"/>
          <a:lstStyle/>
          <a:p>
            <a:pPr indent="0" marL="0">
              <a:buNone/>
            </a:pPr>
            <a:r>
              <a:rPr lang="en-US" sz="1200" dirty="0">
                <a:solidFill>
                  <a:srgbClr val="5B6B7F"/>
                </a:solidFill>
                <a:latin typeface="Calibri" pitchFamily="34" charset="0"/>
                <a:ea typeface="Calibri" pitchFamily="34" charset="-122"/>
                <a:cs typeface="Calibri" pitchFamily="34" charset="-120"/>
              </a:rPr>
              <a:t>4 h × $900K; $3.15M of it beyond the 30-minute target</a:t>
            </a:r>
            <a:endParaRPr lang="en-US" sz="1200" dirty="0"/>
          </a:p>
        </p:txBody>
      </p:sp>
      <p:sp>
        <p:nvSpPr>
          <p:cNvPr id="20" name="Shape 18"/>
          <p:cNvSpPr/>
          <p:nvPr/>
        </p:nvSpPr>
        <p:spPr>
          <a:xfrm>
            <a:off x="548640" y="4745736"/>
            <a:ext cx="11064240" cy="676656"/>
          </a:xfrm>
          <a:prstGeom prst="roundRect">
            <a:avLst>
              <a:gd name="adj" fmla="val 10811"/>
            </a:avLst>
          </a:prstGeom>
          <a:solidFill>
            <a:srgbClr val="FDF0DB"/>
          </a:solidFill>
          <a:ln w="12700">
            <a:solidFill>
              <a:srgbClr val="FDF0DB"/>
            </a:solidFill>
            <a:prstDash val="solid"/>
          </a:ln>
        </p:spPr>
      </p:sp>
      <p:sp>
        <p:nvSpPr>
          <p:cNvPr id="21" name="Text 19"/>
          <p:cNvSpPr txBox="1"/>
          <p:nvPr/>
        </p:nvSpPr>
        <p:spPr>
          <a:xfrm>
            <a:off x="777240" y="4745736"/>
            <a:ext cx="3108960" cy="676656"/>
          </a:xfrm>
          <a:prstGeom prst="rect">
            <a:avLst/>
          </a:prstGeom>
          <a:noFill/>
          <a:ln/>
        </p:spPr>
        <p:txBody>
          <a:bodyPr wrap="square" lIns="0" tIns="0" rIns="0" bIns="0" rtlCol="0" anchor="ctr"/>
          <a:lstStyle/>
          <a:p>
            <a:pPr indent="0" marL="0">
              <a:buNone/>
            </a:pPr>
            <a:r>
              <a:rPr lang="en-US" sz="1400" b="1" dirty="0">
                <a:solidFill>
                  <a:srgbClr val="171721"/>
                </a:solidFill>
                <a:latin typeface="Calibri" pitchFamily="34" charset="0"/>
                <a:ea typeface="Calibri" pitchFamily="34" charset="-122"/>
                <a:cs typeface="Calibri" pitchFamily="34" charset="-120"/>
              </a:rPr>
              <a:t>Regulatory precedent</a:t>
            </a:r>
            <a:endParaRPr lang="en-US" sz="1400" dirty="0"/>
          </a:p>
        </p:txBody>
      </p:sp>
      <p:sp>
        <p:nvSpPr>
          <p:cNvPr id="22" name="Text 20"/>
          <p:cNvSpPr txBox="1"/>
          <p:nvPr/>
        </p:nvSpPr>
        <p:spPr>
          <a:xfrm>
            <a:off x="3931920" y="4745736"/>
            <a:ext cx="2377440" cy="676656"/>
          </a:xfrm>
          <a:prstGeom prst="rect">
            <a:avLst/>
          </a:prstGeom>
          <a:noFill/>
          <a:ln/>
        </p:spPr>
        <p:txBody>
          <a:bodyPr wrap="square" lIns="0" tIns="0" rIns="0" bIns="0" rtlCol="0" anchor="ctr"/>
          <a:lstStyle/>
          <a:p>
            <a:pPr indent="0" marL="0">
              <a:buNone/>
            </a:pPr>
            <a:r>
              <a:rPr lang="en-US" sz="2200" b="1" dirty="0">
                <a:solidFill>
                  <a:srgbClr val="D64545"/>
                </a:solidFill>
                <a:latin typeface="Calibri" pitchFamily="34" charset="0"/>
                <a:ea typeface="Calibri" pitchFamily="34" charset="-122"/>
                <a:cs typeface="Calibri" pitchFamily="34" charset="-120"/>
              </a:rPr>
              <a:t>≈ $8.8M</a:t>
            </a:r>
            <a:endParaRPr lang="en-US" sz="2200" dirty="0"/>
          </a:p>
        </p:txBody>
      </p:sp>
      <p:sp>
        <p:nvSpPr>
          <p:cNvPr id="23" name="Text 21"/>
          <p:cNvSpPr txBox="1"/>
          <p:nvPr/>
        </p:nvSpPr>
        <p:spPr>
          <a:xfrm>
            <a:off x="6400800" y="4745736"/>
            <a:ext cx="5029200" cy="676656"/>
          </a:xfrm>
          <a:prstGeom prst="rect">
            <a:avLst/>
          </a:prstGeom>
          <a:noFill/>
          <a:ln/>
        </p:spPr>
        <p:txBody>
          <a:bodyPr wrap="square" lIns="0" tIns="0" rIns="0" bIns="0" rtlCol="0" anchor="ctr"/>
          <a:lstStyle/>
          <a:p>
            <a:pPr indent="0" marL="0">
              <a:buNone/>
            </a:pPr>
            <a:r>
              <a:rPr lang="en-US" sz="1200" dirty="0">
                <a:solidFill>
                  <a:srgbClr val="5B6B7F"/>
                </a:solidFill>
                <a:latin typeface="Calibri" pitchFamily="34" charset="0"/>
                <a:ea typeface="Calibri" pitchFamily="34" charset="-122"/>
                <a:cs typeface="Calibri" pitchFamily="34" charset="-120"/>
              </a:rPr>
              <a:t>What NSE paid to settle its 2021 outage case [5]; banks have faced 10–15 month business restrictions [4][6]</a:t>
            </a:r>
            <a:endParaRPr lang="en-US" sz="1200" dirty="0"/>
          </a:p>
        </p:txBody>
      </p:sp>
      <p:sp>
        <p:nvSpPr>
          <p:cNvPr id="24" name="Shape 22"/>
          <p:cNvSpPr/>
          <p:nvPr/>
        </p:nvSpPr>
        <p:spPr>
          <a:xfrm>
            <a:off x="548640" y="5623560"/>
            <a:ext cx="11064240" cy="658368"/>
          </a:xfrm>
          <a:prstGeom prst="roundRect">
            <a:avLst>
              <a:gd name="adj" fmla="val 11111"/>
            </a:avLst>
          </a:prstGeom>
          <a:solidFill>
            <a:srgbClr val="171721"/>
          </a:solidFill>
          <a:ln w="12700">
            <a:solidFill>
              <a:srgbClr val="171721"/>
            </a:solidFill>
            <a:prstDash val="solid"/>
          </a:ln>
        </p:spPr>
      </p:sp>
      <p:sp>
        <p:nvSpPr>
          <p:cNvPr id="25" name="Text 23"/>
          <p:cNvSpPr txBox="1"/>
          <p:nvPr/>
        </p:nvSpPr>
        <p:spPr>
          <a:xfrm>
            <a:off x="777240" y="5623560"/>
            <a:ext cx="10698480" cy="658368"/>
          </a:xfrm>
          <a:prstGeom prst="rect">
            <a:avLst/>
          </a:prstGeom>
          <a:noFill/>
          <a:ln/>
        </p:spPr>
        <p:txBody>
          <a:bodyPr wrap="square" lIns="0" tIns="0" rIns="0" bIns="0" rtlCol="0" anchor="ctr"/>
          <a:lstStyle/>
          <a:p>
            <a:pPr indent="0" marL="0">
              <a:buNone/>
            </a:pPr>
            <a:r>
              <a:rPr lang="en-US" sz="1450" b="1" dirty="0">
                <a:solidFill>
                  <a:srgbClr val="FFFFFF"/>
                </a:solidFill>
                <a:latin typeface="Calibri" pitchFamily="34" charset="0"/>
                <a:ea typeface="Calibri" pitchFamily="34" charset="-122"/>
                <a:cs typeface="Calibri" pitchFamily="34" charset="-120"/>
              </a:rPr>
              <a:t>The DR Agent measured 34.35 s</a:t>
            </a:r>
            <a:pPr indent="0" marL="0">
              <a:buNone/>
            </a:pPr>
            <a:r>
              <a:rPr lang="en-US" sz="1450" dirty="0">
                <a:solidFill>
                  <a:srgbClr val="C9C3E6"/>
                </a:solidFill>
                <a:latin typeface="Calibri" pitchFamily="34" charset="0"/>
                <a:ea typeface="Calibri" pitchFamily="34" charset="-122"/>
                <a:cs typeface="Calibri" pitchFamily="34" charset="-120"/>
              </a:rPr>
              <a:t> to recover the same kind of service in our live Azure drill (18 Oct 2026), with zero payments lost, and proves it again on every run.</a:t>
            </a:r>
            <a:endParaRPr lang="en-US" sz="1450" dirty="0"/>
          </a:p>
        </p:txBody>
      </p:sp>
      <p:sp>
        <p:nvSpPr>
          <p:cNvPr id="26" name="Text 24"/>
          <p:cNvSpPr txBox="1"/>
          <p:nvPr/>
        </p:nvSpPr>
        <p:spPr>
          <a:xfrm>
            <a:off x="548640" y="6473952"/>
            <a:ext cx="11064240" cy="274320"/>
          </a:xfrm>
          <a:prstGeom prst="rect">
            <a:avLst/>
          </a:prstGeom>
          <a:noFill/>
          <a:ln/>
        </p:spPr>
        <p:txBody>
          <a:bodyPr wrap="square" lIns="0" tIns="0" rIns="0" bIns="0" rtlCol="0" anchor="ctr"/>
          <a:lstStyle/>
          <a:p>
            <a:pPr algn="r" indent="0" marL="0">
              <a:buNone/>
            </a:pPr>
            <a:r>
              <a:rPr lang="en-US" sz="900" dirty="0">
                <a:solidFill>
                  <a:srgbClr val="8C99AA"/>
                </a:solidFill>
                <a:latin typeface="Calibri" pitchFamily="34" charset="0"/>
                <a:ea typeface="Calibri" pitchFamily="34" charset="-122"/>
                <a:cs typeface="Calibri" pitchFamily="34" charset="-120"/>
              </a:rPr>
              <a:t>DR Agent: Autonomous DR Validation  ·  Team Azure Armada  ·  Azure Day 2026 Hackathon   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1064240" cy="685800"/>
          </a:xfrm>
          <a:prstGeom prst="rect">
            <a:avLst/>
          </a:prstGeom>
          <a:noFill/>
          <a:ln/>
        </p:spPr>
        <p:txBody>
          <a:bodyPr wrap="square" lIns="0" tIns="0" rIns="0" bIns="0" rtlCol="0" anchor="ctr"/>
          <a:lstStyle/>
          <a:p>
            <a:pPr indent="0" marL="0">
              <a:buNone/>
            </a:pPr>
            <a:r>
              <a:rPr lang="en-US" sz="3200" b="1" dirty="0">
                <a:solidFill>
                  <a:srgbClr val="171721"/>
                </a:solidFill>
                <a:latin typeface="Calibri" pitchFamily="34" charset="0"/>
                <a:ea typeface="Calibri" pitchFamily="34" charset="-122"/>
                <a:cs typeface="Calibri" pitchFamily="34" charset="-120"/>
              </a:rPr>
              <a:t>The DR Agent runs the real drill and proves the result</a:t>
            </a:r>
            <a:endParaRPr lang="en-US" sz="3200" dirty="0"/>
          </a:p>
        </p:txBody>
      </p:sp>
      <p:sp>
        <p:nvSpPr>
          <p:cNvPr id="3" name="Text 1"/>
          <p:cNvSpPr txBox="1"/>
          <p:nvPr/>
        </p:nvSpPr>
        <p:spPr>
          <a:xfrm>
            <a:off x="548640" y="987552"/>
            <a:ext cx="11064240" cy="365760"/>
          </a:xfrm>
          <a:prstGeom prst="rect">
            <a:avLst/>
          </a:prstGeom>
          <a:noFill/>
          <a:ln/>
        </p:spPr>
        <p:txBody>
          <a:bodyPr wrap="square" lIns="0" tIns="0" rIns="0" bIns="0" rtlCol="0" anchor="ctr"/>
          <a:lstStyle/>
          <a:p>
            <a:pPr indent="0" marL="0">
              <a:buNone/>
            </a:pPr>
            <a:r>
              <a:rPr lang="en-US" sz="1500" i="1" dirty="0">
                <a:solidFill>
                  <a:srgbClr val="5B6B7F"/>
                </a:solidFill>
                <a:latin typeface="Calibri" pitchFamily="34" charset="0"/>
                <a:ea typeface="Calibri" pitchFamily="34" charset="-122"/>
                <a:cs typeface="Calibri" pitchFamily="34" charset="-120"/>
              </a:rPr>
              <a:t>Six AI agents on Azure AI Foundry plan and judge; a guarded engine executes on live Azure resources; humans approve.</a:t>
            </a:r>
            <a:endParaRPr lang="en-US" sz="1500" dirty="0"/>
          </a:p>
        </p:txBody>
      </p:sp>
      <p:sp>
        <p:nvSpPr>
          <p:cNvPr id="4" name="Shape 2"/>
          <p:cNvSpPr/>
          <p:nvPr/>
        </p:nvSpPr>
        <p:spPr>
          <a:xfrm>
            <a:off x="548640" y="1600200"/>
            <a:ext cx="5440680" cy="3291840"/>
          </a:xfrm>
          <a:prstGeom prst="roundRect">
            <a:avLst>
              <a:gd name="adj" fmla="val 2222"/>
            </a:avLst>
          </a:prstGeom>
          <a:solidFill>
            <a:srgbClr val="F1F5F9"/>
          </a:solidFill>
          <a:ln w="12700">
            <a:solidFill>
              <a:srgbClr val="F1F5F9"/>
            </a:solidFill>
            <a:prstDash val="solid"/>
          </a:ln>
          <a:effectLst>
            <a:outerShdw sx="100000" sy="100000" kx="0" ky="0" algn="bl" rotWithShape="0" blurRad="76200" dist="25400" dir="5400000">
              <a:srgbClr val="000000">
                <a:alpha val="12000"/>
              </a:srgbClr>
            </a:outerShdw>
          </a:effectLst>
        </p:spPr>
      </p:sp>
      <p:sp>
        <p:nvSpPr>
          <p:cNvPr id="5" name="Text 3"/>
          <p:cNvSpPr txBox="1"/>
          <p:nvPr/>
        </p:nvSpPr>
        <p:spPr>
          <a:xfrm>
            <a:off x="822960" y="1828800"/>
            <a:ext cx="1828800" cy="274320"/>
          </a:xfrm>
          <a:prstGeom prst="rect">
            <a:avLst/>
          </a:prstGeom>
          <a:noFill/>
          <a:ln/>
        </p:spPr>
        <p:txBody>
          <a:bodyPr wrap="square" lIns="0" tIns="0" rIns="0" bIns="0" rtlCol="0" anchor="ctr"/>
          <a:lstStyle/>
          <a:p>
            <a:pPr indent="0" marL="0">
              <a:buNone/>
            </a:pPr>
            <a:r>
              <a:rPr lang="en-US" sz="1100" b="1" spc="100" kern="0" dirty="0">
                <a:solidFill>
                  <a:srgbClr val="5E2CFE"/>
                </a:solidFill>
                <a:latin typeface="Calibri" pitchFamily="34" charset="0"/>
                <a:ea typeface="Calibri" pitchFamily="34" charset="-122"/>
                <a:cs typeface="Calibri" pitchFamily="34" charset="-120"/>
              </a:rPr>
              <a:t>Phase 1</a:t>
            </a:r>
            <a:endParaRPr lang="en-US" sz="1100" dirty="0"/>
          </a:p>
        </p:txBody>
      </p:sp>
      <p:sp>
        <p:nvSpPr>
          <p:cNvPr id="6" name="Text 4"/>
          <p:cNvSpPr txBox="1"/>
          <p:nvPr/>
        </p:nvSpPr>
        <p:spPr>
          <a:xfrm>
            <a:off x="822960" y="2103120"/>
            <a:ext cx="4937760" cy="411480"/>
          </a:xfrm>
          <a:prstGeom prst="rect">
            <a:avLst/>
          </a:prstGeom>
          <a:noFill/>
          <a:ln/>
        </p:spPr>
        <p:txBody>
          <a:bodyPr wrap="square" lIns="0" tIns="0" rIns="0" bIns="0" rtlCol="0" anchor="ctr"/>
          <a:lstStyle/>
          <a:p>
            <a:pPr indent="0" marL="0">
              <a:buNone/>
            </a:pPr>
            <a:r>
              <a:rPr lang="en-US" sz="1900" b="1" dirty="0">
                <a:solidFill>
                  <a:srgbClr val="171721"/>
                </a:solidFill>
                <a:latin typeface="Calibri" pitchFamily="34" charset="0"/>
                <a:ea typeface="Calibri" pitchFamily="34" charset="-122"/>
                <a:cs typeface="Calibri" pitchFamily="34" charset="-120"/>
              </a:rPr>
              <a:t>Design &amp; prepare</a:t>
            </a:r>
            <a:endParaRPr lang="en-US" sz="1900" dirty="0"/>
          </a:p>
        </p:txBody>
      </p:sp>
      <p:sp>
        <p:nvSpPr>
          <p:cNvPr id="7" name="Text 5"/>
          <p:cNvSpPr txBox="1"/>
          <p:nvPr/>
        </p:nvSpPr>
        <p:spPr>
          <a:xfrm>
            <a:off x="822960" y="2697480"/>
            <a:ext cx="1600200" cy="548640"/>
          </a:xfrm>
          <a:prstGeom prst="rect">
            <a:avLst/>
          </a:prstGeom>
          <a:noFill/>
          <a:ln/>
        </p:spPr>
        <p:txBody>
          <a:bodyPr wrap="square" lIns="0" tIns="0" rIns="0" bIns="0" rtlCol="0" anchor="t"/>
          <a:lstStyle/>
          <a:p>
            <a:pPr indent="0" marL="0">
              <a:buNone/>
            </a:pPr>
            <a:r>
              <a:rPr lang="en-US" sz="1300" b="1" dirty="0">
                <a:solidFill>
                  <a:srgbClr val="171721"/>
                </a:solidFill>
                <a:latin typeface="Calibri" pitchFamily="34" charset="0"/>
                <a:ea typeface="Calibri" pitchFamily="34" charset="-122"/>
                <a:cs typeface="Calibri" pitchFamily="34" charset="-120"/>
              </a:rPr>
              <a:t>Architect</a:t>
            </a:r>
            <a:endParaRPr lang="en-US" sz="1300" dirty="0"/>
          </a:p>
        </p:txBody>
      </p:sp>
      <p:sp>
        <p:nvSpPr>
          <p:cNvPr id="8" name="Text 6"/>
          <p:cNvSpPr txBox="1"/>
          <p:nvPr/>
        </p:nvSpPr>
        <p:spPr>
          <a:xfrm>
            <a:off x="2423160" y="2697480"/>
            <a:ext cx="3337560" cy="594360"/>
          </a:xfrm>
          <a:prstGeom prst="rect">
            <a:avLst/>
          </a:prstGeom>
          <a:noFill/>
          <a:ln/>
        </p:spPr>
        <p:txBody>
          <a:bodyPr wrap="square" lIns="0" tIns="0" rIns="0" bIns="0" rtlCol="0" anchor="t"/>
          <a:lstStyle/>
          <a:p>
            <a:pPr indent="0" marL="0">
              <a:buNone/>
            </a:pPr>
            <a:r>
              <a:rPr lang="en-US" sz="1250" dirty="0">
                <a:solidFill>
                  <a:srgbClr val="1B2635"/>
                </a:solidFill>
                <a:latin typeface="Calibri" pitchFamily="34" charset="0"/>
                <a:ea typeface="Calibri" pitchFamily="34" charset="-122"/>
                <a:cs typeface="Calibri" pitchFamily="34" charset="-120"/>
              </a:rPr>
              <a:t>picks the cheapest strategy that truly meets RTO/RPO, with real Azure prices</a:t>
            </a:r>
            <a:endParaRPr lang="en-US" sz="1250" dirty="0"/>
          </a:p>
        </p:txBody>
      </p:sp>
      <p:sp>
        <p:nvSpPr>
          <p:cNvPr id="9" name="Text 7"/>
          <p:cNvSpPr txBox="1"/>
          <p:nvPr/>
        </p:nvSpPr>
        <p:spPr>
          <a:xfrm>
            <a:off x="822960" y="3410712"/>
            <a:ext cx="1600200" cy="548640"/>
          </a:xfrm>
          <a:prstGeom prst="rect">
            <a:avLst/>
          </a:prstGeom>
          <a:noFill/>
          <a:ln/>
        </p:spPr>
        <p:txBody>
          <a:bodyPr wrap="square" lIns="0" tIns="0" rIns="0" bIns="0" rtlCol="0" anchor="t"/>
          <a:lstStyle/>
          <a:p>
            <a:pPr indent="0" marL="0">
              <a:buNone/>
            </a:pPr>
            <a:r>
              <a:rPr lang="en-US" sz="1300" b="1" dirty="0">
                <a:solidFill>
                  <a:srgbClr val="171721"/>
                </a:solidFill>
                <a:latin typeface="Calibri" pitchFamily="34" charset="0"/>
                <a:ea typeface="Calibri" pitchFamily="34" charset="-122"/>
                <a:cs typeface="Calibri" pitchFamily="34" charset="-120"/>
              </a:rPr>
              <a:t>Readiness</a:t>
            </a:r>
            <a:endParaRPr lang="en-US" sz="1300" dirty="0"/>
          </a:p>
        </p:txBody>
      </p:sp>
      <p:sp>
        <p:nvSpPr>
          <p:cNvPr id="10" name="Text 8"/>
          <p:cNvSpPr txBox="1"/>
          <p:nvPr/>
        </p:nvSpPr>
        <p:spPr>
          <a:xfrm>
            <a:off x="2423160" y="3410712"/>
            <a:ext cx="3337560" cy="594360"/>
          </a:xfrm>
          <a:prstGeom prst="rect">
            <a:avLst/>
          </a:prstGeom>
          <a:noFill/>
          <a:ln/>
        </p:spPr>
        <p:txBody>
          <a:bodyPr wrap="square" lIns="0" tIns="0" rIns="0" bIns="0" rtlCol="0" anchor="t"/>
          <a:lstStyle/>
          <a:p>
            <a:pPr indent="0" marL="0">
              <a:buNone/>
            </a:pPr>
            <a:r>
              <a:rPr lang="en-US" sz="1250" dirty="0">
                <a:solidFill>
                  <a:srgbClr val="1B2635"/>
                </a:solidFill>
                <a:latin typeface="Calibri" pitchFamily="34" charset="0"/>
                <a:ea typeface="Calibri" pitchFamily="34" charset="-122"/>
                <a:cs typeface="Calibri" pitchFamily="34" charset="-120"/>
              </a:rPr>
              <a:t>7 live checks; finds drift before the disaster; one-click approved fix</a:t>
            </a:r>
            <a:endParaRPr lang="en-US" sz="1250" dirty="0"/>
          </a:p>
        </p:txBody>
      </p:sp>
      <p:sp>
        <p:nvSpPr>
          <p:cNvPr id="11" name="Text 9"/>
          <p:cNvSpPr txBox="1"/>
          <p:nvPr/>
        </p:nvSpPr>
        <p:spPr>
          <a:xfrm>
            <a:off x="822960" y="4123944"/>
            <a:ext cx="1600200" cy="548640"/>
          </a:xfrm>
          <a:prstGeom prst="rect">
            <a:avLst/>
          </a:prstGeom>
          <a:noFill/>
          <a:ln/>
        </p:spPr>
        <p:txBody>
          <a:bodyPr wrap="square" lIns="0" tIns="0" rIns="0" bIns="0" rtlCol="0" anchor="t"/>
          <a:lstStyle/>
          <a:p>
            <a:pPr indent="0" marL="0">
              <a:buNone/>
            </a:pPr>
            <a:r>
              <a:rPr lang="en-US" sz="1300" b="1" dirty="0">
                <a:solidFill>
                  <a:srgbClr val="171721"/>
                </a:solidFill>
                <a:latin typeface="Calibri" pitchFamily="34" charset="0"/>
                <a:ea typeface="Calibri" pitchFamily="34" charset="-122"/>
                <a:cs typeface="Calibri" pitchFamily="34" charset="-120"/>
              </a:rPr>
              <a:t>Runbook</a:t>
            </a:r>
            <a:endParaRPr lang="en-US" sz="1300" dirty="0"/>
          </a:p>
        </p:txBody>
      </p:sp>
      <p:sp>
        <p:nvSpPr>
          <p:cNvPr id="12" name="Text 10"/>
          <p:cNvSpPr txBox="1"/>
          <p:nvPr/>
        </p:nvSpPr>
        <p:spPr>
          <a:xfrm>
            <a:off x="2423160" y="4123944"/>
            <a:ext cx="3337560" cy="594360"/>
          </a:xfrm>
          <a:prstGeom prst="rect">
            <a:avLst/>
          </a:prstGeom>
          <a:noFill/>
          <a:ln/>
        </p:spPr>
        <p:txBody>
          <a:bodyPr wrap="square" lIns="0" tIns="0" rIns="0" bIns="0" rtlCol="0" anchor="t"/>
          <a:lstStyle/>
          <a:p>
            <a:pPr indent="0" marL="0">
              <a:buNone/>
            </a:pPr>
            <a:r>
              <a:rPr lang="en-US" sz="1250" dirty="0">
                <a:solidFill>
                  <a:srgbClr val="1B2635"/>
                </a:solidFill>
                <a:latin typeface="Calibri" pitchFamily="34" charset="0"/>
                <a:ea typeface="Calibri" pitchFamily="34" charset="-122"/>
                <a:cs typeface="Calibri" pitchFamily="34" charset="-120"/>
              </a:rPr>
              <a:t>flags stale steps and writes the corrected runbook</a:t>
            </a:r>
            <a:endParaRPr lang="en-US" sz="1250" dirty="0"/>
          </a:p>
        </p:txBody>
      </p:sp>
      <p:sp>
        <p:nvSpPr>
          <p:cNvPr id="13" name="Shape 11"/>
          <p:cNvSpPr/>
          <p:nvPr/>
        </p:nvSpPr>
        <p:spPr>
          <a:xfrm>
            <a:off x="6172200" y="1600200"/>
            <a:ext cx="5440680" cy="3291840"/>
          </a:xfrm>
          <a:prstGeom prst="roundRect">
            <a:avLst>
              <a:gd name="adj" fmla="val 2222"/>
            </a:avLst>
          </a:prstGeom>
          <a:solidFill>
            <a:srgbClr val="F1F5F9"/>
          </a:solidFill>
          <a:ln w="12700">
            <a:solidFill>
              <a:srgbClr val="F1F5F9"/>
            </a:solidFill>
            <a:prstDash val="solid"/>
          </a:ln>
          <a:effectLst>
            <a:outerShdw sx="100000" sy="100000" kx="0" ky="0" algn="bl" rotWithShape="0" blurRad="76200" dist="25400" dir="5400000">
              <a:srgbClr val="000000">
                <a:alpha val="12000"/>
              </a:srgbClr>
            </a:outerShdw>
          </a:effectLst>
        </p:spPr>
      </p:sp>
      <p:sp>
        <p:nvSpPr>
          <p:cNvPr id="14" name="Text 12"/>
          <p:cNvSpPr txBox="1"/>
          <p:nvPr/>
        </p:nvSpPr>
        <p:spPr>
          <a:xfrm>
            <a:off x="6446520" y="1828800"/>
            <a:ext cx="1828800" cy="274320"/>
          </a:xfrm>
          <a:prstGeom prst="rect">
            <a:avLst/>
          </a:prstGeom>
          <a:noFill/>
          <a:ln/>
        </p:spPr>
        <p:txBody>
          <a:bodyPr wrap="square" lIns="0" tIns="0" rIns="0" bIns="0" rtlCol="0" anchor="ctr"/>
          <a:lstStyle/>
          <a:p>
            <a:pPr indent="0" marL="0">
              <a:buNone/>
            </a:pPr>
            <a:r>
              <a:rPr lang="en-US" sz="1100" b="1" spc="100" kern="0" dirty="0">
                <a:solidFill>
                  <a:srgbClr val="5E2CFE"/>
                </a:solidFill>
                <a:latin typeface="Calibri" pitchFamily="34" charset="0"/>
                <a:ea typeface="Calibri" pitchFamily="34" charset="-122"/>
                <a:cs typeface="Calibri" pitchFamily="34" charset="-120"/>
              </a:rPr>
              <a:t>Phase 2</a:t>
            </a:r>
            <a:endParaRPr lang="en-US" sz="1100" dirty="0"/>
          </a:p>
        </p:txBody>
      </p:sp>
      <p:sp>
        <p:nvSpPr>
          <p:cNvPr id="15" name="Text 13"/>
          <p:cNvSpPr txBox="1"/>
          <p:nvPr/>
        </p:nvSpPr>
        <p:spPr>
          <a:xfrm>
            <a:off x="6446520" y="2103120"/>
            <a:ext cx="4937760" cy="411480"/>
          </a:xfrm>
          <a:prstGeom prst="rect">
            <a:avLst/>
          </a:prstGeom>
          <a:noFill/>
          <a:ln/>
        </p:spPr>
        <p:txBody>
          <a:bodyPr wrap="square" lIns="0" tIns="0" rIns="0" bIns="0" rtlCol="0" anchor="ctr"/>
          <a:lstStyle/>
          <a:p>
            <a:pPr indent="0" marL="0">
              <a:buNone/>
            </a:pPr>
            <a:r>
              <a:rPr lang="en-US" sz="1900" b="1" dirty="0">
                <a:solidFill>
                  <a:srgbClr val="171721"/>
                </a:solidFill>
                <a:latin typeface="Calibri" pitchFamily="34" charset="0"/>
                <a:ea typeface="Calibri" pitchFamily="34" charset="-122"/>
                <a:cs typeface="Calibri" pitchFamily="34" charset="-120"/>
              </a:rPr>
              <a:t>Plan, execute, fail back, report</a:t>
            </a:r>
            <a:endParaRPr lang="en-US" sz="1900" dirty="0"/>
          </a:p>
        </p:txBody>
      </p:sp>
      <p:sp>
        <p:nvSpPr>
          <p:cNvPr id="16" name="Text 14"/>
          <p:cNvSpPr txBox="1"/>
          <p:nvPr/>
        </p:nvSpPr>
        <p:spPr>
          <a:xfrm>
            <a:off x="6446520" y="2697480"/>
            <a:ext cx="1600200" cy="548640"/>
          </a:xfrm>
          <a:prstGeom prst="rect">
            <a:avLst/>
          </a:prstGeom>
          <a:noFill/>
          <a:ln/>
        </p:spPr>
        <p:txBody>
          <a:bodyPr wrap="square" lIns="0" tIns="0" rIns="0" bIns="0" rtlCol="0" anchor="t"/>
          <a:lstStyle/>
          <a:p>
            <a:pPr indent="0" marL="0">
              <a:buNone/>
            </a:pPr>
            <a:r>
              <a:rPr lang="en-US" sz="1300" b="1" dirty="0">
                <a:solidFill>
                  <a:srgbClr val="171721"/>
                </a:solidFill>
                <a:latin typeface="Calibri" pitchFamily="34" charset="0"/>
                <a:ea typeface="Calibri" pitchFamily="34" charset="-122"/>
                <a:cs typeface="Calibri" pitchFamily="34" charset="-120"/>
              </a:rPr>
              <a:t>Planner</a:t>
            </a:r>
            <a:endParaRPr lang="en-US" sz="1300" dirty="0"/>
          </a:p>
        </p:txBody>
      </p:sp>
      <p:sp>
        <p:nvSpPr>
          <p:cNvPr id="17" name="Text 15"/>
          <p:cNvSpPr txBox="1"/>
          <p:nvPr/>
        </p:nvSpPr>
        <p:spPr>
          <a:xfrm>
            <a:off x="8046720" y="2697480"/>
            <a:ext cx="3337560" cy="594360"/>
          </a:xfrm>
          <a:prstGeom prst="rect">
            <a:avLst/>
          </a:prstGeom>
          <a:noFill/>
          <a:ln/>
        </p:spPr>
        <p:txBody>
          <a:bodyPr wrap="square" lIns="0" tIns="0" rIns="0" bIns="0" rtlCol="0" anchor="t"/>
          <a:lstStyle/>
          <a:p>
            <a:pPr indent="0" marL="0">
              <a:buNone/>
            </a:pPr>
            <a:r>
              <a:rPr lang="en-US" sz="1250" dirty="0">
                <a:solidFill>
                  <a:srgbClr val="1B2635"/>
                </a:solidFill>
                <a:latin typeface="Calibri" pitchFamily="34" charset="0"/>
                <a:ea typeface="Calibri" pitchFamily="34" charset="-122"/>
                <a:cs typeface="Calibri" pitchFamily="34" charset="-120"/>
              </a:rPr>
              <a:t>builds a 21-step drill from an allowlist of safe actions</a:t>
            </a:r>
            <a:endParaRPr lang="en-US" sz="1250" dirty="0"/>
          </a:p>
        </p:txBody>
      </p:sp>
      <p:sp>
        <p:nvSpPr>
          <p:cNvPr id="18" name="Text 16"/>
          <p:cNvSpPr txBox="1"/>
          <p:nvPr/>
        </p:nvSpPr>
        <p:spPr>
          <a:xfrm>
            <a:off x="6446520" y="3410712"/>
            <a:ext cx="1600200" cy="548640"/>
          </a:xfrm>
          <a:prstGeom prst="rect">
            <a:avLst/>
          </a:prstGeom>
          <a:noFill/>
          <a:ln/>
        </p:spPr>
        <p:txBody>
          <a:bodyPr wrap="square" lIns="0" tIns="0" rIns="0" bIns="0" rtlCol="0" anchor="t"/>
          <a:lstStyle/>
          <a:p>
            <a:pPr indent="0" marL="0">
              <a:buNone/>
            </a:pPr>
            <a:r>
              <a:rPr lang="en-US" sz="1300" b="1" dirty="0">
                <a:solidFill>
                  <a:srgbClr val="171721"/>
                </a:solidFill>
                <a:latin typeface="Calibri" pitchFamily="34" charset="0"/>
                <a:ea typeface="Calibri" pitchFamily="34" charset="-122"/>
                <a:cs typeface="Calibri" pitchFamily="34" charset="-120"/>
              </a:rPr>
              <a:t>Engine + Validator</a:t>
            </a:r>
            <a:endParaRPr lang="en-US" sz="1300" dirty="0"/>
          </a:p>
        </p:txBody>
      </p:sp>
      <p:sp>
        <p:nvSpPr>
          <p:cNvPr id="19" name="Text 17"/>
          <p:cNvSpPr txBox="1"/>
          <p:nvPr/>
        </p:nvSpPr>
        <p:spPr>
          <a:xfrm>
            <a:off x="8046720" y="3410712"/>
            <a:ext cx="3337560" cy="594360"/>
          </a:xfrm>
          <a:prstGeom prst="rect">
            <a:avLst/>
          </a:prstGeom>
          <a:noFill/>
          <a:ln/>
        </p:spPr>
        <p:txBody>
          <a:bodyPr wrap="square" lIns="0" tIns="0" rIns="0" bIns="0" rtlCol="0" anchor="t"/>
          <a:lstStyle/>
          <a:p>
            <a:pPr indent="0" marL="0">
              <a:buNone/>
            </a:pPr>
            <a:r>
              <a:rPr lang="en-US" sz="1250" dirty="0">
                <a:solidFill>
                  <a:srgbClr val="1B2635"/>
                </a:solidFill>
                <a:latin typeface="Calibri" pitchFamily="34" charset="0"/>
                <a:ea typeface="Calibri" pitchFamily="34" charset="-122"/>
                <a:cs typeface="Calibri" pitchFamily="34" charset="-120"/>
              </a:rPr>
              <a:t>injects the outage, fails over, measures; diagnoses any failure live</a:t>
            </a:r>
            <a:endParaRPr lang="en-US" sz="1250" dirty="0"/>
          </a:p>
        </p:txBody>
      </p:sp>
      <p:sp>
        <p:nvSpPr>
          <p:cNvPr id="20" name="Text 18"/>
          <p:cNvSpPr txBox="1"/>
          <p:nvPr/>
        </p:nvSpPr>
        <p:spPr>
          <a:xfrm>
            <a:off x="6446520" y="4123944"/>
            <a:ext cx="1600200" cy="548640"/>
          </a:xfrm>
          <a:prstGeom prst="rect">
            <a:avLst/>
          </a:prstGeom>
          <a:noFill/>
          <a:ln/>
        </p:spPr>
        <p:txBody>
          <a:bodyPr wrap="square" lIns="0" tIns="0" rIns="0" bIns="0" rtlCol="0" anchor="t"/>
          <a:lstStyle/>
          <a:p>
            <a:pPr indent="0" marL="0">
              <a:buNone/>
            </a:pPr>
            <a:r>
              <a:rPr lang="en-US" sz="1300" b="1" dirty="0">
                <a:solidFill>
                  <a:srgbClr val="171721"/>
                </a:solidFill>
                <a:latin typeface="Calibri" pitchFamily="34" charset="0"/>
                <a:ea typeface="Calibri" pitchFamily="34" charset="-122"/>
                <a:cs typeface="Calibri" pitchFamily="34" charset="-120"/>
              </a:rPr>
              <a:t>Reporter</a:t>
            </a:r>
            <a:endParaRPr lang="en-US" sz="1300" dirty="0"/>
          </a:p>
        </p:txBody>
      </p:sp>
      <p:sp>
        <p:nvSpPr>
          <p:cNvPr id="21" name="Text 19"/>
          <p:cNvSpPr txBox="1"/>
          <p:nvPr/>
        </p:nvSpPr>
        <p:spPr>
          <a:xfrm>
            <a:off x="8046720" y="4123944"/>
            <a:ext cx="3337560" cy="594360"/>
          </a:xfrm>
          <a:prstGeom prst="rect">
            <a:avLst/>
          </a:prstGeom>
          <a:noFill/>
          <a:ln/>
        </p:spPr>
        <p:txBody>
          <a:bodyPr wrap="square" lIns="0" tIns="0" rIns="0" bIns="0" rtlCol="0" anchor="t"/>
          <a:lstStyle/>
          <a:p>
            <a:pPr indent="0" marL="0">
              <a:buNone/>
            </a:pPr>
            <a:r>
              <a:rPr lang="en-US" sz="1250" dirty="0">
                <a:solidFill>
                  <a:srgbClr val="1B2635"/>
                </a:solidFill>
                <a:latin typeface="Calibri" pitchFamily="34" charset="0"/>
                <a:ea typeface="Calibri" pitchFamily="34" charset="-122"/>
                <a:cs typeface="Calibri" pitchFamily="34" charset="-120"/>
              </a:rPr>
              <a:t>audit-ready report with every second of RTO accounted for</a:t>
            </a:r>
            <a:endParaRPr lang="en-US" sz="125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 y="5029200"/>
          <a:ext cx="11064240" cy="914400"/>
        </p:xfrm>
        <a:graphic>
          <a:graphicData uri="http://schemas.openxmlformats.org/drawingml/2006/table">
            <a:tbl>
              <a:tblPr/>
              <a:tblGrid>
                <a:gridCol w="3017520"/>
                <a:gridCol w="3566160"/>
                <a:gridCol w="4480560"/>
              </a:tblGrid>
              <a:tr h="246888">
                <a:tc>
                  <a:txBody>
                    <a:bodyPr/>
                    <a:lstStyle/>
                    <a:p>
                      <a:pPr indent="0" marL="0">
                        <a:buNone/>
                      </a:pPr>
                      <a:endParaRPr lang="en-US" sz="1200" dirty="0">
                        <a:latin typeface="Calibri" charset="0"/>
                        <a:ea typeface="Calibri" charset="0"/>
                        <a:cs typeface="Calibri" charset="0"/>
                      </a:endParaRPr>
                    </a:p>
                  </a:txBody>
                  <a:tcPr marL="76200" marR="76200" marT="25400" marB="25400">
                    <a:lnL w="9525" cap="flat" cmpd="sng" algn="ctr">
                      <a:solidFill>
                        <a:srgbClr val="C9D3DE"/>
                      </a:solidFill>
                      <a:prstDash val="solid"/>
                      <a:round/>
                      <a:headEnd type="none" w="med" len="med"/>
                      <a:tailEnd type="none" w="med" len="med"/>
                    </a:lnL>
                    <a:lnR w="9525" cap="flat" cmpd="sng" algn="ctr">
                      <a:solidFill>
                        <a:srgbClr val="C9D3DE"/>
                      </a:solidFill>
                      <a:prstDash val="solid"/>
                      <a:round/>
                      <a:headEnd type="none" w="med" len="med"/>
                      <a:tailEnd type="none" w="med" len="med"/>
                    </a:lnR>
                    <a:lnT w="9525" cap="flat" cmpd="sng" algn="ctr">
                      <a:solidFill>
                        <a:srgbClr val="C9D3DE"/>
                      </a:solidFill>
                      <a:prstDash val="solid"/>
                      <a:round/>
                      <a:headEnd type="none" w="med" len="med"/>
                      <a:tailEnd type="none" w="med" len="med"/>
                    </a:lnT>
                    <a:lnB w="9525" cap="flat" cmpd="sng" algn="ctr">
                      <a:solidFill>
                        <a:srgbClr val="C9D3DE"/>
                      </a:solidFill>
                      <a:prstDash val="solid"/>
                      <a:round/>
                      <a:headEnd type="none" w="med" len="med"/>
                      <a:tailEnd type="none" w="med" len="med"/>
                    </a:lnB>
                    <a:solidFill>
                      <a:srgbClr val="FFFFFF"/>
                    </a:solidFill>
                  </a:tcPr>
                </a:tc>
                <a:tc>
                  <a:txBody>
                    <a:bodyPr/>
                    <a:lstStyle/>
                    <a:p>
                      <a:pPr indent="0" marL="0">
                        <a:buNone/>
                      </a:pPr>
                      <a:r>
                        <a:rPr lang="en-US" sz="1200" b="1" dirty="0">
                          <a:solidFill>
                            <a:srgbClr val="D64545"/>
                          </a:solidFill>
                          <a:latin typeface="Calibri" pitchFamily="34" charset="0"/>
                          <a:ea typeface="Calibri" pitchFamily="34" charset="-122"/>
                          <a:cs typeface="Calibri" pitchFamily="34" charset="-120"/>
                        </a:rPr>
                        <a:t>Today</a:t>
                      </a:r>
                      <a:endParaRPr lang="en-US" sz="1200" dirty="0">
                        <a:latin typeface="Calibri" charset="0"/>
                        <a:ea typeface="Calibri" charset="0"/>
                        <a:cs typeface="Calibri" charset="0"/>
                      </a:endParaRPr>
                    </a:p>
                  </a:txBody>
                  <a:tcPr marL="76200" marR="76200" marT="25400" marB="25400">
                    <a:lnL w="9525" cap="flat" cmpd="sng" algn="ctr">
                      <a:solidFill>
                        <a:srgbClr val="C9D3DE"/>
                      </a:solidFill>
                      <a:prstDash val="solid"/>
                      <a:round/>
                      <a:headEnd type="none" w="med" len="med"/>
                      <a:tailEnd type="none" w="med" len="med"/>
                    </a:lnL>
                    <a:lnR w="9525" cap="flat" cmpd="sng" algn="ctr">
                      <a:solidFill>
                        <a:srgbClr val="C9D3DE"/>
                      </a:solidFill>
                      <a:prstDash val="solid"/>
                      <a:round/>
                      <a:headEnd type="none" w="med" len="med"/>
                      <a:tailEnd type="none" w="med" len="med"/>
                    </a:lnR>
                    <a:lnT w="9525" cap="flat" cmpd="sng" algn="ctr">
                      <a:solidFill>
                        <a:srgbClr val="C9D3DE"/>
                      </a:solidFill>
                      <a:prstDash val="solid"/>
                      <a:round/>
                      <a:headEnd type="none" w="med" len="med"/>
                      <a:tailEnd type="none" w="med" len="med"/>
                    </a:lnT>
                    <a:lnB w="9525" cap="flat" cmpd="sng" algn="ctr">
                      <a:solidFill>
                        <a:srgbClr val="C9D3DE"/>
                      </a:solidFill>
                      <a:prstDash val="solid"/>
                      <a:round/>
                      <a:headEnd type="none" w="med" len="med"/>
                      <a:tailEnd type="none" w="med" len="med"/>
                    </a:lnB>
                  </a:tcPr>
                </a:tc>
                <a:tc>
                  <a:txBody>
                    <a:bodyPr/>
                    <a:lstStyle/>
                    <a:p>
                      <a:pPr indent="0" marL="0">
                        <a:buNone/>
                      </a:pPr>
                      <a:r>
                        <a:rPr lang="en-US" sz="1200" b="1" dirty="0">
                          <a:solidFill>
                            <a:srgbClr val="5E2CFE"/>
                          </a:solidFill>
                          <a:latin typeface="Calibri" pitchFamily="34" charset="0"/>
                          <a:ea typeface="Calibri" pitchFamily="34" charset="-122"/>
                          <a:cs typeface="Calibri" pitchFamily="34" charset="-120"/>
                        </a:rPr>
                        <a:t>With the DR Agent</a:t>
                      </a:r>
                      <a:endParaRPr lang="en-US" sz="1200" dirty="0">
                        <a:latin typeface="Calibri" charset="0"/>
                        <a:ea typeface="Calibri" charset="0"/>
                        <a:cs typeface="Calibri" charset="0"/>
                      </a:endParaRPr>
                    </a:p>
                  </a:txBody>
                  <a:tcPr marL="76200" marR="76200" marT="25400" marB="25400">
                    <a:lnL w="9525" cap="flat" cmpd="sng" algn="ctr">
                      <a:solidFill>
                        <a:srgbClr val="C9D3DE"/>
                      </a:solidFill>
                      <a:prstDash val="solid"/>
                      <a:round/>
                      <a:headEnd type="none" w="med" len="med"/>
                      <a:tailEnd type="none" w="med" len="med"/>
                    </a:lnL>
                    <a:lnR w="9525" cap="flat" cmpd="sng" algn="ctr">
                      <a:solidFill>
                        <a:srgbClr val="C9D3DE"/>
                      </a:solidFill>
                      <a:prstDash val="solid"/>
                      <a:round/>
                      <a:headEnd type="none" w="med" len="med"/>
                      <a:tailEnd type="none" w="med" len="med"/>
                    </a:lnR>
                    <a:lnT w="9525" cap="flat" cmpd="sng" algn="ctr">
                      <a:solidFill>
                        <a:srgbClr val="C9D3DE"/>
                      </a:solidFill>
                      <a:prstDash val="solid"/>
                      <a:round/>
                      <a:headEnd type="none" w="med" len="med"/>
                      <a:tailEnd type="none" w="med" len="med"/>
                    </a:lnT>
                    <a:lnB w="9525" cap="flat" cmpd="sng" algn="ctr">
                      <a:solidFill>
                        <a:srgbClr val="C9D3DE"/>
                      </a:solidFill>
                      <a:prstDash val="solid"/>
                      <a:round/>
                      <a:headEnd type="none" w="med" len="med"/>
                      <a:tailEnd type="none" w="med" len="med"/>
                    </a:lnB>
                  </a:tcPr>
                </a:tc>
              </a:tr>
              <a:tr h="246888">
                <a:tc>
                  <a:txBody>
                    <a:bodyPr/>
                    <a:lstStyle/>
                    <a:p>
                      <a:pPr indent="0" marL="0">
                        <a:buNone/>
                      </a:pPr>
                      <a:r>
                        <a:rPr lang="en-US" sz="1200" b="1" dirty="0">
                          <a:solidFill>
                            <a:srgbClr val="171721"/>
                          </a:solidFill>
                          <a:latin typeface="Calibri" pitchFamily="34" charset="0"/>
                          <a:ea typeface="Calibri" pitchFamily="34" charset="-122"/>
                          <a:cs typeface="Calibri" pitchFamily="34" charset="-120"/>
                        </a:rPr>
                        <a:t>How often DR is proven</a:t>
                      </a:r>
                      <a:endParaRPr lang="en-US" sz="1200" dirty="0">
                        <a:latin typeface="Calibri" charset="0"/>
                        <a:ea typeface="Calibri" charset="0"/>
                        <a:cs typeface="Calibri" charset="0"/>
                      </a:endParaRPr>
                    </a:p>
                  </a:txBody>
                  <a:tcPr marL="76200" marR="76200" marT="25400" marB="25400">
                    <a:lnL w="9525" cap="flat" cmpd="sng" algn="ctr">
                      <a:solidFill>
                        <a:srgbClr val="C9D3DE"/>
                      </a:solidFill>
                      <a:prstDash val="solid"/>
                      <a:round/>
                      <a:headEnd type="none" w="med" len="med"/>
                      <a:tailEnd type="none" w="med" len="med"/>
                    </a:lnL>
                    <a:lnR w="9525" cap="flat" cmpd="sng" algn="ctr">
                      <a:solidFill>
                        <a:srgbClr val="C9D3DE"/>
                      </a:solidFill>
                      <a:prstDash val="solid"/>
                      <a:round/>
                      <a:headEnd type="none" w="med" len="med"/>
                      <a:tailEnd type="none" w="med" len="med"/>
                    </a:lnR>
                    <a:lnT w="9525" cap="flat" cmpd="sng" algn="ctr">
                      <a:solidFill>
                        <a:srgbClr val="C9D3DE"/>
                      </a:solidFill>
                      <a:prstDash val="solid"/>
                      <a:round/>
                      <a:headEnd type="none" w="med" len="med"/>
                      <a:tailEnd type="none" w="med" len="med"/>
                    </a:lnT>
                    <a:lnB w="9525" cap="flat" cmpd="sng" algn="ctr">
                      <a:solidFill>
                        <a:srgbClr val="C9D3DE"/>
                      </a:solidFill>
                      <a:prstDash val="solid"/>
                      <a:round/>
                      <a:headEnd type="none" w="med" len="med"/>
                      <a:tailEnd type="none" w="med" len="med"/>
                    </a:lnB>
                  </a:tcPr>
                </a:tc>
                <a:tc>
                  <a:txBody>
                    <a:bodyPr/>
                    <a:lstStyle/>
                    <a:p>
                      <a:pPr indent="0" marL="0">
                        <a:buNone/>
                      </a:pPr>
                      <a:r>
                        <a:rPr lang="en-US" sz="1200" dirty="0">
                          <a:solidFill>
                            <a:srgbClr val="1B2635"/>
                          </a:solidFill>
                          <a:latin typeface="Calibri" pitchFamily="34" charset="0"/>
                          <a:ea typeface="Calibri" pitchFamily="34" charset="-122"/>
                          <a:cs typeface="Calibri" pitchFamily="34" charset="-120"/>
                        </a:rPr>
                        <a:t>Once or twice a year</a:t>
                      </a:r>
                      <a:endParaRPr lang="en-US" sz="1200" dirty="0">
                        <a:latin typeface="Calibri" charset="0"/>
                        <a:ea typeface="Calibri" charset="0"/>
                        <a:cs typeface="Calibri" charset="0"/>
                      </a:endParaRPr>
                    </a:p>
                  </a:txBody>
                  <a:tcPr marL="76200" marR="76200" marT="25400" marB="25400">
                    <a:lnL w="9525" cap="flat" cmpd="sng" algn="ctr">
                      <a:solidFill>
                        <a:srgbClr val="C9D3DE"/>
                      </a:solidFill>
                      <a:prstDash val="solid"/>
                      <a:round/>
                      <a:headEnd type="none" w="med" len="med"/>
                      <a:tailEnd type="none" w="med" len="med"/>
                    </a:lnL>
                    <a:lnR w="9525" cap="flat" cmpd="sng" algn="ctr">
                      <a:solidFill>
                        <a:srgbClr val="C9D3DE"/>
                      </a:solidFill>
                      <a:prstDash val="solid"/>
                      <a:round/>
                      <a:headEnd type="none" w="med" len="med"/>
                      <a:tailEnd type="none" w="med" len="med"/>
                    </a:lnR>
                    <a:lnT w="9525" cap="flat" cmpd="sng" algn="ctr">
                      <a:solidFill>
                        <a:srgbClr val="C9D3DE"/>
                      </a:solidFill>
                      <a:prstDash val="solid"/>
                      <a:round/>
                      <a:headEnd type="none" w="med" len="med"/>
                      <a:tailEnd type="none" w="med" len="med"/>
                    </a:lnT>
                    <a:lnB w="9525" cap="flat" cmpd="sng" algn="ctr">
                      <a:solidFill>
                        <a:srgbClr val="C9D3DE"/>
                      </a:solidFill>
                      <a:prstDash val="solid"/>
                      <a:round/>
                      <a:headEnd type="none" w="med" len="med"/>
                      <a:tailEnd type="none" w="med" len="med"/>
                    </a:lnB>
                  </a:tcPr>
                </a:tc>
                <a:tc>
                  <a:txBody>
                    <a:bodyPr/>
                    <a:lstStyle/>
                    <a:p>
                      <a:pPr indent="0" marL="0">
                        <a:buNone/>
                      </a:pPr>
                      <a:r>
                        <a:rPr lang="en-US" sz="1200" dirty="0">
                          <a:solidFill>
                            <a:srgbClr val="1B2635"/>
                          </a:solidFill>
                          <a:latin typeface="Calibri" pitchFamily="34" charset="0"/>
                          <a:ea typeface="Calibri" pitchFamily="34" charset="-122"/>
                          <a:cs typeface="Calibri" pitchFamily="34" charset="-120"/>
                        </a:rPr>
                        <a:t>On demand, any day</a:t>
                      </a:r>
                      <a:endParaRPr lang="en-US" sz="1200" dirty="0">
                        <a:latin typeface="Calibri" charset="0"/>
                        <a:ea typeface="Calibri" charset="0"/>
                        <a:cs typeface="Calibri" charset="0"/>
                      </a:endParaRPr>
                    </a:p>
                  </a:txBody>
                  <a:tcPr marL="76200" marR="76200" marT="25400" marB="25400">
                    <a:lnL w="9525" cap="flat" cmpd="sng" algn="ctr">
                      <a:solidFill>
                        <a:srgbClr val="C9D3DE"/>
                      </a:solidFill>
                      <a:prstDash val="solid"/>
                      <a:round/>
                      <a:headEnd type="none" w="med" len="med"/>
                      <a:tailEnd type="none" w="med" len="med"/>
                    </a:lnL>
                    <a:lnR w="9525" cap="flat" cmpd="sng" algn="ctr">
                      <a:solidFill>
                        <a:srgbClr val="C9D3DE"/>
                      </a:solidFill>
                      <a:prstDash val="solid"/>
                      <a:round/>
                      <a:headEnd type="none" w="med" len="med"/>
                      <a:tailEnd type="none" w="med" len="med"/>
                    </a:lnR>
                    <a:lnT w="9525" cap="flat" cmpd="sng" algn="ctr">
                      <a:solidFill>
                        <a:srgbClr val="C9D3DE"/>
                      </a:solidFill>
                      <a:prstDash val="solid"/>
                      <a:round/>
                      <a:headEnd type="none" w="med" len="med"/>
                      <a:tailEnd type="none" w="med" len="med"/>
                    </a:lnT>
                    <a:lnB w="9525" cap="flat" cmpd="sng" algn="ctr">
                      <a:solidFill>
                        <a:srgbClr val="C9D3DE"/>
                      </a:solidFill>
                      <a:prstDash val="solid"/>
                      <a:round/>
                      <a:headEnd type="none" w="med" len="med"/>
                      <a:tailEnd type="none" w="med" len="med"/>
                    </a:lnB>
                  </a:tcPr>
                </a:tc>
              </a:tr>
              <a:tr h="246888">
                <a:tc>
                  <a:txBody>
                    <a:bodyPr/>
                    <a:lstStyle/>
                    <a:p>
                      <a:pPr indent="0" marL="0">
                        <a:buNone/>
                      </a:pPr>
                      <a:r>
                        <a:rPr lang="en-US" sz="1200" b="1" dirty="0">
                          <a:solidFill>
                            <a:srgbClr val="171721"/>
                          </a:solidFill>
                          <a:latin typeface="Calibri" pitchFamily="34" charset="0"/>
                          <a:ea typeface="Calibri" pitchFamily="34" charset="-122"/>
                          <a:cs typeface="Calibri" pitchFamily="34" charset="-120"/>
                        </a:rPr>
                        <a:t>RTO and RPO</a:t>
                      </a:r>
                      <a:endParaRPr lang="en-US" sz="1200" dirty="0">
                        <a:latin typeface="Calibri" charset="0"/>
                        <a:ea typeface="Calibri" charset="0"/>
                        <a:cs typeface="Calibri" charset="0"/>
                      </a:endParaRPr>
                    </a:p>
                  </a:txBody>
                  <a:tcPr marL="76200" marR="76200" marT="25400" marB="25400">
                    <a:lnL w="9525" cap="flat" cmpd="sng" algn="ctr">
                      <a:solidFill>
                        <a:srgbClr val="C9D3DE"/>
                      </a:solidFill>
                      <a:prstDash val="solid"/>
                      <a:round/>
                      <a:headEnd type="none" w="med" len="med"/>
                      <a:tailEnd type="none" w="med" len="med"/>
                    </a:lnL>
                    <a:lnR w="9525" cap="flat" cmpd="sng" algn="ctr">
                      <a:solidFill>
                        <a:srgbClr val="C9D3DE"/>
                      </a:solidFill>
                      <a:prstDash val="solid"/>
                      <a:round/>
                      <a:headEnd type="none" w="med" len="med"/>
                      <a:tailEnd type="none" w="med" len="med"/>
                    </a:lnR>
                    <a:lnT w="9525" cap="flat" cmpd="sng" algn="ctr">
                      <a:solidFill>
                        <a:srgbClr val="C9D3DE"/>
                      </a:solidFill>
                      <a:prstDash val="solid"/>
                      <a:round/>
                      <a:headEnd type="none" w="med" len="med"/>
                      <a:tailEnd type="none" w="med" len="med"/>
                    </a:lnT>
                    <a:lnB w="9525" cap="flat" cmpd="sng" algn="ctr">
                      <a:solidFill>
                        <a:srgbClr val="C9D3DE"/>
                      </a:solidFill>
                      <a:prstDash val="solid"/>
                      <a:round/>
                      <a:headEnd type="none" w="med" len="med"/>
                      <a:tailEnd type="none" w="med" len="med"/>
                    </a:lnB>
                  </a:tcPr>
                </a:tc>
                <a:tc>
                  <a:txBody>
                    <a:bodyPr/>
                    <a:lstStyle/>
                    <a:p>
                      <a:pPr indent="0" marL="0">
                        <a:buNone/>
                      </a:pPr>
                      <a:r>
                        <a:rPr lang="en-US" sz="1200" dirty="0">
                          <a:solidFill>
                            <a:srgbClr val="1B2635"/>
                          </a:solidFill>
                          <a:latin typeface="Calibri" pitchFamily="34" charset="0"/>
                          <a:ea typeface="Calibri" pitchFamily="34" charset="-122"/>
                          <a:cs typeface="Calibri" pitchFamily="34" charset="-120"/>
                        </a:rPr>
                        <a:t>Assumed on paper</a:t>
                      </a:r>
                      <a:endParaRPr lang="en-US" sz="1200" dirty="0">
                        <a:latin typeface="Calibri" charset="0"/>
                        <a:ea typeface="Calibri" charset="0"/>
                        <a:cs typeface="Calibri" charset="0"/>
                      </a:endParaRPr>
                    </a:p>
                  </a:txBody>
                  <a:tcPr marL="76200" marR="76200" marT="25400" marB="25400">
                    <a:lnL w="9525" cap="flat" cmpd="sng" algn="ctr">
                      <a:solidFill>
                        <a:srgbClr val="C9D3DE"/>
                      </a:solidFill>
                      <a:prstDash val="solid"/>
                      <a:round/>
                      <a:headEnd type="none" w="med" len="med"/>
                      <a:tailEnd type="none" w="med" len="med"/>
                    </a:lnL>
                    <a:lnR w="9525" cap="flat" cmpd="sng" algn="ctr">
                      <a:solidFill>
                        <a:srgbClr val="C9D3DE"/>
                      </a:solidFill>
                      <a:prstDash val="solid"/>
                      <a:round/>
                      <a:headEnd type="none" w="med" len="med"/>
                      <a:tailEnd type="none" w="med" len="med"/>
                    </a:lnR>
                    <a:lnT w="9525" cap="flat" cmpd="sng" algn="ctr">
                      <a:solidFill>
                        <a:srgbClr val="C9D3DE"/>
                      </a:solidFill>
                      <a:prstDash val="solid"/>
                      <a:round/>
                      <a:headEnd type="none" w="med" len="med"/>
                      <a:tailEnd type="none" w="med" len="med"/>
                    </a:lnT>
                    <a:lnB w="9525" cap="flat" cmpd="sng" algn="ctr">
                      <a:solidFill>
                        <a:srgbClr val="C9D3DE"/>
                      </a:solidFill>
                      <a:prstDash val="solid"/>
                      <a:round/>
                      <a:headEnd type="none" w="med" len="med"/>
                      <a:tailEnd type="none" w="med" len="med"/>
                    </a:lnB>
                  </a:tcPr>
                </a:tc>
                <a:tc>
                  <a:txBody>
                    <a:bodyPr/>
                    <a:lstStyle/>
                    <a:p>
                      <a:pPr indent="0" marL="0">
                        <a:buNone/>
                      </a:pPr>
                      <a:r>
                        <a:rPr lang="en-US" sz="1200" dirty="0">
                          <a:solidFill>
                            <a:srgbClr val="1B2635"/>
                          </a:solidFill>
                          <a:latin typeface="Calibri" pitchFamily="34" charset="0"/>
                          <a:ea typeface="Calibri" pitchFamily="34" charset="-122"/>
                          <a:cs typeface="Calibri" pitchFamily="34" charset="-120"/>
                        </a:rPr>
                        <a:t>Measured on every drill, to the millisecond</a:t>
                      </a:r>
                      <a:endParaRPr lang="en-US" sz="1200" dirty="0">
                        <a:latin typeface="Calibri" charset="0"/>
                        <a:ea typeface="Calibri" charset="0"/>
                        <a:cs typeface="Calibri" charset="0"/>
                      </a:endParaRPr>
                    </a:p>
                  </a:txBody>
                  <a:tcPr marL="76200" marR="76200" marT="25400" marB="25400">
                    <a:lnL w="9525" cap="flat" cmpd="sng" algn="ctr">
                      <a:solidFill>
                        <a:srgbClr val="C9D3DE"/>
                      </a:solidFill>
                      <a:prstDash val="solid"/>
                      <a:round/>
                      <a:headEnd type="none" w="med" len="med"/>
                      <a:tailEnd type="none" w="med" len="med"/>
                    </a:lnL>
                    <a:lnR w="9525" cap="flat" cmpd="sng" algn="ctr">
                      <a:solidFill>
                        <a:srgbClr val="C9D3DE"/>
                      </a:solidFill>
                      <a:prstDash val="solid"/>
                      <a:round/>
                      <a:headEnd type="none" w="med" len="med"/>
                      <a:tailEnd type="none" w="med" len="med"/>
                    </a:lnR>
                    <a:lnT w="9525" cap="flat" cmpd="sng" algn="ctr">
                      <a:solidFill>
                        <a:srgbClr val="C9D3DE"/>
                      </a:solidFill>
                      <a:prstDash val="solid"/>
                      <a:round/>
                      <a:headEnd type="none" w="med" len="med"/>
                      <a:tailEnd type="none" w="med" len="med"/>
                    </a:lnT>
                    <a:lnB w="9525" cap="flat" cmpd="sng" algn="ctr">
                      <a:solidFill>
                        <a:srgbClr val="C9D3DE"/>
                      </a:solidFill>
                      <a:prstDash val="solid"/>
                      <a:round/>
                      <a:headEnd type="none" w="med" len="med"/>
                      <a:tailEnd type="none" w="med" len="med"/>
                    </a:lnB>
                  </a:tcPr>
                </a:tc>
              </a:tr>
              <a:tr h="246888">
                <a:tc>
                  <a:txBody>
                    <a:bodyPr/>
                    <a:lstStyle/>
                    <a:p>
                      <a:pPr indent="0" marL="0">
                        <a:buNone/>
                      </a:pPr>
                      <a:r>
                        <a:rPr lang="en-US" sz="1200" b="1" dirty="0">
                          <a:solidFill>
                            <a:srgbClr val="171721"/>
                          </a:solidFill>
                          <a:latin typeface="Calibri" pitchFamily="34" charset="0"/>
                          <a:ea typeface="Calibri" pitchFamily="34" charset="-122"/>
                          <a:cs typeface="Calibri" pitchFamily="34" charset="-120"/>
                        </a:rPr>
                        <a:t>Configuration drift</a:t>
                      </a:r>
                      <a:endParaRPr lang="en-US" sz="1200" dirty="0">
                        <a:latin typeface="Calibri" charset="0"/>
                        <a:ea typeface="Calibri" charset="0"/>
                        <a:cs typeface="Calibri" charset="0"/>
                      </a:endParaRPr>
                    </a:p>
                  </a:txBody>
                  <a:tcPr marL="76200" marR="76200" marT="25400" marB="25400">
                    <a:lnL w="9525" cap="flat" cmpd="sng" algn="ctr">
                      <a:solidFill>
                        <a:srgbClr val="C9D3DE"/>
                      </a:solidFill>
                      <a:prstDash val="solid"/>
                      <a:round/>
                      <a:headEnd type="none" w="med" len="med"/>
                      <a:tailEnd type="none" w="med" len="med"/>
                    </a:lnL>
                    <a:lnR w="9525" cap="flat" cmpd="sng" algn="ctr">
                      <a:solidFill>
                        <a:srgbClr val="C9D3DE"/>
                      </a:solidFill>
                      <a:prstDash val="solid"/>
                      <a:round/>
                      <a:headEnd type="none" w="med" len="med"/>
                      <a:tailEnd type="none" w="med" len="med"/>
                    </a:lnR>
                    <a:lnT w="9525" cap="flat" cmpd="sng" algn="ctr">
                      <a:solidFill>
                        <a:srgbClr val="C9D3DE"/>
                      </a:solidFill>
                      <a:prstDash val="solid"/>
                      <a:round/>
                      <a:headEnd type="none" w="med" len="med"/>
                      <a:tailEnd type="none" w="med" len="med"/>
                    </a:lnT>
                    <a:lnB w="9525" cap="flat" cmpd="sng" algn="ctr">
                      <a:solidFill>
                        <a:srgbClr val="C9D3DE"/>
                      </a:solidFill>
                      <a:prstDash val="solid"/>
                      <a:round/>
                      <a:headEnd type="none" w="med" len="med"/>
                      <a:tailEnd type="none" w="med" len="med"/>
                    </a:lnB>
                  </a:tcPr>
                </a:tc>
                <a:tc>
                  <a:txBody>
                    <a:bodyPr/>
                    <a:lstStyle/>
                    <a:p>
                      <a:pPr indent="0" marL="0">
                        <a:buNone/>
                      </a:pPr>
                      <a:r>
                        <a:rPr lang="en-US" sz="1200" dirty="0">
                          <a:solidFill>
                            <a:srgbClr val="1B2635"/>
                          </a:solidFill>
                          <a:latin typeface="Calibri" pitchFamily="34" charset="0"/>
                          <a:ea typeface="Calibri" pitchFamily="34" charset="-122"/>
                          <a:cs typeface="Calibri" pitchFamily="34" charset="-120"/>
                        </a:rPr>
                        <a:t>Found during the real outage</a:t>
                      </a:r>
                      <a:endParaRPr lang="en-US" sz="1200" dirty="0">
                        <a:latin typeface="Calibri" charset="0"/>
                        <a:ea typeface="Calibri" charset="0"/>
                        <a:cs typeface="Calibri" charset="0"/>
                      </a:endParaRPr>
                    </a:p>
                  </a:txBody>
                  <a:tcPr marL="76200" marR="76200" marT="25400" marB="25400">
                    <a:lnL w="9525" cap="flat" cmpd="sng" algn="ctr">
                      <a:solidFill>
                        <a:srgbClr val="C9D3DE"/>
                      </a:solidFill>
                      <a:prstDash val="solid"/>
                      <a:round/>
                      <a:headEnd type="none" w="med" len="med"/>
                      <a:tailEnd type="none" w="med" len="med"/>
                    </a:lnL>
                    <a:lnR w="9525" cap="flat" cmpd="sng" algn="ctr">
                      <a:solidFill>
                        <a:srgbClr val="C9D3DE"/>
                      </a:solidFill>
                      <a:prstDash val="solid"/>
                      <a:round/>
                      <a:headEnd type="none" w="med" len="med"/>
                      <a:tailEnd type="none" w="med" len="med"/>
                    </a:lnR>
                    <a:lnT w="9525" cap="flat" cmpd="sng" algn="ctr">
                      <a:solidFill>
                        <a:srgbClr val="C9D3DE"/>
                      </a:solidFill>
                      <a:prstDash val="solid"/>
                      <a:round/>
                      <a:headEnd type="none" w="med" len="med"/>
                      <a:tailEnd type="none" w="med" len="med"/>
                    </a:lnT>
                    <a:lnB w="9525" cap="flat" cmpd="sng" algn="ctr">
                      <a:solidFill>
                        <a:srgbClr val="C9D3DE"/>
                      </a:solidFill>
                      <a:prstDash val="solid"/>
                      <a:round/>
                      <a:headEnd type="none" w="med" len="med"/>
                      <a:tailEnd type="none" w="med" len="med"/>
                    </a:lnB>
                  </a:tcPr>
                </a:tc>
                <a:tc>
                  <a:txBody>
                    <a:bodyPr/>
                    <a:lstStyle/>
                    <a:p>
                      <a:pPr indent="0" marL="0">
                        <a:buNone/>
                      </a:pPr>
                      <a:r>
                        <a:rPr lang="en-US" sz="1200" dirty="0">
                          <a:solidFill>
                            <a:srgbClr val="1B2635"/>
                          </a:solidFill>
                          <a:latin typeface="Calibri" pitchFamily="34" charset="0"/>
                          <a:ea typeface="Calibri" pitchFamily="34" charset="-122"/>
                          <a:cs typeface="Calibri" pitchFamily="34" charset="-120"/>
                        </a:rPr>
                        <a:t>Found by readiness checks, fixed with approval</a:t>
                      </a:r>
                      <a:endParaRPr lang="en-US" sz="1200" dirty="0">
                        <a:latin typeface="Calibri" charset="0"/>
                        <a:ea typeface="Calibri" charset="0"/>
                        <a:cs typeface="Calibri" charset="0"/>
                      </a:endParaRPr>
                    </a:p>
                  </a:txBody>
                  <a:tcPr marL="76200" marR="76200" marT="25400" marB="25400">
                    <a:lnL w="9525" cap="flat" cmpd="sng" algn="ctr">
                      <a:solidFill>
                        <a:srgbClr val="C9D3DE"/>
                      </a:solidFill>
                      <a:prstDash val="solid"/>
                      <a:round/>
                      <a:headEnd type="none" w="med" len="med"/>
                      <a:tailEnd type="none" w="med" len="med"/>
                    </a:lnL>
                    <a:lnR w="9525" cap="flat" cmpd="sng" algn="ctr">
                      <a:solidFill>
                        <a:srgbClr val="C9D3DE"/>
                      </a:solidFill>
                      <a:prstDash val="solid"/>
                      <a:round/>
                      <a:headEnd type="none" w="med" len="med"/>
                      <a:tailEnd type="none" w="med" len="med"/>
                    </a:lnR>
                    <a:lnT w="9525" cap="flat" cmpd="sng" algn="ctr">
                      <a:solidFill>
                        <a:srgbClr val="C9D3DE"/>
                      </a:solidFill>
                      <a:prstDash val="solid"/>
                      <a:round/>
                      <a:headEnd type="none" w="med" len="med"/>
                      <a:tailEnd type="none" w="med" len="med"/>
                    </a:lnT>
                    <a:lnB w="9525" cap="flat" cmpd="sng" algn="ctr">
                      <a:solidFill>
                        <a:srgbClr val="C9D3DE"/>
                      </a:solidFill>
                      <a:prstDash val="solid"/>
                      <a:round/>
                      <a:headEnd type="none" w="med" len="med"/>
                      <a:tailEnd type="none" w="med" len="med"/>
                    </a:lnB>
                  </a:tcPr>
                </a:tc>
              </a:tr>
              <a:tr h="246888">
                <a:tc>
                  <a:txBody>
                    <a:bodyPr/>
                    <a:lstStyle/>
                    <a:p>
                      <a:pPr indent="0" marL="0">
                        <a:buNone/>
                      </a:pPr>
                      <a:r>
                        <a:rPr lang="en-US" sz="1200" b="1" dirty="0">
                          <a:solidFill>
                            <a:srgbClr val="171721"/>
                          </a:solidFill>
                          <a:latin typeface="Calibri" pitchFamily="34" charset="0"/>
                          <a:ea typeface="Calibri" pitchFamily="34" charset="-122"/>
                          <a:cs typeface="Calibri" pitchFamily="34" charset="-120"/>
                        </a:rPr>
                        <a:t>Audit evidence</a:t>
                      </a:r>
                      <a:endParaRPr lang="en-US" sz="1200" dirty="0">
                        <a:latin typeface="Calibri" charset="0"/>
                        <a:ea typeface="Calibri" charset="0"/>
                        <a:cs typeface="Calibri" charset="0"/>
                      </a:endParaRPr>
                    </a:p>
                  </a:txBody>
                  <a:tcPr marL="76200" marR="76200" marT="25400" marB="25400">
                    <a:lnL w="9525" cap="flat" cmpd="sng" algn="ctr">
                      <a:solidFill>
                        <a:srgbClr val="C9D3DE"/>
                      </a:solidFill>
                      <a:prstDash val="solid"/>
                      <a:round/>
                      <a:headEnd type="none" w="med" len="med"/>
                      <a:tailEnd type="none" w="med" len="med"/>
                    </a:lnL>
                    <a:lnR w="9525" cap="flat" cmpd="sng" algn="ctr">
                      <a:solidFill>
                        <a:srgbClr val="C9D3DE"/>
                      </a:solidFill>
                      <a:prstDash val="solid"/>
                      <a:round/>
                      <a:headEnd type="none" w="med" len="med"/>
                      <a:tailEnd type="none" w="med" len="med"/>
                    </a:lnR>
                    <a:lnT w="9525" cap="flat" cmpd="sng" algn="ctr">
                      <a:solidFill>
                        <a:srgbClr val="C9D3DE"/>
                      </a:solidFill>
                      <a:prstDash val="solid"/>
                      <a:round/>
                      <a:headEnd type="none" w="med" len="med"/>
                      <a:tailEnd type="none" w="med" len="med"/>
                    </a:lnT>
                    <a:lnB w="9525" cap="flat" cmpd="sng" algn="ctr">
                      <a:solidFill>
                        <a:srgbClr val="C9D3DE"/>
                      </a:solidFill>
                      <a:prstDash val="solid"/>
                      <a:round/>
                      <a:headEnd type="none" w="med" len="med"/>
                      <a:tailEnd type="none" w="med" len="med"/>
                    </a:lnB>
                  </a:tcPr>
                </a:tc>
                <a:tc>
                  <a:txBody>
                    <a:bodyPr/>
                    <a:lstStyle/>
                    <a:p>
                      <a:pPr indent="0" marL="0">
                        <a:buNone/>
                      </a:pPr>
                      <a:r>
                        <a:rPr lang="en-US" sz="1200" dirty="0">
                          <a:solidFill>
                            <a:srgbClr val="1B2635"/>
                          </a:solidFill>
                          <a:latin typeface="Calibri" pitchFamily="34" charset="0"/>
                          <a:ea typeface="Calibri" pitchFamily="34" charset="-122"/>
                          <a:cs typeface="Calibri" pitchFamily="34" charset="-120"/>
                        </a:rPr>
                        <a:t>Screenshots and spreadsheets</a:t>
                      </a:r>
                      <a:endParaRPr lang="en-US" sz="1200" dirty="0">
                        <a:latin typeface="Calibri" charset="0"/>
                        <a:ea typeface="Calibri" charset="0"/>
                        <a:cs typeface="Calibri" charset="0"/>
                      </a:endParaRPr>
                    </a:p>
                  </a:txBody>
                  <a:tcPr marL="76200" marR="76200" marT="25400" marB="25400">
                    <a:lnL w="9525" cap="flat" cmpd="sng" algn="ctr">
                      <a:solidFill>
                        <a:srgbClr val="C9D3DE"/>
                      </a:solidFill>
                      <a:prstDash val="solid"/>
                      <a:round/>
                      <a:headEnd type="none" w="med" len="med"/>
                      <a:tailEnd type="none" w="med" len="med"/>
                    </a:lnL>
                    <a:lnR w="9525" cap="flat" cmpd="sng" algn="ctr">
                      <a:solidFill>
                        <a:srgbClr val="C9D3DE"/>
                      </a:solidFill>
                      <a:prstDash val="solid"/>
                      <a:round/>
                      <a:headEnd type="none" w="med" len="med"/>
                      <a:tailEnd type="none" w="med" len="med"/>
                    </a:lnR>
                    <a:lnT w="9525" cap="flat" cmpd="sng" algn="ctr">
                      <a:solidFill>
                        <a:srgbClr val="C9D3DE"/>
                      </a:solidFill>
                      <a:prstDash val="solid"/>
                      <a:round/>
                      <a:headEnd type="none" w="med" len="med"/>
                      <a:tailEnd type="none" w="med" len="med"/>
                    </a:lnT>
                    <a:lnB w="9525" cap="flat" cmpd="sng" algn="ctr">
                      <a:solidFill>
                        <a:srgbClr val="C9D3DE"/>
                      </a:solidFill>
                      <a:prstDash val="solid"/>
                      <a:round/>
                      <a:headEnd type="none" w="med" len="med"/>
                      <a:tailEnd type="none" w="med" len="med"/>
                    </a:lnB>
                  </a:tcPr>
                </a:tc>
                <a:tc>
                  <a:txBody>
                    <a:bodyPr/>
                    <a:lstStyle/>
                    <a:p>
                      <a:pPr indent="0" marL="0">
                        <a:buNone/>
                      </a:pPr>
                      <a:r>
                        <a:rPr lang="en-US" sz="1200" dirty="0">
                          <a:solidFill>
                            <a:srgbClr val="1B2635"/>
                          </a:solidFill>
                          <a:latin typeface="Calibri" pitchFamily="34" charset="0"/>
                          <a:ea typeface="Calibri" pitchFamily="34" charset="-122"/>
                          <a:cs typeface="Calibri" pitchFamily="34" charset="-120"/>
                        </a:rPr>
                        <a:t>Generated report with timestamps and approvals</a:t>
                      </a:r>
                      <a:endParaRPr lang="en-US" sz="1200" dirty="0">
                        <a:latin typeface="Calibri" charset="0"/>
                        <a:ea typeface="Calibri" charset="0"/>
                        <a:cs typeface="Calibri" charset="0"/>
                      </a:endParaRPr>
                    </a:p>
                  </a:txBody>
                  <a:tcPr marL="76200" marR="76200" marT="25400" marB="25400">
                    <a:lnL w="9525" cap="flat" cmpd="sng" algn="ctr">
                      <a:solidFill>
                        <a:srgbClr val="C9D3DE"/>
                      </a:solidFill>
                      <a:prstDash val="solid"/>
                      <a:round/>
                      <a:headEnd type="none" w="med" len="med"/>
                      <a:tailEnd type="none" w="med" len="med"/>
                    </a:lnL>
                    <a:lnR w="9525" cap="flat" cmpd="sng" algn="ctr">
                      <a:solidFill>
                        <a:srgbClr val="C9D3DE"/>
                      </a:solidFill>
                      <a:prstDash val="solid"/>
                      <a:round/>
                      <a:headEnd type="none" w="med" len="med"/>
                      <a:tailEnd type="none" w="med" len="med"/>
                    </a:lnR>
                    <a:lnT w="9525" cap="flat" cmpd="sng" algn="ctr">
                      <a:solidFill>
                        <a:srgbClr val="C9D3DE"/>
                      </a:solidFill>
                      <a:prstDash val="solid"/>
                      <a:round/>
                      <a:headEnd type="none" w="med" len="med"/>
                      <a:tailEnd type="none" w="med" len="med"/>
                    </a:lnT>
                    <a:lnB w="9525" cap="flat" cmpd="sng" algn="ctr">
                      <a:solidFill>
                        <a:srgbClr val="C9D3DE"/>
                      </a:solidFill>
                      <a:prstDash val="solid"/>
                      <a:round/>
                      <a:headEnd type="none" w="med" len="med"/>
                      <a:tailEnd type="none" w="med" len="med"/>
                    </a:lnB>
                  </a:tcPr>
                </a:tc>
              </a:tr>
            </a:tbl>
          </a:graphicData>
        </a:graphic>
      </p:graphicFrame>
      <p:sp>
        <p:nvSpPr>
          <p:cNvPr id="23" name="Text 20"/>
          <p:cNvSpPr txBox="1"/>
          <p:nvPr/>
        </p:nvSpPr>
        <p:spPr>
          <a:xfrm>
            <a:off x="548640" y="6473952"/>
            <a:ext cx="11064240" cy="274320"/>
          </a:xfrm>
          <a:prstGeom prst="rect">
            <a:avLst/>
          </a:prstGeom>
          <a:noFill/>
          <a:ln/>
        </p:spPr>
        <p:txBody>
          <a:bodyPr wrap="square" lIns="0" tIns="0" rIns="0" bIns="0" rtlCol="0" anchor="ctr"/>
          <a:lstStyle/>
          <a:p>
            <a:pPr algn="r" indent="0" marL="0">
              <a:buNone/>
            </a:pPr>
            <a:r>
              <a:rPr lang="en-US" sz="900" dirty="0">
                <a:solidFill>
                  <a:srgbClr val="8C99AA"/>
                </a:solidFill>
                <a:latin typeface="Calibri" pitchFamily="34" charset="0"/>
                <a:ea typeface="Calibri" pitchFamily="34" charset="-122"/>
                <a:cs typeface="Calibri" pitchFamily="34" charset="-120"/>
              </a:rPr>
              <a:t>DR Agent: Autonomous DR Validation  ·  Team Azure Armada  ·  Azure Day 2026 Hackathon   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1064240" cy="685800"/>
          </a:xfrm>
          <a:prstGeom prst="rect">
            <a:avLst/>
          </a:prstGeom>
          <a:noFill/>
          <a:ln/>
        </p:spPr>
        <p:txBody>
          <a:bodyPr wrap="square" lIns="0" tIns="0" rIns="0" bIns="0" rtlCol="0" anchor="ctr"/>
          <a:lstStyle/>
          <a:p>
            <a:pPr indent="0" marL="0">
              <a:buNone/>
            </a:pPr>
            <a:r>
              <a:rPr lang="en-US" sz="3200" b="1" dirty="0">
                <a:solidFill>
                  <a:srgbClr val="171721"/>
                </a:solidFill>
                <a:latin typeface="Calibri" pitchFamily="34" charset="0"/>
                <a:ea typeface="Calibri" pitchFamily="34" charset="-122"/>
                <a:cs typeface="Calibri" pitchFamily="34" charset="-120"/>
              </a:rPr>
              <a:t>Six specialist agents, each with one job and a contract</a:t>
            </a:r>
            <a:endParaRPr lang="en-US" sz="3200" dirty="0"/>
          </a:p>
        </p:txBody>
      </p:sp>
      <p:sp>
        <p:nvSpPr>
          <p:cNvPr id="3" name="Text 1"/>
          <p:cNvSpPr txBox="1"/>
          <p:nvPr/>
        </p:nvSpPr>
        <p:spPr>
          <a:xfrm>
            <a:off x="548640" y="987552"/>
            <a:ext cx="11064240" cy="365760"/>
          </a:xfrm>
          <a:prstGeom prst="rect">
            <a:avLst/>
          </a:prstGeom>
          <a:noFill/>
          <a:ln/>
        </p:spPr>
        <p:txBody>
          <a:bodyPr wrap="square" lIns="0" tIns="0" rIns="0" bIns="0" rtlCol="0" anchor="ctr"/>
          <a:lstStyle/>
          <a:p>
            <a:pPr indent="0" marL="0">
              <a:buNone/>
            </a:pPr>
            <a:r>
              <a:rPr lang="en-US" sz="1500" i="1" dirty="0">
                <a:solidFill>
                  <a:srgbClr val="5B6B7F"/>
                </a:solidFill>
                <a:latin typeface="Calibri" pitchFamily="34" charset="0"/>
                <a:ea typeface="Calibri" pitchFamily="34" charset="-122"/>
                <a:cs typeface="Calibri" pitchFamily="34" charset="-120"/>
              </a:rPr>
              <a:t>Versioned prompt agents in Azure AI Foundry Agent Service. Every answer must match a strict JSON schema and pass code checks.</a:t>
            </a:r>
            <a:endParaRPr lang="en-US" sz="15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11064240" cy="914400"/>
        </p:xfrm>
        <a:graphic>
          <a:graphicData uri="http://schemas.openxmlformats.org/drawingml/2006/table">
            <a:tbl>
              <a:tblPr/>
              <a:tblGrid>
                <a:gridCol w="1371600"/>
                <a:gridCol w="1417320"/>
                <a:gridCol w="2880360"/>
                <a:gridCol w="2514600"/>
                <a:gridCol w="2880360"/>
              </a:tblGrid>
              <a:tr h="457200">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Agent</a:t>
                      </a:r>
                      <a:endParaRPr lang="en-US" sz="1200" dirty="0">
                        <a:latin typeface="Calibri" charset="0"/>
                        <a:ea typeface="Calibri" charset="0"/>
                        <a:cs typeface="Calibri" charset="0"/>
                      </a:endParaRPr>
                    </a:p>
                  </a:txBody>
                  <a:tcPr marL="76200" marR="76200" marT="50800" marB="50800">
                    <a:lnL w="9525" cap="flat" cmpd="sng" algn="ctr">
                      <a:solidFill>
                        <a:srgbClr val="C9D3DE"/>
                      </a:solidFill>
                      <a:prstDash val="solid"/>
                      <a:round/>
                      <a:headEnd type="none" w="med" len="med"/>
                      <a:tailEnd type="none" w="med" len="med"/>
                    </a:lnL>
                    <a:lnR w="9525" cap="flat" cmpd="sng" algn="ctr">
                      <a:solidFill>
                        <a:srgbClr val="C9D3DE"/>
                      </a:solidFill>
                      <a:prstDash val="solid"/>
                      <a:round/>
                      <a:headEnd type="none" w="med" len="med"/>
                      <a:tailEnd type="none" w="med" len="med"/>
                    </a:lnR>
                    <a:lnT w="9525" cap="flat" cmpd="sng" algn="ctr">
                      <a:solidFill>
                        <a:srgbClr val="C9D3DE"/>
                      </a:solidFill>
                      <a:prstDash val="solid"/>
                      <a:round/>
                      <a:headEnd type="none" w="med" len="med"/>
                      <a:tailEnd type="none" w="med" len="med"/>
                    </a:lnT>
                    <a:lnB w="9525" cap="flat" cmpd="sng" algn="ctr">
                      <a:solidFill>
                        <a:srgbClr val="C9D3DE"/>
                      </a:solidFill>
                      <a:prstDash val="solid"/>
                      <a:round/>
                      <a:headEnd type="none" w="med" len="med"/>
                      <a:tailEnd type="none" w="med" len="med"/>
                    </a:lnB>
                    <a:solidFill>
                      <a:srgbClr val="171721"/>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Model</a:t>
                      </a:r>
                      <a:endParaRPr lang="en-US" sz="1200" dirty="0">
                        <a:latin typeface="Calibri" charset="0"/>
                        <a:ea typeface="Calibri" charset="0"/>
                        <a:cs typeface="Calibri" charset="0"/>
                      </a:endParaRPr>
                    </a:p>
                  </a:txBody>
                  <a:tcPr marL="76200" marR="76200" marT="50800" marB="50800">
                    <a:lnL w="9525" cap="flat" cmpd="sng" algn="ctr">
                      <a:solidFill>
                        <a:srgbClr val="C9D3DE"/>
                      </a:solidFill>
                      <a:prstDash val="solid"/>
                      <a:round/>
                      <a:headEnd type="none" w="med" len="med"/>
                      <a:tailEnd type="none" w="med" len="med"/>
                    </a:lnL>
                    <a:lnR w="9525" cap="flat" cmpd="sng" algn="ctr">
                      <a:solidFill>
                        <a:srgbClr val="C9D3DE"/>
                      </a:solidFill>
                      <a:prstDash val="solid"/>
                      <a:round/>
                      <a:headEnd type="none" w="med" len="med"/>
                      <a:tailEnd type="none" w="med" len="med"/>
                    </a:lnR>
                    <a:lnT w="9525" cap="flat" cmpd="sng" algn="ctr">
                      <a:solidFill>
                        <a:srgbClr val="C9D3DE"/>
                      </a:solidFill>
                      <a:prstDash val="solid"/>
                      <a:round/>
                      <a:headEnd type="none" w="med" len="med"/>
                      <a:tailEnd type="none" w="med" len="med"/>
                    </a:lnT>
                    <a:lnB w="9525" cap="flat" cmpd="sng" algn="ctr">
                      <a:solidFill>
                        <a:srgbClr val="C9D3DE"/>
                      </a:solidFill>
                      <a:prstDash val="solid"/>
                      <a:round/>
                      <a:headEnd type="none" w="med" len="med"/>
                      <a:tailEnd type="none" w="med" len="med"/>
                    </a:lnB>
                    <a:solidFill>
                      <a:srgbClr val="171721"/>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Gets (facts from code)</a:t>
                      </a:r>
                      <a:endParaRPr lang="en-US" sz="1200" dirty="0">
                        <a:latin typeface="Calibri" charset="0"/>
                        <a:ea typeface="Calibri" charset="0"/>
                        <a:cs typeface="Calibri" charset="0"/>
                      </a:endParaRPr>
                    </a:p>
                  </a:txBody>
                  <a:tcPr marL="76200" marR="76200" marT="50800" marB="50800">
                    <a:lnL w="9525" cap="flat" cmpd="sng" algn="ctr">
                      <a:solidFill>
                        <a:srgbClr val="C9D3DE"/>
                      </a:solidFill>
                      <a:prstDash val="solid"/>
                      <a:round/>
                      <a:headEnd type="none" w="med" len="med"/>
                      <a:tailEnd type="none" w="med" len="med"/>
                    </a:lnL>
                    <a:lnR w="9525" cap="flat" cmpd="sng" algn="ctr">
                      <a:solidFill>
                        <a:srgbClr val="C9D3DE"/>
                      </a:solidFill>
                      <a:prstDash val="solid"/>
                      <a:round/>
                      <a:headEnd type="none" w="med" len="med"/>
                      <a:tailEnd type="none" w="med" len="med"/>
                    </a:lnR>
                    <a:lnT w="9525" cap="flat" cmpd="sng" algn="ctr">
                      <a:solidFill>
                        <a:srgbClr val="C9D3DE"/>
                      </a:solidFill>
                      <a:prstDash val="solid"/>
                      <a:round/>
                      <a:headEnd type="none" w="med" len="med"/>
                      <a:tailEnd type="none" w="med" len="med"/>
                    </a:lnT>
                    <a:lnB w="9525" cap="flat" cmpd="sng" algn="ctr">
                      <a:solidFill>
                        <a:srgbClr val="C9D3DE"/>
                      </a:solidFill>
                      <a:prstDash val="solid"/>
                      <a:round/>
                      <a:headEnd type="none" w="med" len="med"/>
                      <a:tailEnd type="none" w="med" len="med"/>
                    </a:lnB>
                    <a:solidFill>
                      <a:srgbClr val="171721"/>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Returns</a:t>
                      </a:r>
                      <a:endParaRPr lang="en-US" sz="1200" dirty="0">
                        <a:latin typeface="Calibri" charset="0"/>
                        <a:ea typeface="Calibri" charset="0"/>
                        <a:cs typeface="Calibri" charset="0"/>
                      </a:endParaRPr>
                    </a:p>
                  </a:txBody>
                  <a:tcPr marL="76200" marR="76200" marT="50800" marB="50800">
                    <a:lnL w="9525" cap="flat" cmpd="sng" algn="ctr">
                      <a:solidFill>
                        <a:srgbClr val="C9D3DE"/>
                      </a:solidFill>
                      <a:prstDash val="solid"/>
                      <a:round/>
                      <a:headEnd type="none" w="med" len="med"/>
                      <a:tailEnd type="none" w="med" len="med"/>
                    </a:lnL>
                    <a:lnR w="9525" cap="flat" cmpd="sng" algn="ctr">
                      <a:solidFill>
                        <a:srgbClr val="C9D3DE"/>
                      </a:solidFill>
                      <a:prstDash val="solid"/>
                      <a:round/>
                      <a:headEnd type="none" w="med" len="med"/>
                      <a:tailEnd type="none" w="med" len="med"/>
                    </a:lnR>
                    <a:lnT w="9525" cap="flat" cmpd="sng" algn="ctr">
                      <a:solidFill>
                        <a:srgbClr val="C9D3DE"/>
                      </a:solidFill>
                      <a:prstDash val="solid"/>
                      <a:round/>
                      <a:headEnd type="none" w="med" len="med"/>
                      <a:tailEnd type="none" w="med" len="med"/>
                    </a:lnT>
                    <a:lnB w="9525" cap="flat" cmpd="sng" algn="ctr">
                      <a:solidFill>
                        <a:srgbClr val="C9D3DE"/>
                      </a:solidFill>
                      <a:prstDash val="solid"/>
                      <a:round/>
                      <a:headEnd type="none" w="med" len="med"/>
                      <a:tailEnd type="none" w="med" len="med"/>
                    </a:lnB>
                    <a:solidFill>
                      <a:srgbClr val="171721"/>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Checked by code</a:t>
                      </a:r>
                      <a:endParaRPr lang="en-US" sz="1200" dirty="0">
                        <a:latin typeface="Calibri" charset="0"/>
                        <a:ea typeface="Calibri" charset="0"/>
                        <a:cs typeface="Calibri" charset="0"/>
                      </a:endParaRPr>
                    </a:p>
                  </a:txBody>
                  <a:tcPr marL="76200" marR="76200" marT="50800" marB="50800">
                    <a:lnL w="9525" cap="flat" cmpd="sng" algn="ctr">
                      <a:solidFill>
                        <a:srgbClr val="C9D3DE"/>
                      </a:solidFill>
                      <a:prstDash val="solid"/>
                      <a:round/>
                      <a:headEnd type="none" w="med" len="med"/>
                      <a:tailEnd type="none" w="med" len="med"/>
                    </a:lnL>
                    <a:lnR w="9525" cap="flat" cmpd="sng" algn="ctr">
                      <a:solidFill>
                        <a:srgbClr val="C9D3DE"/>
                      </a:solidFill>
                      <a:prstDash val="solid"/>
                      <a:round/>
                      <a:headEnd type="none" w="med" len="med"/>
                      <a:tailEnd type="none" w="med" len="med"/>
                    </a:lnR>
                    <a:lnT w="9525" cap="flat" cmpd="sng" algn="ctr">
                      <a:solidFill>
                        <a:srgbClr val="C9D3DE"/>
                      </a:solidFill>
                      <a:prstDash val="solid"/>
                      <a:round/>
                      <a:headEnd type="none" w="med" len="med"/>
                      <a:tailEnd type="none" w="med" len="med"/>
                    </a:lnT>
                    <a:lnB w="9525" cap="flat" cmpd="sng" algn="ctr">
                      <a:solidFill>
                        <a:srgbClr val="C9D3DE"/>
                      </a:solidFill>
                      <a:prstDash val="solid"/>
                      <a:round/>
                      <a:headEnd type="none" w="med" len="med"/>
                      <a:tailEnd type="none" w="med" len="med"/>
                    </a:lnB>
                    <a:solidFill>
                      <a:srgbClr val="171721"/>
                    </a:solidFill>
                  </a:tcPr>
                </a:tc>
              </a:tr>
              <a:tr h="457200">
                <a:tc>
                  <a:txBody>
                    <a:bodyPr/>
                    <a:lstStyle/>
                    <a:p>
                      <a:pPr indent="0" marL="0">
                        <a:buNone/>
                      </a:pPr>
                      <a:r>
                        <a:rPr lang="en-US" sz="1200" b="1" dirty="0">
                          <a:solidFill>
                            <a:srgbClr val="171721"/>
                          </a:solidFill>
                          <a:latin typeface="Calibri" pitchFamily="34" charset="0"/>
                          <a:ea typeface="Calibri" pitchFamily="34" charset="-122"/>
                          <a:cs typeface="Calibri" pitchFamily="34" charset="-120"/>
                        </a:rPr>
                        <a:t>Architect</a:t>
                      </a:r>
                      <a:endParaRPr lang="en-US" sz="1200" dirty="0">
                        <a:latin typeface="Calibri" charset="0"/>
                        <a:ea typeface="Calibri" charset="0"/>
                        <a:cs typeface="Calibri" charset="0"/>
                      </a:endParaRPr>
                    </a:p>
                  </a:txBody>
                  <a:tcPr marL="76200" marR="76200" marT="50800" marB="50800">
                    <a:lnL w="9525" cap="flat" cmpd="sng" algn="ctr">
                      <a:solidFill>
                        <a:srgbClr val="C9D3DE"/>
                      </a:solidFill>
                      <a:prstDash val="solid"/>
                      <a:round/>
                      <a:headEnd type="none" w="med" len="med"/>
                      <a:tailEnd type="none" w="med" len="med"/>
                    </a:lnL>
                    <a:lnR w="9525" cap="flat" cmpd="sng" algn="ctr">
                      <a:solidFill>
                        <a:srgbClr val="C9D3DE"/>
                      </a:solidFill>
                      <a:prstDash val="solid"/>
                      <a:round/>
                      <a:headEnd type="none" w="med" len="med"/>
                      <a:tailEnd type="none" w="med" len="med"/>
                    </a:lnR>
                    <a:lnT w="9525" cap="flat" cmpd="sng" algn="ctr">
                      <a:solidFill>
                        <a:srgbClr val="C9D3DE"/>
                      </a:solidFill>
                      <a:prstDash val="solid"/>
                      <a:round/>
                      <a:headEnd type="none" w="med" len="med"/>
                      <a:tailEnd type="none" w="med" len="med"/>
                    </a:lnT>
                    <a:lnB w="9525" cap="flat" cmpd="sng" algn="ctr">
                      <a:solidFill>
                        <a:srgbClr val="C9D3DE"/>
                      </a:solidFill>
                      <a:prstDash val="solid"/>
                      <a:round/>
                      <a:headEnd type="none" w="med" len="med"/>
                      <a:tailEnd type="none" w="med" len="med"/>
                    </a:lnB>
                  </a:tcPr>
                </a:tc>
                <a:tc>
                  <a:txBody>
                    <a:bodyPr/>
                    <a:lstStyle/>
                    <a:p>
                      <a:pPr indent="0" marL="0">
                        <a:buNone/>
                      </a:pPr>
                      <a:r>
                        <a:rPr lang="en-US" sz="1200" dirty="0">
                          <a:solidFill>
                            <a:srgbClr val="1B2635"/>
                          </a:solidFill>
                          <a:latin typeface="Consolas" pitchFamily="34" charset="0"/>
                          <a:ea typeface="Consolas" pitchFamily="34" charset="-122"/>
                          <a:cs typeface="Consolas" pitchFamily="34" charset="-120"/>
                        </a:rPr>
                        <a:t>gpt-4.1-mini</a:t>
                      </a:r>
                      <a:endParaRPr lang="en-US" sz="1200" dirty="0">
                        <a:latin typeface="Consolas" charset="0"/>
                        <a:ea typeface="Consolas" charset="0"/>
                        <a:cs typeface="Consolas" charset="0"/>
                      </a:endParaRPr>
                    </a:p>
                  </a:txBody>
                  <a:tcPr marL="76200" marR="76200" marT="50800" marB="50800">
                    <a:lnL w="9525" cap="flat" cmpd="sng" algn="ctr">
                      <a:solidFill>
                        <a:srgbClr val="C9D3DE"/>
                      </a:solidFill>
                      <a:prstDash val="solid"/>
                      <a:round/>
                      <a:headEnd type="none" w="med" len="med"/>
                      <a:tailEnd type="none" w="med" len="med"/>
                    </a:lnL>
                    <a:lnR w="9525" cap="flat" cmpd="sng" algn="ctr">
                      <a:solidFill>
                        <a:srgbClr val="C9D3DE"/>
                      </a:solidFill>
                      <a:prstDash val="solid"/>
                      <a:round/>
                      <a:headEnd type="none" w="med" len="med"/>
                      <a:tailEnd type="none" w="med" len="med"/>
                    </a:lnR>
                    <a:lnT w="9525" cap="flat" cmpd="sng" algn="ctr">
                      <a:solidFill>
                        <a:srgbClr val="C9D3DE"/>
                      </a:solidFill>
                      <a:prstDash val="solid"/>
                      <a:round/>
                      <a:headEnd type="none" w="med" len="med"/>
                      <a:tailEnd type="none" w="med" len="med"/>
                    </a:lnT>
                    <a:lnB w="9525" cap="flat" cmpd="sng" algn="ctr">
                      <a:solidFill>
                        <a:srgbClr val="C9D3DE"/>
                      </a:solidFill>
                      <a:prstDash val="solid"/>
                      <a:round/>
                      <a:headEnd type="none" w="med" len="med"/>
                      <a:tailEnd type="none" w="med" len="med"/>
                    </a:lnB>
                  </a:tcPr>
                </a:tc>
                <a:tc>
                  <a:txBody>
                    <a:bodyPr/>
                    <a:lstStyle/>
                    <a:p>
                      <a:pPr indent="0" marL="0">
                        <a:buNone/>
                      </a:pPr>
                      <a:r>
                        <a:rPr lang="en-US" sz="1200" dirty="0">
                          <a:solidFill>
                            <a:srgbClr val="1B2635"/>
                          </a:solidFill>
                          <a:latin typeface="Calibri" pitchFamily="34" charset="0"/>
                          <a:ea typeface="Calibri" pitchFamily="34" charset="-122"/>
                          <a:cs typeface="Calibri" pitchFamily="34" charset="-120"/>
                        </a:rPr>
                        <a:t>Profile, inventory, live Azure prices</a:t>
                      </a:r>
                      <a:endParaRPr lang="en-US" sz="1200" dirty="0">
                        <a:latin typeface="Calibri" charset="0"/>
                        <a:ea typeface="Calibri" charset="0"/>
                        <a:cs typeface="Calibri" charset="0"/>
                      </a:endParaRPr>
                    </a:p>
                  </a:txBody>
                  <a:tcPr marL="76200" marR="76200" marT="50800" marB="50800">
                    <a:lnL w="9525" cap="flat" cmpd="sng" algn="ctr">
                      <a:solidFill>
                        <a:srgbClr val="C9D3DE"/>
                      </a:solidFill>
                      <a:prstDash val="solid"/>
                      <a:round/>
                      <a:headEnd type="none" w="med" len="med"/>
                      <a:tailEnd type="none" w="med" len="med"/>
                    </a:lnL>
                    <a:lnR w="9525" cap="flat" cmpd="sng" algn="ctr">
                      <a:solidFill>
                        <a:srgbClr val="C9D3DE"/>
                      </a:solidFill>
                      <a:prstDash val="solid"/>
                      <a:round/>
                      <a:headEnd type="none" w="med" len="med"/>
                      <a:tailEnd type="none" w="med" len="med"/>
                    </a:lnR>
                    <a:lnT w="9525" cap="flat" cmpd="sng" algn="ctr">
                      <a:solidFill>
                        <a:srgbClr val="C9D3DE"/>
                      </a:solidFill>
                      <a:prstDash val="solid"/>
                      <a:round/>
                      <a:headEnd type="none" w="med" len="med"/>
                      <a:tailEnd type="none" w="med" len="med"/>
                    </a:lnT>
                    <a:lnB w="9525" cap="flat" cmpd="sng" algn="ctr">
                      <a:solidFill>
                        <a:srgbClr val="C9D3DE"/>
                      </a:solidFill>
                      <a:prstDash val="solid"/>
                      <a:round/>
                      <a:headEnd type="none" w="med" len="med"/>
                      <a:tailEnd type="none" w="med" len="med"/>
                    </a:lnB>
                  </a:tcPr>
                </a:tc>
                <a:tc>
                  <a:txBody>
                    <a:bodyPr/>
                    <a:lstStyle/>
                    <a:p>
                      <a:pPr indent="0" marL="0">
                        <a:buNone/>
                      </a:pPr>
                      <a:r>
                        <a:rPr lang="en-US" sz="1200" dirty="0">
                          <a:solidFill>
                            <a:srgbClr val="1B2635"/>
                          </a:solidFill>
                          <a:latin typeface="Calibri" pitchFamily="34" charset="0"/>
                          <a:ea typeface="Calibri" pitchFamily="34" charset="-122"/>
                          <a:cs typeface="Calibri" pitchFamily="34" charset="-120"/>
                        </a:rPr>
                        <a:t>Strategy + all 5 options</a:t>
                      </a:r>
                      <a:endParaRPr lang="en-US" sz="1200" dirty="0">
                        <a:latin typeface="Calibri" charset="0"/>
                        <a:ea typeface="Calibri" charset="0"/>
                        <a:cs typeface="Calibri" charset="0"/>
                      </a:endParaRPr>
                    </a:p>
                  </a:txBody>
                  <a:tcPr marL="76200" marR="76200" marT="50800" marB="50800">
                    <a:lnL w="9525" cap="flat" cmpd="sng" algn="ctr">
                      <a:solidFill>
                        <a:srgbClr val="C9D3DE"/>
                      </a:solidFill>
                      <a:prstDash val="solid"/>
                      <a:round/>
                      <a:headEnd type="none" w="med" len="med"/>
                      <a:tailEnd type="none" w="med" len="med"/>
                    </a:lnL>
                    <a:lnR w="9525" cap="flat" cmpd="sng" algn="ctr">
                      <a:solidFill>
                        <a:srgbClr val="C9D3DE"/>
                      </a:solidFill>
                      <a:prstDash val="solid"/>
                      <a:round/>
                      <a:headEnd type="none" w="med" len="med"/>
                      <a:tailEnd type="none" w="med" len="med"/>
                    </a:lnR>
                    <a:lnT w="9525" cap="flat" cmpd="sng" algn="ctr">
                      <a:solidFill>
                        <a:srgbClr val="C9D3DE"/>
                      </a:solidFill>
                      <a:prstDash val="solid"/>
                      <a:round/>
                      <a:headEnd type="none" w="med" len="med"/>
                      <a:tailEnd type="none" w="med" len="med"/>
                    </a:lnT>
                    <a:lnB w="9525" cap="flat" cmpd="sng" algn="ctr">
                      <a:solidFill>
                        <a:srgbClr val="C9D3DE"/>
                      </a:solidFill>
                      <a:prstDash val="solid"/>
                      <a:round/>
                      <a:headEnd type="none" w="med" len="med"/>
                      <a:tailEnd type="none" w="med" len="med"/>
                    </a:lnB>
                  </a:tcPr>
                </a:tc>
                <a:tc>
                  <a:txBody>
                    <a:bodyPr/>
                    <a:lstStyle/>
                    <a:p>
                      <a:pPr indent="0" marL="0">
                        <a:buNone/>
                      </a:pPr>
                      <a:r>
                        <a:rPr lang="en-US" sz="1200" dirty="0">
                          <a:solidFill>
                            <a:srgbClr val="1B2635"/>
                          </a:solidFill>
                          <a:latin typeface="Calibri" pitchFamily="34" charset="0"/>
                          <a:ea typeface="Calibri" pitchFamily="34" charset="-122"/>
                          <a:cs typeface="Calibri" pitchFamily="34" charset="-120"/>
                        </a:rPr>
                        <a:t>Cheapest option that truly meets targets</a:t>
                      </a:r>
                      <a:endParaRPr lang="en-US" sz="1200" dirty="0">
                        <a:latin typeface="Calibri" charset="0"/>
                        <a:ea typeface="Calibri" charset="0"/>
                        <a:cs typeface="Calibri" charset="0"/>
                      </a:endParaRPr>
                    </a:p>
                  </a:txBody>
                  <a:tcPr marL="76200" marR="76200" marT="50800" marB="50800">
                    <a:lnL w="9525" cap="flat" cmpd="sng" algn="ctr">
                      <a:solidFill>
                        <a:srgbClr val="C9D3DE"/>
                      </a:solidFill>
                      <a:prstDash val="solid"/>
                      <a:round/>
                      <a:headEnd type="none" w="med" len="med"/>
                      <a:tailEnd type="none" w="med" len="med"/>
                    </a:lnL>
                    <a:lnR w="9525" cap="flat" cmpd="sng" algn="ctr">
                      <a:solidFill>
                        <a:srgbClr val="C9D3DE"/>
                      </a:solidFill>
                      <a:prstDash val="solid"/>
                      <a:round/>
                      <a:headEnd type="none" w="med" len="med"/>
                      <a:tailEnd type="none" w="med" len="med"/>
                    </a:lnR>
                    <a:lnT w="9525" cap="flat" cmpd="sng" algn="ctr">
                      <a:solidFill>
                        <a:srgbClr val="C9D3DE"/>
                      </a:solidFill>
                      <a:prstDash val="solid"/>
                      <a:round/>
                      <a:headEnd type="none" w="med" len="med"/>
                      <a:tailEnd type="none" w="med" len="med"/>
                    </a:lnT>
                    <a:lnB w="9525" cap="flat" cmpd="sng" algn="ctr">
                      <a:solidFill>
                        <a:srgbClr val="C9D3DE"/>
                      </a:solidFill>
                      <a:prstDash val="solid"/>
                      <a:round/>
                      <a:headEnd type="none" w="med" len="med"/>
                      <a:tailEnd type="none" w="med" len="med"/>
                    </a:lnB>
                  </a:tcPr>
                </a:tc>
              </a:tr>
              <a:tr h="457200">
                <a:tc>
                  <a:txBody>
                    <a:bodyPr/>
                    <a:lstStyle/>
                    <a:p>
                      <a:pPr indent="0" marL="0">
                        <a:buNone/>
                      </a:pPr>
                      <a:r>
                        <a:rPr lang="en-US" sz="1200" b="1" dirty="0">
                          <a:solidFill>
                            <a:srgbClr val="171721"/>
                          </a:solidFill>
                          <a:latin typeface="Calibri" pitchFamily="34" charset="0"/>
                          <a:ea typeface="Calibri" pitchFamily="34" charset="-122"/>
                          <a:cs typeface="Calibri" pitchFamily="34" charset="-120"/>
                        </a:rPr>
                        <a:t>Readiness</a:t>
                      </a:r>
                      <a:endParaRPr lang="en-US" sz="1200" dirty="0">
                        <a:latin typeface="Calibri" charset="0"/>
                        <a:ea typeface="Calibri" charset="0"/>
                        <a:cs typeface="Calibri" charset="0"/>
                      </a:endParaRPr>
                    </a:p>
                  </a:txBody>
                  <a:tcPr marL="76200" marR="76200" marT="50800" marB="50800">
                    <a:lnL w="9525" cap="flat" cmpd="sng" algn="ctr">
                      <a:solidFill>
                        <a:srgbClr val="C9D3DE"/>
                      </a:solidFill>
                      <a:prstDash val="solid"/>
                      <a:round/>
                      <a:headEnd type="none" w="med" len="med"/>
                      <a:tailEnd type="none" w="med" len="med"/>
                    </a:lnL>
                    <a:lnR w="9525" cap="flat" cmpd="sng" algn="ctr">
                      <a:solidFill>
                        <a:srgbClr val="C9D3DE"/>
                      </a:solidFill>
                      <a:prstDash val="solid"/>
                      <a:round/>
                      <a:headEnd type="none" w="med" len="med"/>
                      <a:tailEnd type="none" w="med" len="med"/>
                    </a:lnR>
                    <a:lnT w="9525" cap="flat" cmpd="sng" algn="ctr">
                      <a:solidFill>
                        <a:srgbClr val="C9D3DE"/>
                      </a:solidFill>
                      <a:prstDash val="solid"/>
                      <a:round/>
                      <a:headEnd type="none" w="med" len="med"/>
                      <a:tailEnd type="none" w="med" len="med"/>
                    </a:lnT>
                    <a:lnB w="9525" cap="flat" cmpd="sng" algn="ctr">
                      <a:solidFill>
                        <a:srgbClr val="C9D3DE"/>
                      </a:solidFill>
                      <a:prstDash val="solid"/>
                      <a:round/>
                      <a:headEnd type="none" w="med" len="med"/>
                      <a:tailEnd type="none" w="med" len="med"/>
                    </a:lnB>
                  </a:tcPr>
                </a:tc>
                <a:tc>
                  <a:txBody>
                    <a:bodyPr/>
                    <a:lstStyle/>
                    <a:p>
                      <a:pPr indent="0" marL="0">
                        <a:buNone/>
                      </a:pPr>
                      <a:r>
                        <a:rPr lang="en-US" sz="1200" dirty="0">
                          <a:solidFill>
                            <a:srgbClr val="1B2635"/>
                          </a:solidFill>
                          <a:latin typeface="Consolas" pitchFamily="34" charset="0"/>
                          <a:ea typeface="Consolas" pitchFamily="34" charset="-122"/>
                          <a:cs typeface="Consolas" pitchFamily="34" charset="-120"/>
                        </a:rPr>
                        <a:t>gpt-4.1-mini</a:t>
                      </a:r>
                      <a:endParaRPr lang="en-US" sz="1200" dirty="0">
                        <a:latin typeface="Consolas" charset="0"/>
                        <a:ea typeface="Consolas" charset="0"/>
                        <a:cs typeface="Consolas" charset="0"/>
                      </a:endParaRPr>
                    </a:p>
                  </a:txBody>
                  <a:tcPr marL="76200" marR="76200" marT="50800" marB="50800">
                    <a:lnL w="9525" cap="flat" cmpd="sng" algn="ctr">
                      <a:solidFill>
                        <a:srgbClr val="C9D3DE"/>
                      </a:solidFill>
                      <a:prstDash val="solid"/>
                      <a:round/>
                      <a:headEnd type="none" w="med" len="med"/>
                      <a:tailEnd type="none" w="med" len="med"/>
                    </a:lnL>
                    <a:lnR w="9525" cap="flat" cmpd="sng" algn="ctr">
                      <a:solidFill>
                        <a:srgbClr val="C9D3DE"/>
                      </a:solidFill>
                      <a:prstDash val="solid"/>
                      <a:round/>
                      <a:headEnd type="none" w="med" len="med"/>
                      <a:tailEnd type="none" w="med" len="med"/>
                    </a:lnR>
                    <a:lnT w="9525" cap="flat" cmpd="sng" algn="ctr">
                      <a:solidFill>
                        <a:srgbClr val="C9D3DE"/>
                      </a:solidFill>
                      <a:prstDash val="solid"/>
                      <a:round/>
                      <a:headEnd type="none" w="med" len="med"/>
                      <a:tailEnd type="none" w="med" len="med"/>
                    </a:lnT>
                    <a:lnB w="9525" cap="flat" cmpd="sng" algn="ctr">
                      <a:solidFill>
                        <a:srgbClr val="C9D3DE"/>
                      </a:solidFill>
                      <a:prstDash val="solid"/>
                      <a:round/>
                      <a:headEnd type="none" w="med" len="med"/>
                      <a:tailEnd type="none" w="med" len="med"/>
                    </a:lnB>
                  </a:tcPr>
                </a:tc>
                <a:tc>
                  <a:txBody>
                    <a:bodyPr/>
                    <a:lstStyle/>
                    <a:p>
                      <a:pPr indent="0" marL="0">
                        <a:buNone/>
                      </a:pPr>
                      <a:r>
                        <a:rPr lang="en-US" sz="1200" dirty="0">
                          <a:solidFill>
                            <a:srgbClr val="1B2635"/>
                          </a:solidFill>
                          <a:latin typeface="Calibri" pitchFamily="34" charset="0"/>
                          <a:ea typeface="Calibri" pitchFamily="34" charset="-122"/>
                          <a:cs typeface="Calibri" pitchFamily="34" charset="-120"/>
                        </a:rPr>
                        <a:t>7 deterministic checks with evidence</a:t>
                      </a:r>
                      <a:endParaRPr lang="en-US" sz="1200" dirty="0">
                        <a:latin typeface="Calibri" charset="0"/>
                        <a:ea typeface="Calibri" charset="0"/>
                        <a:cs typeface="Calibri" charset="0"/>
                      </a:endParaRPr>
                    </a:p>
                  </a:txBody>
                  <a:tcPr marL="76200" marR="76200" marT="50800" marB="50800">
                    <a:lnL w="9525" cap="flat" cmpd="sng" algn="ctr">
                      <a:solidFill>
                        <a:srgbClr val="C9D3DE"/>
                      </a:solidFill>
                      <a:prstDash val="solid"/>
                      <a:round/>
                      <a:headEnd type="none" w="med" len="med"/>
                      <a:tailEnd type="none" w="med" len="med"/>
                    </a:lnL>
                    <a:lnR w="9525" cap="flat" cmpd="sng" algn="ctr">
                      <a:solidFill>
                        <a:srgbClr val="C9D3DE"/>
                      </a:solidFill>
                      <a:prstDash val="solid"/>
                      <a:round/>
                      <a:headEnd type="none" w="med" len="med"/>
                      <a:tailEnd type="none" w="med" len="med"/>
                    </a:lnR>
                    <a:lnT w="9525" cap="flat" cmpd="sng" algn="ctr">
                      <a:solidFill>
                        <a:srgbClr val="C9D3DE"/>
                      </a:solidFill>
                      <a:prstDash val="solid"/>
                      <a:round/>
                      <a:headEnd type="none" w="med" len="med"/>
                      <a:tailEnd type="none" w="med" len="med"/>
                    </a:lnT>
                    <a:lnB w="9525" cap="flat" cmpd="sng" algn="ctr">
                      <a:solidFill>
                        <a:srgbClr val="C9D3DE"/>
                      </a:solidFill>
                      <a:prstDash val="solid"/>
                      <a:round/>
                      <a:headEnd type="none" w="med" len="med"/>
                      <a:tailEnd type="none" w="med" len="med"/>
                    </a:lnB>
                  </a:tcPr>
                </a:tc>
                <a:tc>
                  <a:txBody>
                    <a:bodyPr/>
                    <a:lstStyle/>
                    <a:p>
                      <a:pPr indent="0" marL="0">
                        <a:buNone/>
                      </a:pPr>
                      <a:r>
                        <a:rPr lang="en-US" sz="1200" dirty="0">
                          <a:solidFill>
                            <a:srgbClr val="1B2635"/>
                          </a:solidFill>
                          <a:latin typeface="Calibri" pitchFamily="34" charset="0"/>
                          <a:ea typeface="Calibri" pitchFamily="34" charset="-122"/>
                          <a:cs typeface="Calibri" pitchFamily="34" charset="-120"/>
                        </a:rPr>
                        <a:t>GO / NO-GO, risks</a:t>
                      </a:r>
                      <a:endParaRPr lang="en-US" sz="1200" dirty="0">
                        <a:latin typeface="Calibri" charset="0"/>
                        <a:ea typeface="Calibri" charset="0"/>
                        <a:cs typeface="Calibri" charset="0"/>
                      </a:endParaRPr>
                    </a:p>
                  </a:txBody>
                  <a:tcPr marL="76200" marR="76200" marT="50800" marB="50800">
                    <a:lnL w="9525" cap="flat" cmpd="sng" algn="ctr">
                      <a:solidFill>
                        <a:srgbClr val="C9D3DE"/>
                      </a:solidFill>
                      <a:prstDash val="solid"/>
                      <a:round/>
                      <a:headEnd type="none" w="med" len="med"/>
                      <a:tailEnd type="none" w="med" len="med"/>
                    </a:lnL>
                    <a:lnR w="9525" cap="flat" cmpd="sng" algn="ctr">
                      <a:solidFill>
                        <a:srgbClr val="C9D3DE"/>
                      </a:solidFill>
                      <a:prstDash val="solid"/>
                      <a:round/>
                      <a:headEnd type="none" w="med" len="med"/>
                      <a:tailEnd type="none" w="med" len="med"/>
                    </a:lnR>
                    <a:lnT w="9525" cap="flat" cmpd="sng" algn="ctr">
                      <a:solidFill>
                        <a:srgbClr val="C9D3DE"/>
                      </a:solidFill>
                      <a:prstDash val="solid"/>
                      <a:round/>
                      <a:headEnd type="none" w="med" len="med"/>
                      <a:tailEnd type="none" w="med" len="med"/>
                    </a:lnT>
                    <a:lnB w="9525" cap="flat" cmpd="sng" algn="ctr">
                      <a:solidFill>
                        <a:srgbClr val="C9D3DE"/>
                      </a:solidFill>
                      <a:prstDash val="solid"/>
                      <a:round/>
                      <a:headEnd type="none" w="med" len="med"/>
                      <a:tailEnd type="none" w="med" len="med"/>
                    </a:lnB>
                  </a:tcPr>
                </a:tc>
                <a:tc>
                  <a:txBody>
                    <a:bodyPr/>
                    <a:lstStyle/>
                    <a:p>
                      <a:pPr indent="0" marL="0">
                        <a:buNone/>
                      </a:pPr>
                      <a:r>
                        <a:rPr lang="en-US" sz="1200" dirty="0">
                          <a:solidFill>
                            <a:srgbClr val="1B2635"/>
                          </a:solidFill>
                          <a:latin typeface="Calibri" pitchFamily="34" charset="0"/>
                          <a:ea typeface="Calibri" pitchFamily="34" charset="-122"/>
                          <a:cs typeface="Calibri" pitchFamily="34" charset="-120"/>
                        </a:rPr>
                        <a:t>Any failed check forces NO-GO</a:t>
                      </a:r>
                      <a:endParaRPr lang="en-US" sz="1200" dirty="0">
                        <a:latin typeface="Calibri" charset="0"/>
                        <a:ea typeface="Calibri" charset="0"/>
                        <a:cs typeface="Calibri" charset="0"/>
                      </a:endParaRPr>
                    </a:p>
                  </a:txBody>
                  <a:tcPr marL="76200" marR="76200" marT="50800" marB="50800">
                    <a:lnL w="9525" cap="flat" cmpd="sng" algn="ctr">
                      <a:solidFill>
                        <a:srgbClr val="C9D3DE"/>
                      </a:solidFill>
                      <a:prstDash val="solid"/>
                      <a:round/>
                      <a:headEnd type="none" w="med" len="med"/>
                      <a:tailEnd type="none" w="med" len="med"/>
                    </a:lnL>
                    <a:lnR w="9525" cap="flat" cmpd="sng" algn="ctr">
                      <a:solidFill>
                        <a:srgbClr val="C9D3DE"/>
                      </a:solidFill>
                      <a:prstDash val="solid"/>
                      <a:round/>
                      <a:headEnd type="none" w="med" len="med"/>
                      <a:tailEnd type="none" w="med" len="med"/>
                    </a:lnR>
                    <a:lnT w="9525" cap="flat" cmpd="sng" algn="ctr">
                      <a:solidFill>
                        <a:srgbClr val="C9D3DE"/>
                      </a:solidFill>
                      <a:prstDash val="solid"/>
                      <a:round/>
                      <a:headEnd type="none" w="med" len="med"/>
                      <a:tailEnd type="none" w="med" len="med"/>
                    </a:lnT>
                    <a:lnB w="9525" cap="flat" cmpd="sng" algn="ctr">
                      <a:solidFill>
                        <a:srgbClr val="C9D3DE"/>
                      </a:solidFill>
                      <a:prstDash val="solid"/>
                      <a:round/>
                      <a:headEnd type="none" w="med" len="med"/>
                      <a:tailEnd type="none" w="med" len="med"/>
                    </a:lnB>
                  </a:tcPr>
                </a:tc>
              </a:tr>
              <a:tr h="457200">
                <a:tc>
                  <a:txBody>
                    <a:bodyPr/>
                    <a:lstStyle/>
                    <a:p>
                      <a:pPr indent="0" marL="0">
                        <a:buNone/>
                      </a:pPr>
                      <a:r>
                        <a:rPr lang="en-US" sz="1200" b="1" dirty="0">
                          <a:solidFill>
                            <a:srgbClr val="171721"/>
                          </a:solidFill>
                          <a:latin typeface="Calibri" pitchFamily="34" charset="0"/>
                          <a:ea typeface="Calibri" pitchFamily="34" charset="-122"/>
                          <a:cs typeface="Calibri" pitchFamily="34" charset="-120"/>
                        </a:rPr>
                        <a:t>Runbook</a:t>
                      </a:r>
                      <a:endParaRPr lang="en-US" sz="1200" dirty="0">
                        <a:latin typeface="Calibri" charset="0"/>
                        <a:ea typeface="Calibri" charset="0"/>
                        <a:cs typeface="Calibri" charset="0"/>
                      </a:endParaRPr>
                    </a:p>
                  </a:txBody>
                  <a:tcPr marL="76200" marR="76200" marT="50800" marB="50800">
                    <a:lnL w="9525" cap="flat" cmpd="sng" algn="ctr">
                      <a:solidFill>
                        <a:srgbClr val="C9D3DE"/>
                      </a:solidFill>
                      <a:prstDash val="solid"/>
                      <a:round/>
                      <a:headEnd type="none" w="med" len="med"/>
                      <a:tailEnd type="none" w="med" len="med"/>
                    </a:lnL>
                    <a:lnR w="9525" cap="flat" cmpd="sng" algn="ctr">
                      <a:solidFill>
                        <a:srgbClr val="C9D3DE"/>
                      </a:solidFill>
                      <a:prstDash val="solid"/>
                      <a:round/>
                      <a:headEnd type="none" w="med" len="med"/>
                      <a:tailEnd type="none" w="med" len="med"/>
                    </a:lnR>
                    <a:lnT w="9525" cap="flat" cmpd="sng" algn="ctr">
                      <a:solidFill>
                        <a:srgbClr val="C9D3DE"/>
                      </a:solidFill>
                      <a:prstDash val="solid"/>
                      <a:round/>
                      <a:headEnd type="none" w="med" len="med"/>
                      <a:tailEnd type="none" w="med" len="med"/>
                    </a:lnT>
                    <a:lnB w="9525" cap="flat" cmpd="sng" algn="ctr">
                      <a:solidFill>
                        <a:srgbClr val="C9D3DE"/>
                      </a:solidFill>
                      <a:prstDash val="solid"/>
                      <a:round/>
                      <a:headEnd type="none" w="med" len="med"/>
                      <a:tailEnd type="none" w="med" len="med"/>
                    </a:lnB>
                  </a:tcPr>
                </a:tc>
                <a:tc>
                  <a:txBody>
                    <a:bodyPr/>
                    <a:lstStyle/>
                    <a:p>
                      <a:pPr indent="0" marL="0">
                        <a:buNone/>
                      </a:pPr>
                      <a:r>
                        <a:rPr lang="en-US" sz="1200" dirty="0">
                          <a:solidFill>
                            <a:srgbClr val="1B2635"/>
                          </a:solidFill>
                          <a:latin typeface="Consolas" pitchFamily="34" charset="0"/>
                          <a:ea typeface="Consolas" pitchFamily="34" charset="-122"/>
                          <a:cs typeface="Consolas" pitchFamily="34" charset="-120"/>
                        </a:rPr>
                        <a:t>gpt-4.1-mini</a:t>
                      </a:r>
                      <a:endParaRPr lang="en-US" sz="1200" dirty="0">
                        <a:latin typeface="Consolas" charset="0"/>
                        <a:ea typeface="Consolas" charset="0"/>
                        <a:cs typeface="Consolas" charset="0"/>
                      </a:endParaRPr>
                    </a:p>
                  </a:txBody>
                  <a:tcPr marL="76200" marR="76200" marT="50800" marB="50800">
                    <a:lnL w="9525" cap="flat" cmpd="sng" algn="ctr">
                      <a:solidFill>
                        <a:srgbClr val="C9D3DE"/>
                      </a:solidFill>
                      <a:prstDash val="solid"/>
                      <a:round/>
                      <a:headEnd type="none" w="med" len="med"/>
                      <a:tailEnd type="none" w="med" len="med"/>
                    </a:lnL>
                    <a:lnR w="9525" cap="flat" cmpd="sng" algn="ctr">
                      <a:solidFill>
                        <a:srgbClr val="C9D3DE"/>
                      </a:solidFill>
                      <a:prstDash val="solid"/>
                      <a:round/>
                      <a:headEnd type="none" w="med" len="med"/>
                      <a:tailEnd type="none" w="med" len="med"/>
                    </a:lnR>
                    <a:lnT w="9525" cap="flat" cmpd="sng" algn="ctr">
                      <a:solidFill>
                        <a:srgbClr val="C9D3DE"/>
                      </a:solidFill>
                      <a:prstDash val="solid"/>
                      <a:round/>
                      <a:headEnd type="none" w="med" len="med"/>
                      <a:tailEnd type="none" w="med" len="med"/>
                    </a:lnT>
                    <a:lnB w="9525" cap="flat" cmpd="sng" algn="ctr">
                      <a:solidFill>
                        <a:srgbClr val="C9D3DE"/>
                      </a:solidFill>
                      <a:prstDash val="solid"/>
                      <a:round/>
                      <a:headEnd type="none" w="med" len="med"/>
                      <a:tailEnd type="none" w="med" len="med"/>
                    </a:lnB>
                  </a:tcPr>
                </a:tc>
                <a:tc>
                  <a:txBody>
                    <a:bodyPr/>
                    <a:lstStyle/>
                    <a:p>
                      <a:pPr indent="0" marL="0">
                        <a:buNone/>
                      </a:pPr>
                      <a:r>
                        <a:rPr lang="en-US" sz="1200" dirty="0">
                          <a:solidFill>
                            <a:srgbClr val="1B2635"/>
                          </a:solidFill>
                          <a:latin typeface="Calibri" pitchFamily="34" charset="0"/>
                          <a:ea typeface="Calibri" pitchFamily="34" charset="-122"/>
                          <a:cs typeface="Calibri" pitchFamily="34" charset="-120"/>
                        </a:rPr>
                        <a:t>Runbook markdown, inventory</a:t>
                      </a:r>
                      <a:endParaRPr lang="en-US" sz="1200" dirty="0">
                        <a:latin typeface="Calibri" charset="0"/>
                        <a:ea typeface="Calibri" charset="0"/>
                        <a:cs typeface="Calibri" charset="0"/>
                      </a:endParaRPr>
                    </a:p>
                  </a:txBody>
                  <a:tcPr marL="76200" marR="76200" marT="50800" marB="50800">
                    <a:lnL w="9525" cap="flat" cmpd="sng" algn="ctr">
                      <a:solidFill>
                        <a:srgbClr val="C9D3DE"/>
                      </a:solidFill>
                      <a:prstDash val="solid"/>
                      <a:round/>
                      <a:headEnd type="none" w="med" len="med"/>
                      <a:tailEnd type="none" w="med" len="med"/>
                    </a:lnL>
                    <a:lnR w="9525" cap="flat" cmpd="sng" algn="ctr">
                      <a:solidFill>
                        <a:srgbClr val="C9D3DE"/>
                      </a:solidFill>
                      <a:prstDash val="solid"/>
                      <a:round/>
                      <a:headEnd type="none" w="med" len="med"/>
                      <a:tailEnd type="none" w="med" len="med"/>
                    </a:lnR>
                    <a:lnT w="9525" cap="flat" cmpd="sng" algn="ctr">
                      <a:solidFill>
                        <a:srgbClr val="C9D3DE"/>
                      </a:solidFill>
                      <a:prstDash val="solid"/>
                      <a:round/>
                      <a:headEnd type="none" w="med" len="med"/>
                      <a:tailEnd type="none" w="med" len="med"/>
                    </a:lnT>
                    <a:lnB w="9525" cap="flat" cmpd="sng" algn="ctr">
                      <a:solidFill>
                        <a:srgbClr val="C9D3DE"/>
                      </a:solidFill>
                      <a:prstDash val="solid"/>
                      <a:round/>
                      <a:headEnd type="none" w="med" len="med"/>
                      <a:tailEnd type="none" w="med" len="med"/>
                    </a:lnB>
                  </a:tcPr>
                </a:tc>
                <a:tc>
                  <a:txBody>
                    <a:bodyPr/>
                    <a:lstStyle/>
                    <a:p>
                      <a:pPr indent="0" marL="0">
                        <a:buNone/>
                      </a:pPr>
                      <a:r>
                        <a:rPr lang="en-US" sz="1200" dirty="0">
                          <a:solidFill>
                            <a:srgbClr val="1B2635"/>
                          </a:solidFill>
                          <a:latin typeface="Calibri" pitchFamily="34" charset="0"/>
                          <a:ea typeface="Calibri" pitchFamily="34" charset="-122"/>
                          <a:cs typeface="Calibri" pitchFamily="34" charset="-120"/>
                        </a:rPr>
                        <a:t>Stale / valid per step, corrected runbook</a:t>
                      </a:r>
                      <a:endParaRPr lang="en-US" sz="1200" dirty="0">
                        <a:latin typeface="Calibri" charset="0"/>
                        <a:ea typeface="Calibri" charset="0"/>
                        <a:cs typeface="Calibri" charset="0"/>
                      </a:endParaRPr>
                    </a:p>
                  </a:txBody>
                  <a:tcPr marL="76200" marR="76200" marT="50800" marB="50800">
                    <a:lnL w="9525" cap="flat" cmpd="sng" algn="ctr">
                      <a:solidFill>
                        <a:srgbClr val="C9D3DE"/>
                      </a:solidFill>
                      <a:prstDash val="solid"/>
                      <a:round/>
                      <a:headEnd type="none" w="med" len="med"/>
                      <a:tailEnd type="none" w="med" len="med"/>
                    </a:lnL>
                    <a:lnR w="9525" cap="flat" cmpd="sng" algn="ctr">
                      <a:solidFill>
                        <a:srgbClr val="C9D3DE"/>
                      </a:solidFill>
                      <a:prstDash val="solid"/>
                      <a:round/>
                      <a:headEnd type="none" w="med" len="med"/>
                      <a:tailEnd type="none" w="med" len="med"/>
                    </a:lnR>
                    <a:lnT w="9525" cap="flat" cmpd="sng" algn="ctr">
                      <a:solidFill>
                        <a:srgbClr val="C9D3DE"/>
                      </a:solidFill>
                      <a:prstDash val="solid"/>
                      <a:round/>
                      <a:headEnd type="none" w="med" len="med"/>
                      <a:tailEnd type="none" w="med" len="med"/>
                    </a:lnT>
                    <a:lnB w="9525" cap="flat" cmpd="sng" algn="ctr">
                      <a:solidFill>
                        <a:srgbClr val="C9D3DE"/>
                      </a:solidFill>
                      <a:prstDash val="solid"/>
                      <a:round/>
                      <a:headEnd type="none" w="med" len="med"/>
                      <a:tailEnd type="none" w="med" len="med"/>
                    </a:lnB>
                  </a:tcPr>
                </a:tc>
                <a:tc>
                  <a:txBody>
                    <a:bodyPr/>
                    <a:lstStyle/>
                    <a:p>
                      <a:pPr indent="0" marL="0">
                        <a:buNone/>
                      </a:pPr>
                      <a:r>
                        <a:rPr lang="en-US" sz="1200" dirty="0">
                          <a:solidFill>
                            <a:srgbClr val="1B2635"/>
                          </a:solidFill>
                          <a:latin typeface="Calibri" pitchFamily="34" charset="0"/>
                          <a:ea typeface="Calibri" pitchFamily="34" charset="-122"/>
                          <a:cs typeface="Calibri" pitchFamily="34" charset="-120"/>
                        </a:rPr>
                        <a:t>Schema only (advisory)</a:t>
                      </a:r>
                      <a:endParaRPr lang="en-US" sz="1200" dirty="0">
                        <a:latin typeface="Calibri" charset="0"/>
                        <a:ea typeface="Calibri" charset="0"/>
                        <a:cs typeface="Calibri" charset="0"/>
                      </a:endParaRPr>
                    </a:p>
                  </a:txBody>
                  <a:tcPr marL="76200" marR="76200" marT="50800" marB="50800">
                    <a:lnL w="9525" cap="flat" cmpd="sng" algn="ctr">
                      <a:solidFill>
                        <a:srgbClr val="C9D3DE"/>
                      </a:solidFill>
                      <a:prstDash val="solid"/>
                      <a:round/>
                      <a:headEnd type="none" w="med" len="med"/>
                      <a:tailEnd type="none" w="med" len="med"/>
                    </a:lnL>
                    <a:lnR w="9525" cap="flat" cmpd="sng" algn="ctr">
                      <a:solidFill>
                        <a:srgbClr val="C9D3DE"/>
                      </a:solidFill>
                      <a:prstDash val="solid"/>
                      <a:round/>
                      <a:headEnd type="none" w="med" len="med"/>
                      <a:tailEnd type="none" w="med" len="med"/>
                    </a:lnR>
                    <a:lnT w="9525" cap="flat" cmpd="sng" algn="ctr">
                      <a:solidFill>
                        <a:srgbClr val="C9D3DE"/>
                      </a:solidFill>
                      <a:prstDash val="solid"/>
                      <a:round/>
                      <a:headEnd type="none" w="med" len="med"/>
                      <a:tailEnd type="none" w="med" len="med"/>
                    </a:lnT>
                    <a:lnB w="9525" cap="flat" cmpd="sng" algn="ctr">
                      <a:solidFill>
                        <a:srgbClr val="C9D3DE"/>
                      </a:solidFill>
                      <a:prstDash val="solid"/>
                      <a:round/>
                      <a:headEnd type="none" w="med" len="med"/>
                      <a:tailEnd type="none" w="med" len="med"/>
                    </a:lnB>
                  </a:tcPr>
                </a:tc>
              </a:tr>
              <a:tr h="457200">
                <a:tc>
                  <a:txBody>
                    <a:bodyPr/>
                    <a:lstStyle/>
                    <a:p>
                      <a:pPr indent="0" marL="0">
                        <a:buNone/>
                      </a:pPr>
                      <a:r>
                        <a:rPr lang="en-US" sz="1200" b="1" dirty="0">
                          <a:solidFill>
                            <a:srgbClr val="171721"/>
                          </a:solidFill>
                          <a:latin typeface="Calibri" pitchFamily="34" charset="0"/>
                          <a:ea typeface="Calibri" pitchFamily="34" charset="-122"/>
                          <a:cs typeface="Calibri" pitchFamily="34" charset="-120"/>
                        </a:rPr>
                        <a:t>Planner</a:t>
                      </a:r>
                      <a:endParaRPr lang="en-US" sz="1200" dirty="0">
                        <a:latin typeface="Calibri" charset="0"/>
                        <a:ea typeface="Calibri" charset="0"/>
                        <a:cs typeface="Calibri" charset="0"/>
                      </a:endParaRPr>
                    </a:p>
                  </a:txBody>
                  <a:tcPr marL="76200" marR="76200" marT="50800" marB="50800">
                    <a:lnL w="9525" cap="flat" cmpd="sng" algn="ctr">
                      <a:solidFill>
                        <a:srgbClr val="C9D3DE"/>
                      </a:solidFill>
                      <a:prstDash val="solid"/>
                      <a:round/>
                      <a:headEnd type="none" w="med" len="med"/>
                      <a:tailEnd type="none" w="med" len="med"/>
                    </a:lnL>
                    <a:lnR w="9525" cap="flat" cmpd="sng" algn="ctr">
                      <a:solidFill>
                        <a:srgbClr val="C9D3DE"/>
                      </a:solidFill>
                      <a:prstDash val="solid"/>
                      <a:round/>
                      <a:headEnd type="none" w="med" len="med"/>
                      <a:tailEnd type="none" w="med" len="med"/>
                    </a:lnR>
                    <a:lnT w="9525" cap="flat" cmpd="sng" algn="ctr">
                      <a:solidFill>
                        <a:srgbClr val="C9D3DE"/>
                      </a:solidFill>
                      <a:prstDash val="solid"/>
                      <a:round/>
                      <a:headEnd type="none" w="med" len="med"/>
                      <a:tailEnd type="none" w="med" len="med"/>
                    </a:lnT>
                    <a:lnB w="9525" cap="flat" cmpd="sng" algn="ctr">
                      <a:solidFill>
                        <a:srgbClr val="C9D3DE"/>
                      </a:solidFill>
                      <a:prstDash val="solid"/>
                      <a:round/>
                      <a:headEnd type="none" w="med" len="med"/>
                      <a:tailEnd type="none" w="med" len="med"/>
                    </a:lnB>
                  </a:tcPr>
                </a:tc>
                <a:tc>
                  <a:txBody>
                    <a:bodyPr/>
                    <a:lstStyle/>
                    <a:p>
                      <a:pPr indent="0" marL="0">
                        <a:buNone/>
                      </a:pPr>
                      <a:r>
                        <a:rPr lang="en-US" sz="1200" dirty="0">
                          <a:solidFill>
                            <a:srgbClr val="1B2635"/>
                          </a:solidFill>
                          <a:latin typeface="Consolas" pitchFamily="34" charset="0"/>
                          <a:ea typeface="Consolas" pitchFamily="34" charset="-122"/>
                          <a:cs typeface="Consolas" pitchFamily="34" charset="-120"/>
                        </a:rPr>
                        <a:t>gpt-5-mini</a:t>
                      </a:r>
                      <a:endParaRPr lang="en-US" sz="1200" dirty="0">
                        <a:latin typeface="Consolas" charset="0"/>
                        <a:ea typeface="Consolas" charset="0"/>
                        <a:cs typeface="Consolas" charset="0"/>
                      </a:endParaRPr>
                    </a:p>
                  </a:txBody>
                  <a:tcPr marL="76200" marR="76200" marT="50800" marB="50800">
                    <a:lnL w="9525" cap="flat" cmpd="sng" algn="ctr">
                      <a:solidFill>
                        <a:srgbClr val="C9D3DE"/>
                      </a:solidFill>
                      <a:prstDash val="solid"/>
                      <a:round/>
                      <a:headEnd type="none" w="med" len="med"/>
                      <a:tailEnd type="none" w="med" len="med"/>
                    </a:lnL>
                    <a:lnR w="9525" cap="flat" cmpd="sng" algn="ctr">
                      <a:solidFill>
                        <a:srgbClr val="C9D3DE"/>
                      </a:solidFill>
                      <a:prstDash val="solid"/>
                      <a:round/>
                      <a:headEnd type="none" w="med" len="med"/>
                      <a:tailEnd type="none" w="med" len="med"/>
                    </a:lnR>
                    <a:lnT w="9525" cap="flat" cmpd="sng" algn="ctr">
                      <a:solidFill>
                        <a:srgbClr val="C9D3DE"/>
                      </a:solidFill>
                      <a:prstDash val="solid"/>
                      <a:round/>
                      <a:headEnd type="none" w="med" len="med"/>
                      <a:tailEnd type="none" w="med" len="med"/>
                    </a:lnT>
                    <a:lnB w="9525" cap="flat" cmpd="sng" algn="ctr">
                      <a:solidFill>
                        <a:srgbClr val="C9D3DE"/>
                      </a:solidFill>
                      <a:prstDash val="solid"/>
                      <a:round/>
                      <a:headEnd type="none" w="med" len="med"/>
                      <a:tailEnd type="none" w="med" len="med"/>
                    </a:lnB>
                  </a:tcPr>
                </a:tc>
                <a:tc>
                  <a:txBody>
                    <a:bodyPr/>
                    <a:lstStyle/>
                    <a:p>
                      <a:pPr indent="0" marL="0">
                        <a:buNone/>
                      </a:pPr>
                      <a:r>
                        <a:rPr lang="en-US" sz="1200" dirty="0">
                          <a:solidFill>
                            <a:srgbClr val="1B2635"/>
                          </a:solidFill>
                          <a:latin typeface="Calibri" pitchFamily="34" charset="0"/>
                          <a:ea typeface="Calibri" pitchFamily="34" charset="-122"/>
                          <a:cs typeface="Calibri" pitchFamily="34" charset="-120"/>
                        </a:rPr>
                        <a:t>Strategy, risks, allowlist, safe sequence</a:t>
                      </a:r>
                      <a:endParaRPr lang="en-US" sz="1200" dirty="0">
                        <a:latin typeface="Calibri" charset="0"/>
                        <a:ea typeface="Calibri" charset="0"/>
                        <a:cs typeface="Calibri" charset="0"/>
                      </a:endParaRPr>
                    </a:p>
                  </a:txBody>
                  <a:tcPr marL="76200" marR="76200" marT="50800" marB="50800">
                    <a:lnL w="9525" cap="flat" cmpd="sng" algn="ctr">
                      <a:solidFill>
                        <a:srgbClr val="C9D3DE"/>
                      </a:solidFill>
                      <a:prstDash val="solid"/>
                      <a:round/>
                      <a:headEnd type="none" w="med" len="med"/>
                      <a:tailEnd type="none" w="med" len="med"/>
                    </a:lnL>
                    <a:lnR w="9525" cap="flat" cmpd="sng" algn="ctr">
                      <a:solidFill>
                        <a:srgbClr val="C9D3DE"/>
                      </a:solidFill>
                      <a:prstDash val="solid"/>
                      <a:round/>
                      <a:headEnd type="none" w="med" len="med"/>
                      <a:tailEnd type="none" w="med" len="med"/>
                    </a:lnR>
                    <a:lnT w="9525" cap="flat" cmpd="sng" algn="ctr">
                      <a:solidFill>
                        <a:srgbClr val="C9D3DE"/>
                      </a:solidFill>
                      <a:prstDash val="solid"/>
                      <a:round/>
                      <a:headEnd type="none" w="med" len="med"/>
                      <a:tailEnd type="none" w="med" len="med"/>
                    </a:lnT>
                    <a:lnB w="9525" cap="flat" cmpd="sng" algn="ctr">
                      <a:solidFill>
                        <a:srgbClr val="C9D3DE"/>
                      </a:solidFill>
                      <a:prstDash val="solid"/>
                      <a:round/>
                      <a:headEnd type="none" w="med" len="med"/>
                      <a:tailEnd type="none" w="med" len="med"/>
                    </a:lnB>
                  </a:tcPr>
                </a:tc>
                <a:tc>
                  <a:txBody>
                    <a:bodyPr/>
                    <a:lstStyle/>
                    <a:p>
                      <a:pPr indent="0" marL="0">
                        <a:buNone/>
                      </a:pPr>
                      <a:r>
                        <a:rPr lang="en-US" sz="1200" dirty="0">
                          <a:solidFill>
                            <a:srgbClr val="1B2635"/>
                          </a:solidFill>
                          <a:latin typeface="Calibri" pitchFamily="34" charset="0"/>
                          <a:ea typeface="Calibri" pitchFamily="34" charset="-122"/>
                          <a:cs typeface="Calibri" pitchFamily="34" charset="-120"/>
                        </a:rPr>
                        <a:t>21-step drill plan</a:t>
                      </a:r>
                      <a:endParaRPr lang="en-US" sz="1200" dirty="0">
                        <a:latin typeface="Calibri" charset="0"/>
                        <a:ea typeface="Calibri" charset="0"/>
                        <a:cs typeface="Calibri" charset="0"/>
                      </a:endParaRPr>
                    </a:p>
                  </a:txBody>
                  <a:tcPr marL="76200" marR="76200" marT="50800" marB="50800">
                    <a:lnL w="9525" cap="flat" cmpd="sng" algn="ctr">
                      <a:solidFill>
                        <a:srgbClr val="C9D3DE"/>
                      </a:solidFill>
                      <a:prstDash val="solid"/>
                      <a:round/>
                      <a:headEnd type="none" w="med" len="med"/>
                      <a:tailEnd type="none" w="med" len="med"/>
                    </a:lnL>
                    <a:lnR w="9525" cap="flat" cmpd="sng" algn="ctr">
                      <a:solidFill>
                        <a:srgbClr val="C9D3DE"/>
                      </a:solidFill>
                      <a:prstDash val="solid"/>
                      <a:round/>
                      <a:headEnd type="none" w="med" len="med"/>
                      <a:tailEnd type="none" w="med" len="med"/>
                    </a:lnR>
                    <a:lnT w="9525" cap="flat" cmpd="sng" algn="ctr">
                      <a:solidFill>
                        <a:srgbClr val="C9D3DE"/>
                      </a:solidFill>
                      <a:prstDash val="solid"/>
                      <a:round/>
                      <a:headEnd type="none" w="med" len="med"/>
                      <a:tailEnd type="none" w="med" len="med"/>
                    </a:lnT>
                    <a:lnB w="9525" cap="flat" cmpd="sng" algn="ctr">
                      <a:solidFill>
                        <a:srgbClr val="C9D3DE"/>
                      </a:solidFill>
                      <a:prstDash val="solid"/>
                      <a:round/>
                      <a:headEnd type="none" w="med" len="med"/>
                      <a:tailEnd type="none" w="med" len="med"/>
                    </a:lnB>
                  </a:tcPr>
                </a:tc>
                <a:tc>
                  <a:txBody>
                    <a:bodyPr/>
                    <a:lstStyle/>
                    <a:p>
                      <a:pPr indent="0" marL="0">
                        <a:buNone/>
                      </a:pPr>
                      <a:r>
                        <a:rPr lang="en-US" sz="1200" dirty="0">
                          <a:solidFill>
                            <a:srgbClr val="1B2635"/>
                          </a:solidFill>
                          <a:latin typeface="Calibri" pitchFamily="34" charset="0"/>
                          <a:ea typeface="Calibri" pitchFamily="34" charset="-122"/>
                          <a:cs typeface="Calibri" pitchFamily="34" charset="-120"/>
                        </a:rPr>
                        <a:t>Allowlisted actions, mandatory sequence, approvals</a:t>
                      </a:r>
                      <a:endParaRPr lang="en-US" sz="1200" dirty="0">
                        <a:latin typeface="Calibri" charset="0"/>
                        <a:ea typeface="Calibri" charset="0"/>
                        <a:cs typeface="Calibri" charset="0"/>
                      </a:endParaRPr>
                    </a:p>
                  </a:txBody>
                  <a:tcPr marL="76200" marR="76200" marT="50800" marB="50800">
                    <a:lnL w="9525" cap="flat" cmpd="sng" algn="ctr">
                      <a:solidFill>
                        <a:srgbClr val="C9D3DE"/>
                      </a:solidFill>
                      <a:prstDash val="solid"/>
                      <a:round/>
                      <a:headEnd type="none" w="med" len="med"/>
                      <a:tailEnd type="none" w="med" len="med"/>
                    </a:lnL>
                    <a:lnR w="9525" cap="flat" cmpd="sng" algn="ctr">
                      <a:solidFill>
                        <a:srgbClr val="C9D3DE"/>
                      </a:solidFill>
                      <a:prstDash val="solid"/>
                      <a:round/>
                      <a:headEnd type="none" w="med" len="med"/>
                      <a:tailEnd type="none" w="med" len="med"/>
                    </a:lnR>
                    <a:lnT w="9525" cap="flat" cmpd="sng" algn="ctr">
                      <a:solidFill>
                        <a:srgbClr val="C9D3DE"/>
                      </a:solidFill>
                      <a:prstDash val="solid"/>
                      <a:round/>
                      <a:headEnd type="none" w="med" len="med"/>
                      <a:tailEnd type="none" w="med" len="med"/>
                    </a:lnT>
                    <a:lnB w="9525" cap="flat" cmpd="sng" algn="ctr">
                      <a:solidFill>
                        <a:srgbClr val="C9D3DE"/>
                      </a:solidFill>
                      <a:prstDash val="solid"/>
                      <a:round/>
                      <a:headEnd type="none" w="med" len="med"/>
                      <a:tailEnd type="none" w="med" len="med"/>
                    </a:lnB>
                  </a:tcPr>
                </a:tc>
              </a:tr>
              <a:tr h="457200">
                <a:tc>
                  <a:txBody>
                    <a:bodyPr/>
                    <a:lstStyle/>
                    <a:p>
                      <a:pPr indent="0" marL="0">
                        <a:buNone/>
                      </a:pPr>
                      <a:r>
                        <a:rPr lang="en-US" sz="1200" b="1" dirty="0">
                          <a:solidFill>
                            <a:srgbClr val="171721"/>
                          </a:solidFill>
                          <a:latin typeface="Calibri" pitchFamily="34" charset="0"/>
                          <a:ea typeface="Calibri" pitchFamily="34" charset="-122"/>
                          <a:cs typeface="Calibri" pitchFamily="34" charset="-120"/>
                        </a:rPr>
                        <a:t>Validator</a:t>
                      </a:r>
                      <a:endParaRPr lang="en-US" sz="1200" dirty="0">
                        <a:latin typeface="Calibri" charset="0"/>
                        <a:ea typeface="Calibri" charset="0"/>
                        <a:cs typeface="Calibri" charset="0"/>
                      </a:endParaRPr>
                    </a:p>
                  </a:txBody>
                  <a:tcPr marL="76200" marR="76200" marT="50800" marB="50800">
                    <a:lnL w="9525" cap="flat" cmpd="sng" algn="ctr">
                      <a:solidFill>
                        <a:srgbClr val="C9D3DE"/>
                      </a:solidFill>
                      <a:prstDash val="solid"/>
                      <a:round/>
                      <a:headEnd type="none" w="med" len="med"/>
                      <a:tailEnd type="none" w="med" len="med"/>
                    </a:lnL>
                    <a:lnR w="9525" cap="flat" cmpd="sng" algn="ctr">
                      <a:solidFill>
                        <a:srgbClr val="C9D3DE"/>
                      </a:solidFill>
                      <a:prstDash val="solid"/>
                      <a:round/>
                      <a:headEnd type="none" w="med" len="med"/>
                      <a:tailEnd type="none" w="med" len="med"/>
                    </a:lnR>
                    <a:lnT w="9525" cap="flat" cmpd="sng" algn="ctr">
                      <a:solidFill>
                        <a:srgbClr val="C9D3DE"/>
                      </a:solidFill>
                      <a:prstDash val="solid"/>
                      <a:round/>
                      <a:headEnd type="none" w="med" len="med"/>
                      <a:tailEnd type="none" w="med" len="med"/>
                    </a:lnT>
                    <a:lnB w="9525" cap="flat" cmpd="sng" algn="ctr">
                      <a:solidFill>
                        <a:srgbClr val="C9D3DE"/>
                      </a:solidFill>
                      <a:prstDash val="solid"/>
                      <a:round/>
                      <a:headEnd type="none" w="med" len="med"/>
                      <a:tailEnd type="none" w="med" len="med"/>
                    </a:lnB>
                  </a:tcPr>
                </a:tc>
                <a:tc>
                  <a:txBody>
                    <a:bodyPr/>
                    <a:lstStyle/>
                    <a:p>
                      <a:pPr indent="0" marL="0">
                        <a:buNone/>
                      </a:pPr>
                      <a:r>
                        <a:rPr lang="en-US" sz="1200" dirty="0">
                          <a:solidFill>
                            <a:srgbClr val="1B2635"/>
                          </a:solidFill>
                          <a:latin typeface="Consolas" pitchFamily="34" charset="0"/>
                          <a:ea typeface="Consolas" pitchFamily="34" charset="-122"/>
                          <a:cs typeface="Consolas" pitchFamily="34" charset="-120"/>
                        </a:rPr>
                        <a:t>gpt-5-mini</a:t>
                      </a:r>
                      <a:endParaRPr lang="en-US" sz="1200" dirty="0">
                        <a:latin typeface="Consolas" charset="0"/>
                        <a:ea typeface="Consolas" charset="0"/>
                        <a:cs typeface="Consolas" charset="0"/>
                      </a:endParaRPr>
                    </a:p>
                  </a:txBody>
                  <a:tcPr marL="76200" marR="76200" marT="50800" marB="50800">
                    <a:lnL w="9525" cap="flat" cmpd="sng" algn="ctr">
                      <a:solidFill>
                        <a:srgbClr val="C9D3DE"/>
                      </a:solidFill>
                      <a:prstDash val="solid"/>
                      <a:round/>
                      <a:headEnd type="none" w="med" len="med"/>
                      <a:tailEnd type="none" w="med" len="med"/>
                    </a:lnL>
                    <a:lnR w="9525" cap="flat" cmpd="sng" algn="ctr">
                      <a:solidFill>
                        <a:srgbClr val="C9D3DE"/>
                      </a:solidFill>
                      <a:prstDash val="solid"/>
                      <a:round/>
                      <a:headEnd type="none" w="med" len="med"/>
                      <a:tailEnd type="none" w="med" len="med"/>
                    </a:lnR>
                    <a:lnT w="9525" cap="flat" cmpd="sng" algn="ctr">
                      <a:solidFill>
                        <a:srgbClr val="C9D3DE"/>
                      </a:solidFill>
                      <a:prstDash val="solid"/>
                      <a:round/>
                      <a:headEnd type="none" w="med" len="med"/>
                      <a:tailEnd type="none" w="med" len="med"/>
                    </a:lnT>
                    <a:lnB w="9525" cap="flat" cmpd="sng" algn="ctr">
                      <a:solidFill>
                        <a:srgbClr val="C9D3DE"/>
                      </a:solidFill>
                      <a:prstDash val="solid"/>
                      <a:round/>
                      <a:headEnd type="none" w="med" len="med"/>
                      <a:tailEnd type="none" w="med" len="med"/>
                    </a:lnB>
                  </a:tcPr>
                </a:tc>
                <a:tc>
                  <a:txBody>
                    <a:bodyPr/>
                    <a:lstStyle/>
                    <a:p>
                      <a:pPr indent="0" marL="0">
                        <a:buNone/>
                      </a:pPr>
                      <a:r>
                        <a:rPr lang="en-US" sz="1200" dirty="0">
                          <a:solidFill>
                            <a:srgbClr val="1B2635"/>
                          </a:solidFill>
                          <a:latin typeface="Calibri" pitchFamily="34" charset="0"/>
                          <a:ea typeface="Calibri" pitchFamily="34" charset="-122"/>
                          <a:cs typeface="Calibri" pitchFamily="34" charset="-120"/>
                        </a:rPr>
                        <a:t>Failed step, error, events, live probes</a:t>
                      </a:r>
                      <a:endParaRPr lang="en-US" sz="1200" dirty="0">
                        <a:latin typeface="Calibri" charset="0"/>
                        <a:ea typeface="Calibri" charset="0"/>
                        <a:cs typeface="Calibri" charset="0"/>
                      </a:endParaRPr>
                    </a:p>
                  </a:txBody>
                  <a:tcPr marL="76200" marR="76200" marT="50800" marB="50800">
                    <a:lnL w="9525" cap="flat" cmpd="sng" algn="ctr">
                      <a:solidFill>
                        <a:srgbClr val="C9D3DE"/>
                      </a:solidFill>
                      <a:prstDash val="solid"/>
                      <a:round/>
                      <a:headEnd type="none" w="med" len="med"/>
                      <a:tailEnd type="none" w="med" len="med"/>
                    </a:lnL>
                    <a:lnR w="9525" cap="flat" cmpd="sng" algn="ctr">
                      <a:solidFill>
                        <a:srgbClr val="C9D3DE"/>
                      </a:solidFill>
                      <a:prstDash val="solid"/>
                      <a:round/>
                      <a:headEnd type="none" w="med" len="med"/>
                      <a:tailEnd type="none" w="med" len="med"/>
                    </a:lnR>
                    <a:lnT w="9525" cap="flat" cmpd="sng" algn="ctr">
                      <a:solidFill>
                        <a:srgbClr val="C9D3DE"/>
                      </a:solidFill>
                      <a:prstDash val="solid"/>
                      <a:round/>
                      <a:headEnd type="none" w="med" len="med"/>
                      <a:tailEnd type="none" w="med" len="med"/>
                    </a:lnT>
                    <a:lnB w="9525" cap="flat" cmpd="sng" algn="ctr">
                      <a:solidFill>
                        <a:srgbClr val="C9D3DE"/>
                      </a:solidFill>
                      <a:prstDash val="solid"/>
                      <a:round/>
                      <a:headEnd type="none" w="med" len="med"/>
                      <a:tailEnd type="none" w="med" len="med"/>
                    </a:lnB>
                  </a:tcPr>
                </a:tc>
                <a:tc>
                  <a:txBody>
                    <a:bodyPr/>
                    <a:lstStyle/>
                    <a:p>
                      <a:pPr indent="0" marL="0">
                        <a:buNone/>
                      </a:pPr>
                      <a:r>
                        <a:rPr lang="en-US" sz="1200" dirty="0">
                          <a:solidFill>
                            <a:srgbClr val="1B2635"/>
                          </a:solidFill>
                          <a:latin typeface="Calibri" pitchFamily="34" charset="0"/>
                          <a:ea typeface="Calibri" pitchFamily="34" charset="-122"/>
                          <a:cs typeface="Calibri" pitchFamily="34" charset="-120"/>
                        </a:rPr>
                        <a:t>Cause, evidence, fix</a:t>
                      </a:r>
                      <a:endParaRPr lang="en-US" sz="1200" dirty="0">
                        <a:latin typeface="Calibri" charset="0"/>
                        <a:ea typeface="Calibri" charset="0"/>
                        <a:cs typeface="Calibri" charset="0"/>
                      </a:endParaRPr>
                    </a:p>
                  </a:txBody>
                  <a:tcPr marL="76200" marR="76200" marT="50800" marB="50800">
                    <a:lnL w="9525" cap="flat" cmpd="sng" algn="ctr">
                      <a:solidFill>
                        <a:srgbClr val="C9D3DE"/>
                      </a:solidFill>
                      <a:prstDash val="solid"/>
                      <a:round/>
                      <a:headEnd type="none" w="med" len="med"/>
                      <a:tailEnd type="none" w="med" len="med"/>
                    </a:lnL>
                    <a:lnR w="9525" cap="flat" cmpd="sng" algn="ctr">
                      <a:solidFill>
                        <a:srgbClr val="C9D3DE"/>
                      </a:solidFill>
                      <a:prstDash val="solid"/>
                      <a:round/>
                      <a:headEnd type="none" w="med" len="med"/>
                      <a:tailEnd type="none" w="med" len="med"/>
                    </a:lnR>
                    <a:lnT w="9525" cap="flat" cmpd="sng" algn="ctr">
                      <a:solidFill>
                        <a:srgbClr val="C9D3DE"/>
                      </a:solidFill>
                      <a:prstDash val="solid"/>
                      <a:round/>
                      <a:headEnd type="none" w="med" len="med"/>
                      <a:tailEnd type="none" w="med" len="med"/>
                    </a:lnT>
                    <a:lnB w="9525" cap="flat" cmpd="sng" algn="ctr">
                      <a:solidFill>
                        <a:srgbClr val="C9D3DE"/>
                      </a:solidFill>
                      <a:prstDash val="solid"/>
                      <a:round/>
                      <a:headEnd type="none" w="med" len="med"/>
                      <a:tailEnd type="none" w="med" len="med"/>
                    </a:lnB>
                  </a:tcPr>
                </a:tc>
                <a:tc>
                  <a:txBody>
                    <a:bodyPr/>
                    <a:lstStyle/>
                    <a:p>
                      <a:pPr indent="0" marL="0">
                        <a:buNone/>
                      </a:pPr>
                      <a:r>
                        <a:rPr lang="en-US" sz="1200" dirty="0">
                          <a:solidFill>
                            <a:srgbClr val="1B2635"/>
                          </a:solidFill>
                          <a:latin typeface="Calibri" pitchFamily="34" charset="0"/>
                          <a:ea typeface="Calibri" pitchFamily="34" charset="-122"/>
                          <a:cs typeface="Calibri" pitchFamily="34" charset="-120"/>
                        </a:rPr>
                        <a:t>Fix allowlisted; never Region A mid-outage; human approves</a:t>
                      </a:r>
                      <a:endParaRPr lang="en-US" sz="1200" dirty="0">
                        <a:latin typeface="Calibri" charset="0"/>
                        <a:ea typeface="Calibri" charset="0"/>
                        <a:cs typeface="Calibri" charset="0"/>
                      </a:endParaRPr>
                    </a:p>
                  </a:txBody>
                  <a:tcPr marL="76200" marR="76200" marT="50800" marB="50800">
                    <a:lnL w="9525" cap="flat" cmpd="sng" algn="ctr">
                      <a:solidFill>
                        <a:srgbClr val="C9D3DE"/>
                      </a:solidFill>
                      <a:prstDash val="solid"/>
                      <a:round/>
                      <a:headEnd type="none" w="med" len="med"/>
                      <a:tailEnd type="none" w="med" len="med"/>
                    </a:lnL>
                    <a:lnR w="9525" cap="flat" cmpd="sng" algn="ctr">
                      <a:solidFill>
                        <a:srgbClr val="C9D3DE"/>
                      </a:solidFill>
                      <a:prstDash val="solid"/>
                      <a:round/>
                      <a:headEnd type="none" w="med" len="med"/>
                      <a:tailEnd type="none" w="med" len="med"/>
                    </a:lnR>
                    <a:lnT w="9525" cap="flat" cmpd="sng" algn="ctr">
                      <a:solidFill>
                        <a:srgbClr val="C9D3DE"/>
                      </a:solidFill>
                      <a:prstDash val="solid"/>
                      <a:round/>
                      <a:headEnd type="none" w="med" len="med"/>
                      <a:tailEnd type="none" w="med" len="med"/>
                    </a:lnT>
                    <a:lnB w="9525" cap="flat" cmpd="sng" algn="ctr">
                      <a:solidFill>
                        <a:srgbClr val="C9D3DE"/>
                      </a:solidFill>
                      <a:prstDash val="solid"/>
                      <a:round/>
                      <a:headEnd type="none" w="med" len="med"/>
                      <a:tailEnd type="none" w="med" len="med"/>
                    </a:lnB>
                  </a:tcPr>
                </a:tc>
              </a:tr>
              <a:tr h="457200">
                <a:tc>
                  <a:txBody>
                    <a:bodyPr/>
                    <a:lstStyle/>
                    <a:p>
                      <a:pPr indent="0" marL="0">
                        <a:buNone/>
                      </a:pPr>
                      <a:r>
                        <a:rPr lang="en-US" sz="1200" b="1" dirty="0">
                          <a:solidFill>
                            <a:srgbClr val="171721"/>
                          </a:solidFill>
                          <a:latin typeface="Calibri" pitchFamily="34" charset="0"/>
                          <a:ea typeface="Calibri" pitchFamily="34" charset="-122"/>
                          <a:cs typeface="Calibri" pitchFamily="34" charset="-120"/>
                        </a:rPr>
                        <a:t>Reporter</a:t>
                      </a:r>
                      <a:endParaRPr lang="en-US" sz="1200" dirty="0">
                        <a:latin typeface="Calibri" charset="0"/>
                        <a:ea typeface="Calibri" charset="0"/>
                        <a:cs typeface="Calibri" charset="0"/>
                      </a:endParaRPr>
                    </a:p>
                  </a:txBody>
                  <a:tcPr marL="76200" marR="76200" marT="50800" marB="50800">
                    <a:lnL w="9525" cap="flat" cmpd="sng" algn="ctr">
                      <a:solidFill>
                        <a:srgbClr val="C9D3DE"/>
                      </a:solidFill>
                      <a:prstDash val="solid"/>
                      <a:round/>
                      <a:headEnd type="none" w="med" len="med"/>
                      <a:tailEnd type="none" w="med" len="med"/>
                    </a:lnL>
                    <a:lnR w="9525" cap="flat" cmpd="sng" algn="ctr">
                      <a:solidFill>
                        <a:srgbClr val="C9D3DE"/>
                      </a:solidFill>
                      <a:prstDash val="solid"/>
                      <a:round/>
                      <a:headEnd type="none" w="med" len="med"/>
                      <a:tailEnd type="none" w="med" len="med"/>
                    </a:lnR>
                    <a:lnT w="9525" cap="flat" cmpd="sng" algn="ctr">
                      <a:solidFill>
                        <a:srgbClr val="C9D3DE"/>
                      </a:solidFill>
                      <a:prstDash val="solid"/>
                      <a:round/>
                      <a:headEnd type="none" w="med" len="med"/>
                      <a:tailEnd type="none" w="med" len="med"/>
                    </a:lnT>
                    <a:lnB w="9525" cap="flat" cmpd="sng" algn="ctr">
                      <a:solidFill>
                        <a:srgbClr val="C9D3DE"/>
                      </a:solidFill>
                      <a:prstDash val="solid"/>
                      <a:round/>
                      <a:headEnd type="none" w="med" len="med"/>
                      <a:tailEnd type="none" w="med" len="med"/>
                    </a:lnB>
                  </a:tcPr>
                </a:tc>
                <a:tc>
                  <a:txBody>
                    <a:bodyPr/>
                    <a:lstStyle/>
                    <a:p>
                      <a:pPr indent="0" marL="0">
                        <a:buNone/>
                      </a:pPr>
                      <a:r>
                        <a:rPr lang="en-US" sz="1200" dirty="0">
                          <a:solidFill>
                            <a:srgbClr val="1B2635"/>
                          </a:solidFill>
                          <a:latin typeface="Consolas" pitchFamily="34" charset="0"/>
                          <a:ea typeface="Consolas" pitchFamily="34" charset="-122"/>
                          <a:cs typeface="Consolas" pitchFamily="34" charset="-120"/>
                        </a:rPr>
                        <a:t>gpt-4.1-mini</a:t>
                      </a:r>
                      <a:endParaRPr lang="en-US" sz="1200" dirty="0">
                        <a:latin typeface="Consolas" charset="0"/>
                        <a:ea typeface="Consolas" charset="0"/>
                        <a:cs typeface="Consolas" charset="0"/>
                      </a:endParaRPr>
                    </a:p>
                  </a:txBody>
                  <a:tcPr marL="76200" marR="76200" marT="50800" marB="50800">
                    <a:lnL w="9525" cap="flat" cmpd="sng" algn="ctr">
                      <a:solidFill>
                        <a:srgbClr val="C9D3DE"/>
                      </a:solidFill>
                      <a:prstDash val="solid"/>
                      <a:round/>
                      <a:headEnd type="none" w="med" len="med"/>
                      <a:tailEnd type="none" w="med" len="med"/>
                    </a:lnL>
                    <a:lnR w="9525" cap="flat" cmpd="sng" algn="ctr">
                      <a:solidFill>
                        <a:srgbClr val="C9D3DE"/>
                      </a:solidFill>
                      <a:prstDash val="solid"/>
                      <a:round/>
                      <a:headEnd type="none" w="med" len="med"/>
                      <a:tailEnd type="none" w="med" len="med"/>
                    </a:lnR>
                    <a:lnT w="9525" cap="flat" cmpd="sng" algn="ctr">
                      <a:solidFill>
                        <a:srgbClr val="C9D3DE"/>
                      </a:solidFill>
                      <a:prstDash val="solid"/>
                      <a:round/>
                      <a:headEnd type="none" w="med" len="med"/>
                      <a:tailEnd type="none" w="med" len="med"/>
                    </a:lnT>
                    <a:lnB w="9525" cap="flat" cmpd="sng" algn="ctr">
                      <a:solidFill>
                        <a:srgbClr val="C9D3DE"/>
                      </a:solidFill>
                      <a:prstDash val="solid"/>
                      <a:round/>
                      <a:headEnd type="none" w="med" len="med"/>
                      <a:tailEnd type="none" w="med" len="med"/>
                    </a:lnB>
                  </a:tcPr>
                </a:tc>
                <a:tc>
                  <a:txBody>
                    <a:bodyPr/>
                    <a:lstStyle/>
                    <a:p>
                      <a:pPr indent="0" marL="0">
                        <a:buNone/>
                      </a:pPr>
                      <a:r>
                        <a:rPr lang="en-US" sz="1200" dirty="0">
                          <a:solidFill>
                            <a:srgbClr val="1B2635"/>
                          </a:solidFill>
                          <a:latin typeface="Calibri" pitchFamily="34" charset="0"/>
                          <a:ea typeface="Calibri" pitchFamily="34" charset="-122"/>
                          <a:cs typeface="Calibri" pitchFamily="34" charset="-120"/>
                        </a:rPr>
                        <a:t>Measured RTO/RPO, timeline, findings</a:t>
                      </a:r>
                      <a:endParaRPr lang="en-US" sz="1200" dirty="0">
                        <a:latin typeface="Calibri" charset="0"/>
                        <a:ea typeface="Calibri" charset="0"/>
                        <a:cs typeface="Calibri" charset="0"/>
                      </a:endParaRPr>
                    </a:p>
                  </a:txBody>
                  <a:tcPr marL="76200" marR="76200" marT="50800" marB="50800">
                    <a:lnL w="9525" cap="flat" cmpd="sng" algn="ctr">
                      <a:solidFill>
                        <a:srgbClr val="C9D3DE"/>
                      </a:solidFill>
                      <a:prstDash val="solid"/>
                      <a:round/>
                      <a:headEnd type="none" w="med" len="med"/>
                      <a:tailEnd type="none" w="med" len="med"/>
                    </a:lnL>
                    <a:lnR w="9525" cap="flat" cmpd="sng" algn="ctr">
                      <a:solidFill>
                        <a:srgbClr val="C9D3DE"/>
                      </a:solidFill>
                      <a:prstDash val="solid"/>
                      <a:round/>
                      <a:headEnd type="none" w="med" len="med"/>
                      <a:tailEnd type="none" w="med" len="med"/>
                    </a:lnR>
                    <a:lnT w="9525" cap="flat" cmpd="sng" algn="ctr">
                      <a:solidFill>
                        <a:srgbClr val="C9D3DE"/>
                      </a:solidFill>
                      <a:prstDash val="solid"/>
                      <a:round/>
                      <a:headEnd type="none" w="med" len="med"/>
                      <a:tailEnd type="none" w="med" len="med"/>
                    </a:lnT>
                    <a:lnB w="9525" cap="flat" cmpd="sng" algn="ctr">
                      <a:solidFill>
                        <a:srgbClr val="C9D3DE"/>
                      </a:solidFill>
                      <a:prstDash val="solid"/>
                      <a:round/>
                      <a:headEnd type="none" w="med" len="med"/>
                      <a:tailEnd type="none" w="med" len="med"/>
                    </a:lnB>
                  </a:tcPr>
                </a:tc>
                <a:tc>
                  <a:txBody>
                    <a:bodyPr/>
                    <a:lstStyle/>
                    <a:p>
                      <a:pPr indent="0" marL="0">
                        <a:buNone/>
                      </a:pPr>
                      <a:r>
                        <a:rPr lang="en-US" sz="1200" dirty="0">
                          <a:solidFill>
                            <a:srgbClr val="1B2635"/>
                          </a:solidFill>
                          <a:latin typeface="Calibri" pitchFamily="34" charset="0"/>
                          <a:ea typeface="Calibri" pitchFamily="34" charset="-122"/>
                          <a:cs typeface="Calibri" pitchFamily="34" charset="-120"/>
                        </a:rPr>
                        <a:t>Summary, remediation items</a:t>
                      </a:r>
                      <a:endParaRPr lang="en-US" sz="1200" dirty="0">
                        <a:latin typeface="Calibri" charset="0"/>
                        <a:ea typeface="Calibri" charset="0"/>
                        <a:cs typeface="Calibri" charset="0"/>
                      </a:endParaRPr>
                    </a:p>
                  </a:txBody>
                  <a:tcPr marL="76200" marR="76200" marT="50800" marB="50800">
                    <a:lnL w="9525" cap="flat" cmpd="sng" algn="ctr">
                      <a:solidFill>
                        <a:srgbClr val="C9D3DE"/>
                      </a:solidFill>
                      <a:prstDash val="solid"/>
                      <a:round/>
                      <a:headEnd type="none" w="med" len="med"/>
                      <a:tailEnd type="none" w="med" len="med"/>
                    </a:lnL>
                    <a:lnR w="9525" cap="flat" cmpd="sng" algn="ctr">
                      <a:solidFill>
                        <a:srgbClr val="C9D3DE"/>
                      </a:solidFill>
                      <a:prstDash val="solid"/>
                      <a:round/>
                      <a:headEnd type="none" w="med" len="med"/>
                      <a:tailEnd type="none" w="med" len="med"/>
                    </a:lnR>
                    <a:lnT w="9525" cap="flat" cmpd="sng" algn="ctr">
                      <a:solidFill>
                        <a:srgbClr val="C9D3DE"/>
                      </a:solidFill>
                      <a:prstDash val="solid"/>
                      <a:round/>
                      <a:headEnd type="none" w="med" len="med"/>
                      <a:tailEnd type="none" w="med" len="med"/>
                    </a:lnT>
                    <a:lnB w="9525" cap="flat" cmpd="sng" algn="ctr">
                      <a:solidFill>
                        <a:srgbClr val="C9D3DE"/>
                      </a:solidFill>
                      <a:prstDash val="solid"/>
                      <a:round/>
                      <a:headEnd type="none" w="med" len="med"/>
                      <a:tailEnd type="none" w="med" len="med"/>
                    </a:lnB>
                  </a:tcPr>
                </a:tc>
                <a:tc>
                  <a:txBody>
                    <a:bodyPr/>
                    <a:lstStyle/>
                    <a:p>
                      <a:pPr indent="0" marL="0">
                        <a:buNone/>
                      </a:pPr>
                      <a:r>
                        <a:rPr lang="en-US" sz="1200" dirty="0">
                          <a:solidFill>
                            <a:srgbClr val="1B2635"/>
                          </a:solidFill>
                          <a:latin typeface="Calibri" pitchFamily="34" charset="0"/>
                          <a:ea typeface="Calibri" pitchFamily="34" charset="-122"/>
                          <a:cs typeface="Calibri" pitchFamily="34" charset="-120"/>
                        </a:rPr>
                        <a:t>Numbers rendered by code, not retyped</a:t>
                      </a:r>
                      <a:endParaRPr lang="en-US" sz="1200" dirty="0">
                        <a:latin typeface="Calibri" charset="0"/>
                        <a:ea typeface="Calibri" charset="0"/>
                        <a:cs typeface="Calibri" charset="0"/>
                      </a:endParaRPr>
                    </a:p>
                  </a:txBody>
                  <a:tcPr marL="76200" marR="76200" marT="50800" marB="50800">
                    <a:lnL w="9525" cap="flat" cmpd="sng" algn="ctr">
                      <a:solidFill>
                        <a:srgbClr val="C9D3DE"/>
                      </a:solidFill>
                      <a:prstDash val="solid"/>
                      <a:round/>
                      <a:headEnd type="none" w="med" len="med"/>
                      <a:tailEnd type="none" w="med" len="med"/>
                    </a:lnL>
                    <a:lnR w="9525" cap="flat" cmpd="sng" algn="ctr">
                      <a:solidFill>
                        <a:srgbClr val="C9D3DE"/>
                      </a:solidFill>
                      <a:prstDash val="solid"/>
                      <a:round/>
                      <a:headEnd type="none" w="med" len="med"/>
                      <a:tailEnd type="none" w="med" len="med"/>
                    </a:lnR>
                    <a:lnT w="9525" cap="flat" cmpd="sng" algn="ctr">
                      <a:solidFill>
                        <a:srgbClr val="C9D3DE"/>
                      </a:solidFill>
                      <a:prstDash val="solid"/>
                      <a:round/>
                      <a:headEnd type="none" w="med" len="med"/>
                      <a:tailEnd type="none" w="med" len="med"/>
                    </a:lnT>
                    <a:lnB w="9525" cap="flat" cmpd="sng" algn="ctr">
                      <a:solidFill>
                        <a:srgbClr val="C9D3DE"/>
                      </a:solidFill>
                      <a:prstDash val="solid"/>
                      <a:round/>
                      <a:headEnd type="none" w="med" len="med"/>
                      <a:tailEnd type="none" w="med" len="med"/>
                    </a:lnB>
                  </a:tcPr>
                </a:tc>
              </a:tr>
            </a:tbl>
          </a:graphicData>
        </a:graphic>
      </p:graphicFrame>
      <p:sp>
        <p:nvSpPr>
          <p:cNvPr id="5" name="Shape 2"/>
          <p:cNvSpPr/>
          <p:nvPr/>
        </p:nvSpPr>
        <p:spPr>
          <a:xfrm>
            <a:off x="548640" y="5074920"/>
            <a:ext cx="11064240" cy="1188720"/>
          </a:xfrm>
          <a:prstGeom prst="roundRect">
            <a:avLst>
              <a:gd name="adj" fmla="val 6154"/>
            </a:avLst>
          </a:prstGeom>
          <a:solidFill>
            <a:srgbClr val="EFE9FF"/>
          </a:solidFill>
          <a:ln w="12700">
            <a:solidFill>
              <a:srgbClr val="EFE9FF"/>
            </a:solidFill>
            <a:prstDash val="solid"/>
          </a:ln>
        </p:spPr>
      </p:sp>
      <p:sp>
        <p:nvSpPr>
          <p:cNvPr id="6" name="Text 3"/>
          <p:cNvSpPr txBox="1"/>
          <p:nvPr/>
        </p:nvSpPr>
        <p:spPr>
          <a:xfrm>
            <a:off x="777240" y="5074920"/>
            <a:ext cx="10607040" cy="1188720"/>
          </a:xfrm>
          <a:prstGeom prst="rect">
            <a:avLst/>
          </a:prstGeom>
          <a:noFill/>
          <a:ln/>
        </p:spPr>
        <p:txBody>
          <a:bodyPr wrap="square" lIns="0" tIns="0" rIns="0" bIns="0" rtlCol="0" anchor="ctr"/>
          <a:lstStyle/>
          <a:p>
            <a:pPr indent="0" marL="0">
              <a:buNone/>
            </a:pPr>
            <a:r>
              <a:rPr lang="en-US" sz="1350" b="1" dirty="0">
                <a:solidFill>
                  <a:srgbClr val="171721"/>
                </a:solidFill>
                <a:latin typeface="Calibri" pitchFamily="34" charset="0"/>
                <a:ea typeface="Calibri" pitchFamily="34" charset="-122"/>
                <a:cs typeface="Calibri" pitchFamily="34" charset="-120"/>
              </a:rPr>
              <a:t>Watch them think. </a:t>
            </a:r>
            <a:pPr indent="0" marL="0">
              <a:buNone/>
            </a:pPr>
            <a:r>
              <a:rPr lang="en-US" sz="1350" dirty="0">
                <a:solidFill>
                  <a:srgbClr val="1B2635"/>
                </a:solidFill>
                <a:latin typeface="Calibri" pitchFamily="34" charset="0"/>
                <a:ea typeface="Calibri" pitchFamily="34" charset="-122"/>
                <a:cs typeface="Calibri" pitchFamily="34" charset="-120"/>
              </a:rPr>
              <a:t>A live activity panel streams every Azure read, the Foundry call (agent version, latency, tokens) and the code check, as it happens. It caught a real defect: the Architect compared a cost multiplier with a dollar budget; we now give it Azure list prices and it is right first time (5 of 5 runs).</a:t>
            </a:r>
            <a:endParaRPr lang="en-US" sz="1350" dirty="0"/>
          </a:p>
        </p:txBody>
      </p:sp>
      <p:sp>
        <p:nvSpPr>
          <p:cNvPr id="7" name="Text 4"/>
          <p:cNvSpPr txBox="1"/>
          <p:nvPr/>
        </p:nvSpPr>
        <p:spPr>
          <a:xfrm>
            <a:off x="548640" y="6473952"/>
            <a:ext cx="11064240" cy="274320"/>
          </a:xfrm>
          <a:prstGeom prst="rect">
            <a:avLst/>
          </a:prstGeom>
          <a:noFill/>
          <a:ln/>
        </p:spPr>
        <p:txBody>
          <a:bodyPr wrap="square" lIns="0" tIns="0" rIns="0" bIns="0" rtlCol="0" anchor="ctr"/>
          <a:lstStyle/>
          <a:p>
            <a:pPr algn="r" indent="0" marL="0">
              <a:buNone/>
            </a:pPr>
            <a:r>
              <a:rPr lang="en-US" sz="900" dirty="0">
                <a:solidFill>
                  <a:srgbClr val="8C99AA"/>
                </a:solidFill>
                <a:latin typeface="Calibri" pitchFamily="34" charset="0"/>
                <a:ea typeface="Calibri" pitchFamily="34" charset="-122"/>
                <a:cs typeface="Calibri" pitchFamily="34" charset="-120"/>
              </a:rPr>
              <a:t>DR Agent: Autonomous DR Validation  ·  Team Azure Armada  ·  Azure Day 2026 Hackathon   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1064240" cy="685800"/>
          </a:xfrm>
          <a:prstGeom prst="rect">
            <a:avLst/>
          </a:prstGeom>
          <a:noFill/>
          <a:ln/>
        </p:spPr>
        <p:txBody>
          <a:bodyPr wrap="square" lIns="0" tIns="0" rIns="0" bIns="0" rtlCol="0" anchor="ctr"/>
          <a:lstStyle/>
          <a:p>
            <a:pPr indent="0" marL="0">
              <a:buNone/>
            </a:pPr>
            <a:r>
              <a:rPr lang="en-US" sz="3200" b="1" dirty="0">
                <a:solidFill>
                  <a:srgbClr val="171721"/>
                </a:solidFill>
                <a:latin typeface="Calibri" pitchFamily="34" charset="0"/>
                <a:ea typeface="Calibri" pitchFamily="34" charset="-122"/>
                <a:cs typeface="Calibri" pitchFamily="34" charset="-120"/>
              </a:rPr>
              <a:t>Agents decide. The engine acts. Humans approve.</a:t>
            </a:r>
            <a:endParaRPr lang="en-US" sz="3200" dirty="0"/>
          </a:p>
        </p:txBody>
      </p:sp>
      <p:sp>
        <p:nvSpPr>
          <p:cNvPr id="3" name="Text 1"/>
          <p:cNvSpPr txBox="1"/>
          <p:nvPr/>
        </p:nvSpPr>
        <p:spPr>
          <a:xfrm>
            <a:off x="548640" y="987552"/>
            <a:ext cx="11064240" cy="365760"/>
          </a:xfrm>
          <a:prstGeom prst="rect">
            <a:avLst/>
          </a:prstGeom>
          <a:noFill/>
          <a:ln/>
        </p:spPr>
        <p:txBody>
          <a:bodyPr wrap="square" lIns="0" tIns="0" rIns="0" bIns="0" rtlCol="0" anchor="ctr"/>
          <a:lstStyle/>
          <a:p>
            <a:pPr indent="0" marL="0">
              <a:buNone/>
            </a:pPr>
            <a:r>
              <a:rPr lang="en-US" sz="1500" i="1" dirty="0">
                <a:solidFill>
                  <a:srgbClr val="5B6B7F"/>
                </a:solidFill>
                <a:latin typeface="Calibri" pitchFamily="34" charset="0"/>
                <a:ea typeface="Calibri" pitchFamily="34" charset="-122"/>
                <a:cs typeface="Calibri" pitchFamily="34" charset="-120"/>
              </a:rPr>
              <a:t>DR touches production, so no model can call an Azure write API. Every action is allowlisted, ordered, approved and reversible.</a:t>
            </a:r>
            <a:endParaRPr lang="en-US" sz="1500" dirty="0"/>
          </a:p>
        </p:txBody>
      </p:sp>
      <p:sp>
        <p:nvSpPr>
          <p:cNvPr id="4" name="Shape 2"/>
          <p:cNvSpPr/>
          <p:nvPr/>
        </p:nvSpPr>
        <p:spPr>
          <a:xfrm>
            <a:off x="548640" y="1600200"/>
            <a:ext cx="3520440" cy="1645920"/>
          </a:xfrm>
          <a:prstGeom prst="roundRect">
            <a:avLst>
              <a:gd name="adj" fmla="val 4444"/>
            </a:avLst>
          </a:prstGeom>
          <a:solidFill>
            <a:srgbClr val="F1F5F9"/>
          </a:solidFill>
          <a:ln w="12700">
            <a:solidFill>
              <a:srgbClr val="F1F5F9"/>
            </a:solidFill>
            <a:prstDash val="solid"/>
          </a:ln>
          <a:effectLst>
            <a:outerShdw sx="100000" sy="100000" kx="0" ky="0" algn="bl" rotWithShape="0" blurRad="76200" dist="25400" dir="5400000">
              <a:srgbClr val="000000">
                <a:alpha val="12000"/>
              </a:srgbClr>
            </a:outerShdw>
          </a:effectLst>
        </p:spPr>
      </p:sp>
      <p:sp>
        <p:nvSpPr>
          <p:cNvPr id="5" name="Shape 3"/>
          <p:cNvSpPr/>
          <p:nvPr/>
        </p:nvSpPr>
        <p:spPr>
          <a:xfrm>
            <a:off x="777240" y="1828800"/>
            <a:ext cx="502920" cy="502920"/>
          </a:xfrm>
          <a:prstGeom prst="ellipse">
            <a:avLst/>
          </a:prstGeom>
          <a:solidFill>
            <a:srgbClr val="171721"/>
          </a:solidFill>
          <a:ln w="12700">
            <a:solidFill>
              <a:srgbClr val="171721"/>
            </a:solidFill>
            <a:prstDash val="solid"/>
          </a:ln>
        </p:spPr>
      </p:sp>
      <p:pic>
        <p:nvPicPr>
          <p:cNvPr id="6" name="Image 0" descr="preencoded.png">    </p:cNvPr>
          <p:cNvPicPr>
            <a:picLocks noChangeAspect="1"/>
          </p:cNvPicPr>
          <p:nvPr/>
        </p:nvPicPr>
        <p:blipFill>
          <a:blip r:embed="rId1"/>
          <a:stretch>
            <a:fillRect/>
          </a:stretch>
        </p:blipFill>
        <p:spPr>
          <a:xfrm>
            <a:off x="902970" y="1954530"/>
            <a:ext cx="251460" cy="251460"/>
          </a:xfrm>
          <a:prstGeom prst="rect">
            <a:avLst/>
          </a:prstGeom>
        </p:spPr>
      </p:pic>
      <p:sp>
        <p:nvSpPr>
          <p:cNvPr id="7" name="Text 4"/>
          <p:cNvSpPr txBox="1"/>
          <p:nvPr/>
        </p:nvSpPr>
        <p:spPr>
          <a:xfrm>
            <a:off x="1417320" y="1828800"/>
            <a:ext cx="2514600" cy="502920"/>
          </a:xfrm>
          <a:prstGeom prst="rect">
            <a:avLst/>
          </a:prstGeom>
          <a:noFill/>
          <a:ln/>
        </p:spPr>
        <p:txBody>
          <a:bodyPr wrap="square" lIns="0" tIns="0" rIns="0" bIns="0" rtlCol="0" anchor="ctr"/>
          <a:lstStyle/>
          <a:p>
            <a:pPr indent="0" marL="0">
              <a:buNone/>
            </a:pPr>
            <a:r>
              <a:rPr lang="en-US" sz="1500" b="1" dirty="0">
                <a:solidFill>
                  <a:srgbClr val="171721"/>
                </a:solidFill>
                <a:latin typeface="Calibri" pitchFamily="34" charset="0"/>
                <a:ea typeface="Calibri" pitchFamily="34" charset="-122"/>
                <a:cs typeface="Calibri" pitchFamily="34" charset="-120"/>
              </a:rPr>
              <a:t>Allowlisted actions</a:t>
            </a:r>
            <a:endParaRPr lang="en-US" sz="1500" dirty="0"/>
          </a:p>
        </p:txBody>
      </p:sp>
      <p:sp>
        <p:nvSpPr>
          <p:cNvPr id="8" name="Text 5"/>
          <p:cNvSpPr txBox="1"/>
          <p:nvPr/>
        </p:nvSpPr>
        <p:spPr>
          <a:xfrm>
            <a:off x="777240" y="2423160"/>
            <a:ext cx="3108960" cy="777240"/>
          </a:xfrm>
          <a:prstGeom prst="rect">
            <a:avLst/>
          </a:prstGeom>
          <a:noFill/>
          <a:ln/>
        </p:spPr>
        <p:txBody>
          <a:bodyPr wrap="square" lIns="0" tIns="0" rIns="0" bIns="0" rtlCol="0" anchor="t"/>
          <a:lstStyle/>
          <a:p>
            <a:pPr indent="0" marL="0">
              <a:buNone/>
            </a:pPr>
            <a:r>
              <a:rPr lang="en-US" sz="1200" dirty="0">
                <a:solidFill>
                  <a:srgbClr val="1B2635"/>
                </a:solidFill>
                <a:latin typeface="Calibri" pitchFamily="34" charset="0"/>
                <a:ea typeface="Calibri" pitchFamily="34" charset="-122"/>
                <a:cs typeface="Calibri" pitchFamily="34" charset="-120"/>
              </a:rPr>
              <a:t>The engine runs only 15 known actions (stop/start app, SQL failover, endpoint on/off, ASR test). Anything else is rejected.</a:t>
            </a:r>
            <a:endParaRPr lang="en-US" sz="1200" dirty="0"/>
          </a:p>
        </p:txBody>
      </p:sp>
      <p:sp>
        <p:nvSpPr>
          <p:cNvPr id="9" name="Shape 6"/>
          <p:cNvSpPr/>
          <p:nvPr/>
        </p:nvSpPr>
        <p:spPr>
          <a:xfrm>
            <a:off x="4297680" y="1600200"/>
            <a:ext cx="3520440" cy="1645920"/>
          </a:xfrm>
          <a:prstGeom prst="roundRect">
            <a:avLst>
              <a:gd name="adj" fmla="val 4444"/>
            </a:avLst>
          </a:prstGeom>
          <a:solidFill>
            <a:srgbClr val="F1F5F9"/>
          </a:solidFill>
          <a:ln w="12700">
            <a:solidFill>
              <a:srgbClr val="F1F5F9"/>
            </a:solidFill>
            <a:prstDash val="solid"/>
          </a:ln>
          <a:effectLst>
            <a:outerShdw sx="100000" sy="100000" kx="0" ky="0" algn="bl" rotWithShape="0" blurRad="76200" dist="25400" dir="5400000">
              <a:srgbClr val="000000">
                <a:alpha val="12000"/>
              </a:srgbClr>
            </a:outerShdw>
          </a:effectLst>
        </p:spPr>
      </p:sp>
      <p:sp>
        <p:nvSpPr>
          <p:cNvPr id="10" name="Shape 7"/>
          <p:cNvSpPr/>
          <p:nvPr/>
        </p:nvSpPr>
        <p:spPr>
          <a:xfrm>
            <a:off x="4526280" y="1828800"/>
            <a:ext cx="502920" cy="502920"/>
          </a:xfrm>
          <a:prstGeom prst="ellipse">
            <a:avLst/>
          </a:prstGeom>
          <a:solidFill>
            <a:srgbClr val="171721"/>
          </a:solidFill>
          <a:ln w="12700">
            <a:solidFill>
              <a:srgbClr val="171721"/>
            </a:solidFill>
            <a:prstDash val="solid"/>
          </a:ln>
        </p:spPr>
      </p:sp>
      <p:pic>
        <p:nvPicPr>
          <p:cNvPr id="11" name="Image 1" descr="preencoded.png">    </p:cNvPr>
          <p:cNvPicPr>
            <a:picLocks noChangeAspect="1"/>
          </p:cNvPicPr>
          <p:nvPr/>
        </p:nvPicPr>
        <p:blipFill>
          <a:blip r:embed="rId2"/>
          <a:stretch>
            <a:fillRect/>
          </a:stretch>
        </p:blipFill>
        <p:spPr>
          <a:xfrm>
            <a:off x="4652010" y="1954530"/>
            <a:ext cx="251460" cy="251460"/>
          </a:xfrm>
          <a:prstGeom prst="rect">
            <a:avLst/>
          </a:prstGeom>
        </p:spPr>
      </p:pic>
      <p:sp>
        <p:nvSpPr>
          <p:cNvPr id="12" name="Text 8"/>
          <p:cNvSpPr txBox="1"/>
          <p:nvPr/>
        </p:nvSpPr>
        <p:spPr>
          <a:xfrm>
            <a:off x="5166360" y="1828800"/>
            <a:ext cx="2514600" cy="502920"/>
          </a:xfrm>
          <a:prstGeom prst="rect">
            <a:avLst/>
          </a:prstGeom>
          <a:noFill/>
          <a:ln/>
        </p:spPr>
        <p:txBody>
          <a:bodyPr wrap="square" lIns="0" tIns="0" rIns="0" bIns="0" rtlCol="0" anchor="ctr"/>
          <a:lstStyle/>
          <a:p>
            <a:pPr indent="0" marL="0">
              <a:buNone/>
            </a:pPr>
            <a:r>
              <a:rPr lang="en-US" sz="1500" b="1" dirty="0">
                <a:solidFill>
                  <a:srgbClr val="171721"/>
                </a:solidFill>
                <a:latin typeface="Calibri" pitchFamily="34" charset="0"/>
                <a:ea typeface="Calibri" pitchFamily="34" charset="-122"/>
                <a:cs typeface="Calibri" pitchFamily="34" charset="-120"/>
              </a:rPr>
              <a:t>Mandatory safe sequence</a:t>
            </a:r>
            <a:endParaRPr lang="en-US" sz="1500" dirty="0"/>
          </a:p>
        </p:txBody>
      </p:sp>
      <p:sp>
        <p:nvSpPr>
          <p:cNvPr id="13" name="Text 9"/>
          <p:cNvSpPr txBox="1"/>
          <p:nvPr/>
        </p:nvSpPr>
        <p:spPr>
          <a:xfrm>
            <a:off x="4526280" y="2423160"/>
            <a:ext cx="3108960" cy="777240"/>
          </a:xfrm>
          <a:prstGeom prst="rect">
            <a:avLst/>
          </a:prstGeom>
          <a:noFill/>
          <a:ln/>
        </p:spPr>
        <p:txBody>
          <a:bodyPr wrap="square" lIns="0" tIns="0" rIns="0" bIns="0" rtlCol="0" anchor="t"/>
          <a:lstStyle/>
          <a:p>
            <a:pPr indent="0" marL="0">
              <a:buNone/>
            </a:pPr>
            <a:r>
              <a:rPr lang="en-US" sz="1200" dirty="0">
                <a:solidFill>
                  <a:srgbClr val="1B2635"/>
                </a:solidFill>
                <a:latin typeface="Calibri" pitchFamily="34" charset="0"/>
                <a:ea typeface="Calibri" pitchFamily="34" charset="-122"/>
                <a:cs typeface="Calibri" pitchFamily="34" charset="-120"/>
              </a:rPr>
              <a:t>Every plan must contain heartbeat → outage → SQL failover → reroute → verify → measure → fail back, in that order.</a:t>
            </a:r>
            <a:endParaRPr lang="en-US" sz="1200" dirty="0"/>
          </a:p>
        </p:txBody>
      </p:sp>
      <p:sp>
        <p:nvSpPr>
          <p:cNvPr id="14" name="Shape 10"/>
          <p:cNvSpPr/>
          <p:nvPr/>
        </p:nvSpPr>
        <p:spPr>
          <a:xfrm>
            <a:off x="8046720" y="1600200"/>
            <a:ext cx="3520440" cy="1645920"/>
          </a:xfrm>
          <a:prstGeom prst="roundRect">
            <a:avLst>
              <a:gd name="adj" fmla="val 4444"/>
            </a:avLst>
          </a:prstGeom>
          <a:solidFill>
            <a:srgbClr val="F1F5F9"/>
          </a:solidFill>
          <a:ln w="12700">
            <a:solidFill>
              <a:srgbClr val="F1F5F9"/>
            </a:solidFill>
            <a:prstDash val="solid"/>
          </a:ln>
          <a:effectLst>
            <a:outerShdw sx="100000" sy="100000" kx="0" ky="0" algn="bl" rotWithShape="0" blurRad="76200" dist="25400" dir="5400000">
              <a:srgbClr val="000000">
                <a:alpha val="12000"/>
              </a:srgbClr>
            </a:outerShdw>
          </a:effectLst>
        </p:spPr>
      </p:sp>
      <p:sp>
        <p:nvSpPr>
          <p:cNvPr id="15" name="Shape 11"/>
          <p:cNvSpPr/>
          <p:nvPr/>
        </p:nvSpPr>
        <p:spPr>
          <a:xfrm>
            <a:off x="8275320" y="1828800"/>
            <a:ext cx="502920" cy="502920"/>
          </a:xfrm>
          <a:prstGeom prst="ellipse">
            <a:avLst/>
          </a:prstGeom>
          <a:solidFill>
            <a:srgbClr val="171721"/>
          </a:solidFill>
          <a:ln w="12700">
            <a:solidFill>
              <a:srgbClr val="171721"/>
            </a:solidFill>
            <a:prstDash val="solid"/>
          </a:ln>
        </p:spPr>
      </p:sp>
      <p:pic>
        <p:nvPicPr>
          <p:cNvPr id="16" name="Image 2" descr="preencoded.png">    </p:cNvPr>
          <p:cNvPicPr>
            <a:picLocks noChangeAspect="1"/>
          </p:cNvPicPr>
          <p:nvPr/>
        </p:nvPicPr>
        <p:blipFill>
          <a:blip r:embed="rId3"/>
          <a:stretch>
            <a:fillRect/>
          </a:stretch>
        </p:blipFill>
        <p:spPr>
          <a:xfrm>
            <a:off x="8401050" y="1954530"/>
            <a:ext cx="251460" cy="251460"/>
          </a:xfrm>
          <a:prstGeom prst="rect">
            <a:avLst/>
          </a:prstGeom>
        </p:spPr>
      </p:pic>
      <p:sp>
        <p:nvSpPr>
          <p:cNvPr id="17" name="Text 12"/>
          <p:cNvSpPr txBox="1"/>
          <p:nvPr/>
        </p:nvSpPr>
        <p:spPr>
          <a:xfrm>
            <a:off x="8915400" y="1828800"/>
            <a:ext cx="2514600" cy="502920"/>
          </a:xfrm>
          <a:prstGeom prst="rect">
            <a:avLst/>
          </a:prstGeom>
          <a:noFill/>
          <a:ln/>
        </p:spPr>
        <p:txBody>
          <a:bodyPr wrap="square" lIns="0" tIns="0" rIns="0" bIns="0" rtlCol="0" anchor="ctr"/>
          <a:lstStyle/>
          <a:p>
            <a:pPr indent="0" marL="0">
              <a:buNone/>
            </a:pPr>
            <a:r>
              <a:rPr lang="en-US" sz="1500" b="1" dirty="0">
                <a:solidFill>
                  <a:srgbClr val="171721"/>
                </a:solidFill>
                <a:latin typeface="Calibri" pitchFamily="34" charset="0"/>
                <a:ea typeface="Calibri" pitchFamily="34" charset="-122"/>
                <a:cs typeface="Calibri" pitchFamily="34" charset="-120"/>
              </a:rPr>
              <a:t>Human approval gates</a:t>
            </a:r>
            <a:endParaRPr lang="en-US" sz="1500" dirty="0"/>
          </a:p>
        </p:txBody>
      </p:sp>
      <p:sp>
        <p:nvSpPr>
          <p:cNvPr id="18" name="Text 13"/>
          <p:cNvSpPr txBox="1"/>
          <p:nvPr/>
        </p:nvSpPr>
        <p:spPr>
          <a:xfrm>
            <a:off x="8275320" y="2423160"/>
            <a:ext cx="3108960" cy="777240"/>
          </a:xfrm>
          <a:prstGeom prst="rect">
            <a:avLst/>
          </a:prstGeom>
          <a:noFill/>
          <a:ln/>
        </p:spPr>
        <p:txBody>
          <a:bodyPr wrap="square" lIns="0" tIns="0" rIns="0" bIns="0" rtlCol="0" anchor="t"/>
          <a:lstStyle/>
          <a:p>
            <a:pPr indent="0" marL="0">
              <a:buNone/>
            </a:pPr>
            <a:r>
              <a:rPr lang="en-US" sz="1200" dirty="0">
                <a:solidFill>
                  <a:srgbClr val="1B2635"/>
                </a:solidFill>
                <a:latin typeface="Calibri" pitchFamily="34" charset="0"/>
                <a:ea typeface="Calibri" pitchFamily="34" charset="-122"/>
                <a:cs typeface="Calibri" pitchFamily="34" charset="-120"/>
              </a:rPr>
              <a:t>The plan, the forced database failover, the failback and any Validator fix wait for a named approver.</a:t>
            </a:r>
            <a:endParaRPr lang="en-US" sz="1200" dirty="0"/>
          </a:p>
        </p:txBody>
      </p:sp>
      <p:sp>
        <p:nvSpPr>
          <p:cNvPr id="19" name="Shape 14"/>
          <p:cNvSpPr/>
          <p:nvPr/>
        </p:nvSpPr>
        <p:spPr>
          <a:xfrm>
            <a:off x="548640" y="3429000"/>
            <a:ext cx="3520440" cy="1645920"/>
          </a:xfrm>
          <a:prstGeom prst="roundRect">
            <a:avLst>
              <a:gd name="adj" fmla="val 4444"/>
            </a:avLst>
          </a:prstGeom>
          <a:solidFill>
            <a:srgbClr val="F1F5F9"/>
          </a:solidFill>
          <a:ln w="12700">
            <a:solidFill>
              <a:srgbClr val="F1F5F9"/>
            </a:solidFill>
            <a:prstDash val="solid"/>
          </a:ln>
          <a:effectLst>
            <a:outerShdw sx="100000" sy="100000" kx="0" ky="0" algn="bl" rotWithShape="0" blurRad="76200" dist="25400" dir="5400000">
              <a:srgbClr val="000000">
                <a:alpha val="12000"/>
              </a:srgbClr>
            </a:outerShdw>
          </a:effectLst>
        </p:spPr>
      </p:sp>
      <p:sp>
        <p:nvSpPr>
          <p:cNvPr id="20" name="Shape 15"/>
          <p:cNvSpPr/>
          <p:nvPr/>
        </p:nvSpPr>
        <p:spPr>
          <a:xfrm>
            <a:off x="777240" y="3657600"/>
            <a:ext cx="502920" cy="502920"/>
          </a:xfrm>
          <a:prstGeom prst="ellipse">
            <a:avLst/>
          </a:prstGeom>
          <a:solidFill>
            <a:srgbClr val="171721"/>
          </a:solidFill>
          <a:ln w="12700">
            <a:solidFill>
              <a:srgbClr val="171721"/>
            </a:solidFill>
            <a:prstDash val="solid"/>
          </a:ln>
        </p:spPr>
      </p:sp>
      <p:pic>
        <p:nvPicPr>
          <p:cNvPr id="21" name="Image 3" descr="preencoded.png">    </p:cNvPr>
          <p:cNvPicPr>
            <a:picLocks noChangeAspect="1"/>
          </p:cNvPicPr>
          <p:nvPr/>
        </p:nvPicPr>
        <p:blipFill>
          <a:blip r:embed="rId4"/>
          <a:stretch>
            <a:fillRect/>
          </a:stretch>
        </p:blipFill>
        <p:spPr>
          <a:xfrm>
            <a:off x="902970" y="3783330"/>
            <a:ext cx="251460" cy="251460"/>
          </a:xfrm>
          <a:prstGeom prst="rect">
            <a:avLst/>
          </a:prstGeom>
        </p:spPr>
      </p:pic>
      <p:sp>
        <p:nvSpPr>
          <p:cNvPr id="22" name="Text 16"/>
          <p:cNvSpPr txBox="1"/>
          <p:nvPr/>
        </p:nvSpPr>
        <p:spPr>
          <a:xfrm>
            <a:off x="1417320" y="3657600"/>
            <a:ext cx="2514600" cy="502920"/>
          </a:xfrm>
          <a:prstGeom prst="rect">
            <a:avLst/>
          </a:prstGeom>
          <a:noFill/>
          <a:ln/>
        </p:spPr>
        <p:txBody>
          <a:bodyPr wrap="square" lIns="0" tIns="0" rIns="0" bIns="0" rtlCol="0" anchor="ctr"/>
          <a:lstStyle/>
          <a:p>
            <a:pPr indent="0" marL="0">
              <a:buNone/>
            </a:pPr>
            <a:r>
              <a:rPr lang="en-US" sz="1500" b="1" dirty="0">
                <a:solidFill>
                  <a:srgbClr val="171721"/>
                </a:solidFill>
                <a:latin typeface="Calibri" pitchFamily="34" charset="0"/>
                <a:ea typeface="Calibri" pitchFamily="34" charset="-122"/>
                <a:cs typeface="Calibri" pitchFamily="34" charset="-120"/>
              </a:rPr>
              <a:t>Kill switch and rollback</a:t>
            </a:r>
            <a:endParaRPr lang="en-US" sz="1500" dirty="0"/>
          </a:p>
        </p:txBody>
      </p:sp>
      <p:sp>
        <p:nvSpPr>
          <p:cNvPr id="23" name="Text 17"/>
          <p:cNvSpPr txBox="1"/>
          <p:nvPr/>
        </p:nvSpPr>
        <p:spPr>
          <a:xfrm>
            <a:off x="777240" y="4251960"/>
            <a:ext cx="3108960" cy="777240"/>
          </a:xfrm>
          <a:prstGeom prst="rect">
            <a:avLst/>
          </a:prstGeom>
          <a:noFill/>
          <a:ln/>
        </p:spPr>
        <p:txBody>
          <a:bodyPr wrap="square" lIns="0" tIns="0" rIns="0" bIns="0" rtlCol="0" anchor="t"/>
          <a:lstStyle/>
          <a:p>
            <a:pPr indent="0" marL="0">
              <a:buNone/>
            </a:pPr>
            <a:r>
              <a:rPr lang="en-US" sz="1200" dirty="0">
                <a:solidFill>
                  <a:srgbClr val="1B2635"/>
                </a:solidFill>
                <a:latin typeface="Calibri" pitchFamily="34" charset="0"/>
                <a:ea typeface="Calibri" pitchFamily="34" charset="-122"/>
                <a:cs typeface="Calibri" pitchFamily="34" charset="-120"/>
              </a:rPr>
              <a:t>One click stops the drill; rollback restores the primary region and the database role.</a:t>
            </a:r>
            <a:endParaRPr lang="en-US" sz="1200" dirty="0"/>
          </a:p>
        </p:txBody>
      </p:sp>
      <p:sp>
        <p:nvSpPr>
          <p:cNvPr id="24" name="Shape 18"/>
          <p:cNvSpPr/>
          <p:nvPr/>
        </p:nvSpPr>
        <p:spPr>
          <a:xfrm>
            <a:off x="4297680" y="3429000"/>
            <a:ext cx="3520440" cy="1645920"/>
          </a:xfrm>
          <a:prstGeom prst="roundRect">
            <a:avLst>
              <a:gd name="adj" fmla="val 4444"/>
            </a:avLst>
          </a:prstGeom>
          <a:solidFill>
            <a:srgbClr val="F1F5F9"/>
          </a:solidFill>
          <a:ln w="12700">
            <a:solidFill>
              <a:srgbClr val="F1F5F9"/>
            </a:solidFill>
            <a:prstDash val="solid"/>
          </a:ln>
          <a:effectLst>
            <a:outerShdw sx="100000" sy="100000" kx="0" ky="0" algn="bl" rotWithShape="0" blurRad="76200" dist="25400" dir="5400000">
              <a:srgbClr val="000000">
                <a:alpha val="12000"/>
              </a:srgbClr>
            </a:outerShdw>
          </a:effectLst>
        </p:spPr>
      </p:sp>
      <p:sp>
        <p:nvSpPr>
          <p:cNvPr id="25" name="Shape 19"/>
          <p:cNvSpPr/>
          <p:nvPr/>
        </p:nvSpPr>
        <p:spPr>
          <a:xfrm>
            <a:off x="4526280" y="3657600"/>
            <a:ext cx="502920" cy="502920"/>
          </a:xfrm>
          <a:prstGeom prst="ellipse">
            <a:avLst/>
          </a:prstGeom>
          <a:solidFill>
            <a:srgbClr val="171721"/>
          </a:solidFill>
          <a:ln w="12700">
            <a:solidFill>
              <a:srgbClr val="171721"/>
            </a:solidFill>
            <a:prstDash val="solid"/>
          </a:ln>
        </p:spPr>
      </p:sp>
      <p:pic>
        <p:nvPicPr>
          <p:cNvPr id="26" name="Image 4" descr="preencoded.png">    </p:cNvPr>
          <p:cNvPicPr>
            <a:picLocks noChangeAspect="1"/>
          </p:cNvPicPr>
          <p:nvPr/>
        </p:nvPicPr>
        <p:blipFill>
          <a:blip r:embed="rId5"/>
          <a:stretch>
            <a:fillRect/>
          </a:stretch>
        </p:blipFill>
        <p:spPr>
          <a:xfrm>
            <a:off x="4652010" y="3783330"/>
            <a:ext cx="251460" cy="251460"/>
          </a:xfrm>
          <a:prstGeom prst="rect">
            <a:avLst/>
          </a:prstGeom>
        </p:spPr>
      </p:pic>
      <p:sp>
        <p:nvSpPr>
          <p:cNvPr id="27" name="Text 20"/>
          <p:cNvSpPr txBox="1"/>
          <p:nvPr/>
        </p:nvSpPr>
        <p:spPr>
          <a:xfrm>
            <a:off x="5166360" y="3657600"/>
            <a:ext cx="2514600" cy="502920"/>
          </a:xfrm>
          <a:prstGeom prst="rect">
            <a:avLst/>
          </a:prstGeom>
          <a:noFill/>
          <a:ln/>
        </p:spPr>
        <p:txBody>
          <a:bodyPr wrap="square" lIns="0" tIns="0" rIns="0" bIns="0" rtlCol="0" anchor="ctr"/>
          <a:lstStyle/>
          <a:p>
            <a:pPr indent="0" marL="0">
              <a:buNone/>
            </a:pPr>
            <a:r>
              <a:rPr lang="en-US" sz="1500" b="1" dirty="0">
                <a:solidFill>
                  <a:srgbClr val="171721"/>
                </a:solidFill>
                <a:latin typeface="Calibri" pitchFamily="34" charset="0"/>
                <a:ea typeface="Calibri" pitchFamily="34" charset="-122"/>
                <a:cs typeface="Calibri" pitchFamily="34" charset="-120"/>
              </a:rPr>
              <a:t>Fallback for every agent</a:t>
            </a:r>
            <a:endParaRPr lang="en-US" sz="1500" dirty="0"/>
          </a:p>
        </p:txBody>
      </p:sp>
      <p:sp>
        <p:nvSpPr>
          <p:cNvPr id="28" name="Text 21"/>
          <p:cNvSpPr txBox="1"/>
          <p:nvPr/>
        </p:nvSpPr>
        <p:spPr>
          <a:xfrm>
            <a:off x="4526280" y="4251960"/>
            <a:ext cx="3108960" cy="777240"/>
          </a:xfrm>
          <a:prstGeom prst="rect">
            <a:avLst/>
          </a:prstGeom>
          <a:noFill/>
          <a:ln/>
        </p:spPr>
        <p:txBody>
          <a:bodyPr wrap="square" lIns="0" tIns="0" rIns="0" bIns="0" rtlCol="0" anchor="t"/>
          <a:lstStyle/>
          <a:p>
            <a:pPr indent="0" marL="0">
              <a:buNone/>
            </a:pPr>
            <a:r>
              <a:rPr lang="en-US" sz="1200" dirty="0">
                <a:solidFill>
                  <a:srgbClr val="1B2635"/>
                </a:solidFill>
                <a:latin typeface="Calibri" pitchFamily="34" charset="0"/>
                <a:ea typeface="Calibri" pitchFamily="34" charset="-122"/>
                <a:cs typeface="Calibri" pitchFamily="34" charset="-120"/>
              </a:rPr>
              <a:t>Foundry agent → model deployment → deterministic rules. The screen shows which one answered.</a:t>
            </a:r>
            <a:endParaRPr lang="en-US" sz="1200" dirty="0"/>
          </a:p>
        </p:txBody>
      </p:sp>
      <p:sp>
        <p:nvSpPr>
          <p:cNvPr id="29" name="Shape 22"/>
          <p:cNvSpPr/>
          <p:nvPr/>
        </p:nvSpPr>
        <p:spPr>
          <a:xfrm>
            <a:off x="8046720" y="3429000"/>
            <a:ext cx="3520440" cy="1645920"/>
          </a:xfrm>
          <a:prstGeom prst="roundRect">
            <a:avLst>
              <a:gd name="adj" fmla="val 4444"/>
            </a:avLst>
          </a:prstGeom>
          <a:solidFill>
            <a:srgbClr val="F1F5F9"/>
          </a:solidFill>
          <a:ln w="12700">
            <a:solidFill>
              <a:srgbClr val="F1F5F9"/>
            </a:solidFill>
            <a:prstDash val="solid"/>
          </a:ln>
          <a:effectLst>
            <a:outerShdw sx="100000" sy="100000" kx="0" ky="0" algn="bl" rotWithShape="0" blurRad="76200" dist="25400" dir="5400000">
              <a:srgbClr val="000000">
                <a:alpha val="12000"/>
              </a:srgbClr>
            </a:outerShdw>
          </a:effectLst>
        </p:spPr>
      </p:sp>
      <p:sp>
        <p:nvSpPr>
          <p:cNvPr id="30" name="Shape 23"/>
          <p:cNvSpPr/>
          <p:nvPr/>
        </p:nvSpPr>
        <p:spPr>
          <a:xfrm>
            <a:off x="8275320" y="3657600"/>
            <a:ext cx="502920" cy="502920"/>
          </a:xfrm>
          <a:prstGeom prst="ellipse">
            <a:avLst/>
          </a:prstGeom>
          <a:solidFill>
            <a:srgbClr val="171721"/>
          </a:solidFill>
          <a:ln w="12700">
            <a:solidFill>
              <a:srgbClr val="171721"/>
            </a:solidFill>
            <a:prstDash val="solid"/>
          </a:ln>
        </p:spPr>
      </p:sp>
      <p:pic>
        <p:nvPicPr>
          <p:cNvPr id="31" name="Image 5" descr="preencoded.png">    </p:cNvPr>
          <p:cNvPicPr>
            <a:picLocks noChangeAspect="1"/>
          </p:cNvPicPr>
          <p:nvPr/>
        </p:nvPicPr>
        <p:blipFill>
          <a:blip r:embed="rId6"/>
          <a:stretch>
            <a:fillRect/>
          </a:stretch>
        </p:blipFill>
        <p:spPr>
          <a:xfrm>
            <a:off x="8401050" y="3783330"/>
            <a:ext cx="251460" cy="251460"/>
          </a:xfrm>
          <a:prstGeom prst="rect">
            <a:avLst/>
          </a:prstGeom>
        </p:spPr>
      </p:pic>
      <p:sp>
        <p:nvSpPr>
          <p:cNvPr id="32" name="Text 24"/>
          <p:cNvSpPr txBox="1"/>
          <p:nvPr/>
        </p:nvSpPr>
        <p:spPr>
          <a:xfrm>
            <a:off x="8915400" y="3657600"/>
            <a:ext cx="2514600" cy="502920"/>
          </a:xfrm>
          <a:prstGeom prst="rect">
            <a:avLst/>
          </a:prstGeom>
          <a:noFill/>
          <a:ln/>
        </p:spPr>
        <p:txBody>
          <a:bodyPr wrap="square" lIns="0" tIns="0" rIns="0" bIns="0" rtlCol="0" anchor="ctr"/>
          <a:lstStyle/>
          <a:p>
            <a:pPr indent="0" marL="0">
              <a:buNone/>
            </a:pPr>
            <a:r>
              <a:rPr lang="en-US" sz="1500" b="1" dirty="0">
                <a:solidFill>
                  <a:srgbClr val="171721"/>
                </a:solidFill>
                <a:latin typeface="Calibri" pitchFamily="34" charset="0"/>
                <a:ea typeface="Calibri" pitchFamily="34" charset="-122"/>
                <a:cs typeface="Calibri" pitchFamily="34" charset="-120"/>
              </a:rPr>
              <a:t>Full audit trail</a:t>
            </a:r>
            <a:endParaRPr lang="en-US" sz="1500" dirty="0"/>
          </a:p>
        </p:txBody>
      </p:sp>
      <p:sp>
        <p:nvSpPr>
          <p:cNvPr id="33" name="Text 25"/>
          <p:cNvSpPr txBox="1"/>
          <p:nvPr/>
        </p:nvSpPr>
        <p:spPr>
          <a:xfrm>
            <a:off x="8275320" y="4251960"/>
            <a:ext cx="3108960" cy="777240"/>
          </a:xfrm>
          <a:prstGeom prst="rect">
            <a:avLst/>
          </a:prstGeom>
          <a:noFill/>
          <a:ln/>
        </p:spPr>
        <p:txBody>
          <a:bodyPr wrap="square" lIns="0" tIns="0" rIns="0" bIns="0" rtlCol="0" anchor="t"/>
          <a:lstStyle/>
          <a:p>
            <a:pPr indent="0" marL="0">
              <a:buNone/>
            </a:pPr>
            <a:r>
              <a:rPr lang="en-US" sz="1200" dirty="0">
                <a:solidFill>
                  <a:srgbClr val="1B2635"/>
                </a:solidFill>
                <a:latin typeface="Calibri" pitchFamily="34" charset="0"/>
                <a:ea typeface="Calibri" pitchFamily="34" charset="-122"/>
                <a:cs typeface="Calibri" pitchFamily="34" charset="-120"/>
              </a:rPr>
              <a:t>Every event, approval and measurement is timestamped and stored, then written into the report.</a:t>
            </a:r>
            <a:endParaRPr lang="en-US" sz="1200" dirty="0"/>
          </a:p>
        </p:txBody>
      </p:sp>
      <p:sp>
        <p:nvSpPr>
          <p:cNvPr id="34" name="Shape 26"/>
          <p:cNvSpPr/>
          <p:nvPr/>
        </p:nvSpPr>
        <p:spPr>
          <a:xfrm>
            <a:off x="548640" y="5349240"/>
            <a:ext cx="11064240" cy="914400"/>
          </a:xfrm>
          <a:prstGeom prst="roundRect">
            <a:avLst>
              <a:gd name="adj" fmla="val 8000"/>
            </a:avLst>
          </a:prstGeom>
          <a:solidFill>
            <a:srgbClr val="171721"/>
          </a:solidFill>
          <a:ln w="12700">
            <a:solidFill>
              <a:srgbClr val="171721"/>
            </a:solidFill>
            <a:prstDash val="solid"/>
          </a:ln>
        </p:spPr>
      </p:sp>
      <p:sp>
        <p:nvSpPr>
          <p:cNvPr id="35" name="Text 27"/>
          <p:cNvSpPr txBox="1"/>
          <p:nvPr/>
        </p:nvSpPr>
        <p:spPr>
          <a:xfrm>
            <a:off x="777240" y="5349240"/>
            <a:ext cx="10607040" cy="91440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Proven in a chaos drill: </a:t>
            </a:r>
            <a:pPr indent="0" marL="0">
              <a:buNone/>
            </a:pPr>
            <a:r>
              <a:rPr lang="en-US" sz="1400" dirty="0">
                <a:solidFill>
                  <a:srgbClr val="C9C3E6"/>
                </a:solidFill>
                <a:latin typeface="Calibri" pitchFamily="34" charset="0"/>
                <a:ea typeface="Calibri" pitchFamily="34" charset="-122"/>
                <a:cs typeface="Calibri" pitchFamily="34" charset="-120"/>
              </a:rPr>
              <a:t>we disabled the DR traffic endpoint mid-failover. The Validator diagnosed it from live probes, proposed the allowlisted fix, a human approved, and recovery completed in 57.4 s.</a:t>
            </a:r>
            <a:endParaRPr lang="en-US" sz="1400" dirty="0"/>
          </a:p>
        </p:txBody>
      </p:sp>
      <p:sp>
        <p:nvSpPr>
          <p:cNvPr id="36" name="Text 28"/>
          <p:cNvSpPr txBox="1"/>
          <p:nvPr/>
        </p:nvSpPr>
        <p:spPr>
          <a:xfrm>
            <a:off x="548640" y="6473952"/>
            <a:ext cx="11064240" cy="274320"/>
          </a:xfrm>
          <a:prstGeom prst="rect">
            <a:avLst/>
          </a:prstGeom>
          <a:noFill/>
          <a:ln/>
        </p:spPr>
        <p:txBody>
          <a:bodyPr wrap="square" lIns="0" tIns="0" rIns="0" bIns="0" rtlCol="0" anchor="ctr"/>
          <a:lstStyle/>
          <a:p>
            <a:pPr algn="r" indent="0" marL="0">
              <a:buNone/>
            </a:pPr>
            <a:r>
              <a:rPr lang="en-US" sz="900" dirty="0">
                <a:solidFill>
                  <a:srgbClr val="8C99AA"/>
                </a:solidFill>
                <a:latin typeface="Calibri" pitchFamily="34" charset="0"/>
                <a:ea typeface="Calibri" pitchFamily="34" charset="-122"/>
                <a:cs typeface="Calibri" pitchFamily="34" charset="-120"/>
              </a:rPr>
              <a:t>DR Agent: Autonomous DR Validation  ·  Team Azure Armada  ·  Azure Day 2026 Hackathon   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1064240" cy="685800"/>
          </a:xfrm>
          <a:prstGeom prst="rect">
            <a:avLst/>
          </a:prstGeom>
          <a:noFill/>
          <a:ln/>
        </p:spPr>
        <p:txBody>
          <a:bodyPr wrap="square" lIns="0" tIns="0" rIns="0" bIns="0" rtlCol="0" anchor="ctr"/>
          <a:lstStyle/>
          <a:p>
            <a:pPr indent="0" marL="0">
              <a:buNone/>
            </a:pPr>
            <a:r>
              <a:rPr lang="en-US" sz="3200" b="1" dirty="0">
                <a:solidFill>
                  <a:srgbClr val="171721"/>
                </a:solidFill>
                <a:latin typeface="Calibri" pitchFamily="34" charset="0"/>
                <a:ea typeface="Calibri" pitchFamily="34" charset="-122"/>
                <a:cs typeface="Calibri" pitchFamily="34" charset="-120"/>
              </a:rPr>
              <a:t>Architecture: 100% Azure, across an Azure paired region</a:t>
            </a:r>
            <a:endParaRPr lang="en-US" sz="3200" dirty="0"/>
          </a:p>
        </p:txBody>
      </p:sp>
      <p:sp>
        <p:nvSpPr>
          <p:cNvPr id="3" name="Text 1"/>
          <p:cNvSpPr txBox="1"/>
          <p:nvPr/>
        </p:nvSpPr>
        <p:spPr>
          <a:xfrm>
            <a:off x="548640" y="987552"/>
            <a:ext cx="11064240" cy="365760"/>
          </a:xfrm>
          <a:prstGeom prst="rect">
            <a:avLst/>
          </a:prstGeom>
          <a:noFill/>
          <a:ln/>
        </p:spPr>
        <p:txBody>
          <a:bodyPr wrap="square" lIns="0" tIns="0" rIns="0" bIns="0" rtlCol="0" anchor="ctr"/>
          <a:lstStyle/>
          <a:p>
            <a:pPr indent="0" marL="0">
              <a:buNone/>
            </a:pPr>
            <a:r>
              <a:rPr lang="en-US" sz="1500" i="1" dirty="0">
                <a:solidFill>
                  <a:srgbClr val="5B6B7F"/>
                </a:solidFill>
                <a:latin typeface="Calibri" pitchFamily="34" charset="0"/>
                <a:ea typeface="Calibri" pitchFamily="34" charset="-122"/>
                <a:cs typeface="Calibri" pitchFamily="34" charset="-120"/>
              </a:rPr>
              <a:t>East Asia (primary) and Southeast Asia (DR). The control plane runs outside both, in South India, so it survives the disaster it manages.</a:t>
            </a:r>
            <a:endParaRPr lang="en-US" sz="1500" dirty="0"/>
          </a:p>
        </p:txBody>
      </p:sp>
      <p:pic>
        <p:nvPicPr>
          <p:cNvPr id="4" name="Image 0" descr="docs/deck/architecture-deck.png">    </p:cNvPr>
          <p:cNvPicPr>
            <a:picLocks noChangeAspect="1"/>
          </p:cNvPicPr>
          <p:nvPr/>
        </p:nvPicPr>
        <p:blipFill>
          <a:blip r:embed="rId1"/>
          <a:stretch>
            <a:fillRect/>
          </a:stretch>
        </p:blipFill>
        <p:spPr>
          <a:xfrm>
            <a:off x="548640" y="1508760"/>
            <a:ext cx="11064240" cy="4552474"/>
          </a:xfrm>
          <a:prstGeom prst="rect">
            <a:avLst/>
          </a:prstGeom>
        </p:spPr>
      </p:pic>
      <p:sp>
        <p:nvSpPr>
          <p:cNvPr id="5" name="Shape 2"/>
          <p:cNvSpPr/>
          <p:nvPr/>
        </p:nvSpPr>
        <p:spPr>
          <a:xfrm>
            <a:off x="548640" y="6144768"/>
            <a:ext cx="1170432" cy="292608"/>
          </a:xfrm>
          <a:prstGeom prst="roundRect">
            <a:avLst>
              <a:gd name="adj" fmla="val 18750"/>
            </a:avLst>
          </a:prstGeom>
          <a:solidFill>
            <a:srgbClr val="EFE9FF"/>
          </a:solidFill>
          <a:ln w="12700">
            <a:solidFill>
              <a:srgbClr val="EFE9FF"/>
            </a:solidFill>
            <a:prstDash val="solid"/>
          </a:ln>
        </p:spPr>
      </p:sp>
      <p:sp>
        <p:nvSpPr>
          <p:cNvPr id="6" name="Text 3"/>
          <p:cNvSpPr txBox="1"/>
          <p:nvPr/>
        </p:nvSpPr>
        <p:spPr>
          <a:xfrm>
            <a:off x="548640" y="6144768"/>
            <a:ext cx="1170432" cy="292608"/>
          </a:xfrm>
          <a:prstGeom prst="rect">
            <a:avLst/>
          </a:prstGeom>
          <a:noFill/>
          <a:ln/>
        </p:spPr>
        <p:txBody>
          <a:bodyPr wrap="square" lIns="0" tIns="0" rIns="0" bIns="0" rtlCol="0" anchor="ctr"/>
          <a:lstStyle/>
          <a:p>
            <a:pPr algn="ctr" indent="0" marL="0">
              <a:buNone/>
            </a:pPr>
            <a:r>
              <a:rPr lang="en-US" sz="850" b="1" dirty="0">
                <a:solidFill>
                  <a:srgbClr val="171721"/>
                </a:solidFill>
                <a:latin typeface="Calibri" pitchFamily="34" charset="0"/>
                <a:ea typeface="Calibri" pitchFamily="34" charset="-122"/>
                <a:cs typeface="Calibri" pitchFamily="34" charset="-120"/>
              </a:rPr>
              <a:t>App Service ×2</a:t>
            </a:r>
            <a:endParaRPr lang="en-US" sz="850" dirty="0"/>
          </a:p>
        </p:txBody>
      </p:sp>
      <p:sp>
        <p:nvSpPr>
          <p:cNvPr id="7" name="Shape 4"/>
          <p:cNvSpPr/>
          <p:nvPr/>
        </p:nvSpPr>
        <p:spPr>
          <a:xfrm>
            <a:off x="1787652" y="6144768"/>
            <a:ext cx="1170432" cy="292608"/>
          </a:xfrm>
          <a:prstGeom prst="roundRect">
            <a:avLst>
              <a:gd name="adj" fmla="val 18750"/>
            </a:avLst>
          </a:prstGeom>
          <a:solidFill>
            <a:srgbClr val="EFE9FF"/>
          </a:solidFill>
          <a:ln w="12700">
            <a:solidFill>
              <a:srgbClr val="EFE9FF"/>
            </a:solidFill>
            <a:prstDash val="solid"/>
          </a:ln>
        </p:spPr>
      </p:sp>
      <p:sp>
        <p:nvSpPr>
          <p:cNvPr id="8" name="Text 5"/>
          <p:cNvSpPr txBox="1"/>
          <p:nvPr/>
        </p:nvSpPr>
        <p:spPr>
          <a:xfrm>
            <a:off x="1787652" y="6144768"/>
            <a:ext cx="1170432" cy="292608"/>
          </a:xfrm>
          <a:prstGeom prst="rect">
            <a:avLst/>
          </a:prstGeom>
          <a:noFill/>
          <a:ln/>
        </p:spPr>
        <p:txBody>
          <a:bodyPr wrap="square" lIns="0" tIns="0" rIns="0" bIns="0" rtlCol="0" anchor="ctr"/>
          <a:lstStyle/>
          <a:p>
            <a:pPr algn="ctr" indent="0" marL="0">
              <a:buNone/>
            </a:pPr>
            <a:r>
              <a:rPr lang="en-US" sz="850" b="1" dirty="0">
                <a:solidFill>
                  <a:srgbClr val="171721"/>
                </a:solidFill>
                <a:latin typeface="Calibri" pitchFamily="34" charset="0"/>
                <a:ea typeface="Calibri" pitchFamily="34" charset="-122"/>
                <a:cs typeface="Calibri" pitchFamily="34" charset="-120"/>
              </a:rPr>
              <a:t>Azure SQL failover group</a:t>
            </a:r>
            <a:endParaRPr lang="en-US" sz="850" dirty="0"/>
          </a:p>
        </p:txBody>
      </p:sp>
      <p:sp>
        <p:nvSpPr>
          <p:cNvPr id="9" name="Shape 6"/>
          <p:cNvSpPr/>
          <p:nvPr/>
        </p:nvSpPr>
        <p:spPr>
          <a:xfrm>
            <a:off x="3026664" y="6144768"/>
            <a:ext cx="1170432" cy="292608"/>
          </a:xfrm>
          <a:prstGeom prst="roundRect">
            <a:avLst>
              <a:gd name="adj" fmla="val 18750"/>
            </a:avLst>
          </a:prstGeom>
          <a:solidFill>
            <a:srgbClr val="EFE9FF"/>
          </a:solidFill>
          <a:ln w="12700">
            <a:solidFill>
              <a:srgbClr val="EFE9FF"/>
            </a:solidFill>
            <a:prstDash val="solid"/>
          </a:ln>
        </p:spPr>
      </p:sp>
      <p:sp>
        <p:nvSpPr>
          <p:cNvPr id="10" name="Text 7"/>
          <p:cNvSpPr txBox="1"/>
          <p:nvPr/>
        </p:nvSpPr>
        <p:spPr>
          <a:xfrm>
            <a:off x="3026664" y="6144768"/>
            <a:ext cx="1170432" cy="292608"/>
          </a:xfrm>
          <a:prstGeom prst="rect">
            <a:avLst/>
          </a:prstGeom>
          <a:noFill/>
          <a:ln/>
        </p:spPr>
        <p:txBody>
          <a:bodyPr wrap="square" lIns="0" tIns="0" rIns="0" bIns="0" rtlCol="0" anchor="ctr"/>
          <a:lstStyle/>
          <a:p>
            <a:pPr algn="ctr" indent="0" marL="0">
              <a:buNone/>
            </a:pPr>
            <a:r>
              <a:rPr lang="en-US" sz="850" b="1" dirty="0">
                <a:solidFill>
                  <a:srgbClr val="171721"/>
                </a:solidFill>
                <a:latin typeface="Calibri" pitchFamily="34" charset="0"/>
                <a:ea typeface="Calibri" pitchFamily="34" charset="-122"/>
                <a:cs typeface="Calibri" pitchFamily="34" charset="-120"/>
              </a:rPr>
              <a:t>Traffic Manager</a:t>
            </a:r>
            <a:endParaRPr lang="en-US" sz="850" dirty="0"/>
          </a:p>
        </p:txBody>
      </p:sp>
      <p:sp>
        <p:nvSpPr>
          <p:cNvPr id="11" name="Shape 8"/>
          <p:cNvSpPr/>
          <p:nvPr/>
        </p:nvSpPr>
        <p:spPr>
          <a:xfrm>
            <a:off x="4265676" y="6144768"/>
            <a:ext cx="1170432" cy="292608"/>
          </a:xfrm>
          <a:prstGeom prst="roundRect">
            <a:avLst>
              <a:gd name="adj" fmla="val 18750"/>
            </a:avLst>
          </a:prstGeom>
          <a:solidFill>
            <a:srgbClr val="EFE9FF"/>
          </a:solidFill>
          <a:ln w="12700">
            <a:solidFill>
              <a:srgbClr val="EFE9FF"/>
            </a:solidFill>
            <a:prstDash val="solid"/>
          </a:ln>
        </p:spPr>
      </p:sp>
      <p:sp>
        <p:nvSpPr>
          <p:cNvPr id="12" name="Text 9"/>
          <p:cNvSpPr txBox="1"/>
          <p:nvPr/>
        </p:nvSpPr>
        <p:spPr>
          <a:xfrm>
            <a:off x="4265676" y="6144768"/>
            <a:ext cx="1170432" cy="292608"/>
          </a:xfrm>
          <a:prstGeom prst="rect">
            <a:avLst/>
          </a:prstGeom>
          <a:noFill/>
          <a:ln/>
        </p:spPr>
        <p:txBody>
          <a:bodyPr wrap="square" lIns="0" tIns="0" rIns="0" bIns="0" rtlCol="0" anchor="ctr"/>
          <a:lstStyle/>
          <a:p>
            <a:pPr algn="ctr" indent="0" marL="0">
              <a:buNone/>
            </a:pPr>
            <a:r>
              <a:rPr lang="en-US" sz="850" b="1" dirty="0">
                <a:solidFill>
                  <a:srgbClr val="171721"/>
                </a:solidFill>
                <a:latin typeface="Calibri" pitchFamily="34" charset="0"/>
                <a:ea typeface="Calibri" pitchFamily="34" charset="-122"/>
                <a:cs typeface="Calibri" pitchFamily="34" charset="-120"/>
              </a:rPr>
              <a:t>Site Recovery</a:t>
            </a:r>
            <a:endParaRPr lang="en-US" sz="850" dirty="0"/>
          </a:p>
        </p:txBody>
      </p:sp>
      <p:sp>
        <p:nvSpPr>
          <p:cNvPr id="13" name="Shape 10"/>
          <p:cNvSpPr/>
          <p:nvPr/>
        </p:nvSpPr>
        <p:spPr>
          <a:xfrm>
            <a:off x="5504688" y="6144768"/>
            <a:ext cx="1170432" cy="292608"/>
          </a:xfrm>
          <a:prstGeom prst="roundRect">
            <a:avLst>
              <a:gd name="adj" fmla="val 18750"/>
            </a:avLst>
          </a:prstGeom>
          <a:solidFill>
            <a:srgbClr val="EFE9FF"/>
          </a:solidFill>
          <a:ln w="12700">
            <a:solidFill>
              <a:srgbClr val="EFE9FF"/>
            </a:solidFill>
            <a:prstDash val="solid"/>
          </a:ln>
        </p:spPr>
      </p:sp>
      <p:sp>
        <p:nvSpPr>
          <p:cNvPr id="14" name="Text 11"/>
          <p:cNvSpPr txBox="1"/>
          <p:nvPr/>
        </p:nvSpPr>
        <p:spPr>
          <a:xfrm>
            <a:off x="5504688" y="6144768"/>
            <a:ext cx="1170432" cy="292608"/>
          </a:xfrm>
          <a:prstGeom prst="rect">
            <a:avLst/>
          </a:prstGeom>
          <a:noFill/>
          <a:ln/>
        </p:spPr>
        <p:txBody>
          <a:bodyPr wrap="square" lIns="0" tIns="0" rIns="0" bIns="0" rtlCol="0" anchor="ctr"/>
          <a:lstStyle/>
          <a:p>
            <a:pPr algn="ctr" indent="0" marL="0">
              <a:buNone/>
            </a:pPr>
            <a:r>
              <a:rPr lang="en-US" sz="850" b="1" dirty="0">
                <a:solidFill>
                  <a:srgbClr val="171721"/>
                </a:solidFill>
                <a:latin typeface="Calibri" pitchFamily="34" charset="0"/>
                <a:ea typeface="Calibri" pitchFamily="34" charset="-122"/>
                <a:cs typeface="Calibri" pitchFamily="34" charset="-120"/>
              </a:rPr>
              <a:t>AI Foundry Agent Service</a:t>
            </a:r>
            <a:endParaRPr lang="en-US" sz="850" dirty="0"/>
          </a:p>
        </p:txBody>
      </p:sp>
      <p:sp>
        <p:nvSpPr>
          <p:cNvPr id="15" name="Shape 12"/>
          <p:cNvSpPr/>
          <p:nvPr/>
        </p:nvSpPr>
        <p:spPr>
          <a:xfrm>
            <a:off x="6743700" y="6144768"/>
            <a:ext cx="1170432" cy="292608"/>
          </a:xfrm>
          <a:prstGeom prst="roundRect">
            <a:avLst>
              <a:gd name="adj" fmla="val 18750"/>
            </a:avLst>
          </a:prstGeom>
          <a:solidFill>
            <a:srgbClr val="EFE9FF"/>
          </a:solidFill>
          <a:ln w="12700">
            <a:solidFill>
              <a:srgbClr val="EFE9FF"/>
            </a:solidFill>
            <a:prstDash val="solid"/>
          </a:ln>
        </p:spPr>
      </p:sp>
      <p:sp>
        <p:nvSpPr>
          <p:cNvPr id="16" name="Text 13"/>
          <p:cNvSpPr txBox="1"/>
          <p:nvPr/>
        </p:nvSpPr>
        <p:spPr>
          <a:xfrm>
            <a:off x="6743700" y="6144768"/>
            <a:ext cx="1170432" cy="292608"/>
          </a:xfrm>
          <a:prstGeom prst="rect">
            <a:avLst/>
          </a:prstGeom>
          <a:noFill/>
          <a:ln/>
        </p:spPr>
        <p:txBody>
          <a:bodyPr wrap="square" lIns="0" tIns="0" rIns="0" bIns="0" rtlCol="0" anchor="ctr"/>
          <a:lstStyle/>
          <a:p>
            <a:pPr algn="ctr" indent="0" marL="0">
              <a:buNone/>
            </a:pPr>
            <a:r>
              <a:rPr lang="en-US" sz="850" b="1" dirty="0">
                <a:solidFill>
                  <a:srgbClr val="171721"/>
                </a:solidFill>
                <a:latin typeface="Calibri" pitchFamily="34" charset="0"/>
                <a:ea typeface="Calibri" pitchFamily="34" charset="-122"/>
                <a:cs typeface="Calibri" pitchFamily="34" charset="-120"/>
              </a:rPr>
              <a:t>Key Vault + managed identity</a:t>
            </a:r>
            <a:endParaRPr lang="en-US" sz="850" dirty="0"/>
          </a:p>
        </p:txBody>
      </p:sp>
      <p:sp>
        <p:nvSpPr>
          <p:cNvPr id="17" name="Shape 14"/>
          <p:cNvSpPr/>
          <p:nvPr/>
        </p:nvSpPr>
        <p:spPr>
          <a:xfrm>
            <a:off x="7982712" y="6144768"/>
            <a:ext cx="1170432" cy="292608"/>
          </a:xfrm>
          <a:prstGeom prst="roundRect">
            <a:avLst>
              <a:gd name="adj" fmla="val 18750"/>
            </a:avLst>
          </a:prstGeom>
          <a:solidFill>
            <a:srgbClr val="EFE9FF"/>
          </a:solidFill>
          <a:ln w="12700">
            <a:solidFill>
              <a:srgbClr val="EFE9FF"/>
            </a:solidFill>
            <a:prstDash val="solid"/>
          </a:ln>
        </p:spPr>
      </p:sp>
      <p:sp>
        <p:nvSpPr>
          <p:cNvPr id="18" name="Text 15"/>
          <p:cNvSpPr txBox="1"/>
          <p:nvPr/>
        </p:nvSpPr>
        <p:spPr>
          <a:xfrm>
            <a:off x="7982712" y="6144768"/>
            <a:ext cx="1170432" cy="292608"/>
          </a:xfrm>
          <a:prstGeom prst="rect">
            <a:avLst/>
          </a:prstGeom>
          <a:noFill/>
          <a:ln/>
        </p:spPr>
        <p:txBody>
          <a:bodyPr wrap="square" lIns="0" tIns="0" rIns="0" bIns="0" rtlCol="0" anchor="ctr"/>
          <a:lstStyle/>
          <a:p>
            <a:pPr algn="ctr" indent="0" marL="0">
              <a:buNone/>
            </a:pPr>
            <a:r>
              <a:rPr lang="en-US" sz="850" b="1" dirty="0">
                <a:solidFill>
                  <a:srgbClr val="171721"/>
                </a:solidFill>
                <a:latin typeface="Calibri" pitchFamily="34" charset="0"/>
                <a:ea typeface="Calibri" pitchFamily="34" charset="-122"/>
                <a:cs typeface="Calibri" pitchFamily="34" charset="-120"/>
              </a:rPr>
              <a:t>Storage</a:t>
            </a:r>
            <a:endParaRPr lang="en-US" sz="850" dirty="0"/>
          </a:p>
        </p:txBody>
      </p:sp>
      <p:sp>
        <p:nvSpPr>
          <p:cNvPr id="19" name="Shape 16"/>
          <p:cNvSpPr/>
          <p:nvPr/>
        </p:nvSpPr>
        <p:spPr>
          <a:xfrm>
            <a:off x="9221724" y="6144768"/>
            <a:ext cx="1170432" cy="292608"/>
          </a:xfrm>
          <a:prstGeom prst="roundRect">
            <a:avLst>
              <a:gd name="adj" fmla="val 18750"/>
            </a:avLst>
          </a:prstGeom>
          <a:solidFill>
            <a:srgbClr val="EFE9FF"/>
          </a:solidFill>
          <a:ln w="12700">
            <a:solidFill>
              <a:srgbClr val="EFE9FF"/>
            </a:solidFill>
            <a:prstDash val="solid"/>
          </a:ln>
        </p:spPr>
      </p:sp>
      <p:sp>
        <p:nvSpPr>
          <p:cNvPr id="20" name="Text 17"/>
          <p:cNvSpPr txBox="1"/>
          <p:nvPr/>
        </p:nvSpPr>
        <p:spPr>
          <a:xfrm>
            <a:off x="9221724" y="6144768"/>
            <a:ext cx="1170432" cy="292608"/>
          </a:xfrm>
          <a:prstGeom prst="rect">
            <a:avLst/>
          </a:prstGeom>
          <a:noFill/>
          <a:ln/>
        </p:spPr>
        <p:txBody>
          <a:bodyPr wrap="square" lIns="0" tIns="0" rIns="0" bIns="0" rtlCol="0" anchor="ctr"/>
          <a:lstStyle/>
          <a:p>
            <a:pPr algn="ctr" indent="0" marL="0">
              <a:buNone/>
            </a:pPr>
            <a:r>
              <a:rPr lang="en-US" sz="850" b="1" dirty="0">
                <a:solidFill>
                  <a:srgbClr val="171721"/>
                </a:solidFill>
                <a:latin typeface="Calibri" pitchFamily="34" charset="0"/>
                <a:ea typeface="Calibri" pitchFamily="34" charset="-122"/>
                <a:cs typeface="Calibri" pitchFamily="34" charset="-120"/>
              </a:rPr>
              <a:t>Monitor + App Insights</a:t>
            </a:r>
            <a:endParaRPr lang="en-US" sz="850" dirty="0"/>
          </a:p>
        </p:txBody>
      </p:sp>
      <p:sp>
        <p:nvSpPr>
          <p:cNvPr id="21" name="Shape 18"/>
          <p:cNvSpPr/>
          <p:nvPr/>
        </p:nvSpPr>
        <p:spPr>
          <a:xfrm>
            <a:off x="10460736" y="6144768"/>
            <a:ext cx="1170432" cy="292608"/>
          </a:xfrm>
          <a:prstGeom prst="roundRect">
            <a:avLst>
              <a:gd name="adj" fmla="val 18750"/>
            </a:avLst>
          </a:prstGeom>
          <a:solidFill>
            <a:srgbClr val="EFE9FF"/>
          </a:solidFill>
          <a:ln w="12700">
            <a:solidFill>
              <a:srgbClr val="EFE9FF"/>
            </a:solidFill>
            <a:prstDash val="solid"/>
          </a:ln>
        </p:spPr>
      </p:sp>
      <p:sp>
        <p:nvSpPr>
          <p:cNvPr id="22" name="Text 19"/>
          <p:cNvSpPr txBox="1"/>
          <p:nvPr/>
        </p:nvSpPr>
        <p:spPr>
          <a:xfrm>
            <a:off x="10460736" y="6144768"/>
            <a:ext cx="1170432" cy="292608"/>
          </a:xfrm>
          <a:prstGeom prst="rect">
            <a:avLst/>
          </a:prstGeom>
          <a:noFill/>
          <a:ln/>
        </p:spPr>
        <p:txBody>
          <a:bodyPr wrap="square" lIns="0" tIns="0" rIns="0" bIns="0" rtlCol="0" anchor="ctr"/>
          <a:lstStyle/>
          <a:p>
            <a:pPr algn="ctr" indent="0" marL="0">
              <a:buNone/>
            </a:pPr>
            <a:r>
              <a:rPr lang="en-US" sz="850" b="1" dirty="0">
                <a:solidFill>
                  <a:srgbClr val="171721"/>
                </a:solidFill>
                <a:latin typeface="Calibri" pitchFamily="34" charset="0"/>
                <a:ea typeface="Calibri" pitchFamily="34" charset="-122"/>
                <a:cs typeface="Calibri" pitchFamily="34" charset="-120"/>
              </a:rPr>
              <a:t>Bicep: one-click up / down</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1064240" cy="685800"/>
          </a:xfrm>
          <a:prstGeom prst="rect">
            <a:avLst/>
          </a:prstGeom>
          <a:noFill/>
          <a:ln/>
        </p:spPr>
        <p:txBody>
          <a:bodyPr wrap="square" lIns="0" tIns="0" rIns="0" bIns="0" rtlCol="0" anchor="ctr"/>
          <a:lstStyle/>
          <a:p>
            <a:pPr indent="0" marL="0">
              <a:buNone/>
            </a:pPr>
            <a:r>
              <a:rPr lang="en-US" sz="3200" b="1" dirty="0">
                <a:solidFill>
                  <a:srgbClr val="171721"/>
                </a:solidFill>
                <a:latin typeface="Calibri" pitchFamily="34" charset="0"/>
                <a:ea typeface="Calibri" pitchFamily="34" charset="-122"/>
                <a:cs typeface="Calibri" pitchFamily="34" charset="-120"/>
              </a:rPr>
              <a:t>Measured on live Azure, not assumed</a:t>
            </a:r>
            <a:endParaRPr lang="en-US" sz="3200" dirty="0"/>
          </a:p>
        </p:txBody>
      </p:sp>
      <p:sp>
        <p:nvSpPr>
          <p:cNvPr id="3" name="Text 1"/>
          <p:cNvSpPr txBox="1"/>
          <p:nvPr/>
        </p:nvSpPr>
        <p:spPr>
          <a:xfrm>
            <a:off x="548640" y="987552"/>
            <a:ext cx="11064240" cy="365760"/>
          </a:xfrm>
          <a:prstGeom prst="rect">
            <a:avLst/>
          </a:prstGeom>
          <a:noFill/>
          <a:ln/>
        </p:spPr>
        <p:txBody>
          <a:bodyPr wrap="square" lIns="0" tIns="0" rIns="0" bIns="0" rtlCol="0" anchor="ctr"/>
          <a:lstStyle/>
          <a:p>
            <a:pPr indent="0" marL="0">
              <a:buNone/>
            </a:pPr>
            <a:r>
              <a:rPr lang="en-US" sz="1500" i="1" dirty="0">
                <a:solidFill>
                  <a:srgbClr val="5B6B7F"/>
                </a:solidFill>
                <a:latin typeface="Calibri" pitchFamily="34" charset="0"/>
                <a:ea typeface="Calibri" pitchFamily="34" charset="-122"/>
                <a:cs typeface="Calibri" pitchFamily="34" charset="-120"/>
              </a:rPr>
              <a:t>Real failovers of the payments service, East Asia → Southeast Asia, 17–18 Oct 2026. Target: RTO 30 min, RPO 15 min.</a:t>
            </a:r>
            <a:endParaRPr lang="en-US" sz="1500" dirty="0"/>
          </a:p>
        </p:txBody>
      </p:sp>
      <p:sp>
        <p:nvSpPr>
          <p:cNvPr id="4" name="Shape 2"/>
          <p:cNvSpPr/>
          <p:nvPr/>
        </p:nvSpPr>
        <p:spPr>
          <a:xfrm>
            <a:off x="548640" y="1600200"/>
            <a:ext cx="2633472" cy="1691640"/>
          </a:xfrm>
          <a:prstGeom prst="roundRect">
            <a:avLst>
              <a:gd name="adj" fmla="val 4324"/>
            </a:avLst>
          </a:prstGeom>
          <a:solidFill>
            <a:srgbClr val="F1F5F9"/>
          </a:solidFill>
          <a:ln w="12700">
            <a:solidFill>
              <a:srgbClr val="F1F5F9"/>
            </a:solidFill>
            <a:prstDash val="solid"/>
          </a:ln>
          <a:effectLst>
            <a:outerShdw sx="100000" sy="100000" kx="0" ky="0" algn="bl" rotWithShape="0" blurRad="76200" dist="25400" dir="5400000">
              <a:srgbClr val="000000">
                <a:alpha val="12000"/>
              </a:srgbClr>
            </a:outerShdw>
          </a:effectLst>
        </p:spPr>
      </p:sp>
      <p:sp>
        <p:nvSpPr>
          <p:cNvPr id="5" name="Text 3"/>
          <p:cNvSpPr txBox="1"/>
          <p:nvPr/>
        </p:nvSpPr>
        <p:spPr>
          <a:xfrm>
            <a:off x="731520" y="1737360"/>
            <a:ext cx="2286000" cy="685800"/>
          </a:xfrm>
          <a:prstGeom prst="rect">
            <a:avLst/>
          </a:prstGeom>
          <a:noFill/>
          <a:ln/>
        </p:spPr>
        <p:txBody>
          <a:bodyPr wrap="square" lIns="0" tIns="0" rIns="0" bIns="0" rtlCol="0" anchor="ctr"/>
          <a:lstStyle/>
          <a:p>
            <a:pPr indent="0" marL="0">
              <a:buNone/>
            </a:pPr>
            <a:r>
              <a:rPr lang="en-US" sz="3000" b="1" dirty="0">
                <a:solidFill>
                  <a:srgbClr val="5E2CFE"/>
                </a:solidFill>
                <a:latin typeface="Calibri" pitchFamily="34" charset="0"/>
                <a:ea typeface="Calibri" pitchFamily="34" charset="-122"/>
                <a:cs typeface="Calibri" pitchFamily="34" charset="-120"/>
              </a:rPr>
              <a:t>34.35 s</a:t>
            </a:r>
            <a:endParaRPr lang="en-US" sz="3000" dirty="0"/>
          </a:p>
        </p:txBody>
      </p:sp>
      <p:sp>
        <p:nvSpPr>
          <p:cNvPr id="6" name="Text 4"/>
          <p:cNvSpPr txBox="1"/>
          <p:nvPr/>
        </p:nvSpPr>
        <p:spPr>
          <a:xfrm>
            <a:off x="731520" y="2423160"/>
            <a:ext cx="2286000" cy="320040"/>
          </a:xfrm>
          <a:prstGeom prst="rect">
            <a:avLst/>
          </a:prstGeom>
          <a:noFill/>
          <a:ln/>
        </p:spPr>
        <p:txBody>
          <a:bodyPr wrap="square" lIns="0" tIns="0" rIns="0" bIns="0" rtlCol="0" anchor="ctr"/>
          <a:lstStyle/>
          <a:p>
            <a:pPr indent="0" marL="0">
              <a:buNone/>
            </a:pPr>
            <a:r>
              <a:rPr lang="en-US" sz="1300" b="1" dirty="0">
                <a:solidFill>
                  <a:srgbClr val="171721"/>
                </a:solidFill>
                <a:latin typeface="Calibri" pitchFamily="34" charset="0"/>
                <a:ea typeface="Calibri" pitchFamily="34" charset="-122"/>
                <a:cs typeface="Calibri" pitchFamily="34" charset="-120"/>
              </a:rPr>
              <a:t>RTO, latest drill</a:t>
            </a:r>
            <a:endParaRPr lang="en-US" sz="1300" dirty="0"/>
          </a:p>
        </p:txBody>
      </p:sp>
      <p:sp>
        <p:nvSpPr>
          <p:cNvPr id="7" name="Text 5"/>
          <p:cNvSpPr txBox="1"/>
          <p:nvPr/>
        </p:nvSpPr>
        <p:spPr>
          <a:xfrm>
            <a:off x="731520" y="2743200"/>
            <a:ext cx="2331720" cy="457200"/>
          </a:xfrm>
          <a:prstGeom prst="rect">
            <a:avLst/>
          </a:prstGeom>
          <a:noFill/>
          <a:ln/>
        </p:spPr>
        <p:txBody>
          <a:bodyPr wrap="square" lIns="0" tIns="0" rIns="0" bIns="0" rtlCol="0" anchor="t"/>
          <a:lstStyle/>
          <a:p>
            <a:pPr indent="0" marL="0">
              <a:buNone/>
            </a:pPr>
            <a:r>
              <a:rPr lang="en-US" sz="1100" dirty="0">
                <a:solidFill>
                  <a:srgbClr val="5B6B7F"/>
                </a:solidFill>
                <a:latin typeface="Calibri" pitchFamily="34" charset="0"/>
                <a:ea typeface="Calibri" pitchFamily="34" charset="-122"/>
                <a:cs typeface="Calibri" pitchFamily="34" charset="-120"/>
              </a:rPr>
              <a:t>29.6–40.4 s across 8 drills (median 33.5 s)</a:t>
            </a:r>
            <a:endParaRPr lang="en-US" sz="1100" dirty="0"/>
          </a:p>
        </p:txBody>
      </p:sp>
      <p:sp>
        <p:nvSpPr>
          <p:cNvPr id="8" name="Shape 6"/>
          <p:cNvSpPr/>
          <p:nvPr/>
        </p:nvSpPr>
        <p:spPr>
          <a:xfrm>
            <a:off x="3346704" y="1600200"/>
            <a:ext cx="2633472" cy="1691640"/>
          </a:xfrm>
          <a:prstGeom prst="roundRect">
            <a:avLst>
              <a:gd name="adj" fmla="val 4324"/>
            </a:avLst>
          </a:prstGeom>
          <a:solidFill>
            <a:srgbClr val="F1F5F9"/>
          </a:solidFill>
          <a:ln w="12700">
            <a:solidFill>
              <a:srgbClr val="F1F5F9"/>
            </a:solidFill>
            <a:prstDash val="solid"/>
          </a:ln>
          <a:effectLst>
            <a:outerShdw sx="100000" sy="100000" kx="0" ky="0" algn="bl" rotWithShape="0" blurRad="76200" dist="25400" dir="5400000">
              <a:srgbClr val="000000">
                <a:alpha val="12000"/>
              </a:srgbClr>
            </a:outerShdw>
          </a:effectLst>
        </p:spPr>
      </p:sp>
      <p:sp>
        <p:nvSpPr>
          <p:cNvPr id="9" name="Text 7"/>
          <p:cNvSpPr txBox="1"/>
          <p:nvPr/>
        </p:nvSpPr>
        <p:spPr>
          <a:xfrm>
            <a:off x="3529584" y="1737360"/>
            <a:ext cx="2286000" cy="685800"/>
          </a:xfrm>
          <a:prstGeom prst="rect">
            <a:avLst/>
          </a:prstGeom>
          <a:noFill/>
          <a:ln/>
        </p:spPr>
        <p:txBody>
          <a:bodyPr wrap="square" lIns="0" tIns="0" rIns="0" bIns="0" rtlCol="0" anchor="ctr"/>
          <a:lstStyle/>
          <a:p>
            <a:pPr indent="0" marL="0">
              <a:buNone/>
            </a:pPr>
            <a:r>
              <a:rPr lang="en-US" sz="3000" b="1" dirty="0">
                <a:solidFill>
                  <a:srgbClr val="5E2CFE"/>
                </a:solidFill>
                <a:latin typeface="Calibri" pitchFamily="34" charset="0"/>
                <a:ea typeface="Calibri" pitchFamily="34" charset="-122"/>
                <a:cs typeface="Calibri" pitchFamily="34" charset="-120"/>
              </a:rPr>
              <a:t>0 s</a:t>
            </a:r>
            <a:endParaRPr lang="en-US" sz="3000" dirty="0"/>
          </a:p>
        </p:txBody>
      </p:sp>
      <p:sp>
        <p:nvSpPr>
          <p:cNvPr id="10" name="Text 8"/>
          <p:cNvSpPr txBox="1"/>
          <p:nvPr/>
        </p:nvSpPr>
        <p:spPr>
          <a:xfrm>
            <a:off x="3529584" y="2423160"/>
            <a:ext cx="2286000" cy="320040"/>
          </a:xfrm>
          <a:prstGeom prst="rect">
            <a:avLst/>
          </a:prstGeom>
          <a:noFill/>
          <a:ln/>
        </p:spPr>
        <p:txBody>
          <a:bodyPr wrap="square" lIns="0" tIns="0" rIns="0" bIns="0" rtlCol="0" anchor="ctr"/>
          <a:lstStyle/>
          <a:p>
            <a:pPr indent="0" marL="0">
              <a:buNone/>
            </a:pPr>
            <a:r>
              <a:rPr lang="en-US" sz="1300" b="1" dirty="0">
                <a:solidFill>
                  <a:srgbClr val="171721"/>
                </a:solidFill>
                <a:latin typeface="Calibri" pitchFamily="34" charset="0"/>
                <a:ea typeface="Calibri" pitchFamily="34" charset="-122"/>
                <a:cs typeface="Calibri" pitchFamily="34" charset="-120"/>
              </a:rPr>
              <a:t>RPO, every drill</a:t>
            </a:r>
            <a:endParaRPr lang="en-US" sz="1300" dirty="0"/>
          </a:p>
        </p:txBody>
      </p:sp>
      <p:sp>
        <p:nvSpPr>
          <p:cNvPr id="11" name="Text 9"/>
          <p:cNvSpPr txBox="1"/>
          <p:nvPr/>
        </p:nvSpPr>
        <p:spPr>
          <a:xfrm>
            <a:off x="3529584" y="2743200"/>
            <a:ext cx="2331720" cy="457200"/>
          </a:xfrm>
          <a:prstGeom prst="rect">
            <a:avLst/>
          </a:prstGeom>
          <a:noFill/>
          <a:ln/>
        </p:spPr>
        <p:txBody>
          <a:bodyPr wrap="square" lIns="0" tIns="0" rIns="0" bIns="0" rtlCol="0" anchor="t"/>
          <a:lstStyle/>
          <a:p>
            <a:pPr indent="0" marL="0">
              <a:buNone/>
            </a:pPr>
            <a:r>
              <a:rPr lang="en-US" sz="1100" dirty="0">
                <a:solidFill>
                  <a:srgbClr val="5B6B7F"/>
                </a:solidFill>
                <a:latin typeface="Calibri" pitchFamily="34" charset="0"/>
                <a:ea typeface="Calibri" pitchFamily="34" charset="-122"/>
                <a:cs typeface="Calibri" pitchFamily="34" charset="-120"/>
              </a:rPr>
              <a:t>no confirmed payment lost (1 s heartbeat proof)</a:t>
            </a:r>
            <a:endParaRPr lang="en-US" sz="1100" dirty="0"/>
          </a:p>
        </p:txBody>
      </p:sp>
      <p:sp>
        <p:nvSpPr>
          <p:cNvPr id="12" name="Shape 10"/>
          <p:cNvSpPr/>
          <p:nvPr/>
        </p:nvSpPr>
        <p:spPr>
          <a:xfrm>
            <a:off x="6144768" y="1600200"/>
            <a:ext cx="2633472" cy="1691640"/>
          </a:xfrm>
          <a:prstGeom prst="roundRect">
            <a:avLst>
              <a:gd name="adj" fmla="val 4324"/>
            </a:avLst>
          </a:prstGeom>
          <a:solidFill>
            <a:srgbClr val="F1F5F9"/>
          </a:solidFill>
          <a:ln w="12700">
            <a:solidFill>
              <a:srgbClr val="F1F5F9"/>
            </a:solidFill>
            <a:prstDash val="solid"/>
          </a:ln>
          <a:effectLst>
            <a:outerShdw sx="100000" sy="100000" kx="0" ky="0" algn="bl" rotWithShape="0" blurRad="76200" dist="25400" dir="5400000">
              <a:srgbClr val="000000">
                <a:alpha val="12000"/>
              </a:srgbClr>
            </a:outerShdw>
          </a:effectLst>
        </p:spPr>
      </p:sp>
      <p:sp>
        <p:nvSpPr>
          <p:cNvPr id="13" name="Text 11"/>
          <p:cNvSpPr txBox="1"/>
          <p:nvPr/>
        </p:nvSpPr>
        <p:spPr>
          <a:xfrm>
            <a:off x="6327648" y="1737360"/>
            <a:ext cx="2286000" cy="685800"/>
          </a:xfrm>
          <a:prstGeom prst="rect">
            <a:avLst/>
          </a:prstGeom>
          <a:noFill/>
          <a:ln/>
        </p:spPr>
        <p:txBody>
          <a:bodyPr wrap="square" lIns="0" tIns="0" rIns="0" bIns="0" rtlCol="0" anchor="ctr"/>
          <a:lstStyle/>
          <a:p>
            <a:pPr indent="0" marL="0">
              <a:buNone/>
            </a:pPr>
            <a:r>
              <a:rPr lang="en-US" sz="3000" b="1" dirty="0">
                <a:solidFill>
                  <a:srgbClr val="171721"/>
                </a:solidFill>
                <a:latin typeface="Calibri" pitchFamily="34" charset="0"/>
                <a:ea typeface="Calibri" pitchFamily="34" charset="-122"/>
                <a:cs typeface="Calibri" pitchFamily="34" charset="-120"/>
              </a:rPr>
              <a:t>3 min 14 s</a:t>
            </a:r>
            <a:endParaRPr lang="en-US" sz="3000" dirty="0"/>
          </a:p>
        </p:txBody>
      </p:sp>
      <p:sp>
        <p:nvSpPr>
          <p:cNvPr id="14" name="Text 12"/>
          <p:cNvSpPr txBox="1"/>
          <p:nvPr/>
        </p:nvSpPr>
        <p:spPr>
          <a:xfrm>
            <a:off x="6327648" y="2423160"/>
            <a:ext cx="2286000" cy="320040"/>
          </a:xfrm>
          <a:prstGeom prst="rect">
            <a:avLst/>
          </a:prstGeom>
          <a:noFill/>
          <a:ln/>
        </p:spPr>
        <p:txBody>
          <a:bodyPr wrap="square" lIns="0" tIns="0" rIns="0" bIns="0" rtlCol="0" anchor="ctr"/>
          <a:lstStyle/>
          <a:p>
            <a:pPr indent="0" marL="0">
              <a:buNone/>
            </a:pPr>
            <a:r>
              <a:rPr lang="en-US" sz="1300" b="1" dirty="0">
                <a:solidFill>
                  <a:srgbClr val="171721"/>
                </a:solidFill>
                <a:latin typeface="Calibri" pitchFamily="34" charset="0"/>
                <a:ea typeface="Calibri" pitchFamily="34" charset="-122"/>
                <a:cs typeface="Calibri" pitchFamily="34" charset="-120"/>
              </a:rPr>
              <a:t>Failback to primary</a:t>
            </a:r>
            <a:endParaRPr lang="en-US" sz="1300" dirty="0"/>
          </a:p>
        </p:txBody>
      </p:sp>
      <p:sp>
        <p:nvSpPr>
          <p:cNvPr id="15" name="Text 13"/>
          <p:cNvSpPr txBox="1"/>
          <p:nvPr/>
        </p:nvSpPr>
        <p:spPr>
          <a:xfrm>
            <a:off x="6327648" y="2743200"/>
            <a:ext cx="2331720" cy="457200"/>
          </a:xfrm>
          <a:prstGeom prst="rect">
            <a:avLst/>
          </a:prstGeom>
          <a:noFill/>
          <a:ln/>
        </p:spPr>
        <p:txBody>
          <a:bodyPr wrap="square" lIns="0" tIns="0" rIns="0" bIns="0" rtlCol="0" anchor="t"/>
          <a:lstStyle/>
          <a:p>
            <a:pPr indent="0" marL="0">
              <a:buNone/>
            </a:pPr>
            <a:r>
              <a:rPr lang="en-US" sz="1100" dirty="0">
                <a:solidFill>
                  <a:srgbClr val="5B6B7F"/>
                </a:solidFill>
                <a:latin typeface="Calibri" pitchFamily="34" charset="0"/>
                <a:ea typeface="Calibri" pitchFamily="34" charset="-122"/>
                <a:cs typeface="Calibri" pitchFamily="34" charset="-120"/>
              </a:rPr>
              <a:t>planned, no data loss</a:t>
            </a:r>
            <a:endParaRPr lang="en-US" sz="1100" dirty="0"/>
          </a:p>
        </p:txBody>
      </p:sp>
      <p:sp>
        <p:nvSpPr>
          <p:cNvPr id="16" name="Shape 14"/>
          <p:cNvSpPr/>
          <p:nvPr/>
        </p:nvSpPr>
        <p:spPr>
          <a:xfrm>
            <a:off x="8942832" y="1600200"/>
            <a:ext cx="2633472" cy="1691640"/>
          </a:xfrm>
          <a:prstGeom prst="roundRect">
            <a:avLst>
              <a:gd name="adj" fmla="val 4324"/>
            </a:avLst>
          </a:prstGeom>
          <a:solidFill>
            <a:srgbClr val="F1F5F9"/>
          </a:solidFill>
          <a:ln w="12700">
            <a:solidFill>
              <a:srgbClr val="F1F5F9"/>
            </a:solidFill>
            <a:prstDash val="solid"/>
          </a:ln>
          <a:effectLst>
            <a:outerShdw sx="100000" sy="100000" kx="0" ky="0" algn="bl" rotWithShape="0" blurRad="76200" dist="25400" dir="5400000">
              <a:srgbClr val="000000">
                <a:alpha val="12000"/>
              </a:srgbClr>
            </a:outerShdw>
          </a:effectLst>
        </p:spPr>
      </p:sp>
      <p:sp>
        <p:nvSpPr>
          <p:cNvPr id="17" name="Text 15"/>
          <p:cNvSpPr txBox="1"/>
          <p:nvPr/>
        </p:nvSpPr>
        <p:spPr>
          <a:xfrm>
            <a:off x="9125712" y="1737360"/>
            <a:ext cx="2286000" cy="685800"/>
          </a:xfrm>
          <a:prstGeom prst="rect">
            <a:avLst/>
          </a:prstGeom>
          <a:noFill/>
          <a:ln/>
        </p:spPr>
        <p:txBody>
          <a:bodyPr wrap="square" lIns="0" tIns="0" rIns="0" bIns="0" rtlCol="0" anchor="ctr"/>
          <a:lstStyle/>
          <a:p>
            <a:pPr indent="0" marL="0">
              <a:buNone/>
            </a:pPr>
            <a:r>
              <a:rPr lang="en-US" sz="3000" b="1" dirty="0">
                <a:solidFill>
                  <a:srgbClr val="171721"/>
                </a:solidFill>
                <a:latin typeface="Calibri" pitchFamily="34" charset="0"/>
                <a:ea typeface="Calibri" pitchFamily="34" charset="-122"/>
                <a:cs typeface="Calibri" pitchFamily="34" charset="-120"/>
              </a:rPr>
              <a:t>5 min 45 s</a:t>
            </a:r>
            <a:endParaRPr lang="en-US" sz="3000" dirty="0"/>
          </a:p>
        </p:txBody>
      </p:sp>
      <p:sp>
        <p:nvSpPr>
          <p:cNvPr id="18" name="Text 16"/>
          <p:cNvSpPr txBox="1"/>
          <p:nvPr/>
        </p:nvSpPr>
        <p:spPr>
          <a:xfrm>
            <a:off x="9125712" y="2423160"/>
            <a:ext cx="2286000" cy="320040"/>
          </a:xfrm>
          <a:prstGeom prst="rect">
            <a:avLst/>
          </a:prstGeom>
          <a:noFill/>
          <a:ln/>
        </p:spPr>
        <p:txBody>
          <a:bodyPr wrap="square" lIns="0" tIns="0" rIns="0" bIns="0" rtlCol="0" anchor="ctr"/>
          <a:lstStyle/>
          <a:p>
            <a:pPr indent="0" marL="0">
              <a:buNone/>
            </a:pPr>
            <a:r>
              <a:rPr lang="en-US" sz="1300" b="1" dirty="0">
                <a:solidFill>
                  <a:srgbClr val="171721"/>
                </a:solidFill>
                <a:latin typeface="Calibri" pitchFamily="34" charset="0"/>
                <a:ea typeface="Calibri" pitchFamily="34" charset="-122"/>
                <a:cs typeface="Calibri" pitchFamily="34" charset="-120"/>
              </a:rPr>
              <a:t>VM recovered by Site Recovery</a:t>
            </a:r>
            <a:endParaRPr lang="en-US" sz="1300" dirty="0"/>
          </a:p>
        </p:txBody>
      </p:sp>
      <p:sp>
        <p:nvSpPr>
          <p:cNvPr id="19" name="Text 17"/>
          <p:cNvSpPr txBox="1"/>
          <p:nvPr/>
        </p:nvSpPr>
        <p:spPr>
          <a:xfrm>
            <a:off x="9125712" y="2743200"/>
            <a:ext cx="2331720" cy="457200"/>
          </a:xfrm>
          <a:prstGeom prst="rect">
            <a:avLst/>
          </a:prstGeom>
          <a:noFill/>
          <a:ln/>
        </p:spPr>
        <p:txBody>
          <a:bodyPr wrap="square" lIns="0" tIns="0" rIns="0" bIns="0" rtlCol="0" anchor="t"/>
          <a:lstStyle/>
          <a:p>
            <a:pPr indent="0" marL="0">
              <a:buNone/>
            </a:pPr>
            <a:r>
              <a:rPr lang="en-US" sz="1100" dirty="0">
                <a:solidFill>
                  <a:srgbClr val="5B6B7F"/>
                </a:solidFill>
                <a:latin typeface="Calibri" pitchFamily="34" charset="0"/>
                <a:ea typeface="Calibri" pitchFamily="34" charset="-122"/>
                <a:cs typeface="Calibri" pitchFamily="34" charset="-120"/>
              </a:rPr>
              <a:t>proven by a command inside the VM</a:t>
            </a:r>
            <a:endParaRPr lang="en-US" sz="1100" dirty="0"/>
          </a:p>
        </p:txBody>
      </p:sp>
      <p:sp>
        <p:nvSpPr>
          <p:cNvPr id="20" name="Text 18"/>
          <p:cNvSpPr txBox="1"/>
          <p:nvPr/>
        </p:nvSpPr>
        <p:spPr>
          <a:xfrm>
            <a:off x="548640" y="3566160"/>
            <a:ext cx="11064240" cy="320040"/>
          </a:xfrm>
          <a:prstGeom prst="rect">
            <a:avLst/>
          </a:prstGeom>
          <a:noFill/>
          <a:ln/>
        </p:spPr>
        <p:txBody>
          <a:bodyPr wrap="square" lIns="0" tIns="0" rIns="0" bIns="0" rtlCol="0" anchor="ctr"/>
          <a:lstStyle/>
          <a:p>
            <a:pPr indent="0" marL="0">
              <a:buNone/>
            </a:pPr>
            <a:r>
              <a:rPr lang="en-US" sz="1400" b="1" dirty="0">
                <a:solidFill>
                  <a:srgbClr val="171721"/>
                </a:solidFill>
                <a:latin typeface="Calibri" pitchFamily="34" charset="0"/>
                <a:ea typeface="Calibri" pitchFamily="34" charset="-122"/>
                <a:cs typeface="Calibri" pitchFamily="34" charset="-120"/>
              </a:rPr>
              <a:t>Where the 34.35 s went (latest drill, one clock, segments add up exactly)</a:t>
            </a:r>
            <a:endParaRPr lang="en-US" sz="1400" dirty="0"/>
          </a:p>
        </p:txBody>
      </p:sp>
      <p:sp>
        <p:nvSpPr>
          <p:cNvPr id="21" name="Shape 19"/>
          <p:cNvSpPr/>
          <p:nvPr/>
        </p:nvSpPr>
        <p:spPr>
          <a:xfrm>
            <a:off x="548640" y="3977640"/>
            <a:ext cx="167157" cy="457200"/>
          </a:xfrm>
          <a:prstGeom prst="rect">
            <a:avLst/>
          </a:prstGeom>
          <a:solidFill>
            <a:srgbClr val="9F86FF"/>
          </a:solidFill>
          <a:ln w="12700">
            <a:solidFill>
              <a:srgbClr val="FFFFFF"/>
            </a:solidFill>
            <a:prstDash val="solid"/>
          </a:ln>
        </p:spPr>
      </p:sp>
      <p:sp>
        <p:nvSpPr>
          <p:cNvPr id="22" name="Shape 20"/>
          <p:cNvSpPr/>
          <p:nvPr/>
        </p:nvSpPr>
        <p:spPr>
          <a:xfrm>
            <a:off x="715797" y="3977640"/>
            <a:ext cx="4945461" cy="457200"/>
          </a:xfrm>
          <a:prstGeom prst="rect">
            <a:avLst/>
          </a:prstGeom>
          <a:solidFill>
            <a:srgbClr val="5E2CFE"/>
          </a:solidFill>
          <a:ln w="12700">
            <a:solidFill>
              <a:srgbClr val="FFFFFF"/>
            </a:solidFill>
            <a:prstDash val="solid"/>
          </a:ln>
        </p:spPr>
      </p:sp>
      <p:sp>
        <p:nvSpPr>
          <p:cNvPr id="23" name="Text 21"/>
          <p:cNvSpPr txBox="1"/>
          <p:nvPr/>
        </p:nvSpPr>
        <p:spPr>
          <a:xfrm>
            <a:off x="715797" y="3977640"/>
            <a:ext cx="4945461" cy="45720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15.355 s</a:t>
            </a:r>
            <a:endParaRPr lang="en-US" sz="1200" dirty="0"/>
          </a:p>
        </p:txBody>
      </p:sp>
      <p:sp>
        <p:nvSpPr>
          <p:cNvPr id="24" name="Shape 22"/>
          <p:cNvSpPr/>
          <p:nvPr/>
        </p:nvSpPr>
        <p:spPr>
          <a:xfrm>
            <a:off x="5661257" y="3977640"/>
            <a:ext cx="1905395" cy="457200"/>
          </a:xfrm>
          <a:prstGeom prst="rect">
            <a:avLst/>
          </a:prstGeom>
          <a:solidFill>
            <a:srgbClr val="C105B2"/>
          </a:solidFill>
          <a:ln w="12700">
            <a:solidFill>
              <a:srgbClr val="FFFFFF"/>
            </a:solidFill>
            <a:prstDash val="solid"/>
          </a:ln>
        </p:spPr>
      </p:sp>
      <p:sp>
        <p:nvSpPr>
          <p:cNvPr id="25" name="Text 23"/>
          <p:cNvSpPr txBox="1"/>
          <p:nvPr/>
        </p:nvSpPr>
        <p:spPr>
          <a:xfrm>
            <a:off x="5661257" y="3977640"/>
            <a:ext cx="1905395" cy="45720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5.916 s</a:t>
            </a:r>
            <a:endParaRPr lang="en-US" sz="1200" dirty="0"/>
          </a:p>
        </p:txBody>
      </p:sp>
      <p:sp>
        <p:nvSpPr>
          <p:cNvPr id="26" name="Shape 24"/>
          <p:cNvSpPr/>
          <p:nvPr/>
        </p:nvSpPr>
        <p:spPr>
          <a:xfrm>
            <a:off x="7566653" y="3977640"/>
            <a:ext cx="3742189" cy="457200"/>
          </a:xfrm>
          <a:prstGeom prst="rect">
            <a:avLst/>
          </a:prstGeom>
          <a:solidFill>
            <a:srgbClr val="7C5CFF"/>
          </a:solidFill>
          <a:ln w="12700">
            <a:solidFill>
              <a:srgbClr val="FFFFFF"/>
            </a:solidFill>
            <a:prstDash val="solid"/>
          </a:ln>
        </p:spPr>
      </p:sp>
      <p:sp>
        <p:nvSpPr>
          <p:cNvPr id="27" name="Text 25"/>
          <p:cNvSpPr txBox="1"/>
          <p:nvPr/>
        </p:nvSpPr>
        <p:spPr>
          <a:xfrm>
            <a:off x="7566653" y="3977640"/>
            <a:ext cx="3742189" cy="45720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11.619 s</a:t>
            </a:r>
            <a:endParaRPr lang="en-US" sz="1200" dirty="0"/>
          </a:p>
        </p:txBody>
      </p:sp>
      <p:sp>
        <p:nvSpPr>
          <p:cNvPr id="28" name="Shape 26"/>
          <p:cNvSpPr/>
          <p:nvPr/>
        </p:nvSpPr>
        <p:spPr>
          <a:xfrm>
            <a:off x="11308841" y="3977640"/>
            <a:ext cx="304039" cy="457200"/>
          </a:xfrm>
          <a:prstGeom prst="rect">
            <a:avLst/>
          </a:prstGeom>
          <a:solidFill>
            <a:srgbClr val="BDBDC7"/>
          </a:solidFill>
          <a:ln w="12700">
            <a:solidFill>
              <a:srgbClr val="FFFFFF"/>
            </a:solidFill>
            <a:prstDash val="solid"/>
          </a:ln>
        </p:spPr>
      </p:sp>
      <p:sp>
        <p:nvSpPr>
          <p:cNvPr id="29" name="Shape 27"/>
          <p:cNvSpPr/>
          <p:nvPr/>
        </p:nvSpPr>
        <p:spPr>
          <a:xfrm>
            <a:off x="548640" y="4617720"/>
            <a:ext cx="164592" cy="164592"/>
          </a:xfrm>
          <a:prstGeom prst="rect">
            <a:avLst/>
          </a:prstGeom>
          <a:solidFill>
            <a:srgbClr val="9F86FF"/>
          </a:solidFill>
          <a:ln w="12700">
            <a:solidFill>
              <a:srgbClr val="9F86FF"/>
            </a:solidFill>
            <a:prstDash val="solid"/>
          </a:ln>
        </p:spPr>
      </p:sp>
      <p:sp>
        <p:nvSpPr>
          <p:cNvPr id="30" name="Text 28"/>
          <p:cNvSpPr txBox="1"/>
          <p:nvPr/>
        </p:nvSpPr>
        <p:spPr>
          <a:xfrm>
            <a:off x="777240" y="4544568"/>
            <a:ext cx="1965960" cy="365760"/>
          </a:xfrm>
          <a:prstGeom prst="rect">
            <a:avLst/>
          </a:prstGeom>
          <a:noFill/>
          <a:ln/>
        </p:spPr>
        <p:txBody>
          <a:bodyPr wrap="square" lIns="0" tIns="0" rIns="0" bIns="0" rtlCol="0" anchor="ctr"/>
          <a:lstStyle/>
          <a:p>
            <a:pPr indent="0" marL="0">
              <a:buNone/>
            </a:pPr>
            <a:r>
              <a:rPr lang="en-US" sz="1050" dirty="0">
                <a:solidFill>
                  <a:srgbClr val="1B2635"/>
                </a:solidFill>
                <a:latin typeface="Calibri" pitchFamily="34" charset="0"/>
                <a:ea typeface="Calibri" pitchFamily="34" charset="-122"/>
                <a:cs typeface="Calibri" pitchFamily="34" charset="-120"/>
              </a:rPr>
              <a:t>Outage injected  0.519 s</a:t>
            </a:r>
            <a:endParaRPr lang="en-US" sz="1050" dirty="0"/>
          </a:p>
        </p:txBody>
      </p:sp>
      <p:sp>
        <p:nvSpPr>
          <p:cNvPr id="31" name="Shape 29"/>
          <p:cNvSpPr/>
          <p:nvPr/>
        </p:nvSpPr>
        <p:spPr>
          <a:xfrm>
            <a:off x="2761488" y="4617720"/>
            <a:ext cx="164592" cy="164592"/>
          </a:xfrm>
          <a:prstGeom prst="rect">
            <a:avLst/>
          </a:prstGeom>
          <a:solidFill>
            <a:srgbClr val="5E2CFE"/>
          </a:solidFill>
          <a:ln w="12700">
            <a:solidFill>
              <a:srgbClr val="5E2CFE"/>
            </a:solidFill>
            <a:prstDash val="solid"/>
          </a:ln>
        </p:spPr>
      </p:sp>
      <p:sp>
        <p:nvSpPr>
          <p:cNvPr id="32" name="Text 30"/>
          <p:cNvSpPr txBox="1"/>
          <p:nvPr/>
        </p:nvSpPr>
        <p:spPr>
          <a:xfrm>
            <a:off x="2990088" y="4544568"/>
            <a:ext cx="1965960" cy="365760"/>
          </a:xfrm>
          <a:prstGeom prst="rect">
            <a:avLst/>
          </a:prstGeom>
          <a:noFill/>
          <a:ln/>
        </p:spPr>
        <p:txBody>
          <a:bodyPr wrap="square" lIns="0" tIns="0" rIns="0" bIns="0" rtlCol="0" anchor="ctr"/>
          <a:lstStyle/>
          <a:p>
            <a:pPr indent="0" marL="0">
              <a:buNone/>
            </a:pPr>
            <a:r>
              <a:rPr lang="en-US" sz="1050" dirty="0">
                <a:solidFill>
                  <a:srgbClr val="1B2635"/>
                </a:solidFill>
                <a:latin typeface="Calibri" pitchFamily="34" charset="0"/>
                <a:ea typeface="Calibri" pitchFamily="34" charset="-122"/>
                <a:cs typeface="Calibri" pitchFamily="34" charset="-120"/>
              </a:rPr>
              <a:t>SQL forced failover  15.355 s</a:t>
            </a:r>
            <a:endParaRPr lang="en-US" sz="1050" dirty="0"/>
          </a:p>
        </p:txBody>
      </p:sp>
      <p:sp>
        <p:nvSpPr>
          <p:cNvPr id="33" name="Shape 31"/>
          <p:cNvSpPr/>
          <p:nvPr/>
        </p:nvSpPr>
        <p:spPr>
          <a:xfrm>
            <a:off x="4974336" y="4617720"/>
            <a:ext cx="164592" cy="164592"/>
          </a:xfrm>
          <a:prstGeom prst="rect">
            <a:avLst/>
          </a:prstGeom>
          <a:solidFill>
            <a:srgbClr val="C105B2"/>
          </a:solidFill>
          <a:ln w="12700">
            <a:solidFill>
              <a:srgbClr val="C105B2"/>
            </a:solidFill>
            <a:prstDash val="solid"/>
          </a:ln>
        </p:spPr>
      </p:sp>
      <p:sp>
        <p:nvSpPr>
          <p:cNvPr id="34" name="Text 32"/>
          <p:cNvSpPr txBox="1"/>
          <p:nvPr/>
        </p:nvSpPr>
        <p:spPr>
          <a:xfrm>
            <a:off x="5202936" y="4544568"/>
            <a:ext cx="1965960" cy="365760"/>
          </a:xfrm>
          <a:prstGeom prst="rect">
            <a:avLst/>
          </a:prstGeom>
          <a:noFill/>
          <a:ln/>
        </p:spPr>
        <p:txBody>
          <a:bodyPr wrap="square" lIns="0" tIns="0" rIns="0" bIns="0" rtlCol="0" anchor="ctr"/>
          <a:lstStyle/>
          <a:p>
            <a:pPr indent="0" marL="0">
              <a:buNone/>
            </a:pPr>
            <a:r>
              <a:rPr lang="en-US" sz="1050" dirty="0">
                <a:solidFill>
                  <a:srgbClr val="1B2635"/>
                </a:solidFill>
                <a:latin typeface="Calibri" pitchFamily="34" charset="0"/>
                <a:ea typeface="Calibri" pitchFamily="34" charset="-122"/>
                <a:cs typeface="Calibri" pitchFamily="34" charset="-120"/>
              </a:rPr>
              <a:t>Traffic Manager reroute  5.916 s</a:t>
            </a:r>
            <a:endParaRPr lang="en-US" sz="1050" dirty="0"/>
          </a:p>
        </p:txBody>
      </p:sp>
      <p:sp>
        <p:nvSpPr>
          <p:cNvPr id="35" name="Shape 33"/>
          <p:cNvSpPr/>
          <p:nvPr/>
        </p:nvSpPr>
        <p:spPr>
          <a:xfrm>
            <a:off x="7187184" y="4617720"/>
            <a:ext cx="164592" cy="164592"/>
          </a:xfrm>
          <a:prstGeom prst="rect">
            <a:avLst/>
          </a:prstGeom>
          <a:solidFill>
            <a:srgbClr val="7C5CFF"/>
          </a:solidFill>
          <a:ln w="12700">
            <a:solidFill>
              <a:srgbClr val="7C5CFF"/>
            </a:solidFill>
            <a:prstDash val="solid"/>
          </a:ln>
        </p:spPr>
      </p:sp>
      <p:sp>
        <p:nvSpPr>
          <p:cNvPr id="36" name="Text 34"/>
          <p:cNvSpPr txBox="1"/>
          <p:nvPr/>
        </p:nvSpPr>
        <p:spPr>
          <a:xfrm>
            <a:off x="7415784" y="4544568"/>
            <a:ext cx="1965960" cy="365760"/>
          </a:xfrm>
          <a:prstGeom prst="rect">
            <a:avLst/>
          </a:prstGeom>
          <a:noFill/>
          <a:ln/>
        </p:spPr>
        <p:txBody>
          <a:bodyPr wrap="square" lIns="0" tIns="0" rIns="0" bIns="0" rtlCol="0" anchor="ctr"/>
          <a:lstStyle/>
          <a:p>
            <a:pPr indent="0" marL="0">
              <a:buNone/>
            </a:pPr>
            <a:r>
              <a:rPr lang="en-US" sz="1050" dirty="0">
                <a:solidFill>
                  <a:srgbClr val="1B2635"/>
                </a:solidFill>
                <a:latin typeface="Calibri" pitchFamily="34" charset="0"/>
                <a:ea typeface="Calibri" pitchFamily="34" charset="-122"/>
                <a:cs typeface="Calibri" pitchFamily="34" charset="-120"/>
              </a:rPr>
              <a:t>DNS + health checks reach DR  11.619 s</a:t>
            </a:r>
            <a:endParaRPr lang="en-US" sz="1050" dirty="0"/>
          </a:p>
        </p:txBody>
      </p:sp>
      <p:sp>
        <p:nvSpPr>
          <p:cNvPr id="37" name="Shape 35"/>
          <p:cNvSpPr/>
          <p:nvPr/>
        </p:nvSpPr>
        <p:spPr>
          <a:xfrm>
            <a:off x="9400032" y="4617720"/>
            <a:ext cx="164592" cy="164592"/>
          </a:xfrm>
          <a:prstGeom prst="rect">
            <a:avLst/>
          </a:prstGeom>
          <a:solidFill>
            <a:srgbClr val="BDBDC7"/>
          </a:solidFill>
          <a:ln w="12700">
            <a:solidFill>
              <a:srgbClr val="BDBDC7"/>
            </a:solidFill>
            <a:prstDash val="solid"/>
          </a:ln>
        </p:spPr>
      </p:sp>
      <p:sp>
        <p:nvSpPr>
          <p:cNvPr id="38" name="Text 36"/>
          <p:cNvSpPr txBox="1"/>
          <p:nvPr/>
        </p:nvSpPr>
        <p:spPr>
          <a:xfrm>
            <a:off x="9628632" y="4544568"/>
            <a:ext cx="1965960" cy="365760"/>
          </a:xfrm>
          <a:prstGeom prst="rect">
            <a:avLst/>
          </a:prstGeom>
          <a:noFill/>
          <a:ln/>
        </p:spPr>
        <p:txBody>
          <a:bodyPr wrap="square" lIns="0" tIns="0" rIns="0" bIns="0" rtlCol="0" anchor="ctr"/>
          <a:lstStyle/>
          <a:p>
            <a:pPr indent="0" marL="0">
              <a:buNone/>
            </a:pPr>
            <a:r>
              <a:rPr lang="en-US" sz="1050" dirty="0">
                <a:solidFill>
                  <a:srgbClr val="1B2635"/>
                </a:solidFill>
                <a:latin typeface="Calibri" pitchFamily="34" charset="0"/>
                <a:ea typeface="Calibri" pitchFamily="34" charset="-122"/>
                <a:cs typeface="Calibri" pitchFamily="34" charset="-120"/>
              </a:rPr>
              <a:t>Engine bookkeeping  0.944 s</a:t>
            </a:r>
            <a:endParaRPr lang="en-US" sz="1050" dirty="0"/>
          </a:p>
        </p:txBody>
      </p:sp>
      <p:sp>
        <p:nvSpPr>
          <p:cNvPr id="39" name="Shape 37"/>
          <p:cNvSpPr/>
          <p:nvPr/>
        </p:nvSpPr>
        <p:spPr>
          <a:xfrm>
            <a:off x="548640" y="5120640"/>
            <a:ext cx="11064240" cy="1143000"/>
          </a:xfrm>
          <a:prstGeom prst="roundRect">
            <a:avLst>
              <a:gd name="adj" fmla="val 6400"/>
            </a:avLst>
          </a:prstGeom>
          <a:solidFill>
            <a:srgbClr val="EFE9FF"/>
          </a:solidFill>
          <a:ln w="12700">
            <a:solidFill>
              <a:srgbClr val="EFE9FF"/>
            </a:solidFill>
            <a:prstDash val="solid"/>
          </a:ln>
        </p:spPr>
      </p:sp>
      <p:sp>
        <p:nvSpPr>
          <p:cNvPr id="40" name="Text 38"/>
          <p:cNvSpPr txBox="1"/>
          <p:nvPr/>
        </p:nvSpPr>
        <p:spPr>
          <a:xfrm>
            <a:off x="777240" y="5120640"/>
            <a:ext cx="10607040" cy="1143000"/>
          </a:xfrm>
          <a:prstGeom prst="rect">
            <a:avLst/>
          </a:prstGeom>
          <a:noFill/>
          <a:ln/>
        </p:spPr>
        <p:txBody>
          <a:bodyPr wrap="square" lIns="0" tIns="0" rIns="0" bIns="0" rtlCol="0" anchor="ctr"/>
          <a:lstStyle/>
          <a:p>
            <a:pPr indent="0" marL="0">
              <a:buNone/>
            </a:pPr>
            <a:r>
              <a:rPr lang="en-US" sz="1250" b="1" dirty="0">
                <a:solidFill>
                  <a:srgbClr val="171721"/>
                </a:solidFill>
                <a:latin typeface="Calibri" pitchFamily="34" charset="0"/>
                <a:ea typeface="Calibri" pitchFamily="34" charset="-122"/>
                <a:cs typeface="Calibri" pitchFamily="34" charset="-120"/>
              </a:rPr>
              <a:t>Why judges can trust the numbers: </a:t>
            </a:r>
            <a:pPr indent="0" marL="0">
              <a:buNone/>
            </a:pPr>
            <a:r>
              <a:rPr lang="en-US" sz="1250" dirty="0">
                <a:solidFill>
                  <a:srgbClr val="1B2635"/>
                </a:solidFill>
                <a:latin typeface="Calibri" pitchFamily="34" charset="0"/>
                <a:ea typeface="Calibri" pitchFamily="34" charset="-122"/>
                <a:cs typeface="Calibri" pitchFamily="34" charset="-120"/>
              </a:rPr>
              <a:t>RTO runs from the injected outage to the first healthy check through Traffic Manager (1 s probes; the previous failed check is shown as the precision window). RPO compares every confirmed heartbeat write with the rows that survived in the new primary. Chaos drill with a surprise fault: 57.4 s.</a:t>
            </a:r>
            <a:endParaRPr lang="en-US" sz="1250" dirty="0"/>
          </a:p>
        </p:txBody>
      </p:sp>
      <p:sp>
        <p:nvSpPr>
          <p:cNvPr id="41" name="Text 39"/>
          <p:cNvSpPr txBox="1"/>
          <p:nvPr/>
        </p:nvSpPr>
        <p:spPr>
          <a:xfrm>
            <a:off x="548640" y="6473952"/>
            <a:ext cx="11064240" cy="274320"/>
          </a:xfrm>
          <a:prstGeom prst="rect">
            <a:avLst/>
          </a:prstGeom>
          <a:noFill/>
          <a:ln/>
        </p:spPr>
        <p:txBody>
          <a:bodyPr wrap="square" lIns="0" tIns="0" rIns="0" bIns="0" rtlCol="0" anchor="ctr"/>
          <a:lstStyle/>
          <a:p>
            <a:pPr algn="r" indent="0" marL="0">
              <a:buNone/>
            </a:pPr>
            <a:r>
              <a:rPr lang="en-US" sz="900" dirty="0">
                <a:solidFill>
                  <a:srgbClr val="8C99AA"/>
                </a:solidFill>
                <a:latin typeface="Calibri" pitchFamily="34" charset="0"/>
                <a:ea typeface="Calibri" pitchFamily="34" charset="-122"/>
                <a:cs typeface="Calibri" pitchFamily="34" charset="-120"/>
              </a:rPr>
              <a:t>DR Agent: Autonomous DR Validation  ·  Team Azure Armada  ·  Azure Day 2026 Hackathon   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1064240" cy="685800"/>
          </a:xfrm>
          <a:prstGeom prst="rect">
            <a:avLst/>
          </a:prstGeom>
          <a:noFill/>
          <a:ln/>
        </p:spPr>
        <p:txBody>
          <a:bodyPr wrap="square" lIns="0" tIns="0" rIns="0" bIns="0" rtlCol="0" anchor="ctr"/>
          <a:lstStyle/>
          <a:p>
            <a:pPr indent="0" marL="0">
              <a:buNone/>
            </a:pPr>
            <a:r>
              <a:rPr lang="en-US" sz="3200" b="1" dirty="0">
                <a:solidFill>
                  <a:srgbClr val="171721"/>
                </a:solidFill>
                <a:latin typeface="Calibri" pitchFamily="34" charset="0"/>
                <a:ea typeface="Calibri" pitchFamily="34" charset="-122"/>
                <a:cs typeface="Calibri" pitchFamily="34" charset="-120"/>
              </a:rPr>
              <a:t>What it costs to prove recovery</a:t>
            </a:r>
            <a:endParaRPr lang="en-US" sz="3200" dirty="0"/>
          </a:p>
        </p:txBody>
      </p:sp>
      <p:sp>
        <p:nvSpPr>
          <p:cNvPr id="3" name="Text 1"/>
          <p:cNvSpPr txBox="1"/>
          <p:nvPr/>
        </p:nvSpPr>
        <p:spPr>
          <a:xfrm>
            <a:off x="548640" y="987552"/>
            <a:ext cx="11064240" cy="365760"/>
          </a:xfrm>
          <a:prstGeom prst="rect">
            <a:avLst/>
          </a:prstGeom>
          <a:noFill/>
          <a:ln/>
        </p:spPr>
        <p:txBody>
          <a:bodyPr wrap="square" lIns="0" tIns="0" rIns="0" bIns="0" rtlCol="0" anchor="ctr"/>
          <a:lstStyle/>
          <a:p>
            <a:pPr indent="0" marL="0">
              <a:buNone/>
            </a:pPr>
            <a:r>
              <a:rPr lang="en-US" sz="1500" i="1" dirty="0">
                <a:solidFill>
                  <a:srgbClr val="5B6B7F"/>
                </a:solidFill>
                <a:latin typeface="Calibri" pitchFamily="34" charset="0"/>
                <a:ea typeface="Calibri" pitchFamily="34" charset="-122"/>
                <a:cs typeface="Calibri" pitchFamily="34" charset="-120"/>
              </a:rPr>
              <a:t>Actual Azure bills and list prices for what we built, compared with the cost of downtime.</a:t>
            </a:r>
            <a:endParaRPr lang="en-US" sz="1500" dirty="0"/>
          </a:p>
        </p:txBody>
      </p:sp>
      <p:sp>
        <p:nvSpPr>
          <p:cNvPr id="4" name="Shape 2"/>
          <p:cNvSpPr/>
          <p:nvPr/>
        </p:nvSpPr>
        <p:spPr>
          <a:xfrm>
            <a:off x="548640" y="1600200"/>
            <a:ext cx="3520440" cy="2331720"/>
          </a:xfrm>
          <a:prstGeom prst="roundRect">
            <a:avLst>
              <a:gd name="adj" fmla="val 3137"/>
            </a:avLst>
          </a:prstGeom>
          <a:solidFill>
            <a:srgbClr val="F1F5F9"/>
          </a:solidFill>
          <a:ln w="12700">
            <a:solidFill>
              <a:srgbClr val="F1F5F9"/>
            </a:solidFill>
            <a:prstDash val="solid"/>
          </a:ln>
          <a:effectLst>
            <a:outerShdw sx="100000" sy="100000" kx="0" ky="0" algn="bl" rotWithShape="0" blurRad="76200" dist="25400" dir="5400000">
              <a:srgbClr val="000000">
                <a:alpha val="12000"/>
              </a:srgbClr>
            </a:outerShdw>
          </a:effectLst>
        </p:spPr>
      </p:sp>
      <p:sp>
        <p:nvSpPr>
          <p:cNvPr id="5" name="Text 3"/>
          <p:cNvSpPr txBox="1"/>
          <p:nvPr/>
        </p:nvSpPr>
        <p:spPr>
          <a:xfrm>
            <a:off x="822960" y="1783080"/>
            <a:ext cx="3017520" cy="777240"/>
          </a:xfrm>
          <a:prstGeom prst="rect">
            <a:avLst/>
          </a:prstGeom>
          <a:noFill/>
          <a:ln/>
        </p:spPr>
        <p:txBody>
          <a:bodyPr wrap="square" lIns="0" tIns="0" rIns="0" bIns="0" rtlCol="0" anchor="ctr"/>
          <a:lstStyle/>
          <a:p>
            <a:pPr indent="0" marL="0">
              <a:buNone/>
            </a:pPr>
            <a:r>
              <a:rPr lang="en-US" sz="4000" b="1" dirty="0">
                <a:solidFill>
                  <a:srgbClr val="5E2CFE"/>
                </a:solidFill>
                <a:latin typeface="Calibri" pitchFamily="34" charset="0"/>
                <a:ea typeface="Calibri" pitchFamily="34" charset="-122"/>
                <a:cs typeface="Calibri" pitchFamily="34" charset="-120"/>
              </a:rPr>
              <a:t>$0.09</a:t>
            </a:r>
            <a:endParaRPr lang="en-US" sz="4000" dirty="0"/>
          </a:p>
        </p:txBody>
      </p:sp>
      <p:sp>
        <p:nvSpPr>
          <p:cNvPr id="6" name="Text 4"/>
          <p:cNvSpPr txBox="1"/>
          <p:nvPr/>
        </p:nvSpPr>
        <p:spPr>
          <a:xfrm>
            <a:off x="822960" y="2560320"/>
            <a:ext cx="3017520" cy="365760"/>
          </a:xfrm>
          <a:prstGeom prst="rect">
            <a:avLst/>
          </a:prstGeom>
          <a:noFill/>
          <a:ln/>
        </p:spPr>
        <p:txBody>
          <a:bodyPr wrap="square" lIns="0" tIns="0" rIns="0" bIns="0" rtlCol="0" anchor="ctr"/>
          <a:lstStyle/>
          <a:p>
            <a:pPr indent="0" marL="0">
              <a:buNone/>
            </a:pPr>
            <a:r>
              <a:rPr lang="en-US" sz="1500" b="1" dirty="0">
                <a:solidFill>
                  <a:srgbClr val="171721"/>
                </a:solidFill>
                <a:latin typeface="Calibri" pitchFamily="34" charset="0"/>
                <a:ea typeface="Calibri" pitchFamily="34" charset="-122"/>
                <a:cs typeface="Calibri" pitchFamily="34" charset="-120"/>
              </a:rPr>
              <a:t>all AI agent calls</a:t>
            </a:r>
            <a:endParaRPr lang="en-US" sz="1500" dirty="0"/>
          </a:p>
        </p:txBody>
      </p:sp>
      <p:sp>
        <p:nvSpPr>
          <p:cNvPr id="7" name="Text 5"/>
          <p:cNvSpPr txBox="1"/>
          <p:nvPr/>
        </p:nvSpPr>
        <p:spPr>
          <a:xfrm>
            <a:off x="822960" y="2971800"/>
            <a:ext cx="3017520" cy="868680"/>
          </a:xfrm>
          <a:prstGeom prst="rect">
            <a:avLst/>
          </a:prstGeom>
          <a:noFill/>
          <a:ln/>
        </p:spPr>
        <p:txBody>
          <a:bodyPr wrap="square" lIns="0" tIns="0" rIns="0" bIns="0" rtlCol="0" anchor="t"/>
          <a:lstStyle/>
          <a:p>
            <a:pPr indent="0" marL="0">
              <a:buNone/>
            </a:pPr>
            <a:r>
              <a:rPr lang="en-US" sz="1150" dirty="0">
                <a:solidFill>
                  <a:srgbClr val="5B6B7F"/>
                </a:solidFill>
                <a:latin typeface="Calibri" pitchFamily="34" charset="0"/>
                <a:ea typeface="Calibri" pitchFamily="34" charset="-122"/>
                <a:cs typeface="Calibri" pitchFamily="34" charset="-120"/>
              </a:rPr>
              <a:t>every Foundry agent run across 2 days of building and 9 drills: $0.087 (Azure Cost Management) [12]</a:t>
            </a:r>
            <a:endParaRPr lang="en-US" sz="1150" dirty="0"/>
          </a:p>
        </p:txBody>
      </p:sp>
      <p:sp>
        <p:nvSpPr>
          <p:cNvPr id="8" name="Shape 6"/>
          <p:cNvSpPr/>
          <p:nvPr/>
        </p:nvSpPr>
        <p:spPr>
          <a:xfrm>
            <a:off x="4297680" y="1600200"/>
            <a:ext cx="3520440" cy="2331720"/>
          </a:xfrm>
          <a:prstGeom prst="roundRect">
            <a:avLst>
              <a:gd name="adj" fmla="val 3137"/>
            </a:avLst>
          </a:prstGeom>
          <a:solidFill>
            <a:srgbClr val="F1F5F9"/>
          </a:solidFill>
          <a:ln w="12700">
            <a:solidFill>
              <a:srgbClr val="F1F5F9"/>
            </a:solidFill>
            <a:prstDash val="solid"/>
          </a:ln>
          <a:effectLst>
            <a:outerShdw sx="100000" sy="100000" kx="0" ky="0" algn="bl" rotWithShape="0" blurRad="76200" dist="25400" dir="5400000">
              <a:srgbClr val="000000">
                <a:alpha val="12000"/>
              </a:srgbClr>
            </a:outerShdw>
          </a:effectLst>
        </p:spPr>
      </p:sp>
      <p:sp>
        <p:nvSpPr>
          <p:cNvPr id="9" name="Text 7"/>
          <p:cNvSpPr txBox="1"/>
          <p:nvPr/>
        </p:nvSpPr>
        <p:spPr>
          <a:xfrm>
            <a:off x="4572000" y="1783080"/>
            <a:ext cx="3017520" cy="777240"/>
          </a:xfrm>
          <a:prstGeom prst="rect">
            <a:avLst/>
          </a:prstGeom>
          <a:noFill/>
          <a:ln/>
        </p:spPr>
        <p:txBody>
          <a:bodyPr wrap="square" lIns="0" tIns="0" rIns="0" bIns="0" rtlCol="0" anchor="ctr"/>
          <a:lstStyle/>
          <a:p>
            <a:pPr indent="0" marL="0">
              <a:buNone/>
            </a:pPr>
            <a:r>
              <a:rPr lang="en-US" sz="4000" b="1" dirty="0">
                <a:solidFill>
                  <a:srgbClr val="5E2CFE"/>
                </a:solidFill>
                <a:latin typeface="Calibri" pitchFamily="34" charset="0"/>
                <a:ea typeface="Calibri" pitchFamily="34" charset="-122"/>
                <a:cs typeface="Calibri" pitchFamily="34" charset="-120"/>
              </a:rPr>
              <a:t>$2.44</a:t>
            </a:r>
            <a:endParaRPr lang="en-US" sz="4000" dirty="0"/>
          </a:p>
        </p:txBody>
      </p:sp>
      <p:sp>
        <p:nvSpPr>
          <p:cNvPr id="10" name="Text 8"/>
          <p:cNvSpPr txBox="1"/>
          <p:nvPr/>
        </p:nvSpPr>
        <p:spPr>
          <a:xfrm>
            <a:off x="4572000" y="2560320"/>
            <a:ext cx="3017520" cy="365760"/>
          </a:xfrm>
          <a:prstGeom prst="rect">
            <a:avLst/>
          </a:prstGeom>
          <a:noFill/>
          <a:ln/>
        </p:spPr>
        <p:txBody>
          <a:bodyPr wrap="square" lIns="0" tIns="0" rIns="0" bIns="0" rtlCol="0" anchor="ctr"/>
          <a:lstStyle/>
          <a:p>
            <a:pPr indent="0" marL="0">
              <a:buNone/>
            </a:pPr>
            <a:r>
              <a:rPr lang="en-US" sz="1500" b="1" dirty="0">
                <a:solidFill>
                  <a:srgbClr val="171721"/>
                </a:solidFill>
                <a:latin typeface="Calibri" pitchFamily="34" charset="0"/>
                <a:ea typeface="Calibri" pitchFamily="34" charset="-122"/>
                <a:cs typeface="Calibri" pitchFamily="34" charset="-120"/>
              </a:rPr>
              <a:t>entire environment so far</a:t>
            </a:r>
            <a:endParaRPr lang="en-US" sz="1500" dirty="0"/>
          </a:p>
        </p:txBody>
      </p:sp>
      <p:sp>
        <p:nvSpPr>
          <p:cNvPr id="11" name="Text 9"/>
          <p:cNvSpPr txBox="1"/>
          <p:nvPr/>
        </p:nvSpPr>
        <p:spPr>
          <a:xfrm>
            <a:off x="4572000" y="2971800"/>
            <a:ext cx="3017520" cy="868680"/>
          </a:xfrm>
          <a:prstGeom prst="rect">
            <a:avLst/>
          </a:prstGeom>
          <a:noFill/>
          <a:ln/>
        </p:spPr>
        <p:txBody>
          <a:bodyPr wrap="square" lIns="0" tIns="0" rIns="0" bIns="0" rtlCol="0" anchor="t"/>
          <a:lstStyle/>
          <a:p>
            <a:pPr indent="0" marL="0">
              <a:buNone/>
            </a:pPr>
            <a:r>
              <a:rPr lang="en-US" sz="1150" dirty="0">
                <a:solidFill>
                  <a:srgbClr val="5B6B7F"/>
                </a:solidFill>
                <a:latin typeface="Calibri" pitchFamily="34" charset="0"/>
                <a:ea typeface="Calibri" pitchFamily="34" charset="-122"/>
                <a:cs typeface="Calibri" pitchFamily="34" charset="-120"/>
              </a:rPr>
              <a:t>two regions, database, VM, console, monitoring: everything, 17–18 Oct 2026 (Azure Cost Management) [12]</a:t>
            </a:r>
            <a:endParaRPr lang="en-US" sz="1150" dirty="0"/>
          </a:p>
        </p:txBody>
      </p:sp>
      <p:sp>
        <p:nvSpPr>
          <p:cNvPr id="12" name="Shape 10"/>
          <p:cNvSpPr/>
          <p:nvPr/>
        </p:nvSpPr>
        <p:spPr>
          <a:xfrm>
            <a:off x="8046720" y="1600200"/>
            <a:ext cx="3520440" cy="2331720"/>
          </a:xfrm>
          <a:prstGeom prst="roundRect">
            <a:avLst>
              <a:gd name="adj" fmla="val 3137"/>
            </a:avLst>
          </a:prstGeom>
          <a:solidFill>
            <a:srgbClr val="F1F5F9"/>
          </a:solidFill>
          <a:ln w="12700">
            <a:solidFill>
              <a:srgbClr val="F1F5F9"/>
            </a:solidFill>
            <a:prstDash val="solid"/>
          </a:ln>
          <a:effectLst>
            <a:outerShdw sx="100000" sy="100000" kx="0" ky="0" algn="bl" rotWithShape="0" blurRad="76200" dist="25400" dir="5400000">
              <a:srgbClr val="000000">
                <a:alpha val="12000"/>
              </a:srgbClr>
            </a:outerShdw>
          </a:effectLst>
        </p:spPr>
      </p:sp>
      <p:sp>
        <p:nvSpPr>
          <p:cNvPr id="13" name="Text 11"/>
          <p:cNvSpPr txBox="1"/>
          <p:nvPr/>
        </p:nvSpPr>
        <p:spPr>
          <a:xfrm>
            <a:off x="8321040" y="1783080"/>
            <a:ext cx="3017520" cy="777240"/>
          </a:xfrm>
          <a:prstGeom prst="rect">
            <a:avLst/>
          </a:prstGeom>
          <a:noFill/>
          <a:ln/>
        </p:spPr>
        <p:txBody>
          <a:bodyPr wrap="square" lIns="0" tIns="0" rIns="0" bIns="0" rtlCol="0" anchor="ctr"/>
          <a:lstStyle/>
          <a:p>
            <a:pPr indent="0" marL="0">
              <a:buNone/>
            </a:pPr>
            <a:r>
              <a:rPr lang="en-US" sz="4000" b="1" dirty="0">
                <a:solidFill>
                  <a:srgbClr val="5E2CFE"/>
                </a:solidFill>
                <a:latin typeface="Calibri" pitchFamily="34" charset="0"/>
                <a:ea typeface="Calibri" pitchFamily="34" charset="-122"/>
                <a:cs typeface="Calibri" pitchFamily="34" charset="-120"/>
              </a:rPr>
              <a:t>$38.26</a:t>
            </a:r>
            <a:endParaRPr lang="en-US" sz="4000" dirty="0"/>
          </a:p>
        </p:txBody>
      </p:sp>
      <p:sp>
        <p:nvSpPr>
          <p:cNvPr id="14" name="Text 12"/>
          <p:cNvSpPr txBox="1"/>
          <p:nvPr/>
        </p:nvSpPr>
        <p:spPr>
          <a:xfrm>
            <a:off x="8321040" y="2560320"/>
            <a:ext cx="3017520" cy="365760"/>
          </a:xfrm>
          <a:prstGeom prst="rect">
            <a:avLst/>
          </a:prstGeom>
          <a:noFill/>
          <a:ln/>
        </p:spPr>
        <p:txBody>
          <a:bodyPr wrap="square" lIns="0" tIns="0" rIns="0" bIns="0" rtlCol="0" anchor="ctr"/>
          <a:lstStyle/>
          <a:p>
            <a:pPr indent="0" marL="0">
              <a:buNone/>
            </a:pPr>
            <a:r>
              <a:rPr lang="en-US" sz="1500" b="1" dirty="0">
                <a:solidFill>
                  <a:srgbClr val="171721"/>
                </a:solidFill>
                <a:latin typeface="Calibri" pitchFamily="34" charset="0"/>
                <a:ea typeface="Calibri" pitchFamily="34" charset="-122"/>
                <a:cs typeface="Calibri" pitchFamily="34" charset="-120"/>
              </a:rPr>
              <a:t>per month for the DR set-up</a:t>
            </a:r>
            <a:endParaRPr lang="en-US" sz="1500" dirty="0"/>
          </a:p>
        </p:txBody>
      </p:sp>
      <p:sp>
        <p:nvSpPr>
          <p:cNvPr id="15" name="Text 13"/>
          <p:cNvSpPr txBox="1"/>
          <p:nvPr/>
        </p:nvSpPr>
        <p:spPr>
          <a:xfrm>
            <a:off x="8321040" y="2971800"/>
            <a:ext cx="3017520" cy="868680"/>
          </a:xfrm>
          <a:prstGeom prst="rect">
            <a:avLst/>
          </a:prstGeom>
          <a:noFill/>
          <a:ln/>
        </p:spPr>
        <p:txBody>
          <a:bodyPr wrap="square" lIns="0" tIns="0" rIns="0" bIns="0" rtlCol="0" anchor="t"/>
          <a:lstStyle/>
          <a:p>
            <a:pPr indent="0" marL="0">
              <a:buNone/>
            </a:pPr>
            <a:r>
              <a:rPr lang="en-US" sz="1150" dirty="0">
                <a:solidFill>
                  <a:srgbClr val="5B6B7F"/>
                </a:solidFill>
                <a:latin typeface="Calibri" pitchFamily="34" charset="0"/>
                <a:ea typeface="Calibri" pitchFamily="34" charset="-122"/>
                <a:cs typeface="Calibri" pitchFamily="34" charset="-120"/>
              </a:rPr>
              <a:t>both regions + Traffic Manager at Azure list prices (Retail Prices API) [13]</a:t>
            </a:r>
            <a:endParaRPr lang="en-US" sz="1150" dirty="0"/>
          </a:p>
        </p:txBody>
      </p:sp>
      <p:sp>
        <p:nvSpPr>
          <p:cNvPr id="16" name="Shape 14"/>
          <p:cNvSpPr/>
          <p:nvPr/>
        </p:nvSpPr>
        <p:spPr>
          <a:xfrm>
            <a:off x="548640" y="4160520"/>
            <a:ext cx="11064240" cy="1051560"/>
          </a:xfrm>
          <a:prstGeom prst="roundRect">
            <a:avLst>
              <a:gd name="adj" fmla="val 6957"/>
            </a:avLst>
          </a:prstGeom>
          <a:solidFill>
            <a:srgbClr val="171721"/>
          </a:solidFill>
          <a:ln w="12700">
            <a:solidFill>
              <a:srgbClr val="171721"/>
            </a:solidFill>
            <a:prstDash val="solid"/>
          </a:ln>
        </p:spPr>
      </p:sp>
      <p:sp>
        <p:nvSpPr>
          <p:cNvPr id="17" name="Text 15"/>
          <p:cNvSpPr txBox="1"/>
          <p:nvPr/>
        </p:nvSpPr>
        <p:spPr>
          <a:xfrm>
            <a:off x="777240" y="4160520"/>
            <a:ext cx="10607040" cy="1051560"/>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A month of this DR set-up costs less than a fifth of a second of downtime </a:t>
            </a:r>
            <a:pPr indent="0" marL="0">
              <a:buNone/>
            </a:pPr>
            <a:r>
              <a:rPr lang="en-US" sz="1600" dirty="0">
                <a:solidFill>
                  <a:srgbClr val="C9C3E6"/>
                </a:solidFill>
                <a:latin typeface="Calibri" pitchFamily="34" charset="0"/>
                <a:ea typeface="Calibri" pitchFamily="34" charset="-122"/>
                <a:cs typeface="Calibri" pitchFamily="34" charset="-120"/>
              </a:rPr>
              <a:t>at the 2026 average of $15,000 a minute ($38.26 ÷ $250 per second = 0.15 s). [1][13]</a:t>
            </a:r>
            <a:endParaRPr lang="en-US" sz="1600" dirty="0"/>
          </a:p>
        </p:txBody>
      </p:sp>
      <p:sp>
        <p:nvSpPr>
          <p:cNvPr id="18" name="Text 16"/>
          <p:cNvSpPr txBox="1"/>
          <p:nvPr/>
        </p:nvSpPr>
        <p:spPr>
          <a:xfrm>
            <a:off x="548640" y="5440680"/>
            <a:ext cx="11064240" cy="822960"/>
          </a:xfrm>
          <a:prstGeom prst="rect">
            <a:avLst/>
          </a:prstGeom>
          <a:noFill/>
          <a:ln/>
        </p:spPr>
        <p:txBody>
          <a:bodyPr wrap="square" lIns="0" tIns="0" rIns="0" bIns="0" rtlCol="0" anchor="t"/>
          <a:lstStyle/>
          <a:p>
            <a:pPr indent="0" marL="0">
              <a:buNone/>
            </a:pPr>
            <a:r>
              <a:rPr lang="en-US" sz="1300" b="1" dirty="0">
                <a:solidFill>
                  <a:srgbClr val="171721"/>
                </a:solidFill>
                <a:latin typeface="Calibri" pitchFamily="34" charset="0"/>
                <a:ea typeface="Calibri" pitchFamily="34" charset="-122"/>
                <a:cs typeface="Calibri" pitchFamily="34" charset="-120"/>
              </a:rPr>
              <a:t>Cost-aware by design: </a:t>
            </a:r>
            <a:pPr indent="0" marL="0">
              <a:buNone/>
            </a:pPr>
            <a:r>
              <a:rPr lang="en-US" sz="1300" dirty="0">
                <a:solidFill>
                  <a:srgbClr val="1B2635"/>
                </a:solidFill>
                <a:latin typeface="Calibri" pitchFamily="34" charset="0"/>
                <a:ea typeface="Calibri" pitchFamily="34" charset="-122"/>
                <a:cs typeface="Calibri" pitchFamily="34" charset="-120"/>
              </a:rPr>
              <a:t>the Architect prices every strategy from live Azure list prices and flags anything over budget; the whole environment is created and removed with one command (up.sh / down.sh), so nothing runs when it is not needed.</a:t>
            </a:r>
            <a:endParaRPr lang="en-US" sz="1300" dirty="0"/>
          </a:p>
        </p:txBody>
      </p:sp>
      <p:sp>
        <p:nvSpPr>
          <p:cNvPr id="19" name="Text 17"/>
          <p:cNvSpPr txBox="1"/>
          <p:nvPr/>
        </p:nvSpPr>
        <p:spPr>
          <a:xfrm>
            <a:off x="548640" y="6473952"/>
            <a:ext cx="11064240" cy="274320"/>
          </a:xfrm>
          <a:prstGeom prst="rect">
            <a:avLst/>
          </a:prstGeom>
          <a:noFill/>
          <a:ln/>
        </p:spPr>
        <p:txBody>
          <a:bodyPr wrap="square" lIns="0" tIns="0" rIns="0" bIns="0" rtlCol="0" anchor="ctr"/>
          <a:lstStyle/>
          <a:p>
            <a:pPr algn="r" indent="0" marL="0">
              <a:buNone/>
            </a:pPr>
            <a:r>
              <a:rPr lang="en-US" sz="900" dirty="0">
                <a:solidFill>
                  <a:srgbClr val="8C99AA"/>
                </a:solidFill>
                <a:latin typeface="Calibri" pitchFamily="34" charset="0"/>
                <a:ea typeface="Calibri" pitchFamily="34" charset="-122"/>
                <a:cs typeface="Calibri" pitchFamily="34" charset="-120"/>
              </a:rPr>
              <a:t>DR Agent: Autonomous DR Validation  ·  Team Azure Armada  ·  Azure Day 2026 Hackathon   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1064240" cy="685800"/>
          </a:xfrm>
          <a:prstGeom prst="rect">
            <a:avLst/>
          </a:prstGeom>
          <a:noFill/>
          <a:ln/>
        </p:spPr>
        <p:txBody>
          <a:bodyPr wrap="square" lIns="0" tIns="0" rIns="0" bIns="0" rtlCol="0" anchor="ctr"/>
          <a:lstStyle/>
          <a:p>
            <a:pPr indent="0" marL="0">
              <a:buNone/>
            </a:pPr>
            <a:r>
              <a:rPr lang="en-US" sz="3200" b="1" dirty="0">
                <a:solidFill>
                  <a:srgbClr val="171721"/>
                </a:solidFill>
                <a:latin typeface="Calibri" pitchFamily="34" charset="0"/>
                <a:ea typeface="Calibri" pitchFamily="34" charset="-122"/>
                <a:cs typeface="Calibri" pitchFamily="34" charset="-120"/>
              </a:rPr>
              <a:t>Live demo, and where it goes next</a:t>
            </a:r>
            <a:endParaRPr lang="en-US" sz="3200" dirty="0"/>
          </a:p>
        </p:txBody>
      </p:sp>
      <p:sp>
        <p:nvSpPr>
          <p:cNvPr id="3" name="Text 1"/>
          <p:cNvSpPr txBox="1"/>
          <p:nvPr/>
        </p:nvSpPr>
        <p:spPr>
          <a:xfrm>
            <a:off x="548640" y="987552"/>
            <a:ext cx="11064240" cy="365760"/>
          </a:xfrm>
          <a:prstGeom prst="rect">
            <a:avLst/>
          </a:prstGeom>
          <a:noFill/>
          <a:ln/>
        </p:spPr>
        <p:txBody>
          <a:bodyPr wrap="square" lIns="0" tIns="0" rIns="0" bIns="0" rtlCol="0" anchor="ctr"/>
          <a:lstStyle/>
          <a:p>
            <a:pPr indent="0" marL="0">
              <a:buNone/>
            </a:pPr>
            <a:r>
              <a:rPr lang="en-US" sz="1500" i="1" dirty="0">
                <a:solidFill>
                  <a:srgbClr val="5B6B7F"/>
                </a:solidFill>
                <a:latin typeface="Calibri" pitchFamily="34" charset="0"/>
                <a:ea typeface="Calibri" pitchFamily="34" charset="-122"/>
                <a:cs typeface="Calibri" pitchFamily="34" charset="-120"/>
              </a:rPr>
              <a:t>What you will see in the next minutes, on your own phone.</a:t>
            </a:r>
            <a:endParaRPr lang="en-US" sz="1500" dirty="0"/>
          </a:p>
        </p:txBody>
      </p:sp>
      <p:sp>
        <p:nvSpPr>
          <p:cNvPr id="4" name="Text 2"/>
          <p:cNvSpPr txBox="1"/>
          <p:nvPr/>
        </p:nvSpPr>
        <p:spPr>
          <a:xfrm>
            <a:off x="548640" y="1554480"/>
            <a:ext cx="5486400" cy="365760"/>
          </a:xfrm>
          <a:prstGeom prst="rect">
            <a:avLst/>
          </a:prstGeom>
          <a:noFill/>
          <a:ln/>
        </p:spPr>
        <p:txBody>
          <a:bodyPr wrap="square" lIns="0" tIns="0" rIns="0" bIns="0" rtlCol="0" anchor="ctr"/>
          <a:lstStyle/>
          <a:p>
            <a:pPr indent="0" marL="0">
              <a:buNone/>
            </a:pPr>
            <a:r>
              <a:rPr lang="en-US" sz="1800" b="1" dirty="0">
                <a:solidFill>
                  <a:srgbClr val="171721"/>
                </a:solidFill>
                <a:latin typeface="Calibri" pitchFamily="34" charset="0"/>
                <a:ea typeface="Calibri" pitchFamily="34" charset="-122"/>
                <a:cs typeface="Calibri" pitchFamily="34" charset="-120"/>
              </a:rPr>
              <a:t>The demo</a:t>
            </a:r>
            <a:endParaRPr lang="en-US" sz="1800" dirty="0"/>
          </a:p>
        </p:txBody>
      </p:sp>
      <p:sp>
        <p:nvSpPr>
          <p:cNvPr id="5" name="Shape 3"/>
          <p:cNvSpPr/>
          <p:nvPr/>
        </p:nvSpPr>
        <p:spPr>
          <a:xfrm>
            <a:off x="548640" y="2057400"/>
            <a:ext cx="411480" cy="411480"/>
          </a:xfrm>
          <a:prstGeom prst="ellipse">
            <a:avLst/>
          </a:prstGeom>
          <a:solidFill>
            <a:srgbClr val="5E2CFE"/>
          </a:solidFill>
          <a:ln w="12700">
            <a:solidFill>
              <a:srgbClr val="5E2CFE"/>
            </a:solidFill>
            <a:prstDash val="solid"/>
          </a:ln>
        </p:spPr>
      </p:sp>
      <p:sp>
        <p:nvSpPr>
          <p:cNvPr id="6" name="Text 4"/>
          <p:cNvSpPr txBox="1"/>
          <p:nvPr/>
        </p:nvSpPr>
        <p:spPr>
          <a:xfrm>
            <a:off x="548640" y="2057400"/>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1097280" y="2011680"/>
            <a:ext cx="5120640" cy="548640"/>
          </a:xfrm>
          <a:prstGeom prst="rect">
            <a:avLst/>
          </a:prstGeom>
          <a:noFill/>
          <a:ln/>
        </p:spPr>
        <p:txBody>
          <a:bodyPr wrap="square" lIns="0" tIns="0" rIns="0" bIns="0" rtlCol="0" anchor="ctr"/>
          <a:lstStyle/>
          <a:p>
            <a:pPr indent="0" marL="0">
              <a:buNone/>
            </a:pPr>
            <a:r>
              <a:rPr lang="en-US" sz="1350" dirty="0">
                <a:solidFill>
                  <a:srgbClr val="1B2635"/>
                </a:solidFill>
                <a:latin typeface="Calibri" pitchFamily="34" charset="0"/>
                <a:ea typeface="Calibri" pitchFamily="34" charset="-122"/>
                <a:cs typeface="Calibri" pitchFamily="34" charset="-120"/>
              </a:rPr>
              <a:t>Scan the QR code: Contoso Payments opens on your phone; make a payment</a:t>
            </a:r>
            <a:endParaRPr lang="en-US" sz="1350" dirty="0"/>
          </a:p>
        </p:txBody>
      </p:sp>
      <p:sp>
        <p:nvSpPr>
          <p:cNvPr id="8" name="Shape 6"/>
          <p:cNvSpPr/>
          <p:nvPr/>
        </p:nvSpPr>
        <p:spPr>
          <a:xfrm>
            <a:off x="548640" y="2843784"/>
            <a:ext cx="411480" cy="411480"/>
          </a:xfrm>
          <a:prstGeom prst="ellipse">
            <a:avLst/>
          </a:prstGeom>
          <a:solidFill>
            <a:srgbClr val="5E2CFE"/>
          </a:solidFill>
          <a:ln w="12700">
            <a:solidFill>
              <a:srgbClr val="5E2CFE"/>
            </a:solidFill>
            <a:prstDash val="solid"/>
          </a:ln>
        </p:spPr>
      </p:sp>
      <p:sp>
        <p:nvSpPr>
          <p:cNvPr id="9" name="Text 7"/>
          <p:cNvSpPr txBox="1"/>
          <p:nvPr/>
        </p:nvSpPr>
        <p:spPr>
          <a:xfrm>
            <a:off x="548640" y="2843784"/>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1097280" y="2798064"/>
            <a:ext cx="5120640" cy="548640"/>
          </a:xfrm>
          <a:prstGeom prst="rect">
            <a:avLst/>
          </a:prstGeom>
          <a:noFill/>
          <a:ln/>
        </p:spPr>
        <p:txBody>
          <a:bodyPr wrap="square" lIns="0" tIns="0" rIns="0" bIns="0" rtlCol="0" anchor="ctr"/>
          <a:lstStyle/>
          <a:p>
            <a:pPr indent="0" marL="0">
              <a:buNone/>
            </a:pPr>
            <a:r>
              <a:rPr lang="en-US" sz="1350" dirty="0">
                <a:solidFill>
                  <a:srgbClr val="1B2635"/>
                </a:solidFill>
                <a:latin typeface="Calibri" pitchFamily="34" charset="0"/>
                <a:ea typeface="Calibri" pitchFamily="34" charset="-122"/>
                <a:cs typeface="Calibri" pitchFamily="34" charset="-120"/>
              </a:rPr>
              <a:t>Readiness says NO-GO: Southeast Asia is missing a setting; one approved click fixes it</a:t>
            </a:r>
            <a:endParaRPr lang="en-US" sz="1350" dirty="0"/>
          </a:p>
        </p:txBody>
      </p:sp>
      <p:sp>
        <p:nvSpPr>
          <p:cNvPr id="11" name="Shape 9"/>
          <p:cNvSpPr/>
          <p:nvPr/>
        </p:nvSpPr>
        <p:spPr>
          <a:xfrm>
            <a:off x="548640" y="3630168"/>
            <a:ext cx="411480" cy="411480"/>
          </a:xfrm>
          <a:prstGeom prst="ellipse">
            <a:avLst/>
          </a:prstGeom>
          <a:solidFill>
            <a:srgbClr val="5E2CFE"/>
          </a:solidFill>
          <a:ln w="12700">
            <a:solidFill>
              <a:srgbClr val="5E2CFE"/>
            </a:solidFill>
            <a:prstDash val="solid"/>
          </a:ln>
        </p:spPr>
      </p:sp>
      <p:sp>
        <p:nvSpPr>
          <p:cNvPr id="12" name="Text 10"/>
          <p:cNvSpPr txBox="1"/>
          <p:nvPr/>
        </p:nvSpPr>
        <p:spPr>
          <a:xfrm>
            <a:off x="548640" y="3630168"/>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1097280" y="3584448"/>
            <a:ext cx="5120640" cy="548640"/>
          </a:xfrm>
          <a:prstGeom prst="rect">
            <a:avLst/>
          </a:prstGeom>
          <a:noFill/>
          <a:ln/>
        </p:spPr>
        <p:txBody>
          <a:bodyPr wrap="square" lIns="0" tIns="0" rIns="0" bIns="0" rtlCol="0" anchor="ctr"/>
          <a:lstStyle/>
          <a:p>
            <a:pPr indent="0" marL="0">
              <a:buNone/>
            </a:pPr>
            <a:r>
              <a:rPr lang="en-US" sz="1350" dirty="0">
                <a:solidFill>
                  <a:srgbClr val="1B2635"/>
                </a:solidFill>
                <a:latin typeface="Calibri" pitchFamily="34" charset="0"/>
                <a:ea typeface="Calibri" pitchFamily="34" charset="-122"/>
                <a:cs typeface="Calibri" pitchFamily="34" charset="-120"/>
              </a:rPr>
              <a:t>The Planner builds the drill; we approve it and inject the outage</a:t>
            </a:r>
            <a:endParaRPr lang="en-US" sz="1350" dirty="0"/>
          </a:p>
        </p:txBody>
      </p:sp>
      <p:sp>
        <p:nvSpPr>
          <p:cNvPr id="14" name="Shape 12"/>
          <p:cNvSpPr/>
          <p:nvPr/>
        </p:nvSpPr>
        <p:spPr>
          <a:xfrm>
            <a:off x="548640" y="4416552"/>
            <a:ext cx="411480" cy="411480"/>
          </a:xfrm>
          <a:prstGeom prst="ellipse">
            <a:avLst/>
          </a:prstGeom>
          <a:solidFill>
            <a:srgbClr val="5E2CFE"/>
          </a:solidFill>
          <a:ln w="12700">
            <a:solidFill>
              <a:srgbClr val="5E2CFE"/>
            </a:solidFill>
            <a:prstDash val="solid"/>
          </a:ln>
        </p:spPr>
      </p:sp>
      <p:sp>
        <p:nvSpPr>
          <p:cNvPr id="15" name="Text 13"/>
          <p:cNvSpPr txBox="1"/>
          <p:nvPr/>
        </p:nvSpPr>
        <p:spPr>
          <a:xfrm>
            <a:off x="548640" y="4416552"/>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1097280" y="4370832"/>
            <a:ext cx="5120640" cy="548640"/>
          </a:xfrm>
          <a:prstGeom prst="rect">
            <a:avLst/>
          </a:prstGeom>
          <a:noFill/>
          <a:ln/>
        </p:spPr>
        <p:txBody>
          <a:bodyPr wrap="square" lIns="0" tIns="0" rIns="0" bIns="0" rtlCol="0" anchor="ctr"/>
          <a:lstStyle/>
          <a:p>
            <a:pPr indent="0" marL="0">
              <a:buNone/>
            </a:pPr>
            <a:r>
              <a:rPr lang="en-US" sz="1350" dirty="0">
                <a:solidFill>
                  <a:srgbClr val="1B2635"/>
                </a:solidFill>
                <a:latin typeface="Calibri" pitchFamily="34" charset="0"/>
                <a:ea typeface="Calibri" pitchFamily="34" charset="-122"/>
                <a:cs typeface="Calibri" pitchFamily="34" charset="-120"/>
              </a:rPr>
              <a:t>Your phone goes red, then reconnects to Southeast Asia in ~30 s with the same balance</a:t>
            </a:r>
            <a:endParaRPr lang="en-US" sz="1350" dirty="0"/>
          </a:p>
        </p:txBody>
      </p:sp>
      <p:sp>
        <p:nvSpPr>
          <p:cNvPr id="17" name="Shape 15"/>
          <p:cNvSpPr/>
          <p:nvPr/>
        </p:nvSpPr>
        <p:spPr>
          <a:xfrm>
            <a:off x="548640" y="5202936"/>
            <a:ext cx="411480" cy="411480"/>
          </a:xfrm>
          <a:prstGeom prst="ellipse">
            <a:avLst/>
          </a:prstGeom>
          <a:solidFill>
            <a:srgbClr val="5E2CFE"/>
          </a:solidFill>
          <a:ln w="12700">
            <a:solidFill>
              <a:srgbClr val="5E2CFE"/>
            </a:solidFill>
            <a:prstDash val="solid"/>
          </a:ln>
        </p:spPr>
      </p:sp>
      <p:sp>
        <p:nvSpPr>
          <p:cNvPr id="18" name="Text 16"/>
          <p:cNvSpPr txBox="1"/>
          <p:nvPr/>
        </p:nvSpPr>
        <p:spPr>
          <a:xfrm>
            <a:off x="548640" y="5202936"/>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5</a:t>
            </a:r>
            <a:endParaRPr lang="en-US" sz="1400" dirty="0"/>
          </a:p>
        </p:txBody>
      </p:sp>
      <p:sp>
        <p:nvSpPr>
          <p:cNvPr id="19" name="Text 17"/>
          <p:cNvSpPr txBox="1"/>
          <p:nvPr/>
        </p:nvSpPr>
        <p:spPr>
          <a:xfrm>
            <a:off x="1097280" y="5157216"/>
            <a:ext cx="5120640" cy="548640"/>
          </a:xfrm>
          <a:prstGeom prst="rect">
            <a:avLst/>
          </a:prstGeom>
          <a:noFill/>
          <a:ln/>
        </p:spPr>
        <p:txBody>
          <a:bodyPr wrap="square" lIns="0" tIns="0" rIns="0" bIns="0" rtlCol="0" anchor="ctr"/>
          <a:lstStyle/>
          <a:p>
            <a:pPr indent="0" marL="0">
              <a:buNone/>
            </a:pPr>
            <a:r>
              <a:rPr lang="en-US" sz="1350" dirty="0">
                <a:solidFill>
                  <a:srgbClr val="1B2635"/>
                </a:solidFill>
                <a:latin typeface="Calibri" pitchFamily="34" charset="0"/>
                <a:ea typeface="Calibri" pitchFamily="34" charset="-122"/>
                <a:cs typeface="Calibri" pitchFamily="34" charset="-120"/>
              </a:rPr>
              <a:t>Failback, then the report: RTO, RPO and every second accounted for</a:t>
            </a:r>
            <a:endParaRPr lang="en-US" sz="1350" dirty="0"/>
          </a:p>
        </p:txBody>
      </p:sp>
      <p:sp>
        <p:nvSpPr>
          <p:cNvPr id="20" name="Shape 18"/>
          <p:cNvSpPr/>
          <p:nvPr/>
        </p:nvSpPr>
        <p:spPr>
          <a:xfrm>
            <a:off x="6583680" y="1554480"/>
            <a:ext cx="5029200" cy="4709160"/>
          </a:xfrm>
          <a:prstGeom prst="roundRect">
            <a:avLst>
              <a:gd name="adj" fmla="val 1553"/>
            </a:avLst>
          </a:prstGeom>
          <a:solidFill>
            <a:srgbClr val="F1F5F9"/>
          </a:solidFill>
          <a:ln w="12700">
            <a:solidFill>
              <a:srgbClr val="F1F5F9"/>
            </a:solidFill>
            <a:prstDash val="solid"/>
          </a:ln>
        </p:spPr>
      </p:sp>
      <p:sp>
        <p:nvSpPr>
          <p:cNvPr id="21" name="Text 19"/>
          <p:cNvSpPr txBox="1"/>
          <p:nvPr/>
        </p:nvSpPr>
        <p:spPr>
          <a:xfrm>
            <a:off x="6858000" y="1737360"/>
            <a:ext cx="4572000" cy="365760"/>
          </a:xfrm>
          <a:prstGeom prst="rect">
            <a:avLst/>
          </a:prstGeom>
          <a:noFill/>
          <a:ln/>
        </p:spPr>
        <p:txBody>
          <a:bodyPr wrap="square" lIns="0" tIns="0" rIns="0" bIns="0" rtlCol="0" anchor="ctr"/>
          <a:lstStyle/>
          <a:p>
            <a:pPr indent="0" marL="0">
              <a:buNone/>
            </a:pPr>
            <a:r>
              <a:rPr lang="en-US" sz="1800" b="1" dirty="0">
                <a:solidFill>
                  <a:srgbClr val="171721"/>
                </a:solidFill>
                <a:latin typeface="Calibri" pitchFamily="34" charset="0"/>
                <a:ea typeface="Calibri" pitchFamily="34" charset="-122"/>
                <a:cs typeface="Calibri" pitchFamily="34" charset="-120"/>
              </a:rPr>
              <a:t>Roadmap (not in the demo)</a:t>
            </a:r>
            <a:endParaRPr lang="en-US" sz="1800" dirty="0"/>
          </a:p>
        </p:txBody>
      </p:sp>
      <p:sp>
        <p:nvSpPr>
          <p:cNvPr id="22" name="Text 20"/>
          <p:cNvSpPr txBox="1"/>
          <p:nvPr/>
        </p:nvSpPr>
        <p:spPr>
          <a:xfrm>
            <a:off x="6858000" y="2240280"/>
            <a:ext cx="4526280" cy="292608"/>
          </a:xfrm>
          <a:prstGeom prst="rect">
            <a:avLst/>
          </a:prstGeom>
          <a:noFill/>
          <a:ln/>
        </p:spPr>
        <p:txBody>
          <a:bodyPr wrap="square" lIns="0" tIns="0" rIns="0" bIns="0" rtlCol="0" anchor="ctr"/>
          <a:lstStyle/>
          <a:p>
            <a:pPr indent="0" marL="0">
              <a:buNone/>
            </a:pPr>
            <a:r>
              <a:rPr lang="en-US" sz="1350" b="1" dirty="0">
                <a:solidFill>
                  <a:srgbClr val="171721"/>
                </a:solidFill>
                <a:latin typeface="Calibri" pitchFamily="34" charset="0"/>
                <a:ea typeface="Calibri" pitchFamily="34" charset="-122"/>
                <a:cs typeface="Calibri" pitchFamily="34" charset="-120"/>
              </a:rPr>
              <a:t>Scheduled drills</a:t>
            </a:r>
            <a:endParaRPr lang="en-US" sz="1350" dirty="0"/>
          </a:p>
        </p:txBody>
      </p:sp>
      <p:sp>
        <p:nvSpPr>
          <p:cNvPr id="23" name="Text 21"/>
          <p:cNvSpPr txBox="1"/>
          <p:nvPr/>
        </p:nvSpPr>
        <p:spPr>
          <a:xfrm>
            <a:off x="6858000" y="2532888"/>
            <a:ext cx="4526280" cy="365760"/>
          </a:xfrm>
          <a:prstGeom prst="rect">
            <a:avLst/>
          </a:prstGeom>
          <a:noFill/>
          <a:ln/>
        </p:spPr>
        <p:txBody>
          <a:bodyPr wrap="square" lIns="0" tIns="0" rIns="0" bIns="0" rtlCol="0" anchor="ctr"/>
          <a:lstStyle/>
          <a:p>
            <a:pPr indent="0" marL="0">
              <a:buNone/>
            </a:pPr>
            <a:r>
              <a:rPr lang="en-US" sz="1200" dirty="0">
                <a:solidFill>
                  <a:srgbClr val="1B2635"/>
                </a:solidFill>
                <a:latin typeface="Calibri" pitchFamily="34" charset="0"/>
                <a:ea typeface="Calibri" pitchFamily="34" charset="-122"/>
                <a:cs typeface="Calibri" pitchFamily="34" charset="-120"/>
              </a:rPr>
              <a:t>weekly, and after every infrastructure change</a:t>
            </a:r>
            <a:endParaRPr lang="en-US" sz="1200" dirty="0"/>
          </a:p>
        </p:txBody>
      </p:sp>
      <p:sp>
        <p:nvSpPr>
          <p:cNvPr id="24" name="Text 22"/>
          <p:cNvSpPr txBox="1"/>
          <p:nvPr/>
        </p:nvSpPr>
        <p:spPr>
          <a:xfrm>
            <a:off x="6858000" y="3017520"/>
            <a:ext cx="4526280" cy="292608"/>
          </a:xfrm>
          <a:prstGeom prst="rect">
            <a:avLst/>
          </a:prstGeom>
          <a:noFill/>
          <a:ln/>
        </p:spPr>
        <p:txBody>
          <a:bodyPr wrap="square" lIns="0" tIns="0" rIns="0" bIns="0" rtlCol="0" anchor="ctr"/>
          <a:lstStyle/>
          <a:p>
            <a:pPr indent="0" marL="0">
              <a:buNone/>
            </a:pPr>
            <a:r>
              <a:rPr lang="en-US" sz="1350" b="1" dirty="0">
                <a:solidFill>
                  <a:srgbClr val="171721"/>
                </a:solidFill>
                <a:latin typeface="Calibri" pitchFamily="34" charset="0"/>
                <a:ea typeface="Calibri" pitchFamily="34" charset="-122"/>
                <a:cs typeface="Calibri" pitchFamily="34" charset="-120"/>
              </a:rPr>
              <a:t>More services</a:t>
            </a:r>
            <a:endParaRPr lang="en-US" sz="1350" dirty="0"/>
          </a:p>
        </p:txBody>
      </p:sp>
      <p:sp>
        <p:nvSpPr>
          <p:cNvPr id="25" name="Text 23"/>
          <p:cNvSpPr txBox="1"/>
          <p:nvPr/>
        </p:nvSpPr>
        <p:spPr>
          <a:xfrm>
            <a:off x="6858000" y="3310128"/>
            <a:ext cx="4526280" cy="365760"/>
          </a:xfrm>
          <a:prstGeom prst="rect">
            <a:avLst/>
          </a:prstGeom>
          <a:noFill/>
          <a:ln/>
        </p:spPr>
        <p:txBody>
          <a:bodyPr wrap="square" lIns="0" tIns="0" rIns="0" bIns="0" rtlCol="0" anchor="ctr"/>
          <a:lstStyle/>
          <a:p>
            <a:pPr indent="0" marL="0">
              <a:buNone/>
            </a:pPr>
            <a:r>
              <a:rPr lang="en-US" sz="1200" dirty="0">
                <a:solidFill>
                  <a:srgbClr val="1B2635"/>
                </a:solidFill>
                <a:latin typeface="Calibri" pitchFamily="34" charset="0"/>
                <a:ea typeface="Calibri" pitchFamily="34" charset="-122"/>
                <a:cs typeface="Calibri" pitchFamily="34" charset="-120"/>
              </a:rPr>
              <a:t>AKS, Cosmos DB, Storage, Service Bus as new allowlisted actions</a:t>
            </a:r>
            <a:endParaRPr lang="en-US" sz="1200" dirty="0"/>
          </a:p>
        </p:txBody>
      </p:sp>
      <p:sp>
        <p:nvSpPr>
          <p:cNvPr id="26" name="Text 24"/>
          <p:cNvSpPr txBox="1"/>
          <p:nvPr/>
        </p:nvSpPr>
        <p:spPr>
          <a:xfrm>
            <a:off x="6858000" y="3794760"/>
            <a:ext cx="4526280" cy="292608"/>
          </a:xfrm>
          <a:prstGeom prst="rect">
            <a:avLst/>
          </a:prstGeom>
          <a:noFill/>
          <a:ln/>
        </p:spPr>
        <p:txBody>
          <a:bodyPr wrap="square" lIns="0" tIns="0" rIns="0" bIns="0" rtlCol="0" anchor="ctr"/>
          <a:lstStyle/>
          <a:p>
            <a:pPr indent="0" marL="0">
              <a:buNone/>
            </a:pPr>
            <a:r>
              <a:rPr lang="en-US" sz="1350" b="1" dirty="0">
                <a:solidFill>
                  <a:srgbClr val="171721"/>
                </a:solidFill>
                <a:latin typeface="Calibri" pitchFamily="34" charset="0"/>
                <a:ea typeface="Calibri" pitchFamily="34" charset="-122"/>
                <a:cs typeface="Calibri" pitchFamily="34" charset="-120"/>
              </a:rPr>
              <a:t>Azure Chaos Studio</a:t>
            </a:r>
            <a:endParaRPr lang="en-US" sz="1350" dirty="0"/>
          </a:p>
        </p:txBody>
      </p:sp>
      <p:sp>
        <p:nvSpPr>
          <p:cNvPr id="27" name="Text 25"/>
          <p:cNvSpPr txBox="1"/>
          <p:nvPr/>
        </p:nvSpPr>
        <p:spPr>
          <a:xfrm>
            <a:off x="6858000" y="4087368"/>
            <a:ext cx="4526280" cy="365760"/>
          </a:xfrm>
          <a:prstGeom prst="rect">
            <a:avLst/>
          </a:prstGeom>
          <a:noFill/>
          <a:ln/>
        </p:spPr>
        <p:txBody>
          <a:bodyPr wrap="square" lIns="0" tIns="0" rIns="0" bIns="0" rtlCol="0" anchor="ctr"/>
          <a:lstStyle/>
          <a:p>
            <a:pPr indent="0" marL="0">
              <a:buNone/>
            </a:pPr>
            <a:r>
              <a:rPr lang="en-US" sz="1200" dirty="0">
                <a:solidFill>
                  <a:srgbClr val="1B2635"/>
                </a:solidFill>
                <a:latin typeface="Calibri" pitchFamily="34" charset="0"/>
                <a:ea typeface="Calibri" pitchFamily="34" charset="-122"/>
                <a:cs typeface="Calibri" pitchFamily="34" charset="-120"/>
              </a:rPr>
              <a:t>standard fault library alongside our own faults</a:t>
            </a:r>
            <a:endParaRPr lang="en-US" sz="1200" dirty="0"/>
          </a:p>
        </p:txBody>
      </p:sp>
      <p:sp>
        <p:nvSpPr>
          <p:cNvPr id="28" name="Text 26"/>
          <p:cNvSpPr txBox="1"/>
          <p:nvPr/>
        </p:nvSpPr>
        <p:spPr>
          <a:xfrm>
            <a:off x="6858000" y="4572000"/>
            <a:ext cx="4526280" cy="292608"/>
          </a:xfrm>
          <a:prstGeom prst="rect">
            <a:avLst/>
          </a:prstGeom>
          <a:noFill/>
          <a:ln/>
        </p:spPr>
        <p:txBody>
          <a:bodyPr wrap="square" lIns="0" tIns="0" rIns="0" bIns="0" rtlCol="0" anchor="ctr"/>
          <a:lstStyle/>
          <a:p>
            <a:pPr indent="0" marL="0">
              <a:buNone/>
            </a:pPr>
            <a:r>
              <a:rPr lang="en-US" sz="1350" b="1" dirty="0">
                <a:solidFill>
                  <a:srgbClr val="171721"/>
                </a:solidFill>
                <a:latin typeface="Calibri" pitchFamily="34" charset="0"/>
                <a:ea typeface="Calibri" pitchFamily="34" charset="-122"/>
                <a:cs typeface="Calibri" pitchFamily="34" charset="-120"/>
              </a:rPr>
              <a:t>Approvals where teams work</a:t>
            </a:r>
            <a:endParaRPr lang="en-US" sz="1350" dirty="0"/>
          </a:p>
        </p:txBody>
      </p:sp>
      <p:sp>
        <p:nvSpPr>
          <p:cNvPr id="29" name="Text 27"/>
          <p:cNvSpPr txBox="1"/>
          <p:nvPr/>
        </p:nvSpPr>
        <p:spPr>
          <a:xfrm>
            <a:off x="6858000" y="4864608"/>
            <a:ext cx="4526280" cy="365760"/>
          </a:xfrm>
          <a:prstGeom prst="rect">
            <a:avLst/>
          </a:prstGeom>
          <a:noFill/>
          <a:ln/>
        </p:spPr>
        <p:txBody>
          <a:bodyPr wrap="square" lIns="0" tIns="0" rIns="0" bIns="0" rtlCol="0" anchor="ctr"/>
          <a:lstStyle/>
          <a:p>
            <a:pPr indent="0" marL="0">
              <a:buNone/>
            </a:pPr>
            <a:r>
              <a:rPr lang="en-US" sz="1200" dirty="0">
                <a:solidFill>
                  <a:srgbClr val="1B2635"/>
                </a:solidFill>
                <a:latin typeface="Calibri" pitchFamily="34" charset="0"/>
                <a:ea typeface="Calibri" pitchFamily="34" charset="-122"/>
                <a:cs typeface="Calibri" pitchFamily="34" charset="-120"/>
              </a:rPr>
              <a:t>Microsoft Teams approval cards</a:t>
            </a:r>
            <a:endParaRPr lang="en-US" sz="1200" dirty="0"/>
          </a:p>
        </p:txBody>
      </p:sp>
      <p:sp>
        <p:nvSpPr>
          <p:cNvPr id="30" name="Text 28"/>
          <p:cNvSpPr txBox="1"/>
          <p:nvPr/>
        </p:nvSpPr>
        <p:spPr>
          <a:xfrm>
            <a:off x="6858000" y="5349240"/>
            <a:ext cx="4526280" cy="292608"/>
          </a:xfrm>
          <a:prstGeom prst="rect">
            <a:avLst/>
          </a:prstGeom>
          <a:noFill/>
          <a:ln/>
        </p:spPr>
        <p:txBody>
          <a:bodyPr wrap="square" lIns="0" tIns="0" rIns="0" bIns="0" rtlCol="0" anchor="ctr"/>
          <a:lstStyle/>
          <a:p>
            <a:pPr indent="0" marL="0">
              <a:buNone/>
            </a:pPr>
            <a:r>
              <a:rPr lang="en-US" sz="1350" b="1" dirty="0">
                <a:solidFill>
                  <a:srgbClr val="171721"/>
                </a:solidFill>
                <a:latin typeface="Calibri" pitchFamily="34" charset="0"/>
                <a:ea typeface="Calibri" pitchFamily="34" charset="-122"/>
                <a:cs typeface="Calibri" pitchFamily="34" charset="-120"/>
              </a:rPr>
              <a:t>Portfolio view</a:t>
            </a:r>
            <a:endParaRPr lang="en-US" sz="1350" dirty="0"/>
          </a:p>
        </p:txBody>
      </p:sp>
      <p:sp>
        <p:nvSpPr>
          <p:cNvPr id="31" name="Text 29"/>
          <p:cNvSpPr txBox="1"/>
          <p:nvPr/>
        </p:nvSpPr>
        <p:spPr>
          <a:xfrm>
            <a:off x="6858000" y="5641848"/>
            <a:ext cx="4526280" cy="365760"/>
          </a:xfrm>
          <a:prstGeom prst="rect">
            <a:avLst/>
          </a:prstGeom>
          <a:noFill/>
          <a:ln/>
        </p:spPr>
        <p:txBody>
          <a:bodyPr wrap="square" lIns="0" tIns="0" rIns="0" bIns="0" rtlCol="0" anchor="ctr"/>
          <a:lstStyle/>
          <a:p>
            <a:pPr indent="0" marL="0">
              <a:buNone/>
            </a:pPr>
            <a:r>
              <a:rPr lang="en-US" sz="1200" dirty="0">
                <a:solidFill>
                  <a:srgbClr val="1B2635"/>
                </a:solidFill>
                <a:latin typeface="Calibri" pitchFamily="34" charset="0"/>
                <a:ea typeface="Calibri" pitchFamily="34" charset="-122"/>
                <a:cs typeface="Calibri" pitchFamily="34" charset="-120"/>
              </a:rPr>
              <a:t>resilience score across many applications</a:t>
            </a:r>
            <a:endParaRPr lang="en-US" sz="1200" dirty="0"/>
          </a:p>
        </p:txBody>
      </p:sp>
      <p:sp>
        <p:nvSpPr>
          <p:cNvPr id="32" name="Text 30"/>
          <p:cNvSpPr txBox="1"/>
          <p:nvPr/>
        </p:nvSpPr>
        <p:spPr>
          <a:xfrm>
            <a:off x="548640" y="6473952"/>
            <a:ext cx="11064240" cy="274320"/>
          </a:xfrm>
          <a:prstGeom prst="rect">
            <a:avLst/>
          </a:prstGeom>
          <a:noFill/>
          <a:ln/>
        </p:spPr>
        <p:txBody>
          <a:bodyPr wrap="square" lIns="0" tIns="0" rIns="0" bIns="0" rtlCol="0" anchor="ctr"/>
          <a:lstStyle/>
          <a:p>
            <a:pPr algn="r" indent="0" marL="0">
              <a:buNone/>
            </a:pPr>
            <a:r>
              <a:rPr lang="en-US" sz="900" dirty="0">
                <a:solidFill>
                  <a:srgbClr val="8C99AA"/>
                </a:solidFill>
                <a:latin typeface="Calibri" pitchFamily="34" charset="0"/>
                <a:ea typeface="Calibri" pitchFamily="34" charset="-122"/>
                <a:cs typeface="Calibri" pitchFamily="34" charset="-120"/>
              </a:rPr>
              <a:t>DR Agent: Autonomous DR Validation  ·  Team Azure Armada  ·  Azure Day 2026 Hackathon   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1064240" cy="685800"/>
          </a:xfrm>
          <a:prstGeom prst="rect">
            <a:avLst/>
          </a:prstGeom>
          <a:noFill/>
          <a:ln/>
        </p:spPr>
        <p:txBody>
          <a:bodyPr wrap="square" lIns="0" tIns="0" rIns="0" bIns="0" rtlCol="0" anchor="ctr"/>
          <a:lstStyle/>
          <a:p>
            <a:pPr indent="0" marL="0">
              <a:buNone/>
            </a:pPr>
            <a:r>
              <a:rPr lang="en-US" sz="3200" b="1" dirty="0">
                <a:solidFill>
                  <a:srgbClr val="171721"/>
                </a:solidFill>
                <a:latin typeface="Calibri" pitchFamily="34" charset="0"/>
                <a:ea typeface="Calibri" pitchFamily="34" charset="-122"/>
                <a:cs typeface="Calibri" pitchFamily="34" charset="-120"/>
              </a:rPr>
              <a:t>Sources</a:t>
            </a:r>
            <a:endParaRPr lang="en-US" sz="3200" dirty="0"/>
          </a:p>
        </p:txBody>
      </p:sp>
      <p:sp>
        <p:nvSpPr>
          <p:cNvPr id="3" name="Text 1"/>
          <p:cNvSpPr txBox="1"/>
          <p:nvPr/>
        </p:nvSpPr>
        <p:spPr>
          <a:xfrm>
            <a:off x="548640" y="987552"/>
            <a:ext cx="11064240" cy="365760"/>
          </a:xfrm>
          <a:prstGeom prst="rect">
            <a:avLst/>
          </a:prstGeom>
          <a:noFill/>
          <a:ln/>
        </p:spPr>
        <p:txBody>
          <a:bodyPr wrap="square" lIns="0" tIns="0" rIns="0" bIns="0" rtlCol="0" anchor="ctr"/>
          <a:lstStyle/>
          <a:p>
            <a:pPr indent="0" marL="0">
              <a:buNone/>
            </a:pPr>
            <a:r>
              <a:rPr lang="en-US" sz="1500" i="1" dirty="0">
                <a:solidFill>
                  <a:srgbClr val="5B6B7F"/>
                </a:solidFill>
                <a:latin typeface="Calibri" pitchFamily="34" charset="0"/>
                <a:ea typeface="Calibri" pitchFamily="34" charset="-122"/>
                <a:cs typeface="Calibri" pitchFamily="34" charset="-120"/>
              </a:rPr>
              <a:t>Every figure in this deck is taken from the source below. Our own figures come from live drills on Azure.</a:t>
            </a:r>
            <a:endParaRPr lang="en-US" sz="1500" dirty="0"/>
          </a:p>
        </p:txBody>
      </p:sp>
      <p:sp>
        <p:nvSpPr>
          <p:cNvPr id="4" name="Text 2"/>
          <p:cNvSpPr txBox="1"/>
          <p:nvPr/>
        </p:nvSpPr>
        <p:spPr>
          <a:xfrm>
            <a:off x="548640" y="1508760"/>
            <a:ext cx="11064240" cy="4846320"/>
          </a:xfrm>
          <a:prstGeom prst="rect">
            <a:avLst/>
          </a:prstGeom>
          <a:noFill/>
          <a:ln/>
        </p:spPr>
        <p:txBody>
          <a:bodyPr wrap="square" lIns="0" tIns="0" rIns="0" bIns="0" rtlCol="0" anchor="t"/>
          <a:lstStyle/>
          <a:p>
            <a:pPr indent="0" marL="0">
              <a:spcAft>
                <a:spcPts val="500"/>
              </a:spcAft>
              <a:buNone/>
            </a:pPr>
            <a:r>
              <a:rPr lang="en-US" sz="1050" dirty="0">
                <a:solidFill>
                  <a:srgbClr val="1B2635"/>
                </a:solidFill>
                <a:latin typeface="Calibri" pitchFamily="34" charset="0"/>
                <a:ea typeface="Calibri" pitchFamily="34" charset="-122"/>
                <a:cs typeface="Calibri" pitchFamily="34" charset="-120"/>
              </a:rPr>
              <a:t>[1] Splunk with Oxford Economics, The Hidden Costs of Downtime 2026, 19 May 2026 (2,000 Global 2000 executives). newsroom.cisco.com (The $600 Billion Wake-up Call)</a:t>
            </a:r>
            <a:endParaRPr lang="en-US" sz="1050" dirty="0"/>
          </a:p>
          <a:p>
            <a:pPr indent="0" marL="0">
              <a:spcAft>
                <a:spcPts val="500"/>
              </a:spcAft>
              <a:buNone/>
            </a:pPr>
            <a:r>
              <a:rPr lang="en-US" sz="1050" dirty="0">
                <a:solidFill>
                  <a:srgbClr val="1B2635"/>
                </a:solidFill>
                <a:latin typeface="Calibri" pitchFamily="34" charset="0"/>
                <a:ea typeface="Calibri" pitchFamily="34" charset="-122"/>
                <a:cs typeface="Calibri" pitchFamily="34" charset="-120"/>
              </a:rPr>
              <a:t>[2] Uptime Institute, Annual Outage Analysis 2026, press release 13 May 2026. uptimeinstitute.com</a:t>
            </a:r>
            <a:endParaRPr lang="en-US" sz="1050" dirty="0"/>
          </a:p>
          <a:p>
            <a:pPr indent="0" marL="0">
              <a:spcAft>
                <a:spcPts val="500"/>
              </a:spcAft>
              <a:buNone/>
            </a:pPr>
            <a:r>
              <a:rPr lang="en-US" sz="1050" dirty="0">
                <a:solidFill>
                  <a:srgbClr val="1B2635"/>
                </a:solidFill>
                <a:latin typeface="Calibri" pitchFamily="34" charset="0"/>
                <a:ea typeface="Calibri" pitchFamily="34" charset="-122"/>
                <a:cs typeface="Calibri" pitchFamily="34" charset="-120"/>
              </a:rPr>
              <a:t>[3] Parametrix estimate of losses from the AWS us-east-1 outage of 20 Oct 2025 (Insurance Edge, 30 Oct 2025).</a:t>
            </a:r>
            <a:endParaRPr lang="en-US" sz="1050" dirty="0"/>
          </a:p>
          <a:p>
            <a:pPr indent="0" marL="0">
              <a:spcAft>
                <a:spcPts val="500"/>
              </a:spcAft>
              <a:buNone/>
            </a:pPr>
            <a:r>
              <a:rPr lang="en-US" sz="1050" dirty="0">
                <a:solidFill>
                  <a:srgbClr val="1B2635"/>
                </a:solidFill>
                <a:latin typeface="Calibri" pitchFamily="34" charset="0"/>
                <a:ea typeface="Calibri" pitchFamily="34" charset="-122"/>
                <a:cs typeface="Calibri" pitchFamily="34" charset="-120"/>
              </a:rPr>
              <a:t>[4] RBI order to HDFC Bank, 2 Dec 2020 (Outlook Business, 3 Dec 2020); curbs lifted 17 Aug 2021 (cards) and 11 Mar 2022 (digital) (Business Standard, 12 Mar 2022).</a:t>
            </a:r>
            <a:endParaRPr lang="en-US" sz="1050" dirty="0"/>
          </a:p>
          <a:p>
            <a:pPr indent="0" marL="0">
              <a:spcAft>
                <a:spcPts val="500"/>
              </a:spcAft>
              <a:buNone/>
            </a:pPr>
            <a:r>
              <a:rPr lang="en-US" sz="1050" dirty="0">
                <a:solidFill>
                  <a:srgbClr val="1B2635"/>
                </a:solidFill>
                <a:latin typeface="Calibri" pitchFamily="34" charset="0"/>
                <a:ea typeface="Calibri" pitchFamily="34" charset="-122"/>
                <a:cs typeface="Calibri" pitchFamily="34" charset="-120"/>
              </a:rPr>
              <a:t>[5] NSE and NSE Clearing settle the 24 Feb 2021 trading-halt case with SEBI for ₹72.64 crore (Moneylife; Business Standard, Jun 2023); ≈ $8.8M at June 2023 rates of ₹82–83 per US$.</a:t>
            </a:r>
            <a:endParaRPr lang="en-US" sz="1050" dirty="0"/>
          </a:p>
          <a:p>
            <a:pPr indent="0" marL="0">
              <a:spcAft>
                <a:spcPts val="500"/>
              </a:spcAft>
              <a:buNone/>
            </a:pPr>
            <a:r>
              <a:rPr lang="en-US" sz="1050" dirty="0">
                <a:solidFill>
                  <a:srgbClr val="1B2635"/>
                </a:solidFill>
                <a:latin typeface="Calibri" pitchFamily="34" charset="0"/>
                <a:ea typeface="Calibri" pitchFamily="34" charset="-122"/>
                <a:cs typeface="Calibri" pitchFamily="34" charset="-120"/>
              </a:rPr>
              <a:t>[6] RBI action on Kotak Mahindra Bank under Sec. 35A, 24 Apr 2024 (TechCrunch); restrictions lifted 12 Feb 2025 (Business Standard).</a:t>
            </a:r>
            <a:endParaRPr lang="en-US" sz="1050" dirty="0"/>
          </a:p>
          <a:p>
            <a:pPr indent="0" marL="0">
              <a:spcAft>
                <a:spcPts val="500"/>
              </a:spcAft>
              <a:buNone/>
            </a:pPr>
            <a:r>
              <a:rPr lang="en-US" sz="1050" dirty="0">
                <a:solidFill>
                  <a:srgbClr val="1B2635"/>
                </a:solidFill>
                <a:latin typeface="Calibri" pitchFamily="34" charset="0"/>
                <a:ea typeface="Calibri" pitchFamily="34" charset="-122"/>
                <a:cs typeface="Calibri" pitchFamily="34" charset="-120"/>
              </a:rPr>
              <a:t>[7] RBI, Cybersecurity, Technology: Risk, Resilience and Assurance Framework Directions, 31 Jul 2026, summarised by KPMG India, Sep 2026.</a:t>
            </a:r>
            <a:endParaRPr lang="en-US" sz="1050" dirty="0"/>
          </a:p>
          <a:p>
            <a:pPr indent="0" marL="0">
              <a:spcAft>
                <a:spcPts val="500"/>
              </a:spcAft>
              <a:buNone/>
            </a:pPr>
            <a:r>
              <a:rPr lang="en-US" sz="1050" dirty="0">
                <a:solidFill>
                  <a:srgbClr val="1B2635"/>
                </a:solidFill>
                <a:latin typeface="Calibri" pitchFamily="34" charset="0"/>
                <a:ea typeface="Calibri" pitchFamily="34" charset="-122"/>
                <a:cs typeface="Calibri" pitchFamily="34" charset="-120"/>
              </a:rPr>
              <a:t>[8] SEBI Cybersecurity and Cyber Resilience Framework: RTO 2 hours, RPO 15 minutes (clarification reported by PTI / The Week, 28 Aug 2025).</a:t>
            </a:r>
            <a:endParaRPr lang="en-US" sz="1050" dirty="0"/>
          </a:p>
          <a:p>
            <a:pPr indent="0" marL="0">
              <a:spcAft>
                <a:spcPts val="500"/>
              </a:spcAft>
              <a:buNone/>
            </a:pPr>
            <a:r>
              <a:rPr lang="en-US" sz="1050" dirty="0">
                <a:solidFill>
                  <a:srgbClr val="1B2635"/>
                </a:solidFill>
                <a:latin typeface="Calibri" pitchFamily="34" charset="0"/>
                <a:ea typeface="Calibri" pitchFamily="34" charset="-122"/>
                <a:cs typeface="Calibri" pitchFamily="34" charset="-120"/>
              </a:rPr>
              <a:t>[9] SEBI framework for market infrastructure institutions: DR site within 45 minutes, quarterly drills (Business Standard, 22 Mar 2021).</a:t>
            </a:r>
            <a:endParaRPr lang="en-US" sz="1050" dirty="0"/>
          </a:p>
          <a:p>
            <a:pPr indent="0" marL="0">
              <a:spcAft>
                <a:spcPts val="500"/>
              </a:spcAft>
              <a:buNone/>
            </a:pPr>
            <a:r>
              <a:rPr lang="en-US" sz="1050" dirty="0">
                <a:solidFill>
                  <a:srgbClr val="1B2635"/>
                </a:solidFill>
                <a:latin typeface="Calibri" pitchFamily="34" charset="0"/>
                <a:ea typeface="Calibri" pitchFamily="34" charset="-122"/>
                <a:cs typeface="Calibri" pitchFamily="34" charset="-120"/>
              </a:rPr>
              <a:t>[10] Regulation (EU) 2022/2554 (DORA), Articles 11(6), 12, 35(7)–(8), 50, 51. eur-lex.europa.eu/eli/reg/2022/2554/oj</a:t>
            </a:r>
            <a:endParaRPr lang="en-US" sz="1050" dirty="0"/>
          </a:p>
          <a:p>
            <a:pPr indent="0" marL="0">
              <a:spcAft>
                <a:spcPts val="500"/>
              </a:spcAft>
              <a:buNone/>
            </a:pPr>
            <a:r>
              <a:rPr lang="en-US" sz="1050" dirty="0">
                <a:solidFill>
                  <a:srgbClr val="1B2635"/>
                </a:solidFill>
                <a:latin typeface="Calibri" pitchFamily="34" charset="0"/>
                <a:ea typeface="Calibri" pitchFamily="34" charset="-122"/>
                <a:cs typeface="Calibri" pitchFamily="34" charset="-120"/>
              </a:rPr>
              <a:t>[11] Cockroach Labs with Wakefield Research, The State of Resilience 2025 (1,000 executives, Aug–Sep 2024). cockroachlabs.com</a:t>
            </a:r>
            <a:endParaRPr lang="en-US" sz="1050" dirty="0"/>
          </a:p>
          <a:p>
            <a:pPr indent="0" marL="0">
              <a:spcAft>
                <a:spcPts val="500"/>
              </a:spcAft>
              <a:buNone/>
            </a:pPr>
            <a:r>
              <a:rPr lang="en-US" sz="1050" dirty="0">
                <a:solidFill>
                  <a:srgbClr val="1B2635"/>
                </a:solidFill>
                <a:latin typeface="Calibri" pitchFamily="34" charset="0"/>
                <a:ea typeface="Calibri" pitchFamily="34" charset="-122"/>
                <a:cs typeface="Calibri" pitchFamily="34" charset="-120"/>
              </a:rPr>
              <a:t>[12] Azure Cost Management, actual cost by service in US$ (CostUSD), month to date, queried 18 Oct 2026 (our environment).</a:t>
            </a:r>
            <a:endParaRPr lang="en-US" sz="1050" dirty="0"/>
          </a:p>
          <a:p>
            <a:pPr indent="0" marL="0">
              <a:spcAft>
                <a:spcPts val="500"/>
              </a:spcAft>
              <a:buNone/>
            </a:pPr>
            <a:r>
              <a:rPr lang="en-US" sz="1050" dirty="0">
                <a:solidFill>
                  <a:srgbClr val="1B2635"/>
                </a:solidFill>
                <a:latin typeface="Calibri" pitchFamily="34" charset="0"/>
                <a:ea typeface="Calibri" pitchFamily="34" charset="-122"/>
                <a:cs typeface="Calibri" pitchFamily="34" charset="-120"/>
              </a:rPr>
              <a:t>[13] Azure Retail Prices API (prices.azure.com), East Asia / Southeast Asia list prices for App Service B1 Linux, SQL Database Basic, Traffic Manager, 18 Oct 2026.</a:t>
            </a:r>
            <a:endParaRPr lang="en-US" sz="1050" dirty="0"/>
          </a:p>
          <a:p>
            <a:pPr indent="0" marL="0">
              <a:spcAft>
                <a:spcPts val="500"/>
              </a:spcAft>
              <a:buNone/>
            </a:pPr>
            <a:r>
              <a:rPr lang="en-US" sz="1050" dirty="0">
                <a:solidFill>
                  <a:srgbClr val="1B2635"/>
                </a:solidFill>
                <a:latin typeface="Calibri" pitchFamily="34" charset="0"/>
                <a:ea typeface="Calibri" pitchFamily="34" charset="-122"/>
                <a:cs typeface="Calibri" pitchFamily="34" charset="-120"/>
              </a:rPr>
              <a:t>Our measurements: 9 drills recorded by the DR Agent (17–18 Oct 2026); each report keeps the raw timestamps, events and approvals.</a:t>
            </a:r>
            <a:endParaRPr lang="en-US" sz="1050" dirty="0"/>
          </a:p>
        </p:txBody>
      </p:sp>
      <p:sp>
        <p:nvSpPr>
          <p:cNvPr id="5" name="Text 3"/>
          <p:cNvSpPr txBox="1"/>
          <p:nvPr/>
        </p:nvSpPr>
        <p:spPr>
          <a:xfrm>
            <a:off x="548640" y="6473952"/>
            <a:ext cx="11064240" cy="274320"/>
          </a:xfrm>
          <a:prstGeom prst="rect">
            <a:avLst/>
          </a:prstGeom>
          <a:noFill/>
          <a:ln/>
        </p:spPr>
        <p:txBody>
          <a:bodyPr wrap="square" lIns="0" tIns="0" rIns="0" bIns="0" rtlCol="0" anchor="ctr"/>
          <a:lstStyle/>
          <a:p>
            <a:pPr algn="r" indent="0" marL="0">
              <a:buNone/>
            </a:pPr>
            <a:r>
              <a:rPr lang="en-US" sz="900" dirty="0">
                <a:solidFill>
                  <a:srgbClr val="8C99AA"/>
                </a:solidFill>
                <a:latin typeface="Calibri" pitchFamily="34" charset="0"/>
                <a:ea typeface="Calibri" pitchFamily="34" charset="-122"/>
                <a:cs typeface="Calibri" pitchFamily="34" charset="-120"/>
              </a:rPr>
              <a:t>DR Agent: Autonomous DR Validation  ·  Team Azure Armada  ·  Azure Day 2026 Hackathon   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71721"/>
        </a:solidFill>
      </p:bgPr>
    </p:bg>
    <p:spTree>
      <p:nvGrpSpPr>
        <p:cNvPr id="1" name=""/>
        <p:cNvGrpSpPr/>
        <p:nvPr/>
      </p:nvGrpSpPr>
      <p:grpSpPr>
        <a:xfrm>
          <a:off x="0" y="0"/>
          <a:ext cx="0" cy="0"/>
          <a:chOff x="0" y="0"/>
          <a:chExt cx="0" cy="0"/>
        </a:xfrm>
      </p:grpSpPr>
      <p:sp>
        <p:nvSpPr>
          <p:cNvPr id="2" name="Shape 0"/>
          <p:cNvSpPr/>
          <p:nvPr/>
        </p:nvSpPr>
        <p:spPr>
          <a:xfrm>
            <a:off x="548640" y="731520"/>
            <a:ext cx="914400" cy="914400"/>
          </a:xfrm>
          <a:prstGeom prst="ellipse">
            <a:avLst/>
          </a:prstGeom>
          <a:solidFill>
            <a:srgbClr val="5E2CFE"/>
          </a:solidFill>
          <a:ln w="12700">
            <a:solidFill>
              <a:srgbClr val="5E2CFE"/>
            </a:solidFill>
            <a:prstDash val="solid"/>
          </a:ln>
        </p:spPr>
      </p:sp>
      <p:pic>
        <p:nvPicPr>
          <p:cNvPr id="3" name="Image 0" descr="preencoded.png">    </p:cNvPr>
          <p:cNvPicPr>
            <a:picLocks noChangeAspect="1"/>
          </p:cNvPicPr>
          <p:nvPr/>
        </p:nvPicPr>
        <p:blipFill>
          <a:blip r:embed="rId1"/>
          <a:stretch>
            <a:fillRect/>
          </a:stretch>
        </p:blipFill>
        <p:spPr>
          <a:xfrm>
            <a:off x="777240" y="960120"/>
            <a:ext cx="457200" cy="457200"/>
          </a:xfrm>
          <a:prstGeom prst="rect">
            <a:avLst/>
          </a:prstGeom>
        </p:spPr>
      </p:pic>
      <p:sp>
        <p:nvSpPr>
          <p:cNvPr id="4" name="Text 1"/>
          <p:cNvSpPr txBox="1"/>
          <p:nvPr/>
        </p:nvSpPr>
        <p:spPr>
          <a:xfrm>
            <a:off x="548640" y="2011680"/>
            <a:ext cx="10972800" cy="822960"/>
          </a:xfrm>
          <a:prstGeom prst="rect">
            <a:avLst/>
          </a:prstGeom>
          <a:noFill/>
          <a:ln/>
        </p:spPr>
        <p:txBody>
          <a:bodyPr wrap="square" lIns="0" tIns="0" rIns="0" bIns="0" rtlCol="0" anchor="ctr"/>
          <a:lstStyle/>
          <a:p>
            <a:pPr indent="0" marL="0">
              <a:buNone/>
            </a:pPr>
            <a:r>
              <a:rPr lang="en-US" sz="4400" b="1" dirty="0">
                <a:solidFill>
                  <a:srgbClr val="FFFFFF"/>
                </a:solidFill>
                <a:latin typeface="Calibri" pitchFamily="34" charset="0"/>
                <a:ea typeface="Calibri" pitchFamily="34" charset="-122"/>
                <a:cs typeface="Calibri" pitchFamily="34" charset="-120"/>
              </a:rPr>
              <a:t>Don't assume you can recover.</a:t>
            </a:r>
            <a:endParaRPr lang="en-US" sz="4400" dirty="0"/>
          </a:p>
        </p:txBody>
      </p:sp>
      <p:sp>
        <p:nvSpPr>
          <p:cNvPr id="5" name="Text 2"/>
          <p:cNvSpPr txBox="1"/>
          <p:nvPr/>
        </p:nvSpPr>
        <p:spPr>
          <a:xfrm>
            <a:off x="548640" y="2834640"/>
            <a:ext cx="10972800" cy="731520"/>
          </a:xfrm>
          <a:prstGeom prst="rect">
            <a:avLst/>
          </a:prstGeom>
          <a:noFill/>
          <a:ln/>
        </p:spPr>
        <p:txBody>
          <a:bodyPr wrap="square" lIns="0" tIns="0" rIns="0" bIns="0" rtlCol="0" anchor="ctr"/>
          <a:lstStyle/>
          <a:p>
            <a:pPr indent="0" marL="0">
              <a:buNone/>
            </a:pPr>
            <a:r>
              <a:rPr lang="en-US" sz="3000" dirty="0">
                <a:solidFill>
                  <a:srgbClr val="C9C3E6"/>
                </a:solidFill>
                <a:latin typeface="Calibri" pitchFamily="34" charset="0"/>
                <a:ea typeface="Calibri" pitchFamily="34" charset="-122"/>
                <a:cs typeface="Calibri" pitchFamily="34" charset="-120"/>
              </a:rPr>
              <a:t>Let the DR Agent test it for real, and prove it, whenever you need.</a:t>
            </a:r>
            <a:endParaRPr lang="en-US" sz="3000" dirty="0"/>
          </a:p>
        </p:txBody>
      </p:sp>
      <p:sp>
        <p:nvSpPr>
          <p:cNvPr id="6" name="Text 3"/>
          <p:cNvSpPr txBox="1"/>
          <p:nvPr/>
        </p:nvSpPr>
        <p:spPr>
          <a:xfrm>
            <a:off x="548640" y="4206240"/>
            <a:ext cx="3474720" cy="91440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Real DR drills</a:t>
            </a:r>
            <a:endParaRPr lang="en-US" sz="1700" dirty="0"/>
          </a:p>
          <a:p>
            <a:pPr indent="0" marL="0">
              <a:buNone/>
            </a:pPr>
            <a:r>
              <a:rPr lang="en-US" sz="1300" dirty="0">
                <a:solidFill>
                  <a:srgbClr val="C9C3E6"/>
                </a:solidFill>
                <a:latin typeface="Calibri" pitchFamily="34" charset="0"/>
                <a:ea typeface="Calibri" pitchFamily="34" charset="-122"/>
                <a:cs typeface="Calibri" pitchFamily="34" charset="-120"/>
              </a:rPr>
              <a:t>Fail over, measure, fail back: 9 live drills, RTO ~34 s, RPO 0</a:t>
            </a:r>
            <a:endParaRPr lang="en-US" sz="1700" dirty="0"/>
          </a:p>
        </p:txBody>
      </p:sp>
      <p:sp>
        <p:nvSpPr>
          <p:cNvPr id="7" name="Text 4"/>
          <p:cNvSpPr txBox="1"/>
          <p:nvPr/>
        </p:nvSpPr>
        <p:spPr>
          <a:xfrm>
            <a:off x="4297680" y="4206240"/>
            <a:ext cx="3474720" cy="91440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Built 100% on Azure</a:t>
            </a:r>
            <a:endParaRPr lang="en-US" sz="1700" dirty="0"/>
          </a:p>
          <a:p>
            <a:pPr indent="0" marL="0">
              <a:buNone/>
            </a:pPr>
            <a:r>
              <a:rPr lang="en-US" sz="1300" dirty="0">
                <a:solidFill>
                  <a:srgbClr val="C9C3E6"/>
                </a:solidFill>
                <a:latin typeface="Calibri" pitchFamily="34" charset="0"/>
                <a:ea typeface="Calibri" pitchFamily="34" charset="-122"/>
                <a:cs typeface="Calibri" pitchFamily="34" charset="-120"/>
              </a:rPr>
              <a:t>AI Foundry, SQL failover groups, Traffic Manager, Site Recovery, Monitor</a:t>
            </a:r>
            <a:endParaRPr lang="en-US" sz="1700" dirty="0"/>
          </a:p>
        </p:txBody>
      </p:sp>
      <p:sp>
        <p:nvSpPr>
          <p:cNvPr id="8" name="Text 5"/>
          <p:cNvSpPr txBox="1"/>
          <p:nvPr/>
        </p:nvSpPr>
        <p:spPr>
          <a:xfrm>
            <a:off x="8046720" y="4206240"/>
            <a:ext cx="3474720" cy="91440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Safe by design</a:t>
            </a:r>
            <a:endParaRPr lang="en-US" sz="1700" dirty="0"/>
          </a:p>
          <a:p>
            <a:pPr indent="0" marL="0">
              <a:buNone/>
            </a:pPr>
            <a:r>
              <a:rPr lang="en-US" sz="1300" dirty="0">
                <a:solidFill>
                  <a:srgbClr val="C9C3E6"/>
                </a:solidFill>
                <a:latin typeface="Calibri" pitchFamily="34" charset="0"/>
                <a:ea typeface="Calibri" pitchFamily="34" charset="-122"/>
                <a:cs typeface="Calibri" pitchFamily="34" charset="-120"/>
              </a:rPr>
              <a:t>Allowlisted actions, human approval, kill switch, full audit trail</a:t>
            </a:r>
            <a:endParaRPr lang="en-US" sz="1700" dirty="0"/>
          </a:p>
        </p:txBody>
      </p:sp>
      <p:sp>
        <p:nvSpPr>
          <p:cNvPr id="9" name="Text 6"/>
          <p:cNvSpPr txBox="1"/>
          <p:nvPr/>
        </p:nvSpPr>
        <p:spPr>
          <a:xfrm>
            <a:off x="548640" y="5943600"/>
            <a:ext cx="11064240" cy="411480"/>
          </a:xfrm>
          <a:prstGeom prst="rect">
            <a:avLst/>
          </a:prstGeom>
          <a:noFill/>
          <a:ln/>
        </p:spPr>
        <p:txBody>
          <a:bodyPr wrap="square" lIns="0" tIns="0" rIns="0" bIns="0" rtlCol="0" anchor="ctr"/>
          <a:lstStyle/>
          <a:p>
            <a:pPr indent="0" marL="0">
              <a:buNone/>
            </a:pPr>
            <a:r>
              <a:rPr lang="en-US" sz="1500" dirty="0">
                <a:solidFill>
                  <a:srgbClr val="9C95BD"/>
                </a:solidFill>
                <a:latin typeface="Calibri" pitchFamily="34" charset="0"/>
                <a:ea typeface="Calibri" pitchFamily="34" charset="-122"/>
                <a:cs typeface="Calibri" pitchFamily="34" charset="-120"/>
              </a:rPr>
              <a:t>Thank you  ·  Team Azure Armada</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Disaster Recovery (DR) Agent: Autonomous Disaster Recovery Validation</dc:title>
  <dc:subject>PptxGenJS Presentation</dc:subject>
  <dc:creator>Team Azure Armada</dc:creator>
  <cp:lastModifiedBy>Team Azure Armada</cp:lastModifiedBy>
  <cp:revision>1</cp:revision>
  <dcterms:created xsi:type="dcterms:W3CDTF">2026-10-18T09:16:55Z</dcterms:created>
  <dcterms:modified xsi:type="dcterms:W3CDTF">2026-10-18T09:16:55Z</dcterms:modified>
</cp:coreProperties>
</file>