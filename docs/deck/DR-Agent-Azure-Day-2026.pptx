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Disaster Recovery (DR) Agent is a team of AI agents built entirely on Azure that actually performs disaster recovery testing: it fails workloads over, measures real recovery time and data loss, fails back, and produces audit-ready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money. ITIC's 2024 survey of over 1,000 firms: for more than 90% of mid-size and large enterprises one hour of downtime costs over $300,000, and 41% say $1M to over $5M, excluding fines and litigation. Splunk with Oxford Economics (June 2024, 2,000 executives): downtime costs each Global 2000 company about $200M a year, roughly 9% of profits, including $22M of regulatory fines. And in July 2024 one faulty update caused an estimated $5.4B of direct losses to the Fortune 500, $1.15B of it in banking. Simple arithmetic: $300K an hour is $5,000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to home, the penalty is a growth freeze. HDFC Bank: after repeated outages, the most recent a power failure at a primary data centre, the RBI stopped new digital launches and new credit cards in December 2020; cards resumed in August 2021, digital launches only in March 2022. NSE: a nearly four-hour trading halt in February 2021 ended in a ₹72.64 crore settlement with SEBI. Kotak Mahindra Bank: in April 2024 the RBI cited deficiencies including business continuity and disaster recovery, plus frequent outages, and stopped online onboarding and new cards for about ten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have moved from 'have a plan' to 'prove it works, on a schedule'. RBI's July 2026 directions: DR drills for critical systems at least half-yearly, and every major issue fixed and re-tested before the next cycle. SEBI: resume critical operations within two hours with a 15-minute RPO; exchanges must be running from DR within 45 minutes and drill every quarter. DORA in Europe: test continuity and recovery plans at least yearly. A common myth is that DORA fixes a 2%-of-turnover fine for banks; it does not. Penalties for financial entities are set by each member state; the fixed figure applies to critical ICT providers: up to 1% of average daily worldwide turnover, daily, for up to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don't companies just test? Cockroach Labs surveyed 1,000 executives: fewer than one in three do regular failover testing, and only 20% feel fully prepared. Uptime Institute found 85% of major human-error outages come from procedures not followed or flawed procedures, which is exactly what a stale runbook is. The reasons are structural: tests are disruptive and manual, environments drift between tests, runbooks go stale, and RTO/RPO are signed off on paper instead of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with transparent inputs. A tier-1 payments service with a 30-minute target that has never really been tested. On the day, recovery takes four hours, like the NSE halt. At ITIC's floor of $300,000 an hour, that is $1.2M of direct loss, $1.05M of it beyond the target, before any regulatory action: the NSE settlement was ₹72.64 crore, and the RBI froze HDFC's and Kotak's digital growth for 10 to 15 months. Our agent measured 34.35 seconds for the same kind of service, with zero payments lost, and it can prove it again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closes the full loop. The highlighted steps — execute, validate, fail back — are the heart of the solution: the agent really performs the DR test rather than only reviewing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solution: the agent performs real DR tests. Three modes let it run safely everywhere — isolated test failovers weekly in production, full drills in staging, and approved game days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agents. The DR Test Executor and Validation agents (highlighted) do the actual testing; the others prepare the test and turn results into fixes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start a DR test run. The orchestrator in AI Foundry delegates to specialist agents, which use Azure services as tools. Amber highlights the testing path: the DR Test Executor drives Site Recovery, SQL failover groups, Front Door and Chaos Studio against the workload, failing over Region A to Region B and back, while the Validation agent measures RTO/RPO through Azure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agent performs real failovers, safety is designed in: graduated autonomy, least-privilege identities, kill switch with auto-rollback, and a full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 real DR test, not slides: the agent fails over a live two-region app, catches a planted gap through the test itself, fails back, fixes it via a Bicep PR, and re-tests to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value: continuous, measured DR testing at a fraction of today's effort, with compliance evidence produced automatically. For Virtusa it becomes a reusable accelerator.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64008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868680"/>
            <a:ext cx="457200" cy="457200"/>
          </a:xfrm>
          <a:prstGeom prst="rect">
            <a:avLst/>
          </a:prstGeom>
        </p:spPr>
      </p:pic>
      <p:sp>
        <p:nvSpPr>
          <p:cNvPr id="4" name="Text 1"/>
          <p:cNvSpPr txBox="1"/>
          <p:nvPr/>
        </p:nvSpPr>
        <p:spPr>
          <a:xfrm>
            <a:off x="1691640" y="868680"/>
            <a:ext cx="8229600" cy="457200"/>
          </a:xfrm>
          <a:prstGeom prst="rect">
            <a:avLst/>
          </a:prstGeom>
          <a:noFill/>
          <a:ln/>
        </p:spPr>
        <p:txBody>
          <a:bodyPr wrap="square" lIns="0" tIns="0" rIns="0" bIns="0" rtlCol="0" anchor="ctr"/>
          <a:lstStyle/>
          <a:p>
            <a:pPr indent="0" marL="0">
              <a:buNone/>
            </a:pPr>
            <a:r>
              <a:rPr lang="en-US" sz="1300" b="1" spc="200" kern="0" dirty="0">
                <a:solidFill>
                  <a:srgbClr val="8FD6D3"/>
                </a:solidFill>
                <a:latin typeface="Calibri" pitchFamily="34" charset="0"/>
                <a:ea typeface="Calibri" pitchFamily="34" charset="-122"/>
                <a:cs typeface="Calibri" pitchFamily="34" charset="-120"/>
              </a:rPr>
              <a:t>AZURE DAY 2026 HACKATHON  ·  DISASTER RECOVERY AGENT</a:t>
            </a:r>
            <a:endParaRPr lang="en-US" sz="1300" dirty="0"/>
          </a:p>
        </p:txBody>
      </p:sp>
      <p:sp>
        <p:nvSpPr>
          <p:cNvPr id="5" name="Text 2"/>
          <p:cNvSpPr txBox="1"/>
          <p:nvPr/>
        </p:nvSpPr>
        <p:spPr>
          <a:xfrm>
            <a:off x="548640" y="1920240"/>
            <a:ext cx="10972800" cy="118872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Disaster Recovery (DR) Agent</a:t>
            </a:r>
            <a:endParaRPr lang="en-US" sz="5400" dirty="0"/>
          </a:p>
        </p:txBody>
      </p:sp>
      <p:sp>
        <p:nvSpPr>
          <p:cNvPr id="6" name="Text 3"/>
          <p:cNvSpPr txBox="1"/>
          <p:nvPr/>
        </p:nvSpPr>
        <p:spPr>
          <a:xfrm>
            <a:off x="548640" y="3063240"/>
            <a:ext cx="10972800" cy="640080"/>
          </a:xfrm>
          <a:prstGeom prst="rect">
            <a:avLst/>
          </a:prstGeom>
          <a:noFill/>
          <a:ln/>
        </p:spPr>
        <p:txBody>
          <a:bodyPr wrap="square" lIns="0" tIns="0" rIns="0" bIns="0" rtlCol="0" anchor="ctr"/>
          <a:lstStyle/>
          <a:p>
            <a:pPr indent="0" marL="0">
              <a:buNone/>
            </a:pPr>
            <a:r>
              <a:rPr lang="en-US" sz="2800" dirty="0">
                <a:solidFill>
                  <a:srgbClr val="CFE0F2"/>
                </a:solidFill>
                <a:latin typeface="Calibri" pitchFamily="34" charset="0"/>
                <a:ea typeface="Calibri" pitchFamily="34" charset="-122"/>
                <a:cs typeface="Calibri" pitchFamily="34" charset="-120"/>
              </a:rPr>
              <a:t>Autonomous Disaster Recovery Validation</a:t>
            </a:r>
            <a:endParaRPr lang="en-US" sz="2800" dirty="0"/>
          </a:p>
        </p:txBody>
      </p:sp>
      <p:sp>
        <p:nvSpPr>
          <p:cNvPr id="7" name="Text 4"/>
          <p:cNvSpPr txBox="1"/>
          <p:nvPr/>
        </p:nvSpPr>
        <p:spPr>
          <a:xfrm>
            <a:off x="548640" y="3931920"/>
            <a:ext cx="8686800" cy="822960"/>
          </a:xfrm>
          <a:prstGeom prst="rect">
            <a:avLst/>
          </a:prstGeom>
          <a:noFill/>
          <a:ln/>
        </p:spPr>
        <p:txBody>
          <a:bodyPr wrap="square" lIns="0" tIns="0" rIns="0" bIns="0" rtlCol="0" anchor="ctr"/>
          <a:lstStyle/>
          <a:p>
            <a:pPr indent="0" marL="0">
              <a:buNone/>
            </a:pPr>
            <a:r>
              <a:rPr lang="en-US" sz="1700" i="1" dirty="0">
                <a:solidFill>
                  <a:srgbClr val="B8C7DA"/>
                </a:solidFill>
                <a:latin typeface="Calibri" pitchFamily="34" charset="0"/>
                <a:ea typeface="Calibri" pitchFamily="34" charset="-122"/>
                <a:cs typeface="Calibri" pitchFamily="34" charset="-120"/>
              </a:rPr>
              <a:t>Built 100% on Azure. AI agents that validate DR by executing real tests: fail over, measure RTO/RPO, fail back, and prove you can recover, every week instead of once a year.</a:t>
            </a:r>
            <a:endParaRPr lang="en-US" sz="1700" dirty="0"/>
          </a:p>
        </p:txBody>
      </p:sp>
      <p:sp>
        <p:nvSpPr>
          <p:cNvPr id="8" name="Shape 5"/>
          <p:cNvSpPr/>
          <p:nvPr/>
        </p:nvSpPr>
        <p:spPr>
          <a:xfrm>
            <a:off x="548640" y="5166360"/>
            <a:ext cx="548640" cy="548640"/>
          </a:xfrm>
          <a:prstGeom prst="ellipse">
            <a:avLst/>
          </a:prstGeom>
          <a:solidFill>
            <a:srgbClr val="2A2340"/>
          </a:solidFill>
          <a:ln w="12700">
            <a:solidFill>
              <a:srgbClr val="2A2340"/>
            </a:solidFill>
            <a:prstDash val="solid"/>
          </a:ln>
        </p:spPr>
      </p:sp>
      <p:pic>
        <p:nvPicPr>
          <p:cNvPr id="9" name="Image 1" descr="preencoded.png">    </p:cNvPr>
          <p:cNvPicPr>
            <a:picLocks noChangeAspect="1"/>
          </p:cNvPicPr>
          <p:nvPr/>
        </p:nvPicPr>
        <p:blipFill>
          <a:blip r:embed="rId2"/>
          <a:stretch>
            <a:fillRect/>
          </a:stretch>
        </p:blipFill>
        <p:spPr>
          <a:xfrm>
            <a:off x="685800" y="5303520"/>
            <a:ext cx="274320" cy="274320"/>
          </a:xfrm>
          <a:prstGeom prst="rect">
            <a:avLst/>
          </a:prstGeom>
        </p:spPr>
      </p:pic>
      <p:sp>
        <p:nvSpPr>
          <p:cNvPr id="10" name="Text 6"/>
          <p:cNvSpPr txBox="1"/>
          <p:nvPr/>
        </p:nvSpPr>
        <p:spPr>
          <a:xfrm>
            <a:off x="120700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over</a:t>
            </a:r>
            <a:endParaRPr lang="en-US" sz="1500" dirty="0"/>
          </a:p>
        </p:txBody>
      </p:sp>
      <p:sp>
        <p:nvSpPr>
          <p:cNvPr id="11" name="Shape 7"/>
          <p:cNvSpPr/>
          <p:nvPr/>
        </p:nvSpPr>
        <p:spPr>
          <a:xfrm>
            <a:off x="2560320" y="5166360"/>
            <a:ext cx="548640" cy="548640"/>
          </a:xfrm>
          <a:prstGeom prst="ellipse">
            <a:avLst/>
          </a:prstGeom>
          <a:solidFill>
            <a:srgbClr val="2A2340"/>
          </a:solidFill>
          <a:ln w="12700">
            <a:solidFill>
              <a:srgbClr val="2A2340"/>
            </a:solidFill>
            <a:prstDash val="solid"/>
          </a:ln>
        </p:spPr>
      </p:sp>
      <p:pic>
        <p:nvPicPr>
          <p:cNvPr id="12" name="Image 2" descr="preencoded.png">    </p:cNvPr>
          <p:cNvPicPr>
            <a:picLocks noChangeAspect="1"/>
          </p:cNvPicPr>
          <p:nvPr/>
        </p:nvPicPr>
        <p:blipFill>
          <a:blip r:embed="rId3"/>
          <a:stretch>
            <a:fillRect/>
          </a:stretch>
        </p:blipFill>
        <p:spPr>
          <a:xfrm>
            <a:off x="2697480" y="5303520"/>
            <a:ext cx="274320" cy="274320"/>
          </a:xfrm>
          <a:prstGeom prst="rect">
            <a:avLst/>
          </a:prstGeom>
        </p:spPr>
      </p:pic>
      <p:sp>
        <p:nvSpPr>
          <p:cNvPr id="13" name="Text 8"/>
          <p:cNvSpPr txBox="1"/>
          <p:nvPr/>
        </p:nvSpPr>
        <p:spPr>
          <a:xfrm>
            <a:off x="321868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p>
        </p:txBody>
      </p:sp>
      <p:sp>
        <p:nvSpPr>
          <p:cNvPr id="14" name="Shape 9"/>
          <p:cNvSpPr/>
          <p:nvPr/>
        </p:nvSpPr>
        <p:spPr>
          <a:xfrm>
            <a:off x="4572000" y="5166360"/>
            <a:ext cx="548640" cy="548640"/>
          </a:xfrm>
          <a:prstGeom prst="ellipse">
            <a:avLst/>
          </a:prstGeom>
          <a:solidFill>
            <a:srgbClr val="2A2340"/>
          </a:solidFill>
          <a:ln w="12700">
            <a:solidFill>
              <a:srgbClr val="2A2340"/>
            </a:solidFill>
            <a:prstDash val="solid"/>
          </a:ln>
        </p:spPr>
      </p:sp>
      <p:pic>
        <p:nvPicPr>
          <p:cNvPr id="15" name="Image 3" descr="preencoded.png">    </p:cNvPr>
          <p:cNvPicPr>
            <a:picLocks noChangeAspect="1"/>
          </p:cNvPicPr>
          <p:nvPr/>
        </p:nvPicPr>
        <p:blipFill>
          <a:blip r:embed="rId4"/>
          <a:stretch>
            <a:fillRect/>
          </a:stretch>
        </p:blipFill>
        <p:spPr>
          <a:xfrm>
            <a:off x="4709160" y="5303520"/>
            <a:ext cx="274320" cy="274320"/>
          </a:xfrm>
          <a:prstGeom prst="rect">
            <a:avLst/>
          </a:prstGeom>
        </p:spPr>
      </p:pic>
      <p:sp>
        <p:nvSpPr>
          <p:cNvPr id="16" name="Text 10"/>
          <p:cNvSpPr txBox="1"/>
          <p:nvPr/>
        </p:nvSpPr>
        <p:spPr>
          <a:xfrm>
            <a:off x="523036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 back</a:t>
            </a:r>
            <a:endParaRPr lang="en-US" sz="1500" dirty="0"/>
          </a:p>
        </p:txBody>
      </p:sp>
      <p:sp>
        <p:nvSpPr>
          <p:cNvPr id="17" name="Shape 11"/>
          <p:cNvSpPr/>
          <p:nvPr/>
        </p:nvSpPr>
        <p:spPr>
          <a:xfrm>
            <a:off x="6583680" y="5166360"/>
            <a:ext cx="548640" cy="548640"/>
          </a:xfrm>
          <a:prstGeom prst="ellipse">
            <a:avLst/>
          </a:prstGeom>
          <a:solidFill>
            <a:srgbClr val="2A2340"/>
          </a:solidFill>
          <a:ln w="12700">
            <a:solidFill>
              <a:srgbClr val="2A2340"/>
            </a:solidFill>
            <a:prstDash val="solid"/>
          </a:ln>
        </p:spPr>
      </p:sp>
      <p:pic>
        <p:nvPicPr>
          <p:cNvPr id="18" name="Image 4" descr="preencoded.png">    </p:cNvPr>
          <p:cNvPicPr>
            <a:picLocks noChangeAspect="1"/>
          </p:cNvPicPr>
          <p:nvPr/>
        </p:nvPicPr>
        <p:blipFill>
          <a:blip r:embed="rId5"/>
          <a:stretch>
            <a:fillRect/>
          </a:stretch>
        </p:blipFill>
        <p:spPr>
          <a:xfrm>
            <a:off x="6720840" y="5303520"/>
            <a:ext cx="274320" cy="274320"/>
          </a:xfrm>
          <a:prstGeom prst="rect">
            <a:avLst/>
          </a:prstGeom>
        </p:spPr>
      </p:pic>
      <p:sp>
        <p:nvSpPr>
          <p:cNvPr id="19" name="Text 12"/>
          <p:cNvSpPr txBox="1"/>
          <p:nvPr/>
        </p:nvSpPr>
        <p:spPr>
          <a:xfrm>
            <a:off x="7242048" y="5166360"/>
            <a:ext cx="1280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Prove</a:t>
            </a:r>
            <a:endParaRPr lang="en-US" sz="1500" dirty="0"/>
          </a:p>
        </p:txBody>
      </p:sp>
      <p:sp>
        <p:nvSpPr>
          <p:cNvPr id="20" name="Text 13"/>
          <p:cNvSpPr txBox="1"/>
          <p:nvPr/>
        </p:nvSpPr>
        <p:spPr>
          <a:xfrm>
            <a:off x="7955280" y="6172200"/>
            <a:ext cx="3657600" cy="365760"/>
          </a:xfrm>
          <a:prstGeom prst="rect">
            <a:avLst/>
          </a:prstGeom>
          <a:noFill/>
          <a:ln/>
        </p:spPr>
        <p:txBody>
          <a:bodyPr wrap="square" lIns="0" tIns="0" rIns="0" bIns="0" rtlCol="0" anchor="ctr"/>
          <a:lstStyle/>
          <a:p>
            <a:pPr algn="r" indent="0" marL="0">
              <a:buNone/>
            </a:pPr>
            <a:r>
              <a:rPr lang="en-US" sz="1300" dirty="0">
                <a:solidFill>
                  <a:srgbClr val="8FA3BD"/>
                </a:solidFill>
                <a:latin typeface="Calibri" pitchFamily="34" charset="0"/>
                <a:ea typeface="Calibri" pitchFamily="34" charset="-122"/>
                <a:cs typeface="Calibri" pitchFamily="34" charset="-120"/>
              </a:rPr>
              <a:t>Team Azure Armada  ·  Virtusa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One hour of downtime now costs more than most DR budgets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Independent surveys and real incidents, 2024: the cost of not recovering on time.</a:t>
            </a:r>
            <a:endParaRPr lang="en-US" sz="1500" dirty="0"/>
          </a:p>
        </p:txBody>
      </p:sp>
      <p:sp>
        <p:nvSpPr>
          <p:cNvPr id="4" name="Shape 2"/>
          <p:cNvSpPr/>
          <p:nvPr/>
        </p:nvSpPr>
        <p:spPr>
          <a:xfrm>
            <a:off x="54864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$300K+</a:t>
            </a:r>
            <a:endParaRPr lang="en-US" sz="4800" dirty="0"/>
          </a:p>
        </p:txBody>
      </p:sp>
      <p:sp>
        <p:nvSpPr>
          <p:cNvPr id="6" name="Text 4"/>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hour of downtime</a:t>
            </a:r>
            <a:endParaRPr lang="en-US" sz="1600" dirty="0"/>
          </a:p>
        </p:txBody>
      </p:sp>
      <p:sp>
        <p:nvSpPr>
          <p:cNvPr id="7" name="Text 5"/>
          <p:cNvSpPr txBox="1"/>
          <p:nvPr/>
        </p:nvSpPr>
        <p:spPr>
          <a:xfrm>
            <a:off x="82296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for over 90% of mid-size and large enterprises. 41% put it at $1M to over $5M per hour, before fines and litigation.</a:t>
            </a:r>
            <a:endParaRPr lang="en-US" sz="1300" dirty="0"/>
          </a:p>
        </p:txBody>
      </p:sp>
      <p:sp>
        <p:nvSpPr>
          <p:cNvPr id="8" name="Text 6"/>
          <p:cNvSpPr txBox="1"/>
          <p:nvPr/>
        </p:nvSpPr>
        <p:spPr>
          <a:xfrm>
            <a:off x="82296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ITIC 2024 Hourly Cost of Downtime Survey (1,000+ firms) [1]</a:t>
            </a:r>
            <a:endParaRPr lang="en-US" sz="950" dirty="0"/>
          </a:p>
        </p:txBody>
      </p:sp>
      <p:sp>
        <p:nvSpPr>
          <p:cNvPr id="9" name="Shape 7"/>
          <p:cNvSpPr/>
          <p:nvPr/>
        </p:nvSpPr>
        <p:spPr>
          <a:xfrm>
            <a:off x="429768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457200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$200M</a:t>
            </a:r>
            <a:endParaRPr lang="en-US" sz="4800" dirty="0"/>
          </a:p>
        </p:txBody>
      </p:sp>
      <p:sp>
        <p:nvSpPr>
          <p:cNvPr id="11" name="Text 9"/>
          <p:cNvSpPr txBox="1"/>
          <p:nvPr/>
        </p:nvSpPr>
        <p:spPr>
          <a:xfrm>
            <a:off x="457200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per company, every year</a:t>
            </a:r>
            <a:endParaRPr lang="en-US" sz="1600" dirty="0"/>
          </a:p>
        </p:txBody>
      </p:sp>
      <p:sp>
        <p:nvSpPr>
          <p:cNvPr id="12" name="Text 10"/>
          <p:cNvSpPr txBox="1"/>
          <p:nvPr/>
        </p:nvSpPr>
        <p:spPr>
          <a:xfrm>
            <a:off x="457200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lost to downtime by each Global 2000 company: about 9% of profits. Includes $49M lost revenue and $22M in regulatory fines.</a:t>
            </a:r>
            <a:endParaRPr lang="en-US" sz="1300" dirty="0"/>
          </a:p>
        </p:txBody>
      </p:sp>
      <p:sp>
        <p:nvSpPr>
          <p:cNvPr id="13" name="Text 11"/>
          <p:cNvSpPr txBox="1"/>
          <p:nvPr/>
        </p:nvSpPr>
        <p:spPr>
          <a:xfrm>
            <a:off x="457200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Splunk &amp; Oxford Economics, The Hidden Costs of Downtime, Jun 2024 (2,000 executives) [2]</a:t>
            </a:r>
            <a:endParaRPr lang="en-US" sz="950" dirty="0"/>
          </a:p>
        </p:txBody>
      </p:sp>
      <p:sp>
        <p:nvSpPr>
          <p:cNvPr id="14" name="Shape 12"/>
          <p:cNvSpPr/>
          <p:nvPr/>
        </p:nvSpPr>
        <p:spPr>
          <a:xfrm>
            <a:off x="8046720" y="1600200"/>
            <a:ext cx="3520440" cy="379476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8321040" y="1874520"/>
            <a:ext cx="3017520" cy="914400"/>
          </a:xfrm>
          <a:prstGeom prst="rect">
            <a:avLst/>
          </a:prstGeom>
          <a:noFill/>
          <a:ln/>
        </p:spPr>
        <p:txBody>
          <a:bodyPr wrap="square" lIns="0" tIns="0" rIns="0" bIns="0" rtlCol="0" anchor="ctr"/>
          <a:lstStyle/>
          <a:p>
            <a:pPr indent="0" marL="0">
              <a:buNone/>
            </a:pPr>
            <a:r>
              <a:rPr lang="en-US" sz="4800" b="1" dirty="0">
                <a:solidFill>
                  <a:srgbClr val="5E2CFE"/>
                </a:solidFill>
                <a:latin typeface="Calibri" pitchFamily="34" charset="0"/>
                <a:ea typeface="Calibri" pitchFamily="34" charset="-122"/>
                <a:cs typeface="Calibri" pitchFamily="34" charset="-120"/>
              </a:rPr>
              <a:t>$5.4B</a:t>
            </a:r>
            <a:endParaRPr lang="en-US" sz="4800" dirty="0"/>
          </a:p>
        </p:txBody>
      </p:sp>
      <p:sp>
        <p:nvSpPr>
          <p:cNvPr id="16" name="Text 14"/>
          <p:cNvSpPr txBox="1"/>
          <p:nvPr/>
        </p:nvSpPr>
        <p:spPr>
          <a:xfrm>
            <a:off x="8321040" y="2788920"/>
            <a:ext cx="3017520" cy="41148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from one IT outage</a:t>
            </a:r>
            <a:endParaRPr lang="en-US" sz="1600" dirty="0"/>
          </a:p>
        </p:txBody>
      </p:sp>
      <p:sp>
        <p:nvSpPr>
          <p:cNvPr id="17" name="Text 15"/>
          <p:cNvSpPr txBox="1"/>
          <p:nvPr/>
        </p:nvSpPr>
        <p:spPr>
          <a:xfrm>
            <a:off x="8321040" y="3291840"/>
            <a:ext cx="3017520" cy="13258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in direct losses to Fortune 500 companies from the 19 July 2024 CrowdStrike incident; banking alone about $1.15B. Insurance covers only 10–20%.</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b"/>
          <a:lstStyle/>
          <a:p>
            <a:pPr indent="0" marL="0">
              <a:buNone/>
            </a:pPr>
            <a:r>
              <a:rPr lang="en-US" sz="950" i="1" dirty="0">
                <a:solidFill>
                  <a:srgbClr val="5B6B7F"/>
                </a:solidFill>
                <a:latin typeface="Calibri" pitchFamily="34" charset="0"/>
                <a:ea typeface="Calibri" pitchFamily="34" charset="-122"/>
                <a:cs typeface="Calibri" pitchFamily="34" charset="-120"/>
              </a:rPr>
              <a:t>Parametrix estimate, Jul 2024 [3]</a:t>
            </a:r>
            <a:endParaRPr lang="en-US" sz="950" dirty="0"/>
          </a:p>
        </p:txBody>
      </p:sp>
      <p:sp>
        <p:nvSpPr>
          <p:cNvPr id="19" name="Shape 17"/>
          <p:cNvSpPr/>
          <p:nvPr/>
        </p:nvSpPr>
        <p:spPr>
          <a:xfrm>
            <a:off x="548640" y="5596128"/>
            <a:ext cx="11064240" cy="658368"/>
          </a:xfrm>
          <a:prstGeom prst="roundRect">
            <a:avLst>
              <a:gd name="adj" fmla="val 11111"/>
            </a:avLst>
          </a:prstGeom>
          <a:solidFill>
            <a:srgbClr val="171721"/>
          </a:solidFill>
          <a:ln w="12700">
            <a:solidFill>
              <a:srgbClr val="171721"/>
            </a:solidFill>
            <a:prstDash val="solid"/>
          </a:ln>
        </p:spPr>
      </p:sp>
      <p:sp>
        <p:nvSpPr>
          <p:cNvPr id="20" name="Text 18"/>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At $300K per hour, every minute of downtime costs about $5,000.</a:t>
            </a:r>
            <a:pPr indent="0" marL="0">
              <a:buNone/>
            </a:pPr>
            <a:r>
              <a:rPr lang="en-US" sz="1600" dirty="0">
                <a:solidFill>
                  <a:srgbClr val="C9C3E6"/>
                </a:solidFill>
                <a:latin typeface="Calibri" pitchFamily="34" charset="0"/>
                <a:ea typeface="Calibri" pitchFamily="34" charset="-122"/>
                <a:cs typeface="Calibri" pitchFamily="34" charset="-120"/>
              </a:rPr>
              <a:t>   Recovery that is assumed, not proven, is an unpriced risk.</a:t>
            </a:r>
            <a:endParaRPr lang="en-US" sz="1600" dirty="0"/>
          </a:p>
        </p:txBody>
      </p:sp>
      <p:sp>
        <p:nvSpPr>
          <p:cNvPr id="21" name="Text 1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In India, failing to recover is punished by freezing growth</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Regulators act on outages and weak disaster recovery, not just on breaches.</a:t>
            </a:r>
            <a:endParaRPr lang="en-US" sz="1500" dirty="0"/>
          </a:p>
        </p:txBody>
      </p:sp>
      <p:sp>
        <p:nvSpPr>
          <p:cNvPr id="4" name="Shape 2"/>
          <p:cNvSpPr/>
          <p:nvPr/>
        </p:nvSpPr>
        <p:spPr>
          <a:xfrm>
            <a:off x="54864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HDFC Bank</a:t>
            </a:r>
            <a:endParaRPr lang="en-US" sz="1900" dirty="0"/>
          </a:p>
        </p:txBody>
      </p:sp>
      <p:sp>
        <p:nvSpPr>
          <p:cNvPr id="6" name="Text 4"/>
          <p:cNvSpPr txBox="1"/>
          <p:nvPr/>
        </p:nvSpPr>
        <p:spPr>
          <a:xfrm>
            <a:off x="288036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Dec 2020</a:t>
            </a:r>
            <a:endParaRPr lang="en-US" sz="1200" dirty="0"/>
          </a:p>
        </p:txBody>
      </p:sp>
      <p:sp>
        <p:nvSpPr>
          <p:cNvPr id="7" name="Text 5"/>
          <p:cNvSpPr txBox="1"/>
          <p:nvPr/>
        </p:nvSpPr>
        <p:spPr>
          <a:xfrm>
            <a:off x="82296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After repeated outages, the latest caused by a power failure at a primary data centre, the RBI stopped all new digital launches and new credit-card sourcing.</a:t>
            </a:r>
            <a:endParaRPr lang="en-US" sz="1300" dirty="0"/>
          </a:p>
        </p:txBody>
      </p:sp>
      <p:sp>
        <p:nvSpPr>
          <p:cNvPr id="8" name="Shape 6"/>
          <p:cNvSpPr/>
          <p:nvPr/>
        </p:nvSpPr>
        <p:spPr>
          <a:xfrm>
            <a:off x="822960" y="4297680"/>
            <a:ext cx="2971800" cy="0"/>
          </a:xfrm>
          <a:prstGeom prst="line">
            <a:avLst/>
          </a:prstGeom>
          <a:noFill/>
          <a:ln w="12700">
            <a:solidFill>
              <a:srgbClr val="C9D3DE"/>
            </a:solidFill>
            <a:prstDash val="solid"/>
          </a:ln>
        </p:spPr>
      </p:sp>
      <p:sp>
        <p:nvSpPr>
          <p:cNvPr id="9" name="Text 7"/>
          <p:cNvSpPr txBox="1"/>
          <p:nvPr/>
        </p:nvSpPr>
        <p:spPr>
          <a:xfrm>
            <a:off x="82296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≈15 months</a:t>
            </a:r>
            <a:endParaRPr lang="en-US" sz="3400" dirty="0"/>
          </a:p>
        </p:txBody>
      </p:sp>
      <p:sp>
        <p:nvSpPr>
          <p:cNvPr id="10" name="Text 8"/>
          <p:cNvSpPr txBox="1"/>
          <p:nvPr/>
        </p:nvSpPr>
        <p:spPr>
          <a:xfrm>
            <a:off x="82296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digital launches were allowed again (Mar 2022); cards resumed Aug 2021</a:t>
            </a:r>
            <a:endParaRPr lang="en-US" sz="1200" dirty="0"/>
          </a:p>
        </p:txBody>
      </p:sp>
      <p:sp>
        <p:nvSpPr>
          <p:cNvPr id="11" name="Text 9"/>
          <p:cNvSpPr txBox="1"/>
          <p:nvPr/>
        </p:nvSpPr>
        <p:spPr>
          <a:xfrm>
            <a:off x="338328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[4]</a:t>
            </a:r>
            <a:endParaRPr lang="en-US" sz="950" dirty="0"/>
          </a:p>
        </p:txBody>
      </p:sp>
      <p:sp>
        <p:nvSpPr>
          <p:cNvPr id="12" name="Shape 10"/>
          <p:cNvSpPr/>
          <p:nvPr/>
        </p:nvSpPr>
        <p:spPr>
          <a:xfrm>
            <a:off x="429768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457200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NSE</a:t>
            </a:r>
            <a:endParaRPr lang="en-US" sz="1900" dirty="0"/>
          </a:p>
        </p:txBody>
      </p:sp>
      <p:sp>
        <p:nvSpPr>
          <p:cNvPr id="14" name="Text 12"/>
          <p:cNvSpPr txBox="1"/>
          <p:nvPr/>
        </p:nvSpPr>
        <p:spPr>
          <a:xfrm>
            <a:off x="662940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Feb 2021</a:t>
            </a:r>
            <a:endParaRPr lang="en-US" sz="1200" dirty="0"/>
          </a:p>
        </p:txBody>
      </p:sp>
      <p:sp>
        <p:nvSpPr>
          <p:cNvPr id="15" name="Text 13"/>
          <p:cNvSpPr txBox="1"/>
          <p:nvPr/>
        </p:nvSpPr>
        <p:spPr>
          <a:xfrm>
            <a:off x="457200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Trading was halted for nearly four hours on 24 February 2021. NSE and NSE Clearing settled with SEBI; executives were ordered to do community service and training.</a:t>
            </a:r>
            <a:endParaRPr lang="en-US" sz="1300" dirty="0"/>
          </a:p>
        </p:txBody>
      </p:sp>
      <p:sp>
        <p:nvSpPr>
          <p:cNvPr id="16" name="Shape 14"/>
          <p:cNvSpPr/>
          <p:nvPr/>
        </p:nvSpPr>
        <p:spPr>
          <a:xfrm>
            <a:off x="4572000" y="4297680"/>
            <a:ext cx="2971800" cy="0"/>
          </a:xfrm>
          <a:prstGeom prst="line">
            <a:avLst/>
          </a:prstGeom>
          <a:noFill/>
          <a:ln w="12700">
            <a:solidFill>
              <a:srgbClr val="C9D3DE"/>
            </a:solidFill>
            <a:prstDash val="solid"/>
          </a:ln>
        </p:spPr>
      </p:sp>
      <p:sp>
        <p:nvSpPr>
          <p:cNvPr id="17" name="Text 15"/>
          <p:cNvSpPr txBox="1"/>
          <p:nvPr/>
        </p:nvSpPr>
        <p:spPr>
          <a:xfrm>
            <a:off x="457200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₹72.64 crore</a:t>
            </a:r>
            <a:endParaRPr lang="en-US" sz="3400" dirty="0"/>
          </a:p>
        </p:txBody>
      </p:sp>
      <p:sp>
        <p:nvSpPr>
          <p:cNvPr id="18" name="Text 16"/>
          <p:cNvSpPr txBox="1"/>
          <p:nvPr/>
        </p:nvSpPr>
        <p:spPr>
          <a:xfrm>
            <a:off x="457200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paid by NSE and NSE Clearing to settle (2023)</a:t>
            </a:r>
            <a:endParaRPr lang="en-US" sz="1200" dirty="0"/>
          </a:p>
        </p:txBody>
      </p:sp>
      <p:sp>
        <p:nvSpPr>
          <p:cNvPr id="19" name="Text 17"/>
          <p:cNvSpPr txBox="1"/>
          <p:nvPr/>
        </p:nvSpPr>
        <p:spPr>
          <a:xfrm>
            <a:off x="713232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[5]</a:t>
            </a:r>
            <a:endParaRPr lang="en-US" sz="950" dirty="0"/>
          </a:p>
        </p:txBody>
      </p:sp>
      <p:sp>
        <p:nvSpPr>
          <p:cNvPr id="20" name="Shape 18"/>
          <p:cNvSpPr/>
          <p:nvPr/>
        </p:nvSpPr>
        <p:spPr>
          <a:xfrm>
            <a:off x="8046720" y="1600200"/>
            <a:ext cx="3520440" cy="4434840"/>
          </a:xfrm>
          <a:prstGeom prst="roundRect">
            <a:avLst>
              <a:gd name="adj" fmla="val 2078"/>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8321040" y="1856232"/>
            <a:ext cx="2194560" cy="411480"/>
          </a:xfrm>
          <a:prstGeom prst="rect">
            <a:avLst/>
          </a:prstGeom>
          <a:noFill/>
          <a:ln/>
        </p:spPr>
        <p:txBody>
          <a:bodyPr wrap="square" lIns="0" tIns="0" rIns="0" bIns="0" rtlCol="0" anchor="ctr"/>
          <a:lstStyle/>
          <a:p>
            <a:pPr indent="0" marL="0">
              <a:buNone/>
            </a:pPr>
            <a:r>
              <a:rPr lang="en-US" sz="1900" b="1" dirty="0">
                <a:solidFill>
                  <a:srgbClr val="171721"/>
                </a:solidFill>
                <a:latin typeface="Calibri" pitchFamily="34" charset="0"/>
                <a:ea typeface="Calibri" pitchFamily="34" charset="-122"/>
                <a:cs typeface="Calibri" pitchFamily="34" charset="-120"/>
              </a:rPr>
              <a:t>Kotak Mahindra Bank</a:t>
            </a:r>
            <a:endParaRPr lang="en-US" sz="1900" dirty="0"/>
          </a:p>
        </p:txBody>
      </p:sp>
      <p:sp>
        <p:nvSpPr>
          <p:cNvPr id="22" name="Text 20"/>
          <p:cNvSpPr txBox="1"/>
          <p:nvPr/>
        </p:nvSpPr>
        <p:spPr>
          <a:xfrm>
            <a:off x="10378440" y="1874520"/>
            <a:ext cx="914400" cy="365760"/>
          </a:xfrm>
          <a:prstGeom prst="rect">
            <a:avLst/>
          </a:prstGeom>
          <a:noFill/>
          <a:ln/>
        </p:spPr>
        <p:txBody>
          <a:bodyPr wrap="square" lIns="0" tIns="0" rIns="0" bIns="0" rtlCol="0" anchor="ctr"/>
          <a:lstStyle/>
          <a:p>
            <a:pPr algn="r" indent="0" marL="0">
              <a:buNone/>
            </a:pPr>
            <a:r>
              <a:rPr lang="en-US" sz="1200" b="1" dirty="0">
                <a:solidFill>
                  <a:srgbClr val="5E2CFE"/>
                </a:solidFill>
                <a:latin typeface="Calibri" pitchFamily="34" charset="0"/>
                <a:ea typeface="Calibri" pitchFamily="34" charset="-122"/>
                <a:cs typeface="Calibri" pitchFamily="34" charset="-120"/>
              </a:rPr>
              <a:t>Apr 2024</a:t>
            </a:r>
            <a:endParaRPr lang="en-US" sz="1200" dirty="0"/>
          </a:p>
        </p:txBody>
      </p:sp>
      <p:sp>
        <p:nvSpPr>
          <p:cNvPr id="23" name="Text 21"/>
          <p:cNvSpPr txBox="1"/>
          <p:nvPr/>
        </p:nvSpPr>
        <p:spPr>
          <a:xfrm>
            <a:off x="8321040" y="2377440"/>
            <a:ext cx="3017520" cy="1783080"/>
          </a:xfrm>
          <a:prstGeom prst="rect">
            <a:avLst/>
          </a:prstGeom>
          <a:noFill/>
          <a:ln/>
        </p:spPr>
        <p:txBody>
          <a:bodyPr wrap="square" lIns="0" tIns="0" rIns="0" bIns="0" rtlCol="0" anchor="t"/>
          <a:lstStyle/>
          <a:p>
            <a:pPr indent="0" marL="0">
              <a:buNone/>
            </a:pPr>
            <a:r>
              <a:rPr lang="en-US" sz="1300" dirty="0">
                <a:solidFill>
                  <a:srgbClr val="1B2635"/>
                </a:solidFill>
                <a:latin typeface="Calibri" pitchFamily="34" charset="0"/>
                <a:ea typeface="Calibri" pitchFamily="34" charset="-122"/>
                <a:cs typeface="Calibri" pitchFamily="34" charset="-120"/>
              </a:rPr>
              <a:t>The RBI cited deficiencies including business continuity and disaster recovery, and frequent outages, and barred online customer onboarding and new credit cards.</a:t>
            </a:r>
            <a:endParaRPr lang="en-US" sz="1300" dirty="0"/>
          </a:p>
        </p:txBody>
      </p:sp>
      <p:sp>
        <p:nvSpPr>
          <p:cNvPr id="24" name="Shape 22"/>
          <p:cNvSpPr/>
          <p:nvPr/>
        </p:nvSpPr>
        <p:spPr>
          <a:xfrm>
            <a:off x="8321040" y="4297680"/>
            <a:ext cx="2971800" cy="0"/>
          </a:xfrm>
          <a:prstGeom prst="line">
            <a:avLst/>
          </a:prstGeom>
          <a:noFill/>
          <a:ln w="12700">
            <a:solidFill>
              <a:srgbClr val="C9D3DE"/>
            </a:solidFill>
            <a:prstDash val="solid"/>
          </a:ln>
        </p:spPr>
      </p:sp>
      <p:sp>
        <p:nvSpPr>
          <p:cNvPr id="25" name="Text 23"/>
          <p:cNvSpPr txBox="1"/>
          <p:nvPr/>
        </p:nvSpPr>
        <p:spPr>
          <a:xfrm>
            <a:off x="8321040" y="4434840"/>
            <a:ext cx="3017520" cy="731520"/>
          </a:xfrm>
          <a:prstGeom prst="rect">
            <a:avLst/>
          </a:prstGeom>
          <a:noFill/>
          <a:ln/>
        </p:spPr>
        <p:txBody>
          <a:bodyPr wrap="square" lIns="0" tIns="0" rIns="0" bIns="0" rtlCol="0" anchor="ctr"/>
          <a:lstStyle/>
          <a:p>
            <a:pPr indent="0" marL="0">
              <a:buNone/>
            </a:pPr>
            <a:r>
              <a:rPr lang="en-US" sz="3400" b="1" dirty="0">
                <a:solidFill>
                  <a:srgbClr val="D64545"/>
                </a:solidFill>
                <a:latin typeface="Calibri" pitchFamily="34" charset="0"/>
                <a:ea typeface="Calibri" pitchFamily="34" charset="-122"/>
                <a:cs typeface="Calibri" pitchFamily="34" charset="-120"/>
              </a:rPr>
              <a:t>≈10 months</a:t>
            </a:r>
            <a:endParaRPr lang="en-US" sz="3400" dirty="0"/>
          </a:p>
        </p:txBody>
      </p:sp>
      <p:sp>
        <p:nvSpPr>
          <p:cNvPr id="26" name="Text 24"/>
          <p:cNvSpPr txBox="1"/>
          <p:nvPr/>
        </p:nvSpPr>
        <p:spPr>
          <a:xfrm>
            <a:off x="8321040" y="5166360"/>
            <a:ext cx="301752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until the restrictions were lifted (Feb 2025)</a:t>
            </a:r>
            <a:endParaRPr lang="en-US" sz="1200" dirty="0"/>
          </a:p>
        </p:txBody>
      </p:sp>
      <p:sp>
        <p:nvSpPr>
          <p:cNvPr id="27" name="Text 25"/>
          <p:cNvSpPr txBox="1"/>
          <p:nvPr/>
        </p:nvSpPr>
        <p:spPr>
          <a:xfrm>
            <a:off x="10881360" y="5669280"/>
            <a:ext cx="457200" cy="274320"/>
          </a:xfrm>
          <a:prstGeom prst="rect">
            <a:avLst/>
          </a:prstGeom>
          <a:noFill/>
          <a:ln/>
        </p:spPr>
        <p:txBody>
          <a:bodyPr wrap="square" lIns="0" tIns="0" rIns="0" bIns="0" rtlCol="0" anchor="ctr"/>
          <a:lstStyle/>
          <a:p>
            <a:pPr algn="r" indent="0" marL="0">
              <a:buNone/>
            </a:pPr>
            <a:r>
              <a:rPr lang="en-US" sz="950" dirty="0">
                <a:solidFill>
                  <a:srgbClr val="5B6B7F"/>
                </a:solidFill>
                <a:latin typeface="Calibri" pitchFamily="34" charset="0"/>
                <a:ea typeface="Calibri" pitchFamily="34" charset="-122"/>
                <a:cs typeface="Calibri" pitchFamily="34" charset="-120"/>
              </a:rPr>
              <a:t>[6]</a:t>
            </a:r>
            <a:endParaRPr lang="en-US" sz="950" dirty="0"/>
          </a:p>
        </p:txBody>
      </p:sp>
      <p:sp>
        <p:nvSpPr>
          <p:cNvPr id="28" name="Text 26"/>
          <p:cNvSpPr txBox="1"/>
          <p:nvPr/>
        </p:nvSpPr>
        <p:spPr>
          <a:xfrm>
            <a:off x="548640" y="6144768"/>
            <a:ext cx="1106424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For a bank, a 10–15 month ban on new digital customers costs far more than any fine.</a:t>
            </a:r>
            <a:endParaRPr lang="en-US" sz="1400" dirty="0"/>
          </a:p>
        </p:txBody>
      </p:sp>
      <p:sp>
        <p:nvSpPr>
          <p:cNvPr id="29"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Regulators now require proof of recovery, on a schedule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Having a DR plan is not enough. It must be tested, the gaps fixed, and the test repeated.</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5029200"/>
                <a:gridCol w="32918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Regulator</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fall short</a:t>
                      </a:r>
                      <a:endParaRPr lang="en-US" sz="1300" dirty="0">
                        <a:latin typeface="Calibri" charset="0"/>
                        <a:ea typeface="Calibri" charset="0"/>
                        <a:cs typeface="Calibri" charset="0"/>
                      </a:endParaRPr>
                    </a:p>
                  </a:txBody>
                  <a:tcPr marL="101600" marR="101600" marT="76200" marB="76200">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solidFill>
                      <a:srgbClr val="171721"/>
                    </a:solidFill>
                  </a:tcPr>
                </a:tc>
              </a:tr>
              <a:tr h="109728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RBI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Technology: Risk, Resilience and Assurance Framework Directions, 31 Jul 2026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DR drills for critical information systems at least half-yearly. Any major issue found must be fixed and re-tested successfully before the next cycle. [7]</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Supervisory restrictions on business, as with HDFC Bank and Kotak Mahindra Bank. [4][6]</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23444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SEBI</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Cybersecurity &amp; Cyber Resilience Framework</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Resume critical operations within 2 hours (RTO) with a 15-minute RPO. Market infrastructure: run from the DR site within 45 minutes of declaring a disaster, drills every quarter, unannounced live trading from the DR site every six months. [8][9]</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Enforcement and settlements, as with NSE: ₹72.64 crore. [5]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r h="1143000">
                <a:tc>
                  <a:txBody>
                    <a:bodyPr/>
                    <a:lstStyle/>
                    <a:p>
                      <a:pPr indent="0" marL="0">
                        <a:buNone/>
                      </a:pPr>
                      <a:r>
                        <a:rPr lang="en-US" sz="1200" b="1" dirty="0">
                          <a:solidFill>
                            <a:srgbClr val="1B2635"/>
                          </a:solidFill>
                          <a:latin typeface="Calibri" pitchFamily="34" charset="0"/>
                          <a:ea typeface="Calibri" pitchFamily="34" charset="-122"/>
                          <a:cs typeface="Calibri" pitchFamily="34" charset="-120"/>
                        </a:rPr>
                        <a:t>EU DORA</a:t>
                      </a:r>
                      <a:endParaRPr lang="en-US" sz="1200" dirty="0">
                        <a:latin typeface="Calibri" charset="0"/>
                        <a:ea typeface="Calibri" charset="0"/>
                        <a:cs typeface="Calibri" charset="0"/>
                      </a:endParaRPr>
                    </a:p>
                    <a:p>
                      <a:pPr indent="0" marL="0">
                        <a:buNone/>
                      </a:pPr>
                      <a:r>
                        <a:rPr lang="en-US" sz="1200" b="1" dirty="0">
                          <a:solidFill>
                            <a:srgbClr val="1B2635"/>
                          </a:solidFill>
                          <a:latin typeface="Calibri" pitchFamily="34" charset="0"/>
                          <a:ea typeface="Calibri" pitchFamily="34" charset="-122"/>
                          <a:cs typeface="Calibri" pitchFamily="34" charset="-120"/>
                        </a:rPr>
                        <a:t>Regulation (EU) 2022/2554, applies from 17 Jan 2025</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Test ICT business continuity and response and recovery plans at least yearly and after major changes (Art. 11(6)); test backup restoration periodically (Art. 12).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c>
                  <a:txBody>
                    <a:bodyPr/>
                    <a:lstStyle/>
                    <a:p>
                      <a:pPr indent="0" marL="0">
                        <a:buNone/>
                      </a:pPr>
                      <a:r>
                        <a:rPr lang="en-US" sz="1200" dirty="0">
                          <a:solidFill>
                            <a:srgbClr val="1B2635"/>
                          </a:solidFill>
                          <a:latin typeface="Calibri" pitchFamily="34" charset="0"/>
                          <a:ea typeface="Calibri" pitchFamily="34" charset="-122"/>
                          <a:cs typeface="Calibri" pitchFamily="34" charset="-120"/>
                        </a:rPr>
                        <a:t>Penalties set by each EU state (Art. 50). Critical ICT providers: up to 1% of average daily worldwide turnover, every day, for up to six months (Art. 35). [10]</a:t>
                      </a:r>
                      <a:endParaRPr lang="en-US" sz="1200" dirty="0">
                        <a:latin typeface="Calibri" charset="0"/>
                        <a:ea typeface="Calibri" charset="0"/>
                        <a:cs typeface="Calibri" charset="0"/>
                      </a:endParaRPr>
                    </a:p>
                  </a:txBody>
                  <a:tcPr marL="101600" marR="101600" marT="76200" marB="76200" anchor="t">
                    <a:lnL w="12700" cap="flat" cmpd="sng" algn="ctr">
                      <a:solidFill>
                        <a:srgbClr val="C9D3DE"/>
                      </a:solidFill>
                      <a:prstDash val="solid"/>
                      <a:round/>
                      <a:headEnd type="none" w="med" len="med"/>
                      <a:tailEnd type="none" w="med" len="med"/>
                    </a:lnL>
                    <a:lnR w="12700" cap="flat" cmpd="sng" algn="ctr">
                      <a:solidFill>
                        <a:srgbClr val="C9D3DE"/>
                      </a:solidFill>
                      <a:prstDash val="solid"/>
                      <a:round/>
                      <a:headEnd type="none" w="med" len="med"/>
                      <a:tailEnd type="none" w="med" len="med"/>
                    </a:lnR>
                    <a:lnT w="12700" cap="flat" cmpd="sng" algn="ctr">
                      <a:solidFill>
                        <a:srgbClr val="C9D3DE"/>
                      </a:solidFill>
                      <a:prstDash val="solid"/>
                      <a:round/>
                      <a:headEnd type="none" w="med" len="med"/>
                      <a:tailEnd type="none" w="med" len="med"/>
                    </a:lnT>
                    <a:lnB w="12700" cap="flat" cmpd="sng" algn="ctr">
                      <a:solidFill>
                        <a:srgbClr val="C9D3DE"/>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10000"/>
            </a:avLst>
          </a:prstGeom>
          <a:solidFill>
            <a:srgbClr val="EFE9FF"/>
          </a:solidFill>
          <a:ln w="12700">
            <a:solidFill>
              <a:srgbClr val="EFE9FF"/>
            </a:solidFill>
            <a:prstDash val="solid"/>
          </a:ln>
        </p:spPr>
      </p:sp>
      <p:sp>
        <p:nvSpPr>
          <p:cNvPr id="6" name="Text 3"/>
          <p:cNvSpPr txBox="1"/>
          <p:nvPr/>
        </p:nvSpPr>
        <p:spPr>
          <a:xfrm>
            <a:off x="777240" y="5532120"/>
            <a:ext cx="10698480" cy="73152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Our demo uses the same yardstick:  </a:t>
            </a:r>
            <a:pPr indent="0" marL="0">
              <a:buNone/>
            </a:pPr>
            <a:r>
              <a:rPr lang="en-US" sz="1400" dirty="0">
                <a:solidFill>
                  <a:srgbClr val="1B2635"/>
                </a:solidFill>
                <a:latin typeface="Calibri" pitchFamily="34" charset="0"/>
                <a:ea typeface="Calibri" pitchFamily="34" charset="-122"/>
                <a:cs typeface="Calibri" pitchFamily="34" charset="-120"/>
              </a:rPr>
              <a:t>target RTO 30 min and RPO 15 min, stricter than SEBI's 2 hours, and every drill produces timestamped, audit-ready evidence.</a:t>
            </a:r>
            <a:endParaRPr lang="en-US" sz="1400" dirty="0"/>
          </a:p>
        </p:txBody>
      </p:sp>
      <p:sp>
        <p:nvSpPr>
          <p:cNvPr id="7" name="Text 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Yet most organisations cannot prove their recovery works today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Plans exist on paper. Tests are rare, manual and partial, so the gaps surface during the real disaster.</a:t>
            </a:r>
            <a:endParaRPr lang="en-US" sz="1500" dirty="0"/>
          </a:p>
        </p:txBody>
      </p:sp>
      <p:sp>
        <p:nvSpPr>
          <p:cNvPr id="4" name="Shape 2"/>
          <p:cNvSpPr/>
          <p:nvPr/>
        </p:nvSpPr>
        <p:spPr>
          <a:xfrm>
            <a:off x="548640" y="160020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78308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&lt; 1 in 3</a:t>
            </a:r>
            <a:endParaRPr lang="en-US" sz="3800" dirty="0"/>
          </a:p>
        </p:txBody>
      </p:sp>
      <p:sp>
        <p:nvSpPr>
          <p:cNvPr id="6" name="Text 4"/>
          <p:cNvSpPr txBox="1"/>
          <p:nvPr/>
        </p:nvSpPr>
        <p:spPr>
          <a:xfrm>
            <a:off x="2651760" y="176479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organisations perform regular failover testing</a:t>
            </a:r>
            <a:endParaRPr lang="en-US" sz="1350" dirty="0"/>
          </a:p>
        </p:txBody>
      </p:sp>
      <p:sp>
        <p:nvSpPr>
          <p:cNvPr id="7" name="Text 5"/>
          <p:cNvSpPr txBox="1"/>
          <p:nvPr/>
        </p:nvSpPr>
        <p:spPr>
          <a:xfrm>
            <a:off x="2651760" y="246888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(1,000 executives) [11]</a:t>
            </a:r>
            <a:endParaRPr lang="en-US" sz="950" dirty="0"/>
          </a:p>
        </p:txBody>
      </p:sp>
      <p:sp>
        <p:nvSpPr>
          <p:cNvPr id="8" name="Shape 6"/>
          <p:cNvSpPr/>
          <p:nvPr/>
        </p:nvSpPr>
        <p:spPr>
          <a:xfrm>
            <a:off x="548640" y="306324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777240" y="324612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20%</a:t>
            </a:r>
            <a:endParaRPr lang="en-US" sz="3800" dirty="0"/>
          </a:p>
        </p:txBody>
      </p:sp>
      <p:sp>
        <p:nvSpPr>
          <p:cNvPr id="10" name="Text 8"/>
          <p:cNvSpPr txBox="1"/>
          <p:nvPr/>
        </p:nvSpPr>
        <p:spPr>
          <a:xfrm>
            <a:off x="2651760" y="322783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executives believe their organisation is fully prepared to prevent or respond to outages</a:t>
            </a:r>
            <a:endParaRPr lang="en-US" sz="1350" dirty="0"/>
          </a:p>
        </p:txBody>
      </p:sp>
      <p:sp>
        <p:nvSpPr>
          <p:cNvPr id="11" name="Text 9"/>
          <p:cNvSpPr txBox="1"/>
          <p:nvPr/>
        </p:nvSpPr>
        <p:spPr>
          <a:xfrm>
            <a:off x="2651760" y="393192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Cockroach Labs, State of Resilience 2025 [11]</a:t>
            </a:r>
            <a:endParaRPr lang="en-US" sz="950" dirty="0"/>
          </a:p>
        </p:txBody>
      </p:sp>
      <p:sp>
        <p:nvSpPr>
          <p:cNvPr id="12" name="Shape 10"/>
          <p:cNvSpPr/>
          <p:nvPr/>
        </p:nvSpPr>
        <p:spPr>
          <a:xfrm>
            <a:off x="548640" y="4526280"/>
            <a:ext cx="5669280" cy="1280160"/>
          </a:xfrm>
          <a:prstGeom prst="roundRect">
            <a:avLst>
              <a:gd name="adj" fmla="val 571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1828800" cy="914400"/>
          </a:xfrm>
          <a:prstGeom prst="rect">
            <a:avLst/>
          </a:prstGeom>
          <a:noFill/>
          <a:ln/>
        </p:spPr>
        <p:txBody>
          <a:bodyPr wrap="square" lIns="0" tIns="0" rIns="0" bIns="0" rtlCol="0" anchor="ctr"/>
          <a:lstStyle/>
          <a:p>
            <a:pPr indent="0" marL="0">
              <a:buNone/>
            </a:pPr>
            <a:r>
              <a:rPr lang="en-US" sz="3800" b="1" dirty="0">
                <a:solidFill>
                  <a:srgbClr val="5E2CFE"/>
                </a:solidFill>
                <a:latin typeface="Calibri" pitchFamily="34" charset="0"/>
                <a:ea typeface="Calibri" pitchFamily="34" charset="-122"/>
                <a:cs typeface="Calibri" pitchFamily="34" charset="-120"/>
              </a:rPr>
              <a:t>85%</a:t>
            </a:r>
            <a:endParaRPr lang="en-US" sz="3800" dirty="0"/>
          </a:p>
        </p:txBody>
      </p:sp>
      <p:sp>
        <p:nvSpPr>
          <p:cNvPr id="14" name="Text 12"/>
          <p:cNvSpPr txBox="1"/>
          <p:nvPr/>
        </p:nvSpPr>
        <p:spPr>
          <a:xfrm>
            <a:off x="2651760" y="4690872"/>
            <a:ext cx="3383280" cy="685800"/>
          </a:xfrm>
          <a:prstGeom prst="rect">
            <a:avLst/>
          </a:prstGeom>
          <a:noFill/>
          <a:ln/>
        </p:spPr>
        <p:txBody>
          <a:bodyPr wrap="square" lIns="0" tIns="0" rIns="0" bIns="0" rtlCol="0" anchor="t"/>
          <a:lstStyle/>
          <a:p>
            <a:pPr indent="0" marL="0">
              <a:buNone/>
            </a:pPr>
            <a:r>
              <a:rPr lang="en-US" sz="1350" dirty="0">
                <a:solidFill>
                  <a:srgbClr val="1B2635"/>
                </a:solidFill>
                <a:latin typeface="Calibri" pitchFamily="34" charset="0"/>
                <a:ea typeface="Calibri" pitchFamily="34" charset="-122"/>
                <a:cs typeface="Calibri" pitchFamily="34" charset="-120"/>
              </a:rPr>
              <a:t>of major human-error outages come from staff not following procedures, or from flawed procedures</a:t>
            </a:r>
            <a:endParaRPr lang="en-US" sz="1350" dirty="0"/>
          </a:p>
        </p:txBody>
      </p:sp>
      <p:sp>
        <p:nvSpPr>
          <p:cNvPr id="15" name="Text 13"/>
          <p:cNvSpPr txBox="1"/>
          <p:nvPr/>
        </p:nvSpPr>
        <p:spPr>
          <a:xfrm>
            <a:off x="2651760" y="5394960"/>
            <a:ext cx="3383280" cy="320040"/>
          </a:xfrm>
          <a:prstGeom prst="rect">
            <a:avLst/>
          </a:prstGeom>
          <a:noFill/>
          <a:ln/>
        </p:spPr>
        <p:txBody>
          <a:bodyPr wrap="square" lIns="0" tIns="0" rIns="0" bIns="0"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Uptime Institute, Annual Outage Analysis 2025 [12]</a:t>
            </a:r>
            <a:endParaRPr lang="en-US" sz="950" dirty="0"/>
          </a:p>
        </p:txBody>
      </p:sp>
      <p:sp>
        <p:nvSpPr>
          <p:cNvPr id="16" name="Text 14"/>
          <p:cNvSpPr txBox="1"/>
          <p:nvPr/>
        </p:nvSpPr>
        <p:spPr>
          <a:xfrm>
            <a:off x="6583680" y="1600200"/>
            <a:ext cx="5029200" cy="411480"/>
          </a:xfrm>
          <a:prstGeom prst="rect">
            <a:avLst/>
          </a:prstGeom>
          <a:noFill/>
          <a:ln/>
        </p:spPr>
        <p:txBody>
          <a:bodyPr wrap="square" lIns="0" tIns="0" rIns="0" bIns="0" rtlCol="0" anchor="ctr"/>
          <a:lstStyle/>
          <a:p>
            <a:pPr indent="0" marL="0">
              <a:buNone/>
            </a:pPr>
            <a:r>
              <a:rPr lang="en-US" sz="1800" b="1" dirty="0">
                <a:solidFill>
                  <a:srgbClr val="171721"/>
                </a:solidFill>
                <a:latin typeface="Calibri" pitchFamily="34" charset="0"/>
                <a:ea typeface="Calibri" pitchFamily="34" charset="-122"/>
                <a:cs typeface="Calibri" pitchFamily="34" charset="-120"/>
              </a:rPr>
              <a:t>Why the gap persists</a:t>
            </a:r>
            <a:endParaRPr lang="en-US" sz="1800" dirty="0"/>
          </a:p>
        </p:txBody>
      </p:sp>
      <p:sp>
        <p:nvSpPr>
          <p:cNvPr id="17" name="Shape 15"/>
          <p:cNvSpPr/>
          <p:nvPr/>
        </p:nvSpPr>
        <p:spPr>
          <a:xfrm>
            <a:off x="6583680" y="2103120"/>
            <a:ext cx="502920" cy="502920"/>
          </a:xfrm>
          <a:prstGeom prst="ellipse">
            <a:avLst/>
          </a:prstGeom>
          <a:solidFill>
            <a:srgbClr val="171721"/>
          </a:solidFill>
          <a:ln w="12700">
            <a:solidFill>
              <a:srgbClr val="171721"/>
            </a:solidFill>
            <a:prstDash val="solid"/>
          </a:ln>
        </p:spPr>
      </p:sp>
      <p:pic>
        <p:nvPicPr>
          <p:cNvPr id="18" name="Image 0" descr="preencoded.png">    </p:cNvPr>
          <p:cNvPicPr>
            <a:picLocks noChangeAspect="1"/>
          </p:cNvPicPr>
          <p:nvPr/>
        </p:nvPicPr>
        <p:blipFill>
          <a:blip r:embed="rId1"/>
          <a:stretch>
            <a:fillRect/>
          </a:stretch>
        </p:blipFill>
        <p:spPr>
          <a:xfrm>
            <a:off x="6709410" y="2228850"/>
            <a:ext cx="251460" cy="251460"/>
          </a:xfrm>
          <a:prstGeom prst="rect">
            <a:avLst/>
          </a:prstGeom>
        </p:spPr>
      </p:pic>
      <p:sp>
        <p:nvSpPr>
          <p:cNvPr id="19" name="Text 16"/>
          <p:cNvSpPr txBox="1"/>
          <p:nvPr/>
        </p:nvSpPr>
        <p:spPr>
          <a:xfrm>
            <a:off x="7269480" y="2066544"/>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Tests are disruptive and manual</a:t>
            </a:r>
            <a:endParaRPr lang="en-US" sz="1400" dirty="0"/>
          </a:p>
        </p:txBody>
      </p:sp>
      <p:sp>
        <p:nvSpPr>
          <p:cNvPr id="20" name="Text 17"/>
          <p:cNvSpPr txBox="1"/>
          <p:nvPr/>
        </p:nvSpPr>
        <p:spPr>
          <a:xfrm>
            <a:off x="7269480" y="2395728"/>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real failover needs several teams, a change window and hand-written timings, so it happens rarely.</a:t>
            </a:r>
            <a:endParaRPr lang="en-US" sz="1200" dirty="0"/>
          </a:p>
        </p:txBody>
      </p:sp>
      <p:sp>
        <p:nvSpPr>
          <p:cNvPr id="21" name="Shape 18"/>
          <p:cNvSpPr/>
          <p:nvPr/>
        </p:nvSpPr>
        <p:spPr>
          <a:xfrm>
            <a:off x="6583680" y="3127248"/>
            <a:ext cx="502920" cy="502920"/>
          </a:xfrm>
          <a:prstGeom prst="ellipse">
            <a:avLst/>
          </a:prstGeom>
          <a:solidFill>
            <a:srgbClr val="171721"/>
          </a:solidFill>
          <a:ln w="12700">
            <a:solidFill>
              <a:srgbClr val="171721"/>
            </a:solidFill>
            <a:prstDash val="solid"/>
          </a:ln>
        </p:spPr>
      </p:sp>
      <p:pic>
        <p:nvPicPr>
          <p:cNvPr id="22" name="Image 1" descr="preencoded.png">    </p:cNvPr>
          <p:cNvPicPr>
            <a:picLocks noChangeAspect="1"/>
          </p:cNvPicPr>
          <p:nvPr/>
        </p:nvPicPr>
        <p:blipFill>
          <a:blip r:embed="rId2"/>
          <a:stretch>
            <a:fillRect/>
          </a:stretch>
        </p:blipFill>
        <p:spPr>
          <a:xfrm>
            <a:off x="6709410" y="3252978"/>
            <a:ext cx="251460" cy="251460"/>
          </a:xfrm>
          <a:prstGeom prst="rect">
            <a:avLst/>
          </a:prstGeom>
        </p:spPr>
      </p:pic>
      <p:sp>
        <p:nvSpPr>
          <p:cNvPr id="23" name="Text 19"/>
          <p:cNvSpPr txBox="1"/>
          <p:nvPr/>
        </p:nvSpPr>
        <p:spPr>
          <a:xfrm>
            <a:off x="7269480" y="3090672"/>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Environments drift between tests</a:t>
            </a:r>
            <a:endParaRPr lang="en-US" sz="1400" dirty="0"/>
          </a:p>
        </p:txBody>
      </p:sp>
      <p:sp>
        <p:nvSpPr>
          <p:cNvPr id="24" name="Text 20"/>
          <p:cNvSpPr txBox="1"/>
          <p:nvPr/>
        </p:nvSpPr>
        <p:spPr>
          <a:xfrm>
            <a:off x="7269480" y="3419856"/>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 setting added in one region but not the other only shows up when you fail over.</a:t>
            </a:r>
            <a:endParaRPr lang="en-US" sz="1200" dirty="0"/>
          </a:p>
        </p:txBody>
      </p:sp>
      <p:sp>
        <p:nvSpPr>
          <p:cNvPr id="25" name="Shape 21"/>
          <p:cNvSpPr/>
          <p:nvPr/>
        </p:nvSpPr>
        <p:spPr>
          <a:xfrm>
            <a:off x="6583680" y="4151376"/>
            <a:ext cx="502920" cy="502920"/>
          </a:xfrm>
          <a:prstGeom prst="ellipse">
            <a:avLst/>
          </a:prstGeom>
          <a:solidFill>
            <a:srgbClr val="171721"/>
          </a:solidFill>
          <a:ln w="12700">
            <a:solidFill>
              <a:srgbClr val="171721"/>
            </a:solidFill>
            <a:prstDash val="solid"/>
          </a:ln>
        </p:spPr>
      </p:sp>
      <p:pic>
        <p:nvPicPr>
          <p:cNvPr id="26" name="Image 2" descr="preencoded.png">    </p:cNvPr>
          <p:cNvPicPr>
            <a:picLocks noChangeAspect="1"/>
          </p:cNvPicPr>
          <p:nvPr/>
        </p:nvPicPr>
        <p:blipFill>
          <a:blip r:embed="rId3"/>
          <a:stretch>
            <a:fillRect/>
          </a:stretch>
        </p:blipFill>
        <p:spPr>
          <a:xfrm>
            <a:off x="6709410" y="4277106"/>
            <a:ext cx="251460" cy="251460"/>
          </a:xfrm>
          <a:prstGeom prst="rect">
            <a:avLst/>
          </a:prstGeom>
        </p:spPr>
      </p:pic>
      <p:sp>
        <p:nvSpPr>
          <p:cNvPr id="27" name="Text 22"/>
          <p:cNvSpPr txBox="1"/>
          <p:nvPr/>
        </p:nvSpPr>
        <p:spPr>
          <a:xfrm>
            <a:off x="7269480" y="4114800"/>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Runbooks go stale</a:t>
            </a:r>
            <a:endParaRPr lang="en-US" sz="1400" dirty="0"/>
          </a:p>
        </p:txBody>
      </p:sp>
      <p:sp>
        <p:nvSpPr>
          <p:cNvPr id="28" name="Text 23"/>
          <p:cNvSpPr txBox="1"/>
          <p:nvPr/>
        </p:nvSpPr>
        <p:spPr>
          <a:xfrm>
            <a:off x="7269480" y="4443984"/>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Documents name servers and services that no longer exist; engineers find out mid-incident.</a:t>
            </a:r>
            <a:endParaRPr lang="en-US" sz="1200" dirty="0"/>
          </a:p>
        </p:txBody>
      </p:sp>
      <p:sp>
        <p:nvSpPr>
          <p:cNvPr id="29" name="Shape 24"/>
          <p:cNvSpPr/>
          <p:nvPr/>
        </p:nvSpPr>
        <p:spPr>
          <a:xfrm>
            <a:off x="6583680" y="5175504"/>
            <a:ext cx="502920" cy="502920"/>
          </a:xfrm>
          <a:prstGeom prst="ellipse">
            <a:avLst/>
          </a:prstGeom>
          <a:solidFill>
            <a:srgbClr val="171721"/>
          </a:solidFill>
          <a:ln w="12700">
            <a:solidFill>
              <a:srgbClr val="171721"/>
            </a:solidFill>
            <a:prstDash val="solid"/>
          </a:ln>
        </p:spPr>
      </p:sp>
      <p:pic>
        <p:nvPicPr>
          <p:cNvPr id="30" name="Image 3" descr="preencoded.png">    </p:cNvPr>
          <p:cNvPicPr>
            <a:picLocks noChangeAspect="1"/>
          </p:cNvPicPr>
          <p:nvPr/>
        </p:nvPicPr>
        <p:blipFill>
          <a:blip r:embed="rId4"/>
          <a:stretch>
            <a:fillRect/>
          </a:stretch>
        </p:blipFill>
        <p:spPr>
          <a:xfrm>
            <a:off x="6709410" y="5301234"/>
            <a:ext cx="251460" cy="251460"/>
          </a:xfrm>
          <a:prstGeom prst="rect">
            <a:avLst/>
          </a:prstGeom>
        </p:spPr>
      </p:pic>
      <p:sp>
        <p:nvSpPr>
          <p:cNvPr id="31" name="Text 25"/>
          <p:cNvSpPr txBox="1"/>
          <p:nvPr/>
        </p:nvSpPr>
        <p:spPr>
          <a:xfrm>
            <a:off x="7269480" y="5138928"/>
            <a:ext cx="4389120" cy="3200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RTO and RPO are assumed</a:t>
            </a:r>
            <a:endParaRPr lang="en-US" sz="1400" dirty="0"/>
          </a:p>
        </p:txBody>
      </p:sp>
      <p:sp>
        <p:nvSpPr>
          <p:cNvPr id="32" name="Text 26"/>
          <p:cNvSpPr txBox="1"/>
          <p:nvPr/>
        </p:nvSpPr>
        <p:spPr>
          <a:xfrm>
            <a:off x="7269480" y="5468112"/>
            <a:ext cx="4389120" cy="59436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Targets are signed off on paper; actual recovery time and data loss are rarely measured end to end.</a:t>
            </a:r>
            <a:endParaRPr lang="en-US" sz="1200" dirty="0"/>
          </a:p>
        </p:txBody>
      </p:sp>
      <p:sp>
        <p:nvSpPr>
          <p:cNvPr id="33" name="Text 27"/>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an unproven DR plan costs: one bad morning</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Illustration for a tier-1 payments service, using the cited figures. Not a forecast; the inputs are shown.</a:t>
            </a:r>
            <a:endParaRPr lang="en-US" sz="1500" dirty="0"/>
          </a:p>
        </p:txBody>
      </p:sp>
      <p:sp>
        <p:nvSpPr>
          <p:cNvPr id="4" name="Shape 2"/>
          <p:cNvSpPr/>
          <p:nvPr/>
        </p:nvSpPr>
        <p:spPr>
          <a:xfrm>
            <a:off x="548640" y="1600200"/>
            <a:ext cx="11064240" cy="676656"/>
          </a:xfrm>
          <a:prstGeom prst="roundRect">
            <a:avLst>
              <a:gd name="adj" fmla="val 10811"/>
            </a:avLst>
          </a:prstGeom>
          <a:solidFill>
            <a:srgbClr val="F1F5F9"/>
          </a:solidFill>
          <a:ln w="12700">
            <a:solidFill>
              <a:srgbClr val="F1F5F9"/>
            </a:solidFill>
            <a:prstDash val="solid"/>
          </a:ln>
        </p:spPr>
      </p:sp>
      <p:sp>
        <p:nvSpPr>
          <p:cNvPr id="5" name="Text 3"/>
          <p:cNvSpPr txBox="1"/>
          <p:nvPr/>
        </p:nvSpPr>
        <p:spPr>
          <a:xfrm>
            <a:off x="777240" y="1600200"/>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Recovery target (RTO)</a:t>
            </a:r>
            <a:endParaRPr lang="en-US" sz="1400" dirty="0"/>
          </a:p>
        </p:txBody>
      </p:sp>
      <p:sp>
        <p:nvSpPr>
          <p:cNvPr id="6" name="Text 4"/>
          <p:cNvSpPr txBox="1"/>
          <p:nvPr/>
        </p:nvSpPr>
        <p:spPr>
          <a:xfrm>
            <a:off x="3931920" y="1600200"/>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 minutes</a:t>
            </a:r>
            <a:endParaRPr lang="en-US" sz="2200" dirty="0"/>
          </a:p>
        </p:txBody>
      </p:sp>
      <p:sp>
        <p:nvSpPr>
          <p:cNvPr id="7" name="Text 5"/>
          <p:cNvSpPr txBox="1"/>
          <p:nvPr/>
        </p:nvSpPr>
        <p:spPr>
          <a:xfrm>
            <a:off x="6400800" y="1600200"/>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Signed off on paper; never measured end to end</a:t>
            </a:r>
            <a:endParaRPr lang="en-US" sz="1200" dirty="0"/>
          </a:p>
        </p:txBody>
      </p:sp>
      <p:sp>
        <p:nvSpPr>
          <p:cNvPr id="8" name="Shape 6"/>
          <p:cNvSpPr/>
          <p:nvPr/>
        </p:nvSpPr>
        <p:spPr>
          <a:xfrm>
            <a:off x="548640" y="2386584"/>
            <a:ext cx="11064240" cy="676656"/>
          </a:xfrm>
          <a:prstGeom prst="roundRect">
            <a:avLst>
              <a:gd name="adj" fmla="val 10811"/>
            </a:avLst>
          </a:prstGeom>
          <a:solidFill>
            <a:srgbClr val="F1F5F9"/>
          </a:solidFill>
          <a:ln w="12700">
            <a:solidFill>
              <a:srgbClr val="F1F5F9"/>
            </a:solidFill>
            <a:prstDash val="solid"/>
          </a:ln>
        </p:spPr>
      </p:sp>
      <p:sp>
        <p:nvSpPr>
          <p:cNvPr id="9" name="Text 7"/>
          <p:cNvSpPr txBox="1"/>
          <p:nvPr/>
        </p:nvSpPr>
        <p:spPr>
          <a:xfrm>
            <a:off x="777240" y="2386584"/>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Actual recovery</a:t>
            </a:r>
            <a:endParaRPr lang="en-US" sz="1400" dirty="0"/>
          </a:p>
        </p:txBody>
      </p:sp>
      <p:sp>
        <p:nvSpPr>
          <p:cNvPr id="10" name="Text 8"/>
          <p:cNvSpPr txBox="1"/>
          <p:nvPr/>
        </p:nvSpPr>
        <p:spPr>
          <a:xfrm>
            <a:off x="3931920" y="2386584"/>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4 hours</a:t>
            </a:r>
            <a:endParaRPr lang="en-US" sz="2200" dirty="0"/>
          </a:p>
        </p:txBody>
      </p:sp>
      <p:sp>
        <p:nvSpPr>
          <p:cNvPr id="11" name="Text 9"/>
          <p:cNvSpPr txBox="1"/>
          <p:nvPr/>
        </p:nvSpPr>
        <p:spPr>
          <a:xfrm>
            <a:off x="6400800" y="2386584"/>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Comparable to the NSE trading halt of Feb 2021 [5]</a:t>
            </a:r>
            <a:endParaRPr lang="en-US" sz="1200" dirty="0"/>
          </a:p>
        </p:txBody>
      </p:sp>
      <p:sp>
        <p:nvSpPr>
          <p:cNvPr id="12" name="Shape 10"/>
          <p:cNvSpPr/>
          <p:nvPr/>
        </p:nvSpPr>
        <p:spPr>
          <a:xfrm>
            <a:off x="548640" y="3172968"/>
            <a:ext cx="11064240" cy="676656"/>
          </a:xfrm>
          <a:prstGeom prst="roundRect">
            <a:avLst>
              <a:gd name="adj" fmla="val 10811"/>
            </a:avLst>
          </a:prstGeom>
          <a:solidFill>
            <a:srgbClr val="F1F5F9"/>
          </a:solidFill>
          <a:ln w="12700">
            <a:solidFill>
              <a:srgbClr val="F1F5F9"/>
            </a:solidFill>
            <a:prstDash val="solid"/>
          </a:ln>
        </p:spPr>
      </p:sp>
      <p:sp>
        <p:nvSpPr>
          <p:cNvPr id="13" name="Text 11"/>
          <p:cNvSpPr txBox="1"/>
          <p:nvPr/>
        </p:nvSpPr>
        <p:spPr>
          <a:xfrm>
            <a:off x="777240" y="3172968"/>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Hourly cost of downtime</a:t>
            </a:r>
            <a:endParaRPr lang="en-US" sz="1400" dirty="0"/>
          </a:p>
        </p:txBody>
      </p:sp>
      <p:sp>
        <p:nvSpPr>
          <p:cNvPr id="14" name="Text 12"/>
          <p:cNvSpPr txBox="1"/>
          <p:nvPr/>
        </p:nvSpPr>
        <p:spPr>
          <a:xfrm>
            <a:off x="3931920" y="3172968"/>
            <a:ext cx="2377440" cy="676656"/>
          </a:xfrm>
          <a:prstGeom prst="rect">
            <a:avLst/>
          </a:prstGeom>
          <a:noFill/>
          <a:ln/>
        </p:spPr>
        <p:txBody>
          <a:bodyPr wrap="square" lIns="0" tIns="0" rIns="0" bIns="0" rtlCol="0" anchor="ctr"/>
          <a:lstStyle/>
          <a:p>
            <a:pPr indent="0" marL="0">
              <a:buNone/>
            </a:pPr>
            <a:r>
              <a:rPr lang="en-US" sz="2200" b="1" dirty="0">
                <a:solidFill>
                  <a:srgbClr val="1B2635"/>
                </a:solidFill>
                <a:latin typeface="Calibri" pitchFamily="34" charset="0"/>
                <a:ea typeface="Calibri" pitchFamily="34" charset="-122"/>
                <a:cs typeface="Calibri" pitchFamily="34" charset="-120"/>
              </a:rPr>
              <a:t>$300,000</a:t>
            </a:r>
            <a:endParaRPr lang="en-US" sz="2200" dirty="0"/>
          </a:p>
        </p:txBody>
      </p:sp>
      <p:sp>
        <p:nvSpPr>
          <p:cNvPr id="15" name="Text 13"/>
          <p:cNvSpPr txBox="1"/>
          <p:nvPr/>
        </p:nvSpPr>
        <p:spPr>
          <a:xfrm>
            <a:off x="6400800" y="3172968"/>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ITIC 2024 floor for 90%+ of mid-size and large firms [1]</a:t>
            </a:r>
            <a:endParaRPr lang="en-US" sz="1200" dirty="0"/>
          </a:p>
        </p:txBody>
      </p:sp>
      <p:sp>
        <p:nvSpPr>
          <p:cNvPr id="16" name="Shape 14"/>
          <p:cNvSpPr/>
          <p:nvPr/>
        </p:nvSpPr>
        <p:spPr>
          <a:xfrm>
            <a:off x="548640" y="3959352"/>
            <a:ext cx="11064240" cy="676656"/>
          </a:xfrm>
          <a:prstGeom prst="roundRect">
            <a:avLst>
              <a:gd name="adj" fmla="val 10811"/>
            </a:avLst>
          </a:prstGeom>
          <a:solidFill>
            <a:srgbClr val="FDF0DB"/>
          </a:solidFill>
          <a:ln w="12700">
            <a:solidFill>
              <a:srgbClr val="FDF0DB"/>
            </a:solidFill>
            <a:prstDash val="solid"/>
          </a:ln>
        </p:spPr>
      </p:sp>
      <p:sp>
        <p:nvSpPr>
          <p:cNvPr id="17" name="Text 15"/>
          <p:cNvSpPr txBox="1"/>
          <p:nvPr/>
        </p:nvSpPr>
        <p:spPr>
          <a:xfrm>
            <a:off x="777240" y="3959352"/>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Direct loss</a:t>
            </a:r>
            <a:endParaRPr lang="en-US" sz="1400" dirty="0"/>
          </a:p>
        </p:txBody>
      </p:sp>
      <p:sp>
        <p:nvSpPr>
          <p:cNvPr id="18" name="Text 16"/>
          <p:cNvSpPr txBox="1"/>
          <p:nvPr/>
        </p:nvSpPr>
        <p:spPr>
          <a:xfrm>
            <a:off x="3931920" y="3959352"/>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$1.2M</a:t>
            </a:r>
            <a:endParaRPr lang="en-US" sz="2200" dirty="0"/>
          </a:p>
        </p:txBody>
      </p:sp>
      <p:sp>
        <p:nvSpPr>
          <p:cNvPr id="19" name="Text 17"/>
          <p:cNvSpPr txBox="1"/>
          <p:nvPr/>
        </p:nvSpPr>
        <p:spPr>
          <a:xfrm>
            <a:off x="6400800" y="3959352"/>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4 h × $300K; $1.05M of it beyond the 30-minute target</a:t>
            </a:r>
            <a:endParaRPr lang="en-US" sz="1200" dirty="0"/>
          </a:p>
        </p:txBody>
      </p:sp>
      <p:sp>
        <p:nvSpPr>
          <p:cNvPr id="20" name="Shape 18"/>
          <p:cNvSpPr/>
          <p:nvPr/>
        </p:nvSpPr>
        <p:spPr>
          <a:xfrm>
            <a:off x="548640" y="4745736"/>
            <a:ext cx="11064240" cy="676656"/>
          </a:xfrm>
          <a:prstGeom prst="roundRect">
            <a:avLst>
              <a:gd name="adj" fmla="val 10811"/>
            </a:avLst>
          </a:prstGeom>
          <a:solidFill>
            <a:srgbClr val="FDF0DB"/>
          </a:solidFill>
          <a:ln w="12700">
            <a:solidFill>
              <a:srgbClr val="FDF0DB"/>
            </a:solidFill>
            <a:prstDash val="solid"/>
          </a:ln>
        </p:spPr>
      </p:sp>
      <p:sp>
        <p:nvSpPr>
          <p:cNvPr id="21" name="Text 19"/>
          <p:cNvSpPr txBox="1"/>
          <p:nvPr/>
        </p:nvSpPr>
        <p:spPr>
          <a:xfrm>
            <a:off x="777240" y="4745736"/>
            <a:ext cx="3108960" cy="676656"/>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Regulatory precedent</a:t>
            </a:r>
            <a:endParaRPr lang="en-US" sz="1400" dirty="0"/>
          </a:p>
        </p:txBody>
      </p:sp>
      <p:sp>
        <p:nvSpPr>
          <p:cNvPr id="22" name="Text 20"/>
          <p:cNvSpPr txBox="1"/>
          <p:nvPr/>
        </p:nvSpPr>
        <p:spPr>
          <a:xfrm>
            <a:off x="3931920" y="4745736"/>
            <a:ext cx="2377440" cy="676656"/>
          </a:xfrm>
          <a:prstGeom prst="rect">
            <a:avLst/>
          </a:prstGeom>
          <a:noFill/>
          <a:ln/>
        </p:spPr>
        <p:txBody>
          <a:bodyPr wrap="square" lIns="0" tIns="0" rIns="0" bIns="0" rtlCol="0" anchor="ctr"/>
          <a:lstStyle/>
          <a:p>
            <a:pPr indent="0" marL="0">
              <a:buNone/>
            </a:pPr>
            <a:r>
              <a:rPr lang="en-US" sz="2200" b="1" dirty="0">
                <a:solidFill>
                  <a:srgbClr val="D64545"/>
                </a:solidFill>
                <a:latin typeface="Calibri" pitchFamily="34" charset="0"/>
                <a:ea typeface="Calibri" pitchFamily="34" charset="-122"/>
                <a:cs typeface="Calibri" pitchFamily="34" charset="-120"/>
              </a:rPr>
              <a:t>₹72.64 crore</a:t>
            </a:r>
            <a:endParaRPr lang="en-US" sz="2200" dirty="0"/>
          </a:p>
        </p:txBody>
      </p:sp>
      <p:sp>
        <p:nvSpPr>
          <p:cNvPr id="23" name="Text 21"/>
          <p:cNvSpPr txBox="1"/>
          <p:nvPr/>
        </p:nvSpPr>
        <p:spPr>
          <a:xfrm>
            <a:off x="6400800" y="4745736"/>
            <a:ext cx="5029200" cy="676656"/>
          </a:xfrm>
          <a:prstGeom prst="rect">
            <a:avLst/>
          </a:prstGeom>
          <a:noFill/>
          <a:ln/>
        </p:spPr>
        <p:txBody>
          <a:bodyPr wrap="square" lIns="0" tIns="0" rIns="0" bIns="0" rtlCol="0" anchor="ctr"/>
          <a:lstStyle/>
          <a:p>
            <a:pPr indent="0" marL="0">
              <a:buNone/>
            </a:pPr>
            <a:r>
              <a:rPr lang="en-US" sz="1200" dirty="0">
                <a:solidFill>
                  <a:srgbClr val="5B6B7F"/>
                </a:solidFill>
                <a:latin typeface="Calibri" pitchFamily="34" charset="0"/>
                <a:ea typeface="Calibri" pitchFamily="34" charset="-122"/>
                <a:cs typeface="Calibri" pitchFamily="34" charset="-120"/>
              </a:rPr>
              <a:t>What NSE paid to settle its 2021 outage case [5]; banks have faced 10–15 month business restrictions [4][6]</a:t>
            </a:r>
            <a:endParaRPr lang="en-US" sz="1200" dirty="0"/>
          </a:p>
        </p:txBody>
      </p:sp>
      <p:sp>
        <p:nvSpPr>
          <p:cNvPr id="24" name="Shape 22"/>
          <p:cNvSpPr/>
          <p:nvPr/>
        </p:nvSpPr>
        <p:spPr>
          <a:xfrm>
            <a:off x="548640" y="5623560"/>
            <a:ext cx="11064240" cy="658368"/>
          </a:xfrm>
          <a:prstGeom prst="roundRect">
            <a:avLst>
              <a:gd name="adj" fmla="val 11111"/>
            </a:avLst>
          </a:prstGeom>
          <a:solidFill>
            <a:srgbClr val="171721"/>
          </a:solidFill>
          <a:ln w="12700">
            <a:solidFill>
              <a:srgbClr val="171721"/>
            </a:solidFill>
            <a:prstDash val="solid"/>
          </a:ln>
        </p:spPr>
      </p:sp>
      <p:sp>
        <p:nvSpPr>
          <p:cNvPr id="25" name="Text 2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DR Agent measured 34.35 s</a:t>
            </a:r>
            <a:pPr indent="0" marL="0">
              <a:buNone/>
            </a:pPr>
            <a:r>
              <a:rPr lang="en-US" sz="1450" dirty="0">
                <a:solidFill>
                  <a:srgbClr val="C9C3E6"/>
                </a:solidFill>
                <a:latin typeface="Calibri" pitchFamily="34" charset="0"/>
                <a:ea typeface="Calibri" pitchFamily="34" charset="-122"/>
                <a:cs typeface="Calibri" pitchFamily="34" charset="-120"/>
              </a:rPr>
              <a:t> to recover the same kind of service in our live Azure drill (18 Oct 2026), with zero payments lost, and proves it again on every run.</a:t>
            </a:r>
            <a:endParaRPr lang="en-US" sz="1450" dirty="0"/>
          </a:p>
        </p:txBody>
      </p:sp>
      <p:sp>
        <p:nvSpPr>
          <p:cNvPr id="26" name="Text 24"/>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Validation by execution: the agent runs real DR tests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Not just DR design review — autonomous, end-to-end failover testing with a human approving anything risky.</a:t>
            </a:r>
            <a:endParaRPr lang="en-US" sz="1500" dirty="0"/>
          </a:p>
        </p:txBody>
      </p:sp>
      <p:sp>
        <p:nvSpPr>
          <p:cNvPr id="4" name="Shape 2"/>
          <p:cNvSpPr/>
          <p:nvPr/>
        </p:nvSpPr>
        <p:spPr>
          <a:xfrm>
            <a:off x="1417320" y="2148840"/>
            <a:ext cx="960120" cy="0"/>
          </a:xfrm>
          <a:prstGeom prst="line">
            <a:avLst/>
          </a:prstGeom>
          <a:noFill/>
          <a:ln w="25400">
            <a:solidFill>
              <a:srgbClr val="C9D3DE"/>
            </a:solidFill>
            <a:prstDash val="solid"/>
            <a:tailEnd type="triangle"/>
          </a:ln>
        </p:spPr>
      </p:sp>
      <p:sp>
        <p:nvSpPr>
          <p:cNvPr id="5" name="Shape 3"/>
          <p:cNvSpPr/>
          <p:nvPr/>
        </p:nvSpPr>
        <p:spPr>
          <a:xfrm>
            <a:off x="731520" y="1737360"/>
            <a:ext cx="822960" cy="822960"/>
          </a:xfrm>
          <a:prstGeom prst="ellipse">
            <a:avLst/>
          </a:prstGeom>
          <a:solidFill>
            <a:srgbClr val="171721"/>
          </a:solidFill>
          <a:ln w="12700">
            <a:solidFill>
              <a:srgbClr val="171721"/>
            </a:solidFill>
            <a:prstDash val="solid"/>
          </a:ln>
        </p:spPr>
      </p:sp>
      <p:pic>
        <p:nvPicPr>
          <p:cNvPr id="6" name="Image 0" descr="preencoded.png">    </p:cNvPr>
          <p:cNvPicPr>
            <a:picLocks noChangeAspect="1"/>
          </p:cNvPicPr>
          <p:nvPr/>
        </p:nvPicPr>
        <p:blipFill>
          <a:blip r:embed="rId1"/>
          <a:stretch>
            <a:fillRect/>
          </a:stretch>
        </p:blipFill>
        <p:spPr>
          <a:xfrm>
            <a:off x="937260" y="1943100"/>
            <a:ext cx="411480" cy="411480"/>
          </a:xfrm>
          <a:prstGeom prst="rect">
            <a:avLst/>
          </a:prstGeom>
        </p:spPr>
      </p:pic>
      <p:sp>
        <p:nvSpPr>
          <p:cNvPr id="7" name="Text 4"/>
          <p:cNvSpPr txBox="1"/>
          <p:nvPr/>
        </p:nvSpPr>
        <p:spPr>
          <a:xfrm>
            <a:off x="457200" y="2651760"/>
            <a:ext cx="1371600" cy="365760"/>
          </a:xfrm>
          <a:prstGeom prst="rect">
            <a:avLst/>
          </a:prstGeom>
          <a:noFill/>
          <a:ln/>
        </p:spPr>
        <p:txBody>
          <a:bodyPr wrap="square" lIns="0" tIns="0" rIns="0" bIns="0" rtlCol="0" anchor="ctr"/>
          <a:lstStyle/>
          <a:p>
            <a:pPr algn="ctr" indent="0" marL="0">
              <a:buNone/>
            </a:pPr>
            <a:r>
              <a:rPr lang="en-US" sz="1400" b="1" dirty="0">
                <a:solidFill>
                  <a:srgbClr val="171721"/>
                </a:solidFill>
                <a:latin typeface="Calibri" pitchFamily="34" charset="0"/>
                <a:ea typeface="Calibri" pitchFamily="34" charset="-122"/>
                <a:cs typeface="Calibri" pitchFamily="34" charset="-120"/>
              </a:rPr>
              <a:t>Discover</a:t>
            </a:r>
            <a:endParaRPr lang="en-US" sz="1400" dirty="0"/>
          </a:p>
        </p:txBody>
      </p:sp>
      <p:sp>
        <p:nvSpPr>
          <p:cNvPr id="8" name="Text 5"/>
          <p:cNvSpPr txBox="1"/>
          <p:nvPr/>
        </p:nvSpPr>
        <p:spPr>
          <a:xfrm>
            <a:off x="457200"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Map workload &amp; dependencies</a:t>
            </a:r>
            <a:endParaRPr lang="en-US" sz="1100" dirty="0"/>
          </a:p>
        </p:txBody>
      </p:sp>
      <p:sp>
        <p:nvSpPr>
          <p:cNvPr id="9" name="Shape 6"/>
          <p:cNvSpPr/>
          <p:nvPr/>
        </p:nvSpPr>
        <p:spPr>
          <a:xfrm>
            <a:off x="2816352" y="2148840"/>
            <a:ext cx="960120" cy="0"/>
          </a:xfrm>
          <a:prstGeom prst="line">
            <a:avLst/>
          </a:prstGeom>
          <a:noFill/>
          <a:ln w="25400">
            <a:solidFill>
              <a:srgbClr val="C9D3DE"/>
            </a:solidFill>
            <a:prstDash val="solid"/>
            <a:tailEnd type="triangle"/>
          </a:ln>
        </p:spPr>
      </p:sp>
      <p:sp>
        <p:nvSpPr>
          <p:cNvPr id="10" name="Shape 7"/>
          <p:cNvSpPr/>
          <p:nvPr/>
        </p:nvSpPr>
        <p:spPr>
          <a:xfrm>
            <a:off x="2130552" y="1737360"/>
            <a:ext cx="822960" cy="822960"/>
          </a:xfrm>
          <a:prstGeom prst="ellipse">
            <a:avLst/>
          </a:prstGeom>
          <a:solidFill>
            <a:srgbClr val="171721"/>
          </a:solidFill>
          <a:ln w="12700">
            <a:solidFill>
              <a:srgbClr val="171721"/>
            </a:solidFill>
            <a:prstDash val="solid"/>
          </a:ln>
        </p:spPr>
      </p:sp>
      <p:pic>
        <p:nvPicPr>
          <p:cNvPr id="11" name="Image 1" descr="preencoded.png">    </p:cNvPr>
          <p:cNvPicPr>
            <a:picLocks noChangeAspect="1"/>
          </p:cNvPicPr>
          <p:nvPr/>
        </p:nvPicPr>
        <p:blipFill>
          <a:blip r:embed="rId2"/>
          <a:stretch>
            <a:fillRect/>
          </a:stretch>
        </p:blipFill>
        <p:spPr>
          <a:xfrm>
            <a:off x="2336292" y="1943100"/>
            <a:ext cx="411480" cy="411480"/>
          </a:xfrm>
          <a:prstGeom prst="rect">
            <a:avLst/>
          </a:prstGeom>
        </p:spPr>
      </p:pic>
      <p:sp>
        <p:nvSpPr>
          <p:cNvPr id="12" name="Text 8"/>
          <p:cNvSpPr txBox="1"/>
          <p:nvPr/>
        </p:nvSpPr>
        <p:spPr>
          <a:xfrm>
            <a:off x="1856232" y="2651760"/>
            <a:ext cx="1371600" cy="365760"/>
          </a:xfrm>
          <a:prstGeom prst="rect">
            <a:avLst/>
          </a:prstGeom>
          <a:noFill/>
          <a:ln/>
        </p:spPr>
        <p:txBody>
          <a:bodyPr wrap="square" lIns="0" tIns="0" rIns="0" bIns="0" rtlCol="0" anchor="ctr"/>
          <a:lstStyle/>
          <a:p>
            <a:pPr algn="ctr" indent="0" marL="0">
              <a:buNone/>
            </a:pPr>
            <a:r>
              <a:rPr lang="en-US" sz="1400" b="1" dirty="0">
                <a:solidFill>
                  <a:srgbClr val="171721"/>
                </a:solidFill>
                <a:latin typeface="Calibri" pitchFamily="34" charset="0"/>
                <a:ea typeface="Calibri" pitchFamily="34" charset="-122"/>
                <a:cs typeface="Calibri" pitchFamily="34" charset="-120"/>
              </a:rPr>
              <a:t>Assess</a:t>
            </a:r>
            <a:endParaRPr lang="en-US" sz="1400" dirty="0"/>
          </a:p>
        </p:txBody>
      </p:sp>
      <p:sp>
        <p:nvSpPr>
          <p:cNvPr id="13" name="Text 9"/>
          <p:cNvSpPr txBox="1"/>
          <p:nvPr/>
        </p:nvSpPr>
        <p:spPr>
          <a:xfrm>
            <a:off x="1856232"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Find readiness gaps</a:t>
            </a:r>
            <a:endParaRPr lang="en-US" sz="1100" dirty="0"/>
          </a:p>
        </p:txBody>
      </p:sp>
      <p:sp>
        <p:nvSpPr>
          <p:cNvPr id="14" name="Shape 10"/>
          <p:cNvSpPr/>
          <p:nvPr/>
        </p:nvSpPr>
        <p:spPr>
          <a:xfrm>
            <a:off x="4215384" y="2148840"/>
            <a:ext cx="960120" cy="0"/>
          </a:xfrm>
          <a:prstGeom prst="line">
            <a:avLst/>
          </a:prstGeom>
          <a:noFill/>
          <a:ln w="25400">
            <a:solidFill>
              <a:srgbClr val="C9D3DE"/>
            </a:solidFill>
            <a:prstDash val="solid"/>
            <a:tailEnd type="triangle"/>
          </a:ln>
        </p:spPr>
      </p:sp>
      <p:sp>
        <p:nvSpPr>
          <p:cNvPr id="15" name="Shape 11"/>
          <p:cNvSpPr/>
          <p:nvPr/>
        </p:nvSpPr>
        <p:spPr>
          <a:xfrm>
            <a:off x="3529584" y="1737360"/>
            <a:ext cx="822960" cy="822960"/>
          </a:xfrm>
          <a:prstGeom prst="ellipse">
            <a:avLst/>
          </a:prstGeom>
          <a:solidFill>
            <a:srgbClr val="171721"/>
          </a:solidFill>
          <a:ln w="12700">
            <a:solidFill>
              <a:srgbClr val="171721"/>
            </a:solidFill>
            <a:prstDash val="solid"/>
          </a:ln>
        </p:spPr>
      </p:sp>
      <p:pic>
        <p:nvPicPr>
          <p:cNvPr id="16" name="Image 2" descr="preencoded.png">    </p:cNvPr>
          <p:cNvPicPr>
            <a:picLocks noChangeAspect="1"/>
          </p:cNvPicPr>
          <p:nvPr/>
        </p:nvPicPr>
        <p:blipFill>
          <a:blip r:embed="rId3"/>
          <a:stretch>
            <a:fillRect/>
          </a:stretch>
        </p:blipFill>
        <p:spPr>
          <a:xfrm>
            <a:off x="3735324" y="1943100"/>
            <a:ext cx="411480" cy="411480"/>
          </a:xfrm>
          <a:prstGeom prst="rect">
            <a:avLst/>
          </a:prstGeom>
        </p:spPr>
      </p:pic>
      <p:sp>
        <p:nvSpPr>
          <p:cNvPr id="17" name="Text 12"/>
          <p:cNvSpPr txBox="1"/>
          <p:nvPr/>
        </p:nvSpPr>
        <p:spPr>
          <a:xfrm>
            <a:off x="3255264" y="2651760"/>
            <a:ext cx="1371600" cy="365760"/>
          </a:xfrm>
          <a:prstGeom prst="rect">
            <a:avLst/>
          </a:prstGeom>
          <a:noFill/>
          <a:ln/>
        </p:spPr>
        <p:txBody>
          <a:bodyPr wrap="square" lIns="0" tIns="0" rIns="0" bIns="0" rtlCol="0" anchor="ctr"/>
          <a:lstStyle/>
          <a:p>
            <a:pPr algn="ctr" indent="0" marL="0">
              <a:buNone/>
            </a:pPr>
            <a:r>
              <a:rPr lang="en-US" sz="1400" b="1" dirty="0">
                <a:solidFill>
                  <a:srgbClr val="171721"/>
                </a:solidFill>
                <a:latin typeface="Calibri" pitchFamily="34" charset="0"/>
                <a:ea typeface="Calibri" pitchFamily="34" charset="-122"/>
                <a:cs typeface="Calibri" pitchFamily="34" charset="-120"/>
              </a:rPr>
              <a:t>Plan test</a:t>
            </a:r>
            <a:endParaRPr lang="en-US" sz="1400" dirty="0"/>
          </a:p>
        </p:txBody>
      </p:sp>
      <p:sp>
        <p:nvSpPr>
          <p:cNvPr id="18" name="Text 13"/>
          <p:cNvSpPr txBox="1"/>
          <p:nvPr/>
        </p:nvSpPr>
        <p:spPr>
          <a:xfrm>
            <a:off x="3255264"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Order failover steps</a:t>
            </a:r>
            <a:endParaRPr lang="en-US" sz="1100" dirty="0"/>
          </a:p>
        </p:txBody>
      </p:sp>
      <p:sp>
        <p:nvSpPr>
          <p:cNvPr id="19" name="Shape 14"/>
          <p:cNvSpPr/>
          <p:nvPr/>
        </p:nvSpPr>
        <p:spPr>
          <a:xfrm>
            <a:off x="5614416" y="2148840"/>
            <a:ext cx="960120" cy="0"/>
          </a:xfrm>
          <a:prstGeom prst="line">
            <a:avLst/>
          </a:prstGeom>
          <a:noFill/>
          <a:ln w="25400">
            <a:solidFill>
              <a:srgbClr val="C9D3DE"/>
            </a:solidFill>
            <a:prstDash val="solid"/>
            <a:tailEnd type="triangle"/>
          </a:ln>
        </p:spPr>
      </p:sp>
      <p:sp>
        <p:nvSpPr>
          <p:cNvPr id="20" name="Shape 15"/>
          <p:cNvSpPr/>
          <p:nvPr/>
        </p:nvSpPr>
        <p:spPr>
          <a:xfrm>
            <a:off x="4928616" y="1737360"/>
            <a:ext cx="822960" cy="822960"/>
          </a:xfrm>
          <a:prstGeom prst="ellipse">
            <a:avLst/>
          </a:prstGeom>
          <a:solidFill>
            <a:srgbClr val="171721"/>
          </a:solidFill>
          <a:ln w="12700">
            <a:solidFill>
              <a:srgbClr val="171721"/>
            </a:solidFill>
            <a:prstDash val="solid"/>
          </a:ln>
        </p:spPr>
      </p:sp>
      <p:pic>
        <p:nvPicPr>
          <p:cNvPr id="21" name="Image 3" descr="preencoded.png">    </p:cNvPr>
          <p:cNvPicPr>
            <a:picLocks noChangeAspect="1"/>
          </p:cNvPicPr>
          <p:nvPr/>
        </p:nvPicPr>
        <p:blipFill>
          <a:blip r:embed="rId4"/>
          <a:stretch>
            <a:fillRect/>
          </a:stretch>
        </p:blipFill>
        <p:spPr>
          <a:xfrm>
            <a:off x="5134356" y="1943100"/>
            <a:ext cx="411480" cy="411480"/>
          </a:xfrm>
          <a:prstGeom prst="rect">
            <a:avLst/>
          </a:prstGeom>
        </p:spPr>
      </p:pic>
      <p:sp>
        <p:nvSpPr>
          <p:cNvPr id="22" name="Text 16"/>
          <p:cNvSpPr txBox="1"/>
          <p:nvPr/>
        </p:nvSpPr>
        <p:spPr>
          <a:xfrm>
            <a:off x="4654296" y="2651760"/>
            <a:ext cx="1371600" cy="365760"/>
          </a:xfrm>
          <a:prstGeom prst="rect">
            <a:avLst/>
          </a:prstGeom>
          <a:noFill/>
          <a:ln/>
        </p:spPr>
        <p:txBody>
          <a:bodyPr wrap="square" lIns="0" tIns="0" rIns="0" bIns="0" rtlCol="0" anchor="ctr"/>
          <a:lstStyle/>
          <a:p>
            <a:pPr algn="ctr" indent="0" marL="0">
              <a:buNone/>
            </a:pPr>
            <a:r>
              <a:rPr lang="en-US" sz="1400" b="1" dirty="0">
                <a:solidFill>
                  <a:srgbClr val="171721"/>
                </a:solidFill>
                <a:latin typeface="Calibri" pitchFamily="34" charset="0"/>
                <a:ea typeface="Calibri" pitchFamily="34" charset="-122"/>
                <a:cs typeface="Calibri" pitchFamily="34" charset="-120"/>
              </a:rPr>
              <a:t>Approve</a:t>
            </a:r>
            <a:endParaRPr lang="en-US" sz="1400" dirty="0"/>
          </a:p>
        </p:txBody>
      </p:sp>
      <p:sp>
        <p:nvSpPr>
          <p:cNvPr id="23" name="Text 17"/>
          <p:cNvSpPr txBox="1"/>
          <p:nvPr/>
        </p:nvSpPr>
        <p:spPr>
          <a:xfrm>
            <a:off x="4654296"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Human sign-off in Teams</a:t>
            </a:r>
            <a:endParaRPr lang="en-US" sz="1100" dirty="0"/>
          </a:p>
        </p:txBody>
      </p:sp>
      <p:sp>
        <p:nvSpPr>
          <p:cNvPr id="24" name="Shape 18"/>
          <p:cNvSpPr/>
          <p:nvPr/>
        </p:nvSpPr>
        <p:spPr>
          <a:xfrm>
            <a:off x="7013448" y="2148840"/>
            <a:ext cx="960120" cy="0"/>
          </a:xfrm>
          <a:prstGeom prst="line">
            <a:avLst/>
          </a:prstGeom>
          <a:noFill/>
          <a:ln w="25400">
            <a:solidFill>
              <a:srgbClr val="C9D3DE"/>
            </a:solidFill>
            <a:prstDash val="solid"/>
            <a:tailEnd type="triangle"/>
          </a:ln>
        </p:spPr>
      </p:sp>
      <p:sp>
        <p:nvSpPr>
          <p:cNvPr id="25" name="Shape 19"/>
          <p:cNvSpPr/>
          <p:nvPr/>
        </p:nvSpPr>
        <p:spPr>
          <a:xfrm>
            <a:off x="6327648" y="1737360"/>
            <a:ext cx="822960" cy="822960"/>
          </a:xfrm>
          <a:prstGeom prst="ellipse">
            <a:avLst/>
          </a:prstGeom>
          <a:solidFill>
            <a:srgbClr val="5E2CFE"/>
          </a:solidFill>
          <a:ln w="12700">
            <a:solidFill>
              <a:srgbClr val="5E2CFE"/>
            </a:solidFill>
            <a:prstDash val="solid"/>
          </a:ln>
        </p:spPr>
      </p:sp>
      <p:pic>
        <p:nvPicPr>
          <p:cNvPr id="26" name="Image 4" descr="preencoded.png">    </p:cNvPr>
          <p:cNvPicPr>
            <a:picLocks noChangeAspect="1"/>
          </p:cNvPicPr>
          <p:nvPr/>
        </p:nvPicPr>
        <p:blipFill>
          <a:blip r:embed="rId5"/>
          <a:stretch>
            <a:fillRect/>
          </a:stretch>
        </p:blipFill>
        <p:spPr>
          <a:xfrm>
            <a:off x="6533388" y="1943100"/>
            <a:ext cx="411480" cy="411480"/>
          </a:xfrm>
          <a:prstGeom prst="rect">
            <a:avLst/>
          </a:prstGeom>
        </p:spPr>
      </p:pic>
      <p:sp>
        <p:nvSpPr>
          <p:cNvPr id="27" name="Text 20"/>
          <p:cNvSpPr txBox="1"/>
          <p:nvPr/>
        </p:nvSpPr>
        <p:spPr>
          <a:xfrm>
            <a:off x="6053328" y="2651760"/>
            <a:ext cx="1371600" cy="365760"/>
          </a:xfrm>
          <a:prstGeom prst="rect">
            <a:avLst/>
          </a:prstGeom>
          <a:noFill/>
          <a:ln/>
        </p:spPr>
        <p:txBody>
          <a:bodyPr wrap="square" lIns="0" tIns="0" rIns="0" bIns="0" rtlCol="0" anchor="ctr"/>
          <a:lstStyle/>
          <a:p>
            <a:pPr algn="ctr" indent="0" marL="0">
              <a:buNone/>
            </a:pPr>
            <a:r>
              <a:rPr lang="en-US" sz="1400" b="1" dirty="0">
                <a:solidFill>
                  <a:srgbClr val="5E2CFE"/>
                </a:solidFill>
                <a:latin typeface="Calibri" pitchFamily="34" charset="0"/>
                <a:ea typeface="Calibri" pitchFamily="34" charset="-122"/>
                <a:cs typeface="Calibri" pitchFamily="34" charset="-120"/>
              </a:rPr>
              <a:t>Execute</a:t>
            </a:r>
            <a:endParaRPr lang="en-US" sz="1400" dirty="0"/>
          </a:p>
        </p:txBody>
      </p:sp>
      <p:sp>
        <p:nvSpPr>
          <p:cNvPr id="28" name="Text 21"/>
          <p:cNvSpPr txBox="1"/>
          <p:nvPr/>
        </p:nvSpPr>
        <p:spPr>
          <a:xfrm>
            <a:off x="6053328"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Run the failover drill</a:t>
            </a:r>
            <a:endParaRPr lang="en-US" sz="1100" dirty="0"/>
          </a:p>
        </p:txBody>
      </p:sp>
      <p:sp>
        <p:nvSpPr>
          <p:cNvPr id="29" name="Shape 22"/>
          <p:cNvSpPr/>
          <p:nvPr/>
        </p:nvSpPr>
        <p:spPr>
          <a:xfrm>
            <a:off x="8412480" y="2148840"/>
            <a:ext cx="960120" cy="0"/>
          </a:xfrm>
          <a:prstGeom prst="line">
            <a:avLst/>
          </a:prstGeom>
          <a:noFill/>
          <a:ln w="25400">
            <a:solidFill>
              <a:srgbClr val="C9D3DE"/>
            </a:solidFill>
            <a:prstDash val="solid"/>
            <a:tailEnd type="triangle"/>
          </a:ln>
        </p:spPr>
      </p:sp>
      <p:sp>
        <p:nvSpPr>
          <p:cNvPr id="30" name="Shape 23"/>
          <p:cNvSpPr/>
          <p:nvPr/>
        </p:nvSpPr>
        <p:spPr>
          <a:xfrm>
            <a:off x="7726680" y="1737360"/>
            <a:ext cx="822960" cy="822960"/>
          </a:xfrm>
          <a:prstGeom prst="ellipse">
            <a:avLst/>
          </a:prstGeom>
          <a:solidFill>
            <a:srgbClr val="5E2CFE"/>
          </a:solidFill>
          <a:ln w="12700">
            <a:solidFill>
              <a:srgbClr val="5E2CFE"/>
            </a:solidFill>
            <a:prstDash val="solid"/>
          </a:ln>
        </p:spPr>
      </p:sp>
      <p:pic>
        <p:nvPicPr>
          <p:cNvPr id="31" name="Image 5" descr="preencoded.png">    </p:cNvPr>
          <p:cNvPicPr>
            <a:picLocks noChangeAspect="1"/>
          </p:cNvPicPr>
          <p:nvPr/>
        </p:nvPicPr>
        <p:blipFill>
          <a:blip r:embed="rId6"/>
          <a:stretch>
            <a:fillRect/>
          </a:stretch>
        </p:blipFill>
        <p:spPr>
          <a:xfrm>
            <a:off x="7932420" y="1943100"/>
            <a:ext cx="411480" cy="411480"/>
          </a:xfrm>
          <a:prstGeom prst="rect">
            <a:avLst/>
          </a:prstGeom>
        </p:spPr>
      </p:pic>
      <p:sp>
        <p:nvSpPr>
          <p:cNvPr id="32" name="Text 24"/>
          <p:cNvSpPr txBox="1"/>
          <p:nvPr/>
        </p:nvSpPr>
        <p:spPr>
          <a:xfrm>
            <a:off x="7452360" y="2651760"/>
            <a:ext cx="1371600" cy="365760"/>
          </a:xfrm>
          <a:prstGeom prst="rect">
            <a:avLst/>
          </a:prstGeom>
          <a:noFill/>
          <a:ln/>
        </p:spPr>
        <p:txBody>
          <a:bodyPr wrap="square" lIns="0" tIns="0" rIns="0" bIns="0" rtlCol="0" anchor="ctr"/>
          <a:lstStyle/>
          <a:p>
            <a:pPr algn="ctr" indent="0" marL="0">
              <a:buNone/>
            </a:pPr>
            <a:r>
              <a:rPr lang="en-US" sz="1400" b="1" dirty="0">
                <a:solidFill>
                  <a:srgbClr val="5E2CFE"/>
                </a:solidFill>
                <a:latin typeface="Calibri" pitchFamily="34" charset="0"/>
                <a:ea typeface="Calibri" pitchFamily="34" charset="-122"/>
                <a:cs typeface="Calibri" pitchFamily="34" charset="-120"/>
              </a:rPr>
              <a:t>Validate</a:t>
            </a:r>
            <a:endParaRPr lang="en-US" sz="1400" dirty="0"/>
          </a:p>
        </p:txBody>
      </p:sp>
      <p:sp>
        <p:nvSpPr>
          <p:cNvPr id="33" name="Text 25"/>
          <p:cNvSpPr txBox="1"/>
          <p:nvPr/>
        </p:nvSpPr>
        <p:spPr>
          <a:xfrm>
            <a:off x="7452360"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Synthetic tests, RTO/RPO</a:t>
            </a:r>
            <a:endParaRPr lang="en-US" sz="1100" dirty="0"/>
          </a:p>
        </p:txBody>
      </p:sp>
      <p:sp>
        <p:nvSpPr>
          <p:cNvPr id="34" name="Shape 26"/>
          <p:cNvSpPr/>
          <p:nvPr/>
        </p:nvSpPr>
        <p:spPr>
          <a:xfrm>
            <a:off x="9811512" y="2148840"/>
            <a:ext cx="960120" cy="0"/>
          </a:xfrm>
          <a:prstGeom prst="line">
            <a:avLst/>
          </a:prstGeom>
          <a:noFill/>
          <a:ln w="25400">
            <a:solidFill>
              <a:srgbClr val="C9D3DE"/>
            </a:solidFill>
            <a:prstDash val="solid"/>
            <a:tailEnd type="triangle"/>
          </a:ln>
        </p:spPr>
      </p:sp>
      <p:sp>
        <p:nvSpPr>
          <p:cNvPr id="35" name="Shape 27"/>
          <p:cNvSpPr/>
          <p:nvPr/>
        </p:nvSpPr>
        <p:spPr>
          <a:xfrm>
            <a:off x="9125712" y="1737360"/>
            <a:ext cx="822960" cy="822960"/>
          </a:xfrm>
          <a:prstGeom prst="ellipse">
            <a:avLst/>
          </a:prstGeom>
          <a:solidFill>
            <a:srgbClr val="5E2CFE"/>
          </a:solidFill>
          <a:ln w="12700">
            <a:solidFill>
              <a:srgbClr val="5E2CFE"/>
            </a:solidFill>
            <a:prstDash val="solid"/>
          </a:ln>
        </p:spPr>
      </p:sp>
      <p:pic>
        <p:nvPicPr>
          <p:cNvPr id="36" name="Image 6" descr="preencoded.png">    </p:cNvPr>
          <p:cNvPicPr>
            <a:picLocks noChangeAspect="1"/>
          </p:cNvPicPr>
          <p:nvPr/>
        </p:nvPicPr>
        <p:blipFill>
          <a:blip r:embed="rId7"/>
          <a:stretch>
            <a:fillRect/>
          </a:stretch>
        </p:blipFill>
        <p:spPr>
          <a:xfrm>
            <a:off x="9331452" y="1943100"/>
            <a:ext cx="411480" cy="411480"/>
          </a:xfrm>
          <a:prstGeom prst="rect">
            <a:avLst/>
          </a:prstGeom>
        </p:spPr>
      </p:pic>
      <p:sp>
        <p:nvSpPr>
          <p:cNvPr id="37" name="Text 28"/>
          <p:cNvSpPr txBox="1"/>
          <p:nvPr/>
        </p:nvSpPr>
        <p:spPr>
          <a:xfrm>
            <a:off x="8851392" y="2651760"/>
            <a:ext cx="1371600" cy="365760"/>
          </a:xfrm>
          <a:prstGeom prst="rect">
            <a:avLst/>
          </a:prstGeom>
          <a:noFill/>
          <a:ln/>
        </p:spPr>
        <p:txBody>
          <a:bodyPr wrap="square" lIns="0" tIns="0" rIns="0" bIns="0" rtlCol="0" anchor="ctr"/>
          <a:lstStyle/>
          <a:p>
            <a:pPr algn="ctr" indent="0" marL="0">
              <a:buNone/>
            </a:pPr>
            <a:r>
              <a:rPr lang="en-US" sz="1400" b="1" dirty="0">
                <a:solidFill>
                  <a:srgbClr val="5E2CFE"/>
                </a:solidFill>
                <a:latin typeface="Calibri" pitchFamily="34" charset="0"/>
                <a:ea typeface="Calibri" pitchFamily="34" charset="-122"/>
                <a:cs typeface="Calibri" pitchFamily="34" charset="-120"/>
              </a:rPr>
              <a:t>Fail back</a:t>
            </a:r>
            <a:endParaRPr lang="en-US" sz="1400" dirty="0"/>
          </a:p>
        </p:txBody>
      </p:sp>
      <p:sp>
        <p:nvSpPr>
          <p:cNvPr id="38" name="Text 29"/>
          <p:cNvSpPr txBox="1"/>
          <p:nvPr/>
        </p:nvSpPr>
        <p:spPr>
          <a:xfrm>
            <a:off x="8851392"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Restore &amp; clean up</a:t>
            </a:r>
            <a:endParaRPr lang="en-US" sz="1100" dirty="0"/>
          </a:p>
        </p:txBody>
      </p:sp>
      <p:sp>
        <p:nvSpPr>
          <p:cNvPr id="39" name="Shape 30"/>
          <p:cNvSpPr/>
          <p:nvPr/>
        </p:nvSpPr>
        <p:spPr>
          <a:xfrm>
            <a:off x="10524744" y="1737360"/>
            <a:ext cx="822960" cy="822960"/>
          </a:xfrm>
          <a:prstGeom prst="ellipse">
            <a:avLst/>
          </a:prstGeom>
          <a:solidFill>
            <a:srgbClr val="171721"/>
          </a:solidFill>
          <a:ln w="12700">
            <a:solidFill>
              <a:srgbClr val="171721"/>
            </a:solidFill>
            <a:prstDash val="solid"/>
          </a:ln>
        </p:spPr>
      </p:sp>
      <p:pic>
        <p:nvPicPr>
          <p:cNvPr id="40" name="Image 7" descr="preencoded.png">    </p:cNvPr>
          <p:cNvPicPr>
            <a:picLocks noChangeAspect="1"/>
          </p:cNvPicPr>
          <p:nvPr/>
        </p:nvPicPr>
        <p:blipFill>
          <a:blip r:embed="rId8"/>
          <a:stretch>
            <a:fillRect/>
          </a:stretch>
        </p:blipFill>
        <p:spPr>
          <a:xfrm>
            <a:off x="10730484" y="1943100"/>
            <a:ext cx="411480" cy="411480"/>
          </a:xfrm>
          <a:prstGeom prst="rect">
            <a:avLst/>
          </a:prstGeom>
        </p:spPr>
      </p:pic>
      <p:sp>
        <p:nvSpPr>
          <p:cNvPr id="41" name="Text 31"/>
          <p:cNvSpPr txBox="1"/>
          <p:nvPr/>
        </p:nvSpPr>
        <p:spPr>
          <a:xfrm>
            <a:off x="10250424" y="2651760"/>
            <a:ext cx="1371600" cy="365760"/>
          </a:xfrm>
          <a:prstGeom prst="rect">
            <a:avLst/>
          </a:prstGeom>
          <a:noFill/>
          <a:ln/>
        </p:spPr>
        <p:txBody>
          <a:bodyPr wrap="square" lIns="0" tIns="0" rIns="0" bIns="0" rtlCol="0" anchor="ctr"/>
          <a:lstStyle/>
          <a:p>
            <a:pPr algn="ctr" indent="0" marL="0">
              <a:buNone/>
            </a:pPr>
            <a:r>
              <a:rPr lang="en-US" sz="1400" b="1" dirty="0">
                <a:solidFill>
                  <a:srgbClr val="171721"/>
                </a:solidFill>
                <a:latin typeface="Calibri" pitchFamily="34" charset="0"/>
                <a:ea typeface="Calibri" pitchFamily="34" charset="-122"/>
                <a:cs typeface="Calibri" pitchFamily="34" charset="-120"/>
              </a:rPr>
              <a:t>Fix &amp; prove</a:t>
            </a:r>
            <a:endParaRPr lang="en-US" sz="1400" dirty="0"/>
          </a:p>
        </p:txBody>
      </p:sp>
      <p:sp>
        <p:nvSpPr>
          <p:cNvPr id="42" name="Text 32"/>
          <p:cNvSpPr txBox="1"/>
          <p:nvPr/>
        </p:nvSpPr>
        <p:spPr>
          <a:xfrm>
            <a:off x="10250424" y="2999232"/>
            <a:ext cx="1371600" cy="502920"/>
          </a:xfrm>
          <a:prstGeom prst="rect">
            <a:avLst/>
          </a:prstGeom>
          <a:noFill/>
          <a:ln/>
        </p:spPr>
        <p:txBody>
          <a:bodyPr wrap="square" lIns="0" tIns="0" rIns="0" bIns="0" rtlCol="0" anchor="ctr"/>
          <a:lstStyle/>
          <a:p>
            <a:pPr algn="ctr" indent="0" marL="0">
              <a:buNone/>
            </a:pPr>
            <a:r>
              <a:rPr lang="en-US" sz="1100" dirty="0">
                <a:solidFill>
                  <a:srgbClr val="5B6B7F"/>
                </a:solidFill>
                <a:latin typeface="Calibri" pitchFamily="34" charset="0"/>
                <a:ea typeface="Calibri" pitchFamily="34" charset="-122"/>
                <a:cs typeface="Calibri" pitchFamily="34" charset="-120"/>
              </a:rPr>
              <a:t>Bicep PRs, evidence pack</a:t>
            </a:r>
            <a:endParaRPr lang="en-US" sz="1100" dirty="0"/>
          </a:p>
        </p:txBody>
      </p:sp>
      <p:sp>
        <p:nvSpPr>
          <p:cNvPr id="43" name="Shape 33"/>
          <p:cNvSpPr/>
          <p:nvPr/>
        </p:nvSpPr>
        <p:spPr>
          <a:xfrm>
            <a:off x="6035040" y="1572768"/>
            <a:ext cx="4251960" cy="2011680"/>
          </a:xfrm>
          <a:prstGeom prst="roundRect">
            <a:avLst>
              <a:gd name="adj" fmla="val 4545"/>
            </a:avLst>
          </a:prstGeom>
          <a:solidFill>
            <a:srgbClr val="5E2CFE">
              <a:alpha val="8000"/>
            </a:srgbClr>
          </a:solidFill>
          <a:ln w="15875">
            <a:solidFill>
              <a:srgbClr val="5E2CFE"/>
            </a:solidFill>
            <a:prstDash val="dash"/>
          </a:ln>
        </p:spPr>
      </p:sp>
      <p:sp>
        <p:nvSpPr>
          <p:cNvPr id="44" name="Text 34"/>
          <p:cNvSpPr txBox="1"/>
          <p:nvPr/>
        </p:nvSpPr>
        <p:spPr>
          <a:xfrm>
            <a:off x="6035040" y="1298448"/>
            <a:ext cx="4251960" cy="256032"/>
          </a:xfrm>
          <a:prstGeom prst="rect">
            <a:avLst/>
          </a:prstGeom>
          <a:noFill/>
          <a:ln/>
        </p:spPr>
        <p:txBody>
          <a:bodyPr wrap="square" lIns="0" tIns="0" rIns="0" bIns="0" rtlCol="0" anchor="ctr"/>
          <a:lstStyle/>
          <a:p>
            <a:pPr algn="ctr" indent="0" marL="0">
              <a:buNone/>
            </a:pPr>
            <a:r>
              <a:rPr lang="en-US" sz="1000" b="1" spc="200" kern="0" dirty="0">
                <a:solidFill>
                  <a:srgbClr val="5E2CFE"/>
                </a:solidFill>
                <a:latin typeface="Calibri" pitchFamily="34" charset="0"/>
                <a:ea typeface="Calibri" pitchFamily="34" charset="-122"/>
                <a:cs typeface="Calibri" pitchFamily="34" charset="-120"/>
              </a:rPr>
              <a:t>CORE: LIVE DR TEST</a:t>
            </a:r>
            <a:endParaRPr lang="en-US" sz="1000" dirty="0"/>
          </a:p>
        </p:txBody>
      </p:sp>
      <p:sp>
        <p:nvSpPr>
          <p:cNvPr id="45" name="Shape 35"/>
          <p:cNvSpPr/>
          <p:nvPr/>
        </p:nvSpPr>
        <p:spPr>
          <a:xfrm>
            <a:off x="548640" y="3886200"/>
            <a:ext cx="11064240" cy="2468880"/>
          </a:xfrm>
          <a:prstGeom prst="roundRect">
            <a:avLst>
              <a:gd name="adj" fmla="val 2963"/>
            </a:avLst>
          </a:prstGeom>
          <a:solidFill>
            <a:srgbClr val="F1F5F9"/>
          </a:solidFill>
          <a:ln w="12700">
            <a:solidFill>
              <a:srgbClr val="F1F5F9"/>
            </a:solidFill>
            <a:prstDash val="solid"/>
          </a:ln>
        </p:spPr>
      </p:sp>
      <p:sp>
        <p:nvSpPr>
          <p:cNvPr id="46" name="Text 36"/>
          <p:cNvSpPr txBox="1"/>
          <p:nvPr/>
        </p:nvSpPr>
        <p:spPr>
          <a:xfrm>
            <a:off x="3749040" y="3977640"/>
            <a:ext cx="3657600" cy="320040"/>
          </a:xfrm>
          <a:prstGeom prst="rect">
            <a:avLst/>
          </a:prstGeom>
          <a:noFill/>
          <a:ln/>
        </p:spPr>
        <p:txBody>
          <a:bodyPr wrap="square" lIns="0" tIns="0" rIns="0" bIns="0" rtlCol="0" anchor="ctr"/>
          <a:lstStyle/>
          <a:p>
            <a:pPr indent="0" marL="0">
              <a:buNone/>
            </a:pPr>
            <a:r>
              <a:rPr lang="en-US" sz="1300" b="1" dirty="0">
                <a:solidFill>
                  <a:srgbClr val="D64545"/>
                </a:solidFill>
                <a:latin typeface="Calibri" pitchFamily="34" charset="0"/>
                <a:ea typeface="Calibri" pitchFamily="34" charset="-122"/>
                <a:cs typeface="Calibri" pitchFamily="34" charset="-120"/>
              </a:rPr>
              <a:t>Today</a:t>
            </a:r>
            <a:endParaRPr lang="en-US" sz="1300" dirty="0"/>
          </a:p>
        </p:txBody>
      </p:sp>
      <p:sp>
        <p:nvSpPr>
          <p:cNvPr id="47" name="Text 37"/>
          <p:cNvSpPr txBox="1"/>
          <p:nvPr/>
        </p:nvSpPr>
        <p:spPr>
          <a:xfrm>
            <a:off x="7589520" y="3977640"/>
            <a:ext cx="3840480" cy="320040"/>
          </a:xfrm>
          <a:prstGeom prst="rect">
            <a:avLst/>
          </a:prstGeom>
          <a:noFill/>
          <a:ln/>
        </p:spPr>
        <p:txBody>
          <a:bodyPr wrap="square" lIns="0" tIns="0" rIns="0" bIns="0" rtlCol="0" anchor="ctr"/>
          <a:lstStyle/>
          <a:p>
            <a:pPr indent="0" marL="0">
              <a:buNone/>
            </a:pPr>
            <a:r>
              <a:rPr lang="en-US" sz="1300" b="1" dirty="0">
                <a:solidFill>
                  <a:srgbClr val="5E2CFE"/>
                </a:solidFill>
                <a:latin typeface="Calibri" pitchFamily="34" charset="0"/>
                <a:ea typeface="Calibri" pitchFamily="34" charset="-122"/>
                <a:cs typeface="Calibri" pitchFamily="34" charset="-120"/>
              </a:rPr>
              <a:t>With the DR Agent</a:t>
            </a:r>
            <a:endParaRPr lang="en-US" sz="1300" dirty="0"/>
          </a:p>
        </p:txBody>
      </p:sp>
      <p:sp>
        <p:nvSpPr>
          <p:cNvPr id="48" name="Text 38"/>
          <p:cNvSpPr txBox="1"/>
          <p:nvPr/>
        </p:nvSpPr>
        <p:spPr>
          <a:xfrm>
            <a:off x="822960" y="4343400"/>
            <a:ext cx="2834640" cy="347472"/>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DR testing frequency</a:t>
            </a:r>
            <a:endParaRPr lang="en-US" sz="1300" dirty="0"/>
          </a:p>
        </p:txBody>
      </p:sp>
      <p:sp>
        <p:nvSpPr>
          <p:cNvPr id="49" name="Text 39"/>
          <p:cNvSpPr txBox="1"/>
          <p:nvPr/>
        </p:nvSpPr>
        <p:spPr>
          <a:xfrm>
            <a:off x="3749040" y="4343400"/>
            <a:ext cx="3657600" cy="347472"/>
          </a:xfrm>
          <a:prstGeom prst="rect">
            <a:avLst/>
          </a:prstGeom>
          <a:noFill/>
          <a:ln/>
        </p:spPr>
        <p:txBody>
          <a:bodyPr wrap="square" lIns="0" tIns="0" rIns="0" bIns="0" rtlCol="0" anchor="ctr"/>
          <a:lstStyle/>
          <a:p>
            <a:pPr indent="0" marL="0">
              <a:buNone/>
            </a:pPr>
            <a:r>
              <a:rPr lang="en-US" sz="1300" dirty="0">
                <a:solidFill>
                  <a:srgbClr val="1B2635"/>
                </a:solidFill>
                <a:latin typeface="Calibri" pitchFamily="34" charset="0"/>
                <a:ea typeface="Calibri" pitchFamily="34" charset="-122"/>
                <a:cs typeface="Calibri" pitchFamily="34" charset="-120"/>
              </a:rPr>
              <a:t>Once or twice a year</a:t>
            </a:r>
            <a:endParaRPr lang="en-US" sz="1300" dirty="0"/>
          </a:p>
        </p:txBody>
      </p:sp>
      <p:sp>
        <p:nvSpPr>
          <p:cNvPr id="50" name="Text 40"/>
          <p:cNvSpPr txBox="1"/>
          <p:nvPr/>
        </p:nvSpPr>
        <p:spPr>
          <a:xfrm>
            <a:off x="7589520" y="4343400"/>
            <a:ext cx="3840480" cy="347472"/>
          </a:xfrm>
          <a:prstGeom prst="rect">
            <a:avLst/>
          </a:prstGeom>
          <a:noFill/>
          <a:ln/>
        </p:spPr>
        <p:txBody>
          <a:bodyPr wrap="square" lIns="0" tIns="0" rIns="0" bIns="0" rtlCol="0" anchor="ctr"/>
          <a:lstStyle/>
          <a:p>
            <a:pPr indent="0" marL="0">
              <a:buNone/>
            </a:pPr>
            <a:r>
              <a:rPr lang="en-US" sz="1300" b="1" dirty="0">
                <a:solidFill>
                  <a:srgbClr val="1B2635"/>
                </a:solidFill>
                <a:latin typeface="Calibri" pitchFamily="34" charset="0"/>
                <a:ea typeface="Calibri" pitchFamily="34" charset="-122"/>
                <a:cs typeface="Calibri" pitchFamily="34" charset="-120"/>
              </a:rPr>
              <a:t>Every week, or after every change</a:t>
            </a:r>
            <a:endParaRPr lang="en-US" sz="1300" dirty="0"/>
          </a:p>
        </p:txBody>
      </p:sp>
      <p:sp>
        <p:nvSpPr>
          <p:cNvPr id="51" name="Text 41"/>
          <p:cNvSpPr txBox="1"/>
          <p:nvPr/>
        </p:nvSpPr>
        <p:spPr>
          <a:xfrm>
            <a:off x="822960" y="4727448"/>
            <a:ext cx="2834640" cy="347472"/>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Effort per drill</a:t>
            </a:r>
            <a:endParaRPr lang="en-US" sz="1300" dirty="0"/>
          </a:p>
        </p:txBody>
      </p:sp>
      <p:sp>
        <p:nvSpPr>
          <p:cNvPr id="52" name="Text 42"/>
          <p:cNvSpPr txBox="1"/>
          <p:nvPr/>
        </p:nvSpPr>
        <p:spPr>
          <a:xfrm>
            <a:off x="3749040" y="4727448"/>
            <a:ext cx="3657600" cy="347472"/>
          </a:xfrm>
          <a:prstGeom prst="rect">
            <a:avLst/>
          </a:prstGeom>
          <a:noFill/>
          <a:ln/>
        </p:spPr>
        <p:txBody>
          <a:bodyPr wrap="square" lIns="0" tIns="0" rIns="0" bIns="0" rtlCol="0" anchor="ctr"/>
          <a:lstStyle/>
          <a:p>
            <a:pPr indent="0" marL="0">
              <a:buNone/>
            </a:pPr>
            <a:r>
              <a:rPr lang="en-US" sz="1300" dirty="0">
                <a:solidFill>
                  <a:srgbClr val="1B2635"/>
                </a:solidFill>
                <a:latin typeface="Calibri" pitchFamily="34" charset="0"/>
                <a:ea typeface="Calibri" pitchFamily="34" charset="-122"/>
                <a:cs typeface="Calibri" pitchFamily="34" charset="-120"/>
              </a:rPr>
              <a:t>Weeks, many teams, weekends</a:t>
            </a:r>
            <a:endParaRPr lang="en-US" sz="1300" dirty="0"/>
          </a:p>
        </p:txBody>
      </p:sp>
      <p:sp>
        <p:nvSpPr>
          <p:cNvPr id="53" name="Text 43"/>
          <p:cNvSpPr txBox="1"/>
          <p:nvPr/>
        </p:nvSpPr>
        <p:spPr>
          <a:xfrm>
            <a:off x="7589520" y="4727448"/>
            <a:ext cx="3840480" cy="347472"/>
          </a:xfrm>
          <a:prstGeom prst="rect">
            <a:avLst/>
          </a:prstGeom>
          <a:noFill/>
          <a:ln/>
        </p:spPr>
        <p:txBody>
          <a:bodyPr wrap="square" lIns="0" tIns="0" rIns="0" bIns="0" rtlCol="0" anchor="ctr"/>
          <a:lstStyle/>
          <a:p>
            <a:pPr indent="0" marL="0">
              <a:buNone/>
            </a:pPr>
            <a:r>
              <a:rPr lang="en-US" sz="1300" b="1" dirty="0">
                <a:solidFill>
                  <a:srgbClr val="1B2635"/>
                </a:solidFill>
                <a:latin typeface="Calibri" pitchFamily="34" charset="0"/>
                <a:ea typeface="Calibri" pitchFamily="34" charset="-122"/>
                <a:cs typeface="Calibri" pitchFamily="34" charset="-120"/>
              </a:rPr>
              <a:t>Automated; engineers approve &amp; review</a:t>
            </a:r>
            <a:endParaRPr lang="en-US" sz="1300" dirty="0"/>
          </a:p>
        </p:txBody>
      </p:sp>
      <p:sp>
        <p:nvSpPr>
          <p:cNvPr id="54" name="Text 44"/>
          <p:cNvSpPr txBox="1"/>
          <p:nvPr/>
        </p:nvSpPr>
        <p:spPr>
          <a:xfrm>
            <a:off x="822960" y="5111496"/>
            <a:ext cx="2834640" cy="347472"/>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RTO / RPO</a:t>
            </a:r>
            <a:endParaRPr lang="en-US" sz="1300" dirty="0"/>
          </a:p>
        </p:txBody>
      </p:sp>
      <p:sp>
        <p:nvSpPr>
          <p:cNvPr id="55" name="Text 45"/>
          <p:cNvSpPr txBox="1"/>
          <p:nvPr/>
        </p:nvSpPr>
        <p:spPr>
          <a:xfrm>
            <a:off x="3749040" y="5111496"/>
            <a:ext cx="3657600" cy="347472"/>
          </a:xfrm>
          <a:prstGeom prst="rect">
            <a:avLst/>
          </a:prstGeom>
          <a:noFill/>
          <a:ln/>
        </p:spPr>
        <p:txBody>
          <a:bodyPr wrap="square" lIns="0" tIns="0" rIns="0" bIns="0" rtlCol="0" anchor="ctr"/>
          <a:lstStyle/>
          <a:p>
            <a:pPr indent="0" marL="0">
              <a:buNone/>
            </a:pPr>
            <a:r>
              <a:rPr lang="en-US" sz="1300" dirty="0">
                <a:solidFill>
                  <a:srgbClr val="1B2635"/>
                </a:solidFill>
                <a:latin typeface="Calibri" pitchFamily="34" charset="0"/>
                <a:ea typeface="Calibri" pitchFamily="34" charset="-122"/>
                <a:cs typeface="Calibri" pitchFamily="34" charset="-120"/>
              </a:rPr>
              <a:t>Assumed on paper</a:t>
            </a:r>
            <a:endParaRPr lang="en-US" sz="1300" dirty="0"/>
          </a:p>
        </p:txBody>
      </p:sp>
      <p:sp>
        <p:nvSpPr>
          <p:cNvPr id="56" name="Text 46"/>
          <p:cNvSpPr txBox="1"/>
          <p:nvPr/>
        </p:nvSpPr>
        <p:spPr>
          <a:xfrm>
            <a:off x="7589520" y="5111496"/>
            <a:ext cx="3840480" cy="347472"/>
          </a:xfrm>
          <a:prstGeom prst="rect">
            <a:avLst/>
          </a:prstGeom>
          <a:noFill/>
          <a:ln/>
        </p:spPr>
        <p:txBody>
          <a:bodyPr wrap="square" lIns="0" tIns="0" rIns="0" bIns="0" rtlCol="0" anchor="ctr"/>
          <a:lstStyle/>
          <a:p>
            <a:pPr indent="0" marL="0">
              <a:buNone/>
            </a:pPr>
            <a:r>
              <a:rPr lang="en-US" sz="1300" b="1" dirty="0">
                <a:solidFill>
                  <a:srgbClr val="1B2635"/>
                </a:solidFill>
                <a:latin typeface="Calibri" pitchFamily="34" charset="0"/>
                <a:ea typeface="Calibri" pitchFamily="34" charset="-122"/>
                <a:cs typeface="Calibri" pitchFamily="34" charset="-120"/>
              </a:rPr>
              <a:t>Measured on every test</a:t>
            </a:r>
            <a:endParaRPr lang="en-US" sz="1300" dirty="0"/>
          </a:p>
        </p:txBody>
      </p:sp>
      <p:sp>
        <p:nvSpPr>
          <p:cNvPr id="57" name="Text 47"/>
          <p:cNvSpPr txBox="1"/>
          <p:nvPr/>
        </p:nvSpPr>
        <p:spPr>
          <a:xfrm>
            <a:off x="822960" y="5495544"/>
            <a:ext cx="2834640" cy="347472"/>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Gaps found</a:t>
            </a:r>
            <a:endParaRPr lang="en-US" sz="1300" dirty="0"/>
          </a:p>
        </p:txBody>
      </p:sp>
      <p:sp>
        <p:nvSpPr>
          <p:cNvPr id="58" name="Text 48"/>
          <p:cNvSpPr txBox="1"/>
          <p:nvPr/>
        </p:nvSpPr>
        <p:spPr>
          <a:xfrm>
            <a:off x="3749040" y="5495544"/>
            <a:ext cx="3657600" cy="347472"/>
          </a:xfrm>
          <a:prstGeom prst="rect">
            <a:avLst/>
          </a:prstGeom>
          <a:noFill/>
          <a:ln/>
        </p:spPr>
        <p:txBody>
          <a:bodyPr wrap="square" lIns="0" tIns="0" rIns="0" bIns="0" rtlCol="0" anchor="ctr"/>
          <a:lstStyle/>
          <a:p>
            <a:pPr indent="0" marL="0">
              <a:buNone/>
            </a:pPr>
            <a:r>
              <a:rPr lang="en-US" sz="1300" dirty="0">
                <a:solidFill>
                  <a:srgbClr val="1B2635"/>
                </a:solidFill>
                <a:latin typeface="Calibri" pitchFamily="34" charset="0"/>
                <a:ea typeface="Calibri" pitchFamily="34" charset="-122"/>
                <a:cs typeface="Calibri" pitchFamily="34" charset="-120"/>
              </a:rPr>
              <a:t>During a real outage</a:t>
            </a:r>
            <a:endParaRPr lang="en-US" sz="1300" dirty="0"/>
          </a:p>
        </p:txBody>
      </p:sp>
      <p:sp>
        <p:nvSpPr>
          <p:cNvPr id="59" name="Text 49"/>
          <p:cNvSpPr txBox="1"/>
          <p:nvPr/>
        </p:nvSpPr>
        <p:spPr>
          <a:xfrm>
            <a:off x="7589520" y="5495544"/>
            <a:ext cx="3840480" cy="347472"/>
          </a:xfrm>
          <a:prstGeom prst="rect">
            <a:avLst/>
          </a:prstGeom>
          <a:noFill/>
          <a:ln/>
        </p:spPr>
        <p:txBody>
          <a:bodyPr wrap="square" lIns="0" tIns="0" rIns="0" bIns="0" rtlCol="0" anchor="ctr"/>
          <a:lstStyle/>
          <a:p>
            <a:pPr indent="0" marL="0">
              <a:buNone/>
            </a:pPr>
            <a:r>
              <a:rPr lang="en-US" sz="1300" b="1" dirty="0">
                <a:solidFill>
                  <a:srgbClr val="1B2635"/>
                </a:solidFill>
                <a:latin typeface="Calibri" pitchFamily="34" charset="0"/>
                <a:ea typeface="Calibri" pitchFamily="34" charset="-122"/>
                <a:cs typeface="Calibri" pitchFamily="34" charset="-120"/>
              </a:rPr>
              <a:t>Before the outage — with a fix PR</a:t>
            </a:r>
            <a:endParaRPr lang="en-US" sz="1300" dirty="0"/>
          </a:p>
        </p:txBody>
      </p:sp>
      <p:sp>
        <p:nvSpPr>
          <p:cNvPr id="60" name="Text 50"/>
          <p:cNvSpPr txBox="1"/>
          <p:nvPr/>
        </p:nvSpPr>
        <p:spPr>
          <a:xfrm>
            <a:off x="822960" y="5879592"/>
            <a:ext cx="2834640" cy="347472"/>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Audit evidence</a:t>
            </a:r>
            <a:endParaRPr lang="en-US" sz="1300" dirty="0"/>
          </a:p>
        </p:txBody>
      </p:sp>
      <p:sp>
        <p:nvSpPr>
          <p:cNvPr id="61" name="Text 51"/>
          <p:cNvSpPr txBox="1"/>
          <p:nvPr/>
        </p:nvSpPr>
        <p:spPr>
          <a:xfrm>
            <a:off x="3749040" y="5879592"/>
            <a:ext cx="3657600" cy="347472"/>
          </a:xfrm>
          <a:prstGeom prst="rect">
            <a:avLst/>
          </a:prstGeom>
          <a:noFill/>
          <a:ln/>
        </p:spPr>
        <p:txBody>
          <a:bodyPr wrap="square" lIns="0" tIns="0" rIns="0" bIns="0" rtlCol="0" anchor="ctr"/>
          <a:lstStyle/>
          <a:p>
            <a:pPr indent="0" marL="0">
              <a:buNone/>
            </a:pPr>
            <a:r>
              <a:rPr lang="en-US" sz="1300" dirty="0">
                <a:solidFill>
                  <a:srgbClr val="1B2635"/>
                </a:solidFill>
                <a:latin typeface="Calibri" pitchFamily="34" charset="0"/>
                <a:ea typeface="Calibri" pitchFamily="34" charset="-122"/>
                <a:cs typeface="Calibri" pitchFamily="34" charset="-120"/>
              </a:rPr>
              <a:t>Screenshots &amp; spreadsheets</a:t>
            </a:r>
            <a:endParaRPr lang="en-US" sz="1300" dirty="0"/>
          </a:p>
        </p:txBody>
      </p:sp>
      <p:sp>
        <p:nvSpPr>
          <p:cNvPr id="62" name="Text 52"/>
          <p:cNvSpPr txBox="1"/>
          <p:nvPr/>
        </p:nvSpPr>
        <p:spPr>
          <a:xfrm>
            <a:off x="7589520" y="5879592"/>
            <a:ext cx="3840480" cy="347472"/>
          </a:xfrm>
          <a:prstGeom prst="rect">
            <a:avLst/>
          </a:prstGeom>
          <a:noFill/>
          <a:ln/>
        </p:spPr>
        <p:txBody>
          <a:bodyPr wrap="square" lIns="0" tIns="0" rIns="0" bIns="0" rtlCol="0" anchor="ctr"/>
          <a:lstStyle/>
          <a:p>
            <a:pPr indent="0" marL="0">
              <a:buNone/>
            </a:pPr>
            <a:r>
              <a:rPr lang="en-US" sz="1300" b="1" dirty="0">
                <a:solidFill>
                  <a:srgbClr val="1B2635"/>
                </a:solidFill>
                <a:latin typeface="Calibri" pitchFamily="34" charset="0"/>
                <a:ea typeface="Calibri" pitchFamily="34" charset="-122"/>
                <a:cs typeface="Calibri" pitchFamily="34" charset="-120"/>
              </a:rPr>
              <a:t>Auto-generated evidence pack</a:t>
            </a:r>
            <a:endParaRPr lang="en-US" sz="1300" dirty="0"/>
          </a:p>
        </p:txBody>
      </p:sp>
      <p:sp>
        <p:nvSpPr>
          <p:cNvPr id="63" name="Text 5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How the agent validates DR: the tests it executes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Real failovers on Azure, ordered by dependency (data → app → traffic), with measured RTO/RPO and automatic failback.</a:t>
            </a:r>
            <a:endParaRPr lang="en-US" sz="1500" dirty="0"/>
          </a:p>
        </p:txBody>
      </p:sp>
      <p:sp>
        <p:nvSpPr>
          <p:cNvPr id="4" name="Shape 2"/>
          <p:cNvSpPr/>
          <p:nvPr/>
        </p:nvSpPr>
        <p:spPr>
          <a:xfrm>
            <a:off x="548640" y="160020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548640" cy="548640"/>
          </a:xfrm>
          <a:prstGeom prst="ellipse">
            <a:avLst/>
          </a:prstGeom>
          <a:solidFill>
            <a:srgbClr val="5E2CFE"/>
          </a:solidFill>
          <a:ln w="12700">
            <a:solidFill>
              <a:srgbClr val="5E2CFE"/>
            </a:solidFill>
            <a:prstDash val="solid"/>
          </a:ln>
        </p:spPr>
      </p:sp>
      <p:pic>
        <p:nvPicPr>
          <p:cNvPr id="6"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7" name="Text 4"/>
          <p:cNvSpPr txBox="1"/>
          <p:nvPr/>
        </p:nvSpPr>
        <p:spPr>
          <a:xfrm>
            <a:off x="1463040" y="182880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VM / IaaS failover</a:t>
            </a:r>
            <a:endParaRPr lang="en-US" sz="1600" dirty="0"/>
          </a:p>
        </p:txBody>
      </p:sp>
      <p:sp>
        <p:nvSpPr>
          <p:cNvPr id="8" name="Text 5"/>
          <p:cNvSpPr txBox="1"/>
          <p:nvPr/>
        </p:nvSpPr>
        <p:spPr>
          <a:xfrm>
            <a:off x="777240" y="246888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Fail over replicated VMs into an isolated test VNet, boot, health-check, clean up.</a:t>
            </a:r>
            <a:endParaRPr lang="en-US" sz="1150" dirty="0"/>
          </a:p>
        </p:txBody>
      </p:sp>
      <p:sp>
        <p:nvSpPr>
          <p:cNvPr id="9" name="Text 6"/>
          <p:cNvSpPr txBox="1"/>
          <p:nvPr/>
        </p:nvSpPr>
        <p:spPr>
          <a:xfrm>
            <a:off x="777240" y="297180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Azure Site Recovery · Test Failover</a:t>
            </a:r>
            <a:endParaRPr lang="en-US" sz="1050" dirty="0"/>
          </a:p>
        </p:txBody>
      </p:sp>
      <p:sp>
        <p:nvSpPr>
          <p:cNvPr id="10" name="Shape 7"/>
          <p:cNvSpPr/>
          <p:nvPr/>
        </p:nvSpPr>
        <p:spPr>
          <a:xfrm>
            <a:off x="4297680" y="160020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4526280" y="1828800"/>
            <a:ext cx="548640" cy="548640"/>
          </a:xfrm>
          <a:prstGeom prst="ellipse">
            <a:avLst/>
          </a:prstGeom>
          <a:solidFill>
            <a:srgbClr val="5E2CFE"/>
          </a:solidFill>
          <a:ln w="12700">
            <a:solidFill>
              <a:srgbClr val="5E2CFE"/>
            </a:solidFill>
            <a:prstDash val="solid"/>
          </a:ln>
        </p:spPr>
      </p:sp>
      <p:pic>
        <p:nvPicPr>
          <p:cNvPr id="12" name="Image 1" descr="preencoded.png">    </p:cNvPr>
          <p:cNvPicPr>
            <a:picLocks noChangeAspect="1"/>
          </p:cNvPicPr>
          <p:nvPr/>
        </p:nvPicPr>
        <p:blipFill>
          <a:blip r:embed="rId2"/>
          <a:stretch>
            <a:fillRect/>
          </a:stretch>
        </p:blipFill>
        <p:spPr>
          <a:xfrm>
            <a:off x="4663440" y="1965960"/>
            <a:ext cx="274320" cy="274320"/>
          </a:xfrm>
          <a:prstGeom prst="rect">
            <a:avLst/>
          </a:prstGeom>
        </p:spPr>
      </p:pic>
      <p:sp>
        <p:nvSpPr>
          <p:cNvPr id="13" name="Text 9"/>
          <p:cNvSpPr txBox="1"/>
          <p:nvPr/>
        </p:nvSpPr>
        <p:spPr>
          <a:xfrm>
            <a:off x="5212080" y="182880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Database failover</a:t>
            </a:r>
            <a:endParaRPr lang="en-US" sz="1600" dirty="0"/>
          </a:p>
        </p:txBody>
      </p:sp>
      <p:sp>
        <p:nvSpPr>
          <p:cNvPr id="14" name="Text 10"/>
          <p:cNvSpPr txBox="1"/>
          <p:nvPr/>
        </p:nvSpPr>
        <p:spPr>
          <a:xfrm>
            <a:off x="4526280" y="246888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Planned failover of SQL failover group / Cosmos DB region; measure replication lag and switch time.</a:t>
            </a:r>
            <a:endParaRPr lang="en-US" sz="1150" dirty="0"/>
          </a:p>
        </p:txBody>
      </p:sp>
      <p:sp>
        <p:nvSpPr>
          <p:cNvPr id="15" name="Text 11"/>
          <p:cNvSpPr txBox="1"/>
          <p:nvPr/>
        </p:nvSpPr>
        <p:spPr>
          <a:xfrm>
            <a:off x="4526280" y="297180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SQL Failover Groups · Cosmos DB</a:t>
            </a:r>
            <a:endParaRPr lang="en-US" sz="1050" dirty="0"/>
          </a:p>
        </p:txBody>
      </p:sp>
      <p:sp>
        <p:nvSpPr>
          <p:cNvPr id="16" name="Shape 12"/>
          <p:cNvSpPr/>
          <p:nvPr/>
        </p:nvSpPr>
        <p:spPr>
          <a:xfrm>
            <a:off x="8046720" y="160020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8275320" y="1828800"/>
            <a:ext cx="548640" cy="548640"/>
          </a:xfrm>
          <a:prstGeom prst="ellipse">
            <a:avLst/>
          </a:prstGeom>
          <a:solidFill>
            <a:srgbClr val="5E2CFE"/>
          </a:solidFill>
          <a:ln w="12700">
            <a:solidFill>
              <a:srgbClr val="5E2CFE"/>
            </a:solidFill>
            <a:prstDash val="solid"/>
          </a:ln>
        </p:spPr>
      </p:sp>
      <p:pic>
        <p:nvPicPr>
          <p:cNvPr id="18" name="Image 2" descr="preencoded.png">    </p:cNvPr>
          <p:cNvPicPr>
            <a:picLocks noChangeAspect="1"/>
          </p:cNvPicPr>
          <p:nvPr/>
        </p:nvPicPr>
        <p:blipFill>
          <a:blip r:embed="rId3"/>
          <a:stretch>
            <a:fillRect/>
          </a:stretch>
        </p:blipFill>
        <p:spPr>
          <a:xfrm>
            <a:off x="8412480" y="1965960"/>
            <a:ext cx="274320" cy="274320"/>
          </a:xfrm>
          <a:prstGeom prst="rect">
            <a:avLst/>
          </a:prstGeom>
        </p:spPr>
      </p:pic>
      <p:sp>
        <p:nvSpPr>
          <p:cNvPr id="19" name="Text 14"/>
          <p:cNvSpPr txBox="1"/>
          <p:nvPr/>
        </p:nvSpPr>
        <p:spPr>
          <a:xfrm>
            <a:off x="8961120" y="182880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Storage failover</a:t>
            </a:r>
            <a:endParaRPr lang="en-US" sz="1600" dirty="0"/>
          </a:p>
        </p:txBody>
      </p:sp>
      <p:sp>
        <p:nvSpPr>
          <p:cNvPr id="20" name="Text 15"/>
          <p:cNvSpPr txBox="1"/>
          <p:nvPr/>
        </p:nvSpPr>
        <p:spPr>
          <a:xfrm>
            <a:off x="8275320" y="246888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Initiate storage account failover in non-prod; verify data is readable in the secondary region.</a:t>
            </a:r>
            <a:endParaRPr lang="en-US" sz="1150" dirty="0"/>
          </a:p>
        </p:txBody>
      </p:sp>
      <p:sp>
        <p:nvSpPr>
          <p:cNvPr id="21" name="Text 16"/>
          <p:cNvSpPr txBox="1"/>
          <p:nvPr/>
        </p:nvSpPr>
        <p:spPr>
          <a:xfrm>
            <a:off x="8275320" y="297180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GRS / GZRS customer-managed failover</a:t>
            </a:r>
            <a:endParaRPr lang="en-US" sz="1050" dirty="0"/>
          </a:p>
        </p:txBody>
      </p:sp>
      <p:sp>
        <p:nvSpPr>
          <p:cNvPr id="22" name="Shape 17"/>
          <p:cNvSpPr/>
          <p:nvPr/>
        </p:nvSpPr>
        <p:spPr>
          <a:xfrm>
            <a:off x="548640" y="347472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777240" y="3703320"/>
            <a:ext cx="548640" cy="548640"/>
          </a:xfrm>
          <a:prstGeom prst="ellipse">
            <a:avLst/>
          </a:prstGeom>
          <a:solidFill>
            <a:srgbClr val="5E2CFE"/>
          </a:solidFill>
          <a:ln w="12700">
            <a:solidFill>
              <a:srgbClr val="5E2CFE"/>
            </a:solidFill>
            <a:prstDash val="solid"/>
          </a:ln>
        </p:spPr>
      </p:sp>
      <p:pic>
        <p:nvPicPr>
          <p:cNvPr id="24" name="Image 3" descr="preencoded.png">    </p:cNvPr>
          <p:cNvPicPr>
            <a:picLocks noChangeAspect="1"/>
          </p:cNvPicPr>
          <p:nvPr/>
        </p:nvPicPr>
        <p:blipFill>
          <a:blip r:embed="rId4"/>
          <a:stretch>
            <a:fillRect/>
          </a:stretch>
        </p:blipFill>
        <p:spPr>
          <a:xfrm>
            <a:off x="914400" y="3840480"/>
            <a:ext cx="274320" cy="274320"/>
          </a:xfrm>
          <a:prstGeom prst="rect">
            <a:avLst/>
          </a:prstGeom>
        </p:spPr>
      </p:pic>
      <p:sp>
        <p:nvSpPr>
          <p:cNvPr id="25" name="Text 19"/>
          <p:cNvSpPr txBox="1"/>
          <p:nvPr/>
        </p:nvSpPr>
        <p:spPr>
          <a:xfrm>
            <a:off x="1463040" y="370332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Traffic / region switch</a:t>
            </a:r>
            <a:endParaRPr lang="en-US" sz="1600" dirty="0"/>
          </a:p>
        </p:txBody>
      </p:sp>
      <p:sp>
        <p:nvSpPr>
          <p:cNvPr id="26" name="Text 20"/>
          <p:cNvSpPr txBox="1"/>
          <p:nvPr/>
        </p:nvSpPr>
        <p:spPr>
          <a:xfrm>
            <a:off x="777240" y="434340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Shift user traffic to the secondary region and run synthetic user journeys end to end.</a:t>
            </a:r>
            <a:endParaRPr lang="en-US" sz="1150" dirty="0"/>
          </a:p>
        </p:txBody>
      </p:sp>
      <p:sp>
        <p:nvSpPr>
          <p:cNvPr id="27" name="Text 21"/>
          <p:cNvSpPr txBox="1"/>
          <p:nvPr/>
        </p:nvSpPr>
        <p:spPr>
          <a:xfrm>
            <a:off x="777240" y="484632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Azure Front Door · Traffic Manager</a:t>
            </a:r>
            <a:endParaRPr lang="en-US" sz="1050" dirty="0"/>
          </a:p>
        </p:txBody>
      </p:sp>
      <p:sp>
        <p:nvSpPr>
          <p:cNvPr id="28" name="Shape 22"/>
          <p:cNvSpPr/>
          <p:nvPr/>
        </p:nvSpPr>
        <p:spPr>
          <a:xfrm>
            <a:off x="4297680" y="347472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9" name="Shape 23"/>
          <p:cNvSpPr/>
          <p:nvPr/>
        </p:nvSpPr>
        <p:spPr>
          <a:xfrm>
            <a:off x="4526280" y="3703320"/>
            <a:ext cx="548640" cy="548640"/>
          </a:xfrm>
          <a:prstGeom prst="ellipse">
            <a:avLst/>
          </a:prstGeom>
          <a:solidFill>
            <a:srgbClr val="5E2CFE"/>
          </a:solidFill>
          <a:ln w="12700">
            <a:solidFill>
              <a:srgbClr val="5E2CFE"/>
            </a:solidFill>
            <a:prstDash val="solid"/>
          </a:ln>
        </p:spPr>
      </p:sp>
      <p:pic>
        <p:nvPicPr>
          <p:cNvPr id="30" name="Image 4" descr="preencoded.png">    </p:cNvPr>
          <p:cNvPicPr>
            <a:picLocks noChangeAspect="1"/>
          </p:cNvPicPr>
          <p:nvPr/>
        </p:nvPicPr>
        <p:blipFill>
          <a:blip r:embed="rId5"/>
          <a:stretch>
            <a:fillRect/>
          </a:stretch>
        </p:blipFill>
        <p:spPr>
          <a:xfrm>
            <a:off x="4663440" y="3840480"/>
            <a:ext cx="274320" cy="274320"/>
          </a:xfrm>
          <a:prstGeom prst="rect">
            <a:avLst/>
          </a:prstGeom>
        </p:spPr>
      </p:pic>
      <p:sp>
        <p:nvSpPr>
          <p:cNvPr id="31" name="Text 24"/>
          <p:cNvSpPr txBox="1"/>
          <p:nvPr/>
        </p:nvSpPr>
        <p:spPr>
          <a:xfrm>
            <a:off x="5212080" y="370332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Fault injection</a:t>
            </a:r>
            <a:endParaRPr lang="en-US" sz="1600" dirty="0"/>
          </a:p>
        </p:txBody>
      </p:sp>
      <p:sp>
        <p:nvSpPr>
          <p:cNvPr id="32" name="Text 25"/>
          <p:cNvSpPr txBox="1"/>
          <p:nvPr/>
        </p:nvSpPr>
        <p:spPr>
          <a:xfrm>
            <a:off x="4526280" y="434340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Simulate zone outage, network block, Key Vault denial or AKS pod loss — prove the app survives.</a:t>
            </a:r>
            <a:endParaRPr lang="en-US" sz="1150" dirty="0"/>
          </a:p>
        </p:txBody>
      </p:sp>
      <p:sp>
        <p:nvSpPr>
          <p:cNvPr id="33" name="Text 26"/>
          <p:cNvSpPr txBox="1"/>
          <p:nvPr/>
        </p:nvSpPr>
        <p:spPr>
          <a:xfrm>
            <a:off x="4526280" y="484632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Azure Chaos Studio</a:t>
            </a:r>
            <a:endParaRPr lang="en-US" sz="1050" dirty="0"/>
          </a:p>
        </p:txBody>
      </p:sp>
      <p:sp>
        <p:nvSpPr>
          <p:cNvPr id="34" name="Shape 27"/>
          <p:cNvSpPr/>
          <p:nvPr/>
        </p:nvSpPr>
        <p:spPr>
          <a:xfrm>
            <a:off x="8046720" y="347472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5" name="Shape 28"/>
          <p:cNvSpPr/>
          <p:nvPr/>
        </p:nvSpPr>
        <p:spPr>
          <a:xfrm>
            <a:off x="8275320" y="3703320"/>
            <a:ext cx="548640" cy="548640"/>
          </a:xfrm>
          <a:prstGeom prst="ellipse">
            <a:avLst/>
          </a:prstGeom>
          <a:solidFill>
            <a:srgbClr val="5E2CFE"/>
          </a:solidFill>
          <a:ln w="12700">
            <a:solidFill>
              <a:srgbClr val="5E2CFE"/>
            </a:solidFill>
            <a:prstDash val="solid"/>
          </a:ln>
        </p:spPr>
      </p:sp>
      <p:pic>
        <p:nvPicPr>
          <p:cNvPr id="36" name="Image 5" descr="preencoded.png">    </p:cNvPr>
          <p:cNvPicPr>
            <a:picLocks noChangeAspect="1"/>
          </p:cNvPicPr>
          <p:nvPr/>
        </p:nvPicPr>
        <p:blipFill>
          <a:blip r:embed="rId6"/>
          <a:stretch>
            <a:fillRect/>
          </a:stretch>
        </p:blipFill>
        <p:spPr>
          <a:xfrm>
            <a:off x="8412480" y="3840480"/>
            <a:ext cx="274320" cy="274320"/>
          </a:xfrm>
          <a:prstGeom prst="rect">
            <a:avLst/>
          </a:prstGeom>
        </p:spPr>
      </p:pic>
      <p:sp>
        <p:nvSpPr>
          <p:cNvPr id="37" name="Text 29"/>
          <p:cNvSpPr txBox="1"/>
          <p:nvPr/>
        </p:nvSpPr>
        <p:spPr>
          <a:xfrm>
            <a:off x="8961120" y="3703320"/>
            <a:ext cx="2468880" cy="548640"/>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Failback</a:t>
            </a:r>
            <a:endParaRPr lang="en-US" sz="1600" dirty="0"/>
          </a:p>
        </p:txBody>
      </p:sp>
      <p:sp>
        <p:nvSpPr>
          <p:cNvPr id="38" name="Text 30"/>
          <p:cNvSpPr txBox="1"/>
          <p:nvPr/>
        </p:nvSpPr>
        <p:spPr>
          <a:xfrm>
            <a:off x="8275320" y="4343400"/>
            <a:ext cx="3108960" cy="50292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Return to primary, re-protect replication, verify nothing broke on the way back.</a:t>
            </a:r>
            <a:endParaRPr lang="en-US" sz="1150" dirty="0"/>
          </a:p>
        </p:txBody>
      </p:sp>
      <p:sp>
        <p:nvSpPr>
          <p:cNvPr id="39" name="Text 31"/>
          <p:cNvSpPr txBox="1"/>
          <p:nvPr/>
        </p:nvSpPr>
        <p:spPr>
          <a:xfrm>
            <a:off x="8275320" y="4846320"/>
            <a:ext cx="3108960" cy="256032"/>
          </a:xfrm>
          <a:prstGeom prst="rect">
            <a:avLst/>
          </a:prstGeom>
          <a:noFill/>
          <a:ln/>
        </p:spPr>
        <p:txBody>
          <a:bodyPr wrap="square" lIns="0" tIns="0" rIns="0" bIns="0" rtlCol="0" anchor="ctr"/>
          <a:lstStyle/>
          <a:p>
            <a:pPr indent="0" marL="0">
              <a:buNone/>
            </a:pPr>
            <a:r>
              <a:rPr lang="en-US" sz="1050" b="1" dirty="0">
                <a:solidFill>
                  <a:srgbClr val="5E2CFE"/>
                </a:solidFill>
                <a:latin typeface="Calibri" pitchFamily="34" charset="0"/>
                <a:ea typeface="Calibri" pitchFamily="34" charset="-122"/>
                <a:cs typeface="Calibri" pitchFamily="34" charset="-120"/>
              </a:rPr>
              <a:t>ASR re-protect · SQL failover</a:t>
            </a:r>
            <a:endParaRPr lang="en-US" sz="1050" dirty="0"/>
          </a:p>
        </p:txBody>
      </p:sp>
      <p:sp>
        <p:nvSpPr>
          <p:cNvPr id="40" name="Text 32"/>
          <p:cNvSpPr txBox="1"/>
          <p:nvPr/>
        </p:nvSpPr>
        <p:spPr>
          <a:xfrm>
            <a:off x="548640" y="5440680"/>
            <a:ext cx="1828800" cy="274320"/>
          </a:xfrm>
          <a:prstGeom prst="rect">
            <a:avLst/>
          </a:prstGeom>
          <a:noFill/>
          <a:ln/>
        </p:spPr>
        <p:txBody>
          <a:bodyPr wrap="square" lIns="0" tIns="0" rIns="0" bIns="0" rtlCol="0" anchor="ctr"/>
          <a:lstStyle/>
          <a:p>
            <a:pPr indent="0" marL="0">
              <a:buNone/>
            </a:pPr>
            <a:r>
              <a:rPr lang="en-US" sz="1000" b="1" spc="200" kern="0" dirty="0">
                <a:solidFill>
                  <a:srgbClr val="5B6B7F"/>
                </a:solidFill>
                <a:latin typeface="Calibri" pitchFamily="34" charset="0"/>
                <a:ea typeface="Calibri" pitchFamily="34" charset="-122"/>
                <a:cs typeface="Calibri" pitchFamily="34" charset="-120"/>
              </a:rPr>
              <a:t>TESTING MODES</a:t>
            </a:r>
            <a:endParaRPr lang="en-US" sz="1000" dirty="0"/>
          </a:p>
        </p:txBody>
      </p:sp>
      <p:sp>
        <p:nvSpPr>
          <p:cNvPr id="41" name="Shape 33"/>
          <p:cNvSpPr/>
          <p:nvPr/>
        </p:nvSpPr>
        <p:spPr>
          <a:xfrm>
            <a:off x="548640" y="5715000"/>
            <a:ext cx="3520440" cy="685800"/>
          </a:xfrm>
          <a:prstGeom prst="roundRect">
            <a:avLst>
              <a:gd name="adj" fmla="val 10667"/>
            </a:avLst>
          </a:prstGeom>
          <a:solidFill>
            <a:srgbClr val="5E2CFE"/>
          </a:solidFill>
          <a:ln w="12700">
            <a:solidFill>
              <a:srgbClr val="5E2CFE"/>
            </a:solidFill>
            <a:prstDash val="solid"/>
          </a:ln>
        </p:spPr>
      </p:sp>
      <p:sp>
        <p:nvSpPr>
          <p:cNvPr id="42" name="Text 34"/>
          <p:cNvSpPr txBox="1"/>
          <p:nvPr/>
        </p:nvSpPr>
        <p:spPr>
          <a:xfrm>
            <a:off x="731520" y="5715000"/>
            <a:ext cx="3200400" cy="6858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Isolated test</a:t>
            </a:r>
            <a:endParaRPr lang="en-US" sz="1400" dirty="0"/>
          </a:p>
          <a:p>
            <a:pPr indent="0" marL="0">
              <a:buNone/>
            </a:pPr>
            <a:r>
              <a:rPr lang="en-US" sz="1050" dirty="0">
                <a:solidFill>
                  <a:srgbClr val="FFFFFF"/>
                </a:solidFill>
                <a:latin typeface="Calibri" pitchFamily="34" charset="0"/>
                <a:ea typeface="Calibri" pitchFamily="34" charset="-122"/>
                <a:cs typeface="Calibri" pitchFamily="34" charset="-120"/>
              </a:rPr>
              <a:t>Production-safe · no user impact · runs weekly</a:t>
            </a:r>
            <a:endParaRPr lang="en-US" sz="1400" dirty="0"/>
          </a:p>
        </p:txBody>
      </p:sp>
      <p:sp>
        <p:nvSpPr>
          <p:cNvPr id="43" name="Shape 35"/>
          <p:cNvSpPr/>
          <p:nvPr/>
        </p:nvSpPr>
        <p:spPr>
          <a:xfrm>
            <a:off x="4297680" y="5715000"/>
            <a:ext cx="3520440" cy="685800"/>
          </a:xfrm>
          <a:prstGeom prst="roundRect">
            <a:avLst>
              <a:gd name="adj" fmla="val 10667"/>
            </a:avLst>
          </a:prstGeom>
          <a:solidFill>
            <a:srgbClr val="171721"/>
          </a:solidFill>
          <a:ln w="12700">
            <a:solidFill>
              <a:srgbClr val="171721"/>
            </a:solidFill>
            <a:prstDash val="solid"/>
          </a:ln>
        </p:spPr>
      </p:sp>
      <p:sp>
        <p:nvSpPr>
          <p:cNvPr id="44" name="Text 36"/>
          <p:cNvSpPr txBox="1"/>
          <p:nvPr/>
        </p:nvSpPr>
        <p:spPr>
          <a:xfrm>
            <a:off x="4480560" y="5715000"/>
            <a:ext cx="3200400" cy="6858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Full drill</a:t>
            </a:r>
            <a:endParaRPr lang="en-US" sz="1400" dirty="0"/>
          </a:p>
          <a:p>
            <a:pPr indent="0" marL="0">
              <a:buNone/>
            </a:pPr>
            <a:r>
              <a:rPr lang="en-US" sz="1050" dirty="0">
                <a:solidFill>
                  <a:srgbClr val="FFFFFF"/>
                </a:solidFill>
                <a:latin typeface="Calibri" pitchFamily="34" charset="0"/>
                <a:ea typeface="Calibri" pitchFamily="34" charset="-122"/>
                <a:cs typeface="Calibri" pitchFamily="34" charset="-120"/>
              </a:rPr>
              <a:t>Non-prod / staging · real region failover and failback</a:t>
            </a:r>
            <a:endParaRPr lang="en-US" sz="1400" dirty="0"/>
          </a:p>
        </p:txBody>
      </p:sp>
      <p:sp>
        <p:nvSpPr>
          <p:cNvPr id="45" name="Shape 37"/>
          <p:cNvSpPr/>
          <p:nvPr/>
        </p:nvSpPr>
        <p:spPr>
          <a:xfrm>
            <a:off x="8046720" y="5715000"/>
            <a:ext cx="3520440" cy="685800"/>
          </a:xfrm>
          <a:prstGeom prst="roundRect">
            <a:avLst>
              <a:gd name="adj" fmla="val 10667"/>
            </a:avLst>
          </a:prstGeom>
          <a:solidFill>
            <a:srgbClr val="F2A541"/>
          </a:solidFill>
          <a:ln w="12700">
            <a:solidFill>
              <a:srgbClr val="F2A541"/>
            </a:solidFill>
            <a:prstDash val="solid"/>
          </a:ln>
        </p:spPr>
      </p:sp>
      <p:sp>
        <p:nvSpPr>
          <p:cNvPr id="46" name="Text 38"/>
          <p:cNvSpPr txBox="1"/>
          <p:nvPr/>
        </p:nvSpPr>
        <p:spPr>
          <a:xfrm>
            <a:off x="8229600" y="5715000"/>
            <a:ext cx="3200400" cy="68580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Game day</a:t>
            </a:r>
            <a:endParaRPr lang="en-US" sz="1400" dirty="0"/>
          </a:p>
          <a:p>
            <a:pPr indent="0" marL="0">
              <a:buNone/>
            </a:pPr>
            <a:r>
              <a:rPr lang="en-US" sz="1050" dirty="0">
                <a:solidFill>
                  <a:srgbClr val="171721"/>
                </a:solidFill>
                <a:latin typeface="Calibri" pitchFamily="34" charset="0"/>
                <a:ea typeface="Calibri" pitchFamily="34" charset="-122"/>
                <a:cs typeface="Calibri" pitchFamily="34" charset="-120"/>
              </a:rPr>
              <a:t>Production · explicit approval, kill switch, auto-rollback</a:t>
            </a:r>
            <a:endParaRPr lang="en-US" sz="1400" dirty="0"/>
          </a:p>
        </p:txBody>
      </p:sp>
      <p:sp>
        <p:nvSpPr>
          <p:cNvPr id="47" name="Text 3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 team of specialist agents on Azure AI Foundry</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Each agent has its own tools, its own Managed Identity and least-privilege RBAC.</a:t>
            </a:r>
            <a:endParaRPr lang="en-US" sz="1500" dirty="0"/>
          </a:p>
        </p:txBody>
      </p:sp>
      <p:sp>
        <p:nvSpPr>
          <p:cNvPr id="4" name="Shape 2"/>
          <p:cNvSpPr/>
          <p:nvPr/>
        </p:nvSpPr>
        <p:spPr>
          <a:xfrm>
            <a:off x="548640" y="1554480"/>
            <a:ext cx="11064240" cy="868680"/>
          </a:xfrm>
          <a:prstGeom prst="roundRect">
            <a:avLst>
              <a:gd name="adj" fmla="val 8421"/>
            </a:avLst>
          </a:prstGeom>
          <a:solidFill>
            <a:srgbClr val="171721"/>
          </a:solidFill>
          <a:ln w="12700">
            <a:solidFill>
              <a:srgbClr val="171721"/>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691640"/>
            <a:ext cx="594360" cy="594360"/>
          </a:xfrm>
          <a:prstGeom prst="ellipse">
            <a:avLst/>
          </a:prstGeom>
          <a:solidFill>
            <a:srgbClr val="5E2CFE"/>
          </a:solidFill>
          <a:ln w="12700">
            <a:solidFill>
              <a:srgbClr val="5E2CFE"/>
            </a:solidFill>
            <a:prstDash val="solid"/>
          </a:ln>
        </p:spPr>
      </p:sp>
      <p:pic>
        <p:nvPicPr>
          <p:cNvPr id="6" name="Image 0" descr="preencoded.png">    </p:cNvPr>
          <p:cNvPicPr>
            <a:picLocks noChangeAspect="1"/>
          </p:cNvPicPr>
          <p:nvPr/>
        </p:nvPicPr>
        <p:blipFill>
          <a:blip r:embed="rId1"/>
          <a:stretch>
            <a:fillRect/>
          </a:stretch>
        </p:blipFill>
        <p:spPr>
          <a:xfrm>
            <a:off x="925830" y="1840230"/>
            <a:ext cx="297180" cy="297180"/>
          </a:xfrm>
          <a:prstGeom prst="rect">
            <a:avLst/>
          </a:prstGeom>
        </p:spPr>
      </p:pic>
      <p:sp>
        <p:nvSpPr>
          <p:cNvPr id="7" name="Text 4"/>
          <p:cNvSpPr txBox="1"/>
          <p:nvPr/>
        </p:nvSpPr>
        <p:spPr>
          <a:xfrm>
            <a:off x="1554480" y="1554480"/>
            <a:ext cx="694944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Orchestrator Agent  </a:t>
            </a:r>
            <a:pPr indent="0" marL="0">
              <a:buNone/>
            </a:pPr>
            <a:r>
              <a:rPr lang="en-US" sz="1300" dirty="0">
                <a:solidFill>
                  <a:srgbClr val="FFFFFF"/>
                </a:solidFill>
                <a:latin typeface="Calibri" pitchFamily="34" charset="0"/>
                <a:ea typeface="Calibri" pitchFamily="34" charset="-122"/>
                <a:cs typeface="Calibri" pitchFamily="34" charset="-120"/>
              </a:rPr>
              <a:t>Takes a goal ("Run a DR test on the Payments workload"), plans the drill, delegates to specialists, enforces guardrails and approval gates.</a:t>
            </a:r>
            <a:endParaRPr lang="en-US" sz="1700" dirty="0"/>
          </a:p>
        </p:txBody>
      </p:sp>
      <p:sp>
        <p:nvSpPr>
          <p:cNvPr id="8" name="Text 5"/>
          <p:cNvSpPr txBox="1"/>
          <p:nvPr/>
        </p:nvSpPr>
        <p:spPr>
          <a:xfrm>
            <a:off x="8595360" y="1554480"/>
            <a:ext cx="2834640" cy="868680"/>
          </a:xfrm>
          <a:prstGeom prst="rect">
            <a:avLst/>
          </a:prstGeom>
          <a:noFill/>
          <a:ln/>
        </p:spPr>
        <p:txBody>
          <a:bodyPr wrap="square" lIns="0" tIns="0" rIns="0" bIns="0" rtlCol="0" anchor="ctr"/>
          <a:lstStyle/>
          <a:p>
            <a:pPr algn="r" indent="0" marL="0">
              <a:buNone/>
            </a:pPr>
            <a:r>
              <a:rPr lang="en-US" sz="1050" dirty="0">
                <a:solidFill>
                  <a:srgbClr val="8FD6D3"/>
                </a:solidFill>
                <a:latin typeface="Calibri" pitchFamily="34" charset="0"/>
                <a:ea typeface="Calibri" pitchFamily="34" charset="-122"/>
                <a:cs typeface="Calibri" pitchFamily="34" charset="-120"/>
              </a:rPr>
              <a:t>Azure AI Foundry Agent Service · Azure OpenAI · Microsoft Agent Framework</a:t>
            </a:r>
            <a:endParaRPr lang="en-US" sz="1050" dirty="0"/>
          </a:p>
        </p:txBody>
      </p:sp>
      <p:sp>
        <p:nvSpPr>
          <p:cNvPr id="9" name="Shape 6"/>
          <p:cNvSpPr/>
          <p:nvPr/>
        </p:nvSpPr>
        <p:spPr>
          <a:xfrm>
            <a:off x="548640" y="2651760"/>
            <a:ext cx="3520440" cy="1691640"/>
          </a:xfrm>
          <a:prstGeom prst="roundRect">
            <a:avLst>
              <a:gd name="adj" fmla="val 4324"/>
            </a:avLst>
          </a:prstGeom>
          <a:solidFill>
            <a:srgbClr val="EFE9FF"/>
          </a:solidFill>
          <a:ln w="12700">
            <a:solidFill>
              <a:srgbClr val="EFE9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777240" y="2880360"/>
            <a:ext cx="548640" cy="548640"/>
          </a:xfrm>
          <a:prstGeom prst="ellipse">
            <a:avLst/>
          </a:prstGeom>
          <a:solidFill>
            <a:srgbClr val="5E2CFE"/>
          </a:solidFill>
          <a:ln w="12700">
            <a:solidFill>
              <a:srgbClr val="5E2CFE"/>
            </a:solidFill>
            <a:prstDash val="solid"/>
          </a:ln>
        </p:spPr>
      </p:sp>
      <p:pic>
        <p:nvPicPr>
          <p:cNvPr id="11" name="Image 1" descr="preencoded.png">    </p:cNvPr>
          <p:cNvPicPr>
            <a:picLocks noChangeAspect="1"/>
          </p:cNvPicPr>
          <p:nvPr/>
        </p:nvPicPr>
        <p:blipFill>
          <a:blip r:embed="rId2"/>
          <a:stretch>
            <a:fillRect/>
          </a:stretch>
        </p:blipFill>
        <p:spPr>
          <a:xfrm>
            <a:off x="914400" y="3017520"/>
            <a:ext cx="274320" cy="274320"/>
          </a:xfrm>
          <a:prstGeom prst="rect">
            <a:avLst/>
          </a:prstGeom>
        </p:spPr>
      </p:pic>
      <p:sp>
        <p:nvSpPr>
          <p:cNvPr id="12" name="Text 8"/>
          <p:cNvSpPr txBox="1"/>
          <p:nvPr/>
        </p:nvSpPr>
        <p:spPr>
          <a:xfrm>
            <a:off x="1463040" y="288036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DR Test Executor Agent</a:t>
            </a:r>
            <a:endParaRPr lang="en-US" sz="1500" dirty="0"/>
          </a:p>
        </p:txBody>
      </p:sp>
      <p:sp>
        <p:nvSpPr>
          <p:cNvPr id="13" name="Text 9"/>
          <p:cNvSpPr txBox="1"/>
          <p:nvPr/>
        </p:nvSpPr>
        <p:spPr>
          <a:xfrm>
            <a:off x="777240" y="349300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CORE · Runs failovers in dependency order, monitors each step, rolls back or fails back.</a:t>
            </a:r>
            <a:endParaRPr lang="en-US" sz="1150" dirty="0"/>
          </a:p>
        </p:txBody>
      </p:sp>
      <p:sp>
        <p:nvSpPr>
          <p:cNvPr id="14" name="Text 10"/>
          <p:cNvSpPr txBox="1"/>
          <p:nvPr/>
        </p:nvSpPr>
        <p:spPr>
          <a:xfrm>
            <a:off x="777240" y="402336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Site Recovery · Chaos Studio · Durable Functions</a:t>
            </a:r>
            <a:endParaRPr lang="en-US" sz="1000" dirty="0"/>
          </a:p>
        </p:txBody>
      </p:sp>
      <p:sp>
        <p:nvSpPr>
          <p:cNvPr id="15" name="Shape 11"/>
          <p:cNvSpPr/>
          <p:nvPr/>
        </p:nvSpPr>
        <p:spPr>
          <a:xfrm>
            <a:off x="4297680" y="2651760"/>
            <a:ext cx="3520440" cy="1691640"/>
          </a:xfrm>
          <a:prstGeom prst="roundRect">
            <a:avLst>
              <a:gd name="adj" fmla="val 4324"/>
            </a:avLst>
          </a:prstGeom>
          <a:solidFill>
            <a:srgbClr val="EFE9FF"/>
          </a:solidFill>
          <a:ln w="12700">
            <a:solidFill>
              <a:srgbClr val="EFE9FF"/>
            </a:solidFill>
            <a:prstDash val="solid"/>
          </a:ln>
          <a:effectLst>
            <a:outerShdw sx="100000" sy="100000" kx="0" ky="0" algn="bl" rotWithShape="0" blurRad="76200" dist="25400" dir="5400000">
              <a:srgbClr val="000000">
                <a:alpha val="12000"/>
              </a:srgbClr>
            </a:outerShdw>
          </a:effectLst>
        </p:spPr>
      </p:sp>
      <p:sp>
        <p:nvSpPr>
          <p:cNvPr id="16" name="Shape 12"/>
          <p:cNvSpPr/>
          <p:nvPr/>
        </p:nvSpPr>
        <p:spPr>
          <a:xfrm>
            <a:off x="4526280" y="2880360"/>
            <a:ext cx="548640" cy="548640"/>
          </a:xfrm>
          <a:prstGeom prst="ellipse">
            <a:avLst/>
          </a:prstGeom>
          <a:solidFill>
            <a:srgbClr val="5E2CFE"/>
          </a:solidFill>
          <a:ln w="12700">
            <a:solidFill>
              <a:srgbClr val="5E2CFE"/>
            </a:solidFill>
            <a:prstDash val="solid"/>
          </a:ln>
        </p:spPr>
      </p:sp>
      <p:pic>
        <p:nvPicPr>
          <p:cNvPr id="17" name="Image 2" descr="preencoded.png">    </p:cNvPr>
          <p:cNvPicPr>
            <a:picLocks noChangeAspect="1"/>
          </p:cNvPicPr>
          <p:nvPr/>
        </p:nvPicPr>
        <p:blipFill>
          <a:blip r:embed="rId3"/>
          <a:stretch>
            <a:fillRect/>
          </a:stretch>
        </p:blipFill>
        <p:spPr>
          <a:xfrm>
            <a:off x="4663440" y="3017520"/>
            <a:ext cx="274320" cy="274320"/>
          </a:xfrm>
          <a:prstGeom prst="rect">
            <a:avLst/>
          </a:prstGeom>
        </p:spPr>
      </p:pic>
      <p:sp>
        <p:nvSpPr>
          <p:cNvPr id="18" name="Text 13"/>
          <p:cNvSpPr txBox="1"/>
          <p:nvPr/>
        </p:nvSpPr>
        <p:spPr>
          <a:xfrm>
            <a:off x="5212080" y="288036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Validation Agent</a:t>
            </a:r>
            <a:endParaRPr lang="en-US" sz="1500" dirty="0"/>
          </a:p>
        </p:txBody>
      </p:sp>
      <p:sp>
        <p:nvSpPr>
          <p:cNvPr id="19" name="Text 14"/>
          <p:cNvSpPr txBox="1"/>
          <p:nvPr/>
        </p:nvSpPr>
        <p:spPr>
          <a:xfrm>
            <a:off x="4526280" y="349300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Synthetic transactions on the recovered app, data-integrity checks, measures actual RTO &amp; RPO.</a:t>
            </a:r>
            <a:endParaRPr lang="en-US" sz="1150" dirty="0"/>
          </a:p>
        </p:txBody>
      </p:sp>
      <p:sp>
        <p:nvSpPr>
          <p:cNvPr id="20" name="Text 15"/>
          <p:cNvSpPr txBox="1"/>
          <p:nvPr/>
        </p:nvSpPr>
        <p:spPr>
          <a:xfrm>
            <a:off x="4526280" y="402336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Azure Monitor · App Insights · Load Testing</a:t>
            </a:r>
            <a:endParaRPr lang="en-US" sz="1000" dirty="0"/>
          </a:p>
        </p:txBody>
      </p:sp>
      <p:sp>
        <p:nvSpPr>
          <p:cNvPr id="21" name="Shape 16"/>
          <p:cNvSpPr/>
          <p:nvPr/>
        </p:nvSpPr>
        <p:spPr>
          <a:xfrm>
            <a:off x="8046720" y="265176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2" name="Shape 17"/>
          <p:cNvSpPr/>
          <p:nvPr/>
        </p:nvSpPr>
        <p:spPr>
          <a:xfrm>
            <a:off x="8275320" y="2880360"/>
            <a:ext cx="548640" cy="548640"/>
          </a:xfrm>
          <a:prstGeom prst="ellipse">
            <a:avLst/>
          </a:prstGeom>
          <a:solidFill>
            <a:srgbClr val="171721"/>
          </a:solidFill>
          <a:ln w="12700">
            <a:solidFill>
              <a:srgbClr val="171721"/>
            </a:solidFill>
            <a:prstDash val="solid"/>
          </a:ln>
        </p:spPr>
      </p:sp>
      <p:pic>
        <p:nvPicPr>
          <p:cNvPr id="23" name="Image 3" descr="preencoded.png">    </p:cNvPr>
          <p:cNvPicPr>
            <a:picLocks noChangeAspect="1"/>
          </p:cNvPicPr>
          <p:nvPr/>
        </p:nvPicPr>
        <p:blipFill>
          <a:blip r:embed="rId4"/>
          <a:stretch>
            <a:fillRect/>
          </a:stretch>
        </p:blipFill>
        <p:spPr>
          <a:xfrm>
            <a:off x="8412480" y="3017520"/>
            <a:ext cx="274320" cy="274320"/>
          </a:xfrm>
          <a:prstGeom prst="rect">
            <a:avLst/>
          </a:prstGeom>
        </p:spPr>
      </p:pic>
      <p:sp>
        <p:nvSpPr>
          <p:cNvPr id="24" name="Text 18"/>
          <p:cNvSpPr txBox="1"/>
          <p:nvPr/>
        </p:nvSpPr>
        <p:spPr>
          <a:xfrm>
            <a:off x="8961120" y="288036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Discovery Agent</a:t>
            </a:r>
            <a:endParaRPr lang="en-US" sz="1500" dirty="0"/>
          </a:p>
        </p:txBody>
      </p:sp>
      <p:sp>
        <p:nvSpPr>
          <p:cNvPr id="25" name="Text 19"/>
          <p:cNvSpPr txBox="1"/>
          <p:nvPr/>
        </p:nvSpPr>
        <p:spPr>
          <a:xfrm>
            <a:off x="8275320" y="349300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Builds a live dependency graph of the workload and ranks components by criticality.</a:t>
            </a:r>
            <a:endParaRPr lang="en-US" sz="1150" dirty="0"/>
          </a:p>
        </p:txBody>
      </p:sp>
      <p:sp>
        <p:nvSpPr>
          <p:cNvPr id="26" name="Text 20"/>
          <p:cNvSpPr txBox="1"/>
          <p:nvPr/>
        </p:nvSpPr>
        <p:spPr>
          <a:xfrm>
            <a:off x="8275320" y="402336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Resource Graph · App Insights map · Cosmos DB</a:t>
            </a:r>
            <a:endParaRPr lang="en-US" sz="1000" dirty="0"/>
          </a:p>
        </p:txBody>
      </p:sp>
      <p:sp>
        <p:nvSpPr>
          <p:cNvPr id="27" name="Shape 21"/>
          <p:cNvSpPr/>
          <p:nvPr/>
        </p:nvSpPr>
        <p:spPr>
          <a:xfrm>
            <a:off x="548640" y="452628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8" name="Shape 22"/>
          <p:cNvSpPr/>
          <p:nvPr/>
        </p:nvSpPr>
        <p:spPr>
          <a:xfrm>
            <a:off x="777240" y="4754880"/>
            <a:ext cx="548640" cy="548640"/>
          </a:xfrm>
          <a:prstGeom prst="ellipse">
            <a:avLst/>
          </a:prstGeom>
          <a:solidFill>
            <a:srgbClr val="171721"/>
          </a:solidFill>
          <a:ln w="12700">
            <a:solidFill>
              <a:srgbClr val="171721"/>
            </a:solidFill>
            <a:prstDash val="solid"/>
          </a:ln>
        </p:spPr>
      </p:sp>
      <p:pic>
        <p:nvPicPr>
          <p:cNvPr id="29" name="Image 4" descr="preencoded.png">    </p:cNvPr>
          <p:cNvPicPr>
            <a:picLocks noChangeAspect="1"/>
          </p:cNvPicPr>
          <p:nvPr/>
        </p:nvPicPr>
        <p:blipFill>
          <a:blip r:embed="rId5"/>
          <a:stretch>
            <a:fillRect/>
          </a:stretch>
        </p:blipFill>
        <p:spPr>
          <a:xfrm>
            <a:off x="914400" y="4892040"/>
            <a:ext cx="274320" cy="274320"/>
          </a:xfrm>
          <a:prstGeom prst="rect">
            <a:avLst/>
          </a:prstGeom>
        </p:spPr>
      </p:pic>
      <p:sp>
        <p:nvSpPr>
          <p:cNvPr id="30" name="Text 23"/>
          <p:cNvSpPr txBox="1"/>
          <p:nvPr/>
        </p:nvSpPr>
        <p:spPr>
          <a:xfrm>
            <a:off x="1463040" y="475488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Readiness Assessor Agent</a:t>
            </a:r>
            <a:endParaRPr lang="en-US" sz="1500" dirty="0"/>
          </a:p>
        </p:txBody>
      </p:sp>
      <p:sp>
        <p:nvSpPr>
          <p:cNvPr id="31" name="Text 24"/>
          <p:cNvSpPr txBox="1"/>
          <p:nvPr/>
        </p:nvSpPr>
        <p:spPr>
          <a:xfrm>
            <a:off x="777240" y="536752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Pre-test checks: replication, failover groups, secondary Key Vault, quota, Front Door, NSGs.</a:t>
            </a:r>
            <a:endParaRPr lang="en-US" sz="1150" dirty="0"/>
          </a:p>
        </p:txBody>
      </p:sp>
      <p:sp>
        <p:nvSpPr>
          <p:cNvPr id="32" name="Text 25"/>
          <p:cNvSpPr txBox="1"/>
          <p:nvPr/>
        </p:nvSpPr>
        <p:spPr>
          <a:xfrm>
            <a:off x="777240" y="589788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Azure Policy · Business Continuity Center</a:t>
            </a:r>
            <a:endParaRPr lang="en-US" sz="1000" dirty="0"/>
          </a:p>
        </p:txBody>
      </p:sp>
      <p:sp>
        <p:nvSpPr>
          <p:cNvPr id="33" name="Shape 26"/>
          <p:cNvSpPr/>
          <p:nvPr/>
        </p:nvSpPr>
        <p:spPr>
          <a:xfrm>
            <a:off x="4297680" y="452628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34" name="Shape 27"/>
          <p:cNvSpPr/>
          <p:nvPr/>
        </p:nvSpPr>
        <p:spPr>
          <a:xfrm>
            <a:off x="4526280" y="4754880"/>
            <a:ext cx="548640" cy="548640"/>
          </a:xfrm>
          <a:prstGeom prst="ellipse">
            <a:avLst/>
          </a:prstGeom>
          <a:solidFill>
            <a:srgbClr val="171721"/>
          </a:solidFill>
          <a:ln w="12700">
            <a:solidFill>
              <a:srgbClr val="171721"/>
            </a:solidFill>
            <a:prstDash val="solid"/>
          </a:ln>
        </p:spPr>
      </p:sp>
      <p:pic>
        <p:nvPicPr>
          <p:cNvPr id="35" name="Image 5" descr="preencoded.png">    </p:cNvPr>
          <p:cNvPicPr>
            <a:picLocks noChangeAspect="1"/>
          </p:cNvPicPr>
          <p:nvPr/>
        </p:nvPicPr>
        <p:blipFill>
          <a:blip r:embed="rId6"/>
          <a:stretch>
            <a:fillRect/>
          </a:stretch>
        </p:blipFill>
        <p:spPr>
          <a:xfrm>
            <a:off x="4663440" y="4892040"/>
            <a:ext cx="274320" cy="274320"/>
          </a:xfrm>
          <a:prstGeom prst="rect">
            <a:avLst/>
          </a:prstGeom>
        </p:spPr>
      </p:pic>
      <p:sp>
        <p:nvSpPr>
          <p:cNvPr id="36" name="Text 28"/>
          <p:cNvSpPr txBox="1"/>
          <p:nvPr/>
        </p:nvSpPr>
        <p:spPr>
          <a:xfrm>
            <a:off x="5212080" y="475488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Runbook Intelligence Agent</a:t>
            </a:r>
            <a:endParaRPr lang="en-US" sz="1500" dirty="0"/>
          </a:p>
        </p:txBody>
      </p:sp>
      <p:sp>
        <p:nvSpPr>
          <p:cNvPr id="37" name="Text 29"/>
          <p:cNvSpPr txBox="1"/>
          <p:nvPr/>
        </p:nvSpPr>
        <p:spPr>
          <a:xfrm>
            <a:off x="4526280" y="536752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Reads existing runbooks (RAG), flags stale steps, generates an executable test plan.</a:t>
            </a:r>
            <a:endParaRPr lang="en-US" sz="1150" dirty="0"/>
          </a:p>
        </p:txBody>
      </p:sp>
      <p:sp>
        <p:nvSpPr>
          <p:cNvPr id="38" name="Text 30"/>
          <p:cNvSpPr txBox="1"/>
          <p:nvPr/>
        </p:nvSpPr>
        <p:spPr>
          <a:xfrm>
            <a:off x="4526280" y="589788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Azure AI Search · Document Intelligence</a:t>
            </a:r>
            <a:endParaRPr lang="en-US" sz="1000" dirty="0"/>
          </a:p>
        </p:txBody>
      </p:sp>
      <p:sp>
        <p:nvSpPr>
          <p:cNvPr id="39" name="Shape 31"/>
          <p:cNvSpPr/>
          <p:nvPr/>
        </p:nvSpPr>
        <p:spPr>
          <a:xfrm>
            <a:off x="8046720" y="4526280"/>
            <a:ext cx="3520440" cy="1691640"/>
          </a:xfrm>
          <a:prstGeom prst="roundRect">
            <a:avLst>
              <a:gd name="adj" fmla="val 4324"/>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40" name="Shape 32"/>
          <p:cNvSpPr/>
          <p:nvPr/>
        </p:nvSpPr>
        <p:spPr>
          <a:xfrm>
            <a:off x="8275320" y="4754880"/>
            <a:ext cx="548640" cy="548640"/>
          </a:xfrm>
          <a:prstGeom prst="ellipse">
            <a:avLst/>
          </a:prstGeom>
          <a:solidFill>
            <a:srgbClr val="171721"/>
          </a:solidFill>
          <a:ln w="12700">
            <a:solidFill>
              <a:srgbClr val="171721"/>
            </a:solidFill>
            <a:prstDash val="solid"/>
          </a:ln>
        </p:spPr>
      </p:sp>
      <p:pic>
        <p:nvPicPr>
          <p:cNvPr id="41" name="Image 6" descr="preencoded.png">    </p:cNvPr>
          <p:cNvPicPr>
            <a:picLocks noChangeAspect="1"/>
          </p:cNvPicPr>
          <p:nvPr/>
        </p:nvPicPr>
        <p:blipFill>
          <a:blip r:embed="rId7"/>
          <a:stretch>
            <a:fillRect/>
          </a:stretch>
        </p:blipFill>
        <p:spPr>
          <a:xfrm>
            <a:off x="8412480" y="4892040"/>
            <a:ext cx="274320" cy="274320"/>
          </a:xfrm>
          <a:prstGeom prst="rect">
            <a:avLst/>
          </a:prstGeom>
        </p:spPr>
      </p:pic>
      <p:sp>
        <p:nvSpPr>
          <p:cNvPr id="42" name="Text 33"/>
          <p:cNvSpPr txBox="1"/>
          <p:nvPr/>
        </p:nvSpPr>
        <p:spPr>
          <a:xfrm>
            <a:off x="8961120" y="4754880"/>
            <a:ext cx="2514600" cy="54864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Remediation &amp; Reporting Agent</a:t>
            </a:r>
            <a:endParaRPr lang="en-US" sz="1500" dirty="0"/>
          </a:p>
        </p:txBody>
      </p:sp>
      <p:sp>
        <p:nvSpPr>
          <p:cNvPr id="43" name="Text 34"/>
          <p:cNvSpPr txBox="1"/>
          <p:nvPr/>
        </p:nvSpPr>
        <p:spPr>
          <a:xfrm>
            <a:off x="8275320" y="5367528"/>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Bicep/Terraform fix PRs, work items, evidence pack and resilience score.</a:t>
            </a:r>
            <a:endParaRPr lang="en-US" sz="1150" dirty="0"/>
          </a:p>
        </p:txBody>
      </p:sp>
      <p:sp>
        <p:nvSpPr>
          <p:cNvPr id="44" name="Text 35"/>
          <p:cNvSpPr txBox="1"/>
          <p:nvPr/>
        </p:nvSpPr>
        <p:spPr>
          <a:xfrm>
            <a:off x="8275320" y="5897880"/>
            <a:ext cx="3108960" cy="256032"/>
          </a:xfrm>
          <a:prstGeom prst="rect">
            <a:avLst/>
          </a:prstGeom>
          <a:noFill/>
          <a:ln/>
        </p:spPr>
        <p:txBody>
          <a:bodyPr wrap="square" lIns="0" tIns="0" rIns="0" bIns="0" rtlCol="0" anchor="ctr"/>
          <a:lstStyle/>
          <a:p>
            <a:pPr indent="0" marL="0">
              <a:buNone/>
            </a:pPr>
            <a:r>
              <a:rPr lang="en-US" sz="1000" b="1" dirty="0">
                <a:solidFill>
                  <a:srgbClr val="5E2CFE"/>
                </a:solidFill>
                <a:latin typeface="Calibri" pitchFamily="34" charset="0"/>
                <a:ea typeface="Calibri" pitchFamily="34" charset="-122"/>
                <a:cs typeface="Calibri" pitchFamily="34" charset="-120"/>
              </a:rPr>
              <a:t>Azure DevOps / GitHub · Power BI · Teams</a:t>
            </a:r>
            <a:endParaRPr lang="en-US" sz="1000" dirty="0"/>
          </a:p>
        </p:txBody>
      </p:sp>
      <p:sp>
        <p:nvSpPr>
          <p:cNvPr id="45" name="Text 36"/>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Azure architecture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100% Azure-native · agents orchestrate real Azure resilience services against the workload under test.</a:t>
            </a:r>
            <a:endParaRPr lang="en-US" sz="1500" dirty="0"/>
          </a:p>
        </p:txBody>
      </p:sp>
      <p:sp>
        <p:nvSpPr>
          <p:cNvPr id="4" name="Text 2"/>
          <p:cNvSpPr txBox="1"/>
          <p:nvPr/>
        </p:nvSpPr>
        <p:spPr>
          <a:xfrm>
            <a:off x="548640" y="1481328"/>
            <a:ext cx="1737360" cy="237744"/>
          </a:xfrm>
          <a:prstGeom prst="rect">
            <a:avLst/>
          </a:prstGeom>
          <a:noFill/>
          <a:ln/>
        </p:spPr>
        <p:txBody>
          <a:bodyPr wrap="square" lIns="0" tIns="0" rIns="0" bIns="0" rtlCol="0" anchor="ctr"/>
          <a:lstStyle/>
          <a:p>
            <a:pPr indent="0" marL="0">
              <a:buNone/>
            </a:pPr>
            <a:r>
              <a:rPr lang="en-US" sz="950" b="1" spc="150" kern="0" dirty="0">
                <a:solidFill>
                  <a:srgbClr val="5B6B7F"/>
                </a:solidFill>
                <a:latin typeface="Calibri" pitchFamily="34" charset="0"/>
                <a:ea typeface="Calibri" pitchFamily="34" charset="-122"/>
                <a:cs typeface="Calibri" pitchFamily="34" charset="-120"/>
              </a:rPr>
              <a:t>TRIGGERS</a:t>
            </a:r>
            <a:endParaRPr lang="en-US" sz="950" dirty="0"/>
          </a:p>
        </p:txBody>
      </p:sp>
      <p:sp>
        <p:nvSpPr>
          <p:cNvPr id="5" name="Shape 3"/>
          <p:cNvSpPr/>
          <p:nvPr/>
        </p:nvSpPr>
        <p:spPr>
          <a:xfrm>
            <a:off x="548640" y="1783080"/>
            <a:ext cx="1737360" cy="640080"/>
          </a:xfrm>
          <a:prstGeom prst="roundRect">
            <a:avLst>
              <a:gd name="adj" fmla="val 8571"/>
            </a:avLst>
          </a:prstGeom>
          <a:solidFill>
            <a:srgbClr val="F1F5F9"/>
          </a:solidFill>
          <a:ln w="12700">
            <a:solidFill>
              <a:srgbClr val="C9D3DE"/>
            </a:solidFill>
            <a:prstDash val="solid"/>
          </a:ln>
        </p:spPr>
      </p:sp>
      <p:sp>
        <p:nvSpPr>
          <p:cNvPr id="6" name="Text 4"/>
          <p:cNvSpPr txBox="1"/>
          <p:nvPr/>
        </p:nvSpPr>
        <p:spPr>
          <a:xfrm>
            <a:off x="548640" y="1783080"/>
            <a:ext cx="1737360" cy="640080"/>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Schedule</a:t>
            </a:r>
            <a:endParaRPr lang="en-US" sz="1000" dirty="0"/>
          </a:p>
          <a:p>
            <a:pPr algn="ctr" indent="0" marL="0">
              <a:buNone/>
            </a:pPr>
            <a:r>
              <a:rPr lang="en-US" sz="1000" dirty="0">
                <a:solidFill>
                  <a:srgbClr val="5B6B7F"/>
                </a:solidFill>
                <a:latin typeface="Calibri" pitchFamily="34" charset="0"/>
                <a:ea typeface="Calibri" pitchFamily="34" charset="-122"/>
                <a:cs typeface="Calibri" pitchFamily="34" charset="-120"/>
              </a:rPr>
              <a:t>Logic Apps</a:t>
            </a:r>
            <a:endParaRPr lang="en-US" sz="1000" dirty="0"/>
          </a:p>
        </p:txBody>
      </p:sp>
      <p:sp>
        <p:nvSpPr>
          <p:cNvPr id="7" name="Shape 5"/>
          <p:cNvSpPr/>
          <p:nvPr/>
        </p:nvSpPr>
        <p:spPr>
          <a:xfrm>
            <a:off x="548640" y="2560320"/>
            <a:ext cx="1737360" cy="640080"/>
          </a:xfrm>
          <a:prstGeom prst="roundRect">
            <a:avLst>
              <a:gd name="adj" fmla="val 8571"/>
            </a:avLst>
          </a:prstGeom>
          <a:solidFill>
            <a:srgbClr val="F1F5F9"/>
          </a:solidFill>
          <a:ln w="12700">
            <a:solidFill>
              <a:srgbClr val="C9D3DE"/>
            </a:solidFill>
            <a:prstDash val="solid"/>
          </a:ln>
        </p:spPr>
      </p:sp>
      <p:sp>
        <p:nvSpPr>
          <p:cNvPr id="8" name="Text 6"/>
          <p:cNvSpPr txBox="1"/>
          <p:nvPr/>
        </p:nvSpPr>
        <p:spPr>
          <a:xfrm>
            <a:off x="548640" y="2560320"/>
            <a:ext cx="1737360" cy="640080"/>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Infra change</a:t>
            </a:r>
            <a:endParaRPr lang="en-US" sz="1000" dirty="0"/>
          </a:p>
          <a:p>
            <a:pPr algn="ctr" indent="0" marL="0">
              <a:buNone/>
            </a:pPr>
            <a:r>
              <a:rPr lang="en-US" sz="1000" dirty="0">
                <a:solidFill>
                  <a:srgbClr val="5B6B7F"/>
                </a:solidFill>
                <a:latin typeface="Calibri" pitchFamily="34" charset="0"/>
                <a:ea typeface="Calibri" pitchFamily="34" charset="-122"/>
                <a:cs typeface="Calibri" pitchFamily="34" charset="-120"/>
              </a:rPr>
              <a:t>Event Grid</a:t>
            </a:r>
            <a:endParaRPr lang="en-US" sz="1000" dirty="0"/>
          </a:p>
        </p:txBody>
      </p:sp>
      <p:sp>
        <p:nvSpPr>
          <p:cNvPr id="9" name="Shape 7"/>
          <p:cNvSpPr/>
          <p:nvPr/>
        </p:nvSpPr>
        <p:spPr>
          <a:xfrm>
            <a:off x="548640" y="3337560"/>
            <a:ext cx="1737360" cy="640080"/>
          </a:xfrm>
          <a:prstGeom prst="roundRect">
            <a:avLst>
              <a:gd name="adj" fmla="val 8571"/>
            </a:avLst>
          </a:prstGeom>
          <a:solidFill>
            <a:srgbClr val="F1F5F9"/>
          </a:solidFill>
          <a:ln w="12700">
            <a:solidFill>
              <a:srgbClr val="C9D3DE"/>
            </a:solidFill>
            <a:prstDash val="solid"/>
          </a:ln>
        </p:spPr>
      </p:sp>
      <p:sp>
        <p:nvSpPr>
          <p:cNvPr id="10" name="Text 8"/>
          <p:cNvSpPr txBox="1"/>
          <p:nvPr/>
        </p:nvSpPr>
        <p:spPr>
          <a:xfrm>
            <a:off x="548640" y="3337560"/>
            <a:ext cx="1737360" cy="640080"/>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On demand</a:t>
            </a:r>
            <a:endParaRPr lang="en-US" sz="1000" dirty="0"/>
          </a:p>
          <a:p>
            <a:pPr algn="ctr" indent="0" marL="0">
              <a:buNone/>
            </a:pPr>
            <a:r>
              <a:rPr lang="en-US" sz="1000" dirty="0">
                <a:solidFill>
                  <a:srgbClr val="5B6B7F"/>
                </a:solidFill>
                <a:latin typeface="Calibri" pitchFamily="34" charset="0"/>
                <a:ea typeface="Calibri" pitchFamily="34" charset="-122"/>
                <a:cs typeface="Calibri" pitchFamily="34" charset="-120"/>
              </a:rPr>
              <a:t>Teams / Portal</a:t>
            </a:r>
            <a:endParaRPr lang="en-US" sz="1000" dirty="0"/>
          </a:p>
        </p:txBody>
      </p:sp>
      <p:sp>
        <p:nvSpPr>
          <p:cNvPr id="11" name="Shape 9"/>
          <p:cNvSpPr/>
          <p:nvPr/>
        </p:nvSpPr>
        <p:spPr>
          <a:xfrm>
            <a:off x="2286000" y="2697480"/>
            <a:ext cx="320040" cy="0"/>
          </a:xfrm>
          <a:prstGeom prst="line">
            <a:avLst/>
          </a:prstGeom>
          <a:noFill/>
          <a:ln w="19050">
            <a:solidFill>
              <a:srgbClr val="171721"/>
            </a:solidFill>
            <a:prstDash val="solid"/>
            <a:tailEnd type="triangle"/>
          </a:ln>
        </p:spPr>
      </p:sp>
      <p:sp>
        <p:nvSpPr>
          <p:cNvPr id="12" name="Shape 10"/>
          <p:cNvSpPr/>
          <p:nvPr/>
        </p:nvSpPr>
        <p:spPr>
          <a:xfrm>
            <a:off x="2651760" y="1463040"/>
            <a:ext cx="6035040" cy="2423160"/>
          </a:xfrm>
          <a:prstGeom prst="roundRect">
            <a:avLst>
              <a:gd name="adj" fmla="val 3019"/>
            </a:avLst>
          </a:prstGeom>
          <a:solidFill>
            <a:srgbClr val="171721"/>
          </a:solidFill>
          <a:ln w="12700">
            <a:solidFill>
              <a:srgbClr val="171721"/>
            </a:solidFill>
            <a:prstDash val="solid"/>
          </a:ln>
        </p:spPr>
      </p:sp>
      <p:sp>
        <p:nvSpPr>
          <p:cNvPr id="13" name="Text 11"/>
          <p:cNvSpPr txBox="1"/>
          <p:nvPr/>
        </p:nvSpPr>
        <p:spPr>
          <a:xfrm>
            <a:off x="2834640" y="1554480"/>
            <a:ext cx="4572000" cy="237744"/>
          </a:xfrm>
          <a:prstGeom prst="rect">
            <a:avLst/>
          </a:prstGeom>
          <a:noFill/>
          <a:ln/>
        </p:spPr>
        <p:txBody>
          <a:bodyPr wrap="square" lIns="0" tIns="0" rIns="0" bIns="0" rtlCol="0" anchor="ctr"/>
          <a:lstStyle/>
          <a:p>
            <a:pPr indent="0" marL="0">
              <a:buNone/>
            </a:pPr>
            <a:r>
              <a:rPr lang="en-US" sz="950" b="1" spc="150" kern="0" dirty="0">
                <a:solidFill>
                  <a:srgbClr val="8FD6D3"/>
                </a:solidFill>
                <a:latin typeface="Calibri" pitchFamily="34" charset="0"/>
                <a:ea typeface="Calibri" pitchFamily="34" charset="-122"/>
                <a:cs typeface="Calibri" pitchFamily="34" charset="-120"/>
              </a:rPr>
              <a:t>AZURE AI FOUNDRY AGENT SERVICE</a:t>
            </a:r>
            <a:endParaRPr lang="en-US" sz="950" dirty="0"/>
          </a:p>
        </p:txBody>
      </p:sp>
      <p:sp>
        <p:nvSpPr>
          <p:cNvPr id="14" name="Shape 12"/>
          <p:cNvSpPr/>
          <p:nvPr/>
        </p:nvSpPr>
        <p:spPr>
          <a:xfrm>
            <a:off x="2834640" y="1847088"/>
            <a:ext cx="5669280" cy="502920"/>
          </a:xfrm>
          <a:prstGeom prst="roundRect">
            <a:avLst>
              <a:gd name="adj" fmla="val 10909"/>
            </a:avLst>
          </a:prstGeom>
          <a:solidFill>
            <a:srgbClr val="5E2CFE"/>
          </a:solidFill>
          <a:ln w="12700">
            <a:solidFill>
              <a:srgbClr val="5E2CFE"/>
            </a:solidFill>
            <a:prstDash val="solid"/>
          </a:ln>
        </p:spPr>
      </p:sp>
      <p:sp>
        <p:nvSpPr>
          <p:cNvPr id="15" name="Text 13"/>
          <p:cNvSpPr txBox="1"/>
          <p:nvPr/>
        </p:nvSpPr>
        <p:spPr>
          <a:xfrm>
            <a:off x="2834640" y="1847088"/>
            <a:ext cx="5669280" cy="502920"/>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Orchestrator Agent  ·  Azure OpenAI (GPT-4.1 / o-series)  ·  Agent Framework</a:t>
            </a:r>
            <a:endParaRPr lang="en-US" sz="1100" dirty="0"/>
          </a:p>
        </p:txBody>
      </p:sp>
      <p:sp>
        <p:nvSpPr>
          <p:cNvPr id="16" name="Shape 14"/>
          <p:cNvSpPr/>
          <p:nvPr/>
        </p:nvSpPr>
        <p:spPr>
          <a:xfrm>
            <a:off x="2834640" y="2514600"/>
            <a:ext cx="877824" cy="731520"/>
          </a:xfrm>
          <a:prstGeom prst="roundRect">
            <a:avLst>
              <a:gd name="adj" fmla="val 7500"/>
            </a:avLst>
          </a:prstGeom>
          <a:solidFill>
            <a:srgbClr val="2A2340"/>
          </a:solidFill>
          <a:ln w="12700">
            <a:solidFill>
              <a:srgbClr val="3B5A85"/>
            </a:solidFill>
            <a:prstDash val="solid"/>
          </a:ln>
        </p:spPr>
      </p:sp>
      <p:sp>
        <p:nvSpPr>
          <p:cNvPr id="17" name="Text 15"/>
          <p:cNvSpPr txBox="1"/>
          <p:nvPr/>
        </p:nvSpPr>
        <p:spPr>
          <a:xfrm>
            <a:off x="2834640"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Discovery</a:t>
            </a:r>
            <a:endParaRPr lang="en-US" sz="1000" dirty="0"/>
          </a:p>
        </p:txBody>
      </p:sp>
      <p:sp>
        <p:nvSpPr>
          <p:cNvPr id="18" name="Shape 16"/>
          <p:cNvSpPr/>
          <p:nvPr/>
        </p:nvSpPr>
        <p:spPr>
          <a:xfrm>
            <a:off x="3785616" y="2514600"/>
            <a:ext cx="877824" cy="731520"/>
          </a:xfrm>
          <a:prstGeom prst="roundRect">
            <a:avLst>
              <a:gd name="adj" fmla="val 7500"/>
            </a:avLst>
          </a:prstGeom>
          <a:solidFill>
            <a:srgbClr val="2A2340"/>
          </a:solidFill>
          <a:ln w="12700">
            <a:solidFill>
              <a:srgbClr val="3B5A85"/>
            </a:solidFill>
            <a:prstDash val="solid"/>
          </a:ln>
        </p:spPr>
      </p:sp>
      <p:sp>
        <p:nvSpPr>
          <p:cNvPr id="19" name="Text 17"/>
          <p:cNvSpPr txBox="1"/>
          <p:nvPr/>
        </p:nvSpPr>
        <p:spPr>
          <a:xfrm>
            <a:off x="3785616"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Readiness</a:t>
            </a:r>
            <a:endParaRPr lang="en-US" sz="1000" dirty="0"/>
          </a:p>
        </p:txBody>
      </p:sp>
      <p:sp>
        <p:nvSpPr>
          <p:cNvPr id="20" name="Shape 18"/>
          <p:cNvSpPr/>
          <p:nvPr/>
        </p:nvSpPr>
        <p:spPr>
          <a:xfrm>
            <a:off x="4736592" y="2514600"/>
            <a:ext cx="877824" cy="731520"/>
          </a:xfrm>
          <a:prstGeom prst="roundRect">
            <a:avLst>
              <a:gd name="adj" fmla="val 7500"/>
            </a:avLst>
          </a:prstGeom>
          <a:solidFill>
            <a:srgbClr val="2A2340"/>
          </a:solidFill>
          <a:ln w="12700">
            <a:solidFill>
              <a:srgbClr val="3B5A85"/>
            </a:solidFill>
            <a:prstDash val="solid"/>
          </a:ln>
        </p:spPr>
      </p:sp>
      <p:sp>
        <p:nvSpPr>
          <p:cNvPr id="21" name="Text 19"/>
          <p:cNvSpPr txBox="1"/>
          <p:nvPr/>
        </p:nvSpPr>
        <p:spPr>
          <a:xfrm>
            <a:off x="4736592"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Runbook</a:t>
            </a:r>
            <a:endParaRPr lang="en-US" sz="1000" dirty="0"/>
          </a:p>
        </p:txBody>
      </p:sp>
      <p:sp>
        <p:nvSpPr>
          <p:cNvPr id="22" name="Shape 20"/>
          <p:cNvSpPr/>
          <p:nvPr/>
        </p:nvSpPr>
        <p:spPr>
          <a:xfrm>
            <a:off x="5687568" y="2514600"/>
            <a:ext cx="877824" cy="731520"/>
          </a:xfrm>
          <a:prstGeom prst="roundRect">
            <a:avLst>
              <a:gd name="adj" fmla="val 7500"/>
            </a:avLst>
          </a:prstGeom>
          <a:solidFill>
            <a:srgbClr val="F2A541"/>
          </a:solidFill>
          <a:ln w="12700">
            <a:solidFill>
              <a:srgbClr val="F2A541"/>
            </a:solidFill>
            <a:prstDash val="solid"/>
          </a:ln>
        </p:spPr>
      </p:sp>
      <p:sp>
        <p:nvSpPr>
          <p:cNvPr id="23" name="Text 21"/>
          <p:cNvSpPr txBox="1"/>
          <p:nvPr/>
        </p:nvSpPr>
        <p:spPr>
          <a:xfrm>
            <a:off x="5687568"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171721"/>
                </a:solidFill>
                <a:latin typeface="Calibri" pitchFamily="34" charset="0"/>
                <a:ea typeface="Calibri" pitchFamily="34" charset="-122"/>
                <a:cs typeface="Calibri" pitchFamily="34" charset="-120"/>
              </a:rPr>
              <a:t>DR Test</a:t>
            </a:r>
            <a:endParaRPr lang="en-US" sz="1000" dirty="0"/>
          </a:p>
          <a:p>
            <a:pPr algn="ctr" indent="0" marL="0">
              <a:buNone/>
            </a:pPr>
            <a:r>
              <a:rPr lang="en-US" sz="1000" b="1" dirty="0">
                <a:solidFill>
                  <a:srgbClr val="171721"/>
                </a:solidFill>
                <a:latin typeface="Calibri" pitchFamily="34" charset="0"/>
                <a:ea typeface="Calibri" pitchFamily="34" charset="-122"/>
                <a:cs typeface="Calibri" pitchFamily="34" charset="-120"/>
              </a:rPr>
              <a:t>Executor</a:t>
            </a:r>
            <a:endParaRPr lang="en-US" sz="1000" dirty="0"/>
          </a:p>
        </p:txBody>
      </p:sp>
      <p:sp>
        <p:nvSpPr>
          <p:cNvPr id="24" name="Shape 22"/>
          <p:cNvSpPr/>
          <p:nvPr/>
        </p:nvSpPr>
        <p:spPr>
          <a:xfrm>
            <a:off x="6638544" y="2514600"/>
            <a:ext cx="877824" cy="731520"/>
          </a:xfrm>
          <a:prstGeom prst="roundRect">
            <a:avLst>
              <a:gd name="adj" fmla="val 7500"/>
            </a:avLst>
          </a:prstGeom>
          <a:solidFill>
            <a:srgbClr val="F2A541"/>
          </a:solidFill>
          <a:ln w="12700">
            <a:solidFill>
              <a:srgbClr val="F2A541"/>
            </a:solidFill>
            <a:prstDash val="solid"/>
          </a:ln>
        </p:spPr>
      </p:sp>
      <p:sp>
        <p:nvSpPr>
          <p:cNvPr id="25" name="Text 23"/>
          <p:cNvSpPr txBox="1"/>
          <p:nvPr/>
        </p:nvSpPr>
        <p:spPr>
          <a:xfrm>
            <a:off x="6638544"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171721"/>
                </a:solidFill>
                <a:latin typeface="Calibri" pitchFamily="34" charset="0"/>
                <a:ea typeface="Calibri" pitchFamily="34" charset="-122"/>
                <a:cs typeface="Calibri" pitchFamily="34" charset="-120"/>
              </a:rPr>
              <a:t>Validation</a:t>
            </a:r>
            <a:endParaRPr lang="en-US" sz="1000" dirty="0"/>
          </a:p>
        </p:txBody>
      </p:sp>
      <p:sp>
        <p:nvSpPr>
          <p:cNvPr id="26" name="Shape 24"/>
          <p:cNvSpPr/>
          <p:nvPr/>
        </p:nvSpPr>
        <p:spPr>
          <a:xfrm>
            <a:off x="7589520" y="2514600"/>
            <a:ext cx="877824" cy="731520"/>
          </a:xfrm>
          <a:prstGeom prst="roundRect">
            <a:avLst>
              <a:gd name="adj" fmla="val 7500"/>
            </a:avLst>
          </a:prstGeom>
          <a:solidFill>
            <a:srgbClr val="2A2340"/>
          </a:solidFill>
          <a:ln w="12700">
            <a:solidFill>
              <a:srgbClr val="3B5A85"/>
            </a:solidFill>
            <a:prstDash val="solid"/>
          </a:ln>
        </p:spPr>
      </p:sp>
      <p:sp>
        <p:nvSpPr>
          <p:cNvPr id="27" name="Text 25"/>
          <p:cNvSpPr txBox="1"/>
          <p:nvPr/>
        </p:nvSpPr>
        <p:spPr>
          <a:xfrm>
            <a:off x="7589520" y="2514600"/>
            <a:ext cx="877824" cy="731520"/>
          </a:xfrm>
          <a:prstGeom prst="rect">
            <a:avLst/>
          </a:prstGeom>
          <a:noFill/>
          <a:ln/>
        </p:spPr>
        <p:txBody>
          <a:bodyPr wrap="square" lIns="38100" tIns="38100" rIns="38100" bIns="3810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Remediate</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&amp; Report</a:t>
            </a:r>
            <a:endParaRPr lang="en-US" sz="1000" dirty="0"/>
          </a:p>
        </p:txBody>
      </p:sp>
      <p:sp>
        <p:nvSpPr>
          <p:cNvPr id="28" name="Text 26"/>
          <p:cNvSpPr txBox="1"/>
          <p:nvPr/>
        </p:nvSpPr>
        <p:spPr>
          <a:xfrm>
            <a:off x="2834640" y="3383280"/>
            <a:ext cx="5669280" cy="365760"/>
          </a:xfrm>
          <a:prstGeom prst="rect">
            <a:avLst/>
          </a:prstGeom>
          <a:noFill/>
          <a:ln/>
        </p:spPr>
        <p:txBody>
          <a:bodyPr wrap="square" lIns="0" tIns="0" rIns="0" bIns="0" rtlCol="0" anchor="ctr"/>
          <a:lstStyle/>
          <a:p>
            <a:pPr algn="ctr" indent="0" marL="0">
              <a:buNone/>
            </a:pPr>
            <a:r>
              <a:rPr lang="en-US" sz="1000" dirty="0">
                <a:solidFill>
                  <a:srgbClr val="B8C7DA"/>
                </a:solidFill>
                <a:latin typeface="Calibri" pitchFamily="34" charset="0"/>
                <a:ea typeface="Calibri" pitchFamily="34" charset="-122"/>
                <a:cs typeface="Calibri" pitchFamily="34" charset="-120"/>
              </a:rPr>
              <a:t>Agent memory &amp; state: Cosmos DB  ·  Tracing: Application Insights</a:t>
            </a:r>
            <a:endParaRPr lang="en-US" sz="1000" dirty="0"/>
          </a:p>
        </p:txBody>
      </p:sp>
      <p:sp>
        <p:nvSpPr>
          <p:cNvPr id="29" name="Text 27"/>
          <p:cNvSpPr txBox="1"/>
          <p:nvPr/>
        </p:nvSpPr>
        <p:spPr>
          <a:xfrm>
            <a:off x="2651760" y="4005072"/>
            <a:ext cx="5486400" cy="237744"/>
          </a:xfrm>
          <a:prstGeom prst="rect">
            <a:avLst/>
          </a:prstGeom>
          <a:noFill/>
          <a:ln/>
        </p:spPr>
        <p:txBody>
          <a:bodyPr wrap="square" lIns="0" tIns="0" rIns="0" bIns="0" rtlCol="0" anchor="ctr"/>
          <a:lstStyle/>
          <a:p>
            <a:pPr indent="0" marL="0">
              <a:buNone/>
            </a:pPr>
            <a:r>
              <a:rPr lang="en-US" sz="950" b="1" spc="150" kern="0" dirty="0">
                <a:solidFill>
                  <a:srgbClr val="5B6B7F"/>
                </a:solidFill>
                <a:latin typeface="Calibri" pitchFamily="34" charset="0"/>
                <a:ea typeface="Calibri" pitchFamily="34" charset="-122"/>
                <a:cs typeface="Calibri" pitchFamily="34" charset="-120"/>
              </a:rPr>
              <a:t>AZURE SERVICES USED AS AGENT TOOLS</a:t>
            </a:r>
            <a:endParaRPr lang="en-US" sz="950" dirty="0"/>
          </a:p>
        </p:txBody>
      </p:sp>
      <p:sp>
        <p:nvSpPr>
          <p:cNvPr id="30" name="Shape 28"/>
          <p:cNvSpPr/>
          <p:nvPr/>
        </p:nvSpPr>
        <p:spPr>
          <a:xfrm>
            <a:off x="3273552" y="3886200"/>
            <a:ext cx="0" cy="384048"/>
          </a:xfrm>
          <a:prstGeom prst="line">
            <a:avLst/>
          </a:prstGeom>
          <a:noFill/>
          <a:ln w="12700">
            <a:solidFill>
              <a:srgbClr val="C9D3DE"/>
            </a:solidFill>
            <a:prstDash val="dash"/>
          </a:ln>
        </p:spPr>
      </p:sp>
      <p:sp>
        <p:nvSpPr>
          <p:cNvPr id="31" name="Shape 29"/>
          <p:cNvSpPr/>
          <p:nvPr/>
        </p:nvSpPr>
        <p:spPr>
          <a:xfrm>
            <a:off x="2834640" y="4270248"/>
            <a:ext cx="877824" cy="914400"/>
          </a:xfrm>
          <a:prstGeom prst="roundRect">
            <a:avLst>
              <a:gd name="adj" fmla="val 6250"/>
            </a:avLst>
          </a:prstGeom>
          <a:solidFill>
            <a:srgbClr val="EFE9FF"/>
          </a:solidFill>
          <a:ln w="12700">
            <a:solidFill>
              <a:srgbClr val="5E2CFE"/>
            </a:solidFill>
            <a:prstDash val="solid"/>
          </a:ln>
        </p:spPr>
      </p:sp>
      <p:sp>
        <p:nvSpPr>
          <p:cNvPr id="32" name="Text 30"/>
          <p:cNvSpPr txBox="1"/>
          <p:nvPr/>
        </p:nvSpPr>
        <p:spPr>
          <a:xfrm>
            <a:off x="2834640"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Resource Graph</a:t>
            </a:r>
            <a:endParaRPr lang="en-US" sz="900" dirty="0"/>
          </a:p>
        </p:txBody>
      </p:sp>
      <p:sp>
        <p:nvSpPr>
          <p:cNvPr id="33" name="Shape 31"/>
          <p:cNvSpPr/>
          <p:nvPr/>
        </p:nvSpPr>
        <p:spPr>
          <a:xfrm>
            <a:off x="4224528" y="3886200"/>
            <a:ext cx="0" cy="384048"/>
          </a:xfrm>
          <a:prstGeom prst="line">
            <a:avLst/>
          </a:prstGeom>
          <a:noFill/>
          <a:ln w="12700">
            <a:solidFill>
              <a:srgbClr val="C9D3DE"/>
            </a:solidFill>
            <a:prstDash val="dash"/>
          </a:ln>
        </p:spPr>
      </p:sp>
      <p:sp>
        <p:nvSpPr>
          <p:cNvPr id="34" name="Shape 32"/>
          <p:cNvSpPr/>
          <p:nvPr/>
        </p:nvSpPr>
        <p:spPr>
          <a:xfrm>
            <a:off x="3785616" y="4270248"/>
            <a:ext cx="877824" cy="914400"/>
          </a:xfrm>
          <a:prstGeom prst="roundRect">
            <a:avLst>
              <a:gd name="adj" fmla="val 6250"/>
            </a:avLst>
          </a:prstGeom>
          <a:solidFill>
            <a:srgbClr val="EFE9FF"/>
          </a:solidFill>
          <a:ln w="12700">
            <a:solidFill>
              <a:srgbClr val="5E2CFE"/>
            </a:solidFill>
            <a:prstDash val="solid"/>
          </a:ln>
        </p:spPr>
      </p:sp>
      <p:sp>
        <p:nvSpPr>
          <p:cNvPr id="35" name="Text 33"/>
          <p:cNvSpPr txBox="1"/>
          <p:nvPr/>
        </p:nvSpPr>
        <p:spPr>
          <a:xfrm>
            <a:off x="3785616"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Policy · BCC · Defender</a:t>
            </a:r>
            <a:endParaRPr lang="en-US" sz="900" dirty="0"/>
          </a:p>
        </p:txBody>
      </p:sp>
      <p:sp>
        <p:nvSpPr>
          <p:cNvPr id="36" name="Shape 34"/>
          <p:cNvSpPr/>
          <p:nvPr/>
        </p:nvSpPr>
        <p:spPr>
          <a:xfrm>
            <a:off x="5175504" y="3886200"/>
            <a:ext cx="0" cy="384048"/>
          </a:xfrm>
          <a:prstGeom prst="line">
            <a:avLst/>
          </a:prstGeom>
          <a:noFill/>
          <a:ln w="12700">
            <a:solidFill>
              <a:srgbClr val="C9D3DE"/>
            </a:solidFill>
            <a:prstDash val="dash"/>
          </a:ln>
        </p:spPr>
      </p:sp>
      <p:sp>
        <p:nvSpPr>
          <p:cNvPr id="37" name="Shape 35"/>
          <p:cNvSpPr/>
          <p:nvPr/>
        </p:nvSpPr>
        <p:spPr>
          <a:xfrm>
            <a:off x="4736592" y="4270248"/>
            <a:ext cx="877824" cy="914400"/>
          </a:xfrm>
          <a:prstGeom prst="roundRect">
            <a:avLst>
              <a:gd name="adj" fmla="val 6250"/>
            </a:avLst>
          </a:prstGeom>
          <a:solidFill>
            <a:srgbClr val="EFE9FF"/>
          </a:solidFill>
          <a:ln w="12700">
            <a:solidFill>
              <a:srgbClr val="5E2CFE"/>
            </a:solidFill>
            <a:prstDash val="solid"/>
          </a:ln>
        </p:spPr>
      </p:sp>
      <p:sp>
        <p:nvSpPr>
          <p:cNvPr id="38" name="Text 36"/>
          <p:cNvSpPr txBox="1"/>
          <p:nvPr/>
        </p:nvSpPr>
        <p:spPr>
          <a:xfrm>
            <a:off x="4736592"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AI Search · Blob · Doc Intel</a:t>
            </a:r>
            <a:endParaRPr lang="en-US" sz="900" dirty="0"/>
          </a:p>
        </p:txBody>
      </p:sp>
      <p:sp>
        <p:nvSpPr>
          <p:cNvPr id="39" name="Shape 37"/>
          <p:cNvSpPr/>
          <p:nvPr/>
        </p:nvSpPr>
        <p:spPr>
          <a:xfrm>
            <a:off x="6126480" y="3886200"/>
            <a:ext cx="0" cy="384048"/>
          </a:xfrm>
          <a:prstGeom prst="line">
            <a:avLst/>
          </a:prstGeom>
          <a:noFill/>
          <a:ln w="12700">
            <a:solidFill>
              <a:srgbClr val="C9D3DE"/>
            </a:solidFill>
            <a:prstDash val="dash"/>
          </a:ln>
        </p:spPr>
      </p:sp>
      <p:sp>
        <p:nvSpPr>
          <p:cNvPr id="40" name="Shape 38"/>
          <p:cNvSpPr/>
          <p:nvPr/>
        </p:nvSpPr>
        <p:spPr>
          <a:xfrm>
            <a:off x="5687568" y="4270248"/>
            <a:ext cx="877824" cy="914400"/>
          </a:xfrm>
          <a:prstGeom prst="roundRect">
            <a:avLst>
              <a:gd name="adj" fmla="val 6250"/>
            </a:avLst>
          </a:prstGeom>
          <a:solidFill>
            <a:srgbClr val="FDF0DB"/>
          </a:solidFill>
          <a:ln w="12700">
            <a:solidFill>
              <a:srgbClr val="F2A541"/>
            </a:solidFill>
            <a:prstDash val="solid"/>
          </a:ln>
        </p:spPr>
      </p:sp>
      <p:sp>
        <p:nvSpPr>
          <p:cNvPr id="41" name="Text 39"/>
          <p:cNvSpPr txBox="1"/>
          <p:nvPr/>
        </p:nvSpPr>
        <p:spPr>
          <a:xfrm>
            <a:off x="5687568"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Site Recovery · Chaos Studio · Automation</a:t>
            </a:r>
            <a:endParaRPr lang="en-US" sz="900" dirty="0"/>
          </a:p>
        </p:txBody>
      </p:sp>
      <p:sp>
        <p:nvSpPr>
          <p:cNvPr id="42" name="Shape 40"/>
          <p:cNvSpPr/>
          <p:nvPr/>
        </p:nvSpPr>
        <p:spPr>
          <a:xfrm>
            <a:off x="7077456" y="3886200"/>
            <a:ext cx="0" cy="384048"/>
          </a:xfrm>
          <a:prstGeom prst="line">
            <a:avLst/>
          </a:prstGeom>
          <a:noFill/>
          <a:ln w="12700">
            <a:solidFill>
              <a:srgbClr val="C9D3DE"/>
            </a:solidFill>
            <a:prstDash val="dash"/>
          </a:ln>
        </p:spPr>
      </p:sp>
      <p:sp>
        <p:nvSpPr>
          <p:cNvPr id="43" name="Shape 41"/>
          <p:cNvSpPr/>
          <p:nvPr/>
        </p:nvSpPr>
        <p:spPr>
          <a:xfrm>
            <a:off x="6638544" y="4270248"/>
            <a:ext cx="877824" cy="914400"/>
          </a:xfrm>
          <a:prstGeom prst="roundRect">
            <a:avLst>
              <a:gd name="adj" fmla="val 6250"/>
            </a:avLst>
          </a:prstGeom>
          <a:solidFill>
            <a:srgbClr val="FDF0DB"/>
          </a:solidFill>
          <a:ln w="12700">
            <a:solidFill>
              <a:srgbClr val="F2A541"/>
            </a:solidFill>
            <a:prstDash val="solid"/>
          </a:ln>
        </p:spPr>
      </p:sp>
      <p:sp>
        <p:nvSpPr>
          <p:cNvPr id="44" name="Text 42"/>
          <p:cNvSpPr txBox="1"/>
          <p:nvPr/>
        </p:nvSpPr>
        <p:spPr>
          <a:xfrm>
            <a:off x="6638544"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Monitor · Log Analytics · Load Testing</a:t>
            </a:r>
            <a:endParaRPr lang="en-US" sz="900" dirty="0"/>
          </a:p>
        </p:txBody>
      </p:sp>
      <p:sp>
        <p:nvSpPr>
          <p:cNvPr id="45" name="Shape 43"/>
          <p:cNvSpPr/>
          <p:nvPr/>
        </p:nvSpPr>
        <p:spPr>
          <a:xfrm>
            <a:off x="8028432" y="3886200"/>
            <a:ext cx="0" cy="384048"/>
          </a:xfrm>
          <a:prstGeom prst="line">
            <a:avLst/>
          </a:prstGeom>
          <a:noFill/>
          <a:ln w="12700">
            <a:solidFill>
              <a:srgbClr val="C9D3DE"/>
            </a:solidFill>
            <a:prstDash val="dash"/>
          </a:ln>
        </p:spPr>
      </p:sp>
      <p:sp>
        <p:nvSpPr>
          <p:cNvPr id="46" name="Shape 44"/>
          <p:cNvSpPr/>
          <p:nvPr/>
        </p:nvSpPr>
        <p:spPr>
          <a:xfrm>
            <a:off x="7589520" y="4270248"/>
            <a:ext cx="877824" cy="914400"/>
          </a:xfrm>
          <a:prstGeom prst="roundRect">
            <a:avLst>
              <a:gd name="adj" fmla="val 6250"/>
            </a:avLst>
          </a:prstGeom>
          <a:solidFill>
            <a:srgbClr val="EFE9FF"/>
          </a:solidFill>
          <a:ln w="12700">
            <a:solidFill>
              <a:srgbClr val="5E2CFE"/>
            </a:solidFill>
            <a:prstDash val="solid"/>
          </a:ln>
        </p:spPr>
      </p:sp>
      <p:sp>
        <p:nvSpPr>
          <p:cNvPr id="47" name="Text 45"/>
          <p:cNvSpPr txBox="1"/>
          <p:nvPr/>
        </p:nvSpPr>
        <p:spPr>
          <a:xfrm>
            <a:off x="7589520" y="4270248"/>
            <a:ext cx="877824" cy="914400"/>
          </a:xfrm>
          <a:prstGeom prst="rect">
            <a:avLst/>
          </a:prstGeom>
          <a:noFill/>
          <a:ln/>
        </p:spPr>
        <p:txBody>
          <a:bodyPr wrap="square" lIns="38100" tIns="38100" rIns="38100" bIns="38100" rtlCol="0" anchor="ctr"/>
          <a:lstStyle/>
          <a:p>
            <a:pPr algn="ctr" indent="0" marL="0">
              <a:buNone/>
            </a:pPr>
            <a:r>
              <a:rPr lang="en-US" sz="900" dirty="0">
                <a:solidFill>
                  <a:srgbClr val="1B2635"/>
                </a:solidFill>
                <a:latin typeface="Calibri" pitchFamily="34" charset="0"/>
                <a:ea typeface="Calibri" pitchFamily="34" charset="-122"/>
                <a:cs typeface="Calibri" pitchFamily="34" charset="-120"/>
              </a:rPr>
              <a:t>DevOps / GitHub · Power BI</a:t>
            </a:r>
            <a:endParaRPr lang="en-US" sz="900" dirty="0"/>
          </a:p>
        </p:txBody>
      </p:sp>
      <p:sp>
        <p:nvSpPr>
          <p:cNvPr id="48" name="Text 46"/>
          <p:cNvSpPr txBox="1"/>
          <p:nvPr/>
        </p:nvSpPr>
        <p:spPr>
          <a:xfrm>
            <a:off x="9098280" y="1481328"/>
            <a:ext cx="2560320" cy="237744"/>
          </a:xfrm>
          <a:prstGeom prst="rect">
            <a:avLst/>
          </a:prstGeom>
          <a:noFill/>
          <a:ln/>
        </p:spPr>
        <p:txBody>
          <a:bodyPr wrap="square" lIns="0" tIns="0" rIns="0" bIns="0" rtlCol="0" anchor="ctr"/>
          <a:lstStyle/>
          <a:p>
            <a:pPr indent="0" marL="0">
              <a:buNone/>
            </a:pPr>
            <a:r>
              <a:rPr lang="en-US" sz="950" b="1" spc="150" kern="0" dirty="0">
                <a:solidFill>
                  <a:srgbClr val="5B6B7F"/>
                </a:solidFill>
                <a:latin typeface="Calibri" pitchFamily="34" charset="0"/>
                <a:ea typeface="Calibri" pitchFamily="34" charset="-122"/>
                <a:cs typeface="Calibri" pitchFamily="34" charset="-120"/>
              </a:rPr>
              <a:t>PEOPLE &amp; OUTPUTS</a:t>
            </a:r>
            <a:endParaRPr lang="en-US" sz="950" dirty="0"/>
          </a:p>
        </p:txBody>
      </p:sp>
      <p:sp>
        <p:nvSpPr>
          <p:cNvPr id="49" name="Shape 47"/>
          <p:cNvSpPr/>
          <p:nvPr/>
        </p:nvSpPr>
        <p:spPr>
          <a:xfrm>
            <a:off x="9098280" y="1783080"/>
            <a:ext cx="2514600" cy="512064"/>
          </a:xfrm>
          <a:prstGeom prst="roundRect">
            <a:avLst>
              <a:gd name="adj" fmla="val 10714"/>
            </a:avLst>
          </a:prstGeom>
          <a:solidFill>
            <a:srgbClr val="F1F5F9"/>
          </a:solidFill>
          <a:ln w="12700">
            <a:solidFill>
              <a:srgbClr val="C9D3DE"/>
            </a:solidFill>
            <a:prstDash val="solid"/>
          </a:ln>
        </p:spPr>
      </p:sp>
      <p:sp>
        <p:nvSpPr>
          <p:cNvPr id="50" name="Text 48"/>
          <p:cNvSpPr txBox="1"/>
          <p:nvPr/>
        </p:nvSpPr>
        <p:spPr>
          <a:xfrm>
            <a:off x="9098280" y="1783080"/>
            <a:ext cx="2514600" cy="512064"/>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Teams approvals  </a:t>
            </a:r>
            <a:pPr algn="ctr" indent="0" marL="0">
              <a:buNone/>
            </a:pPr>
            <a:r>
              <a:rPr lang="en-US" sz="1000" dirty="0">
                <a:solidFill>
                  <a:srgbClr val="5B6B7F"/>
                </a:solidFill>
                <a:latin typeface="Calibri" pitchFamily="34" charset="0"/>
                <a:ea typeface="Calibri" pitchFamily="34" charset="-122"/>
                <a:cs typeface="Calibri" pitchFamily="34" charset="-120"/>
              </a:rPr>
              <a:t>Human-in-the-loop</a:t>
            </a:r>
            <a:endParaRPr lang="en-US" sz="1000" dirty="0"/>
          </a:p>
        </p:txBody>
      </p:sp>
      <p:sp>
        <p:nvSpPr>
          <p:cNvPr id="51" name="Shape 49"/>
          <p:cNvSpPr/>
          <p:nvPr/>
        </p:nvSpPr>
        <p:spPr>
          <a:xfrm>
            <a:off x="9098280" y="2404872"/>
            <a:ext cx="2514600" cy="512064"/>
          </a:xfrm>
          <a:prstGeom prst="roundRect">
            <a:avLst>
              <a:gd name="adj" fmla="val 10714"/>
            </a:avLst>
          </a:prstGeom>
          <a:solidFill>
            <a:srgbClr val="F1F5F9"/>
          </a:solidFill>
          <a:ln w="12700">
            <a:solidFill>
              <a:srgbClr val="C9D3DE"/>
            </a:solidFill>
            <a:prstDash val="solid"/>
          </a:ln>
        </p:spPr>
      </p:sp>
      <p:sp>
        <p:nvSpPr>
          <p:cNvPr id="52" name="Text 50"/>
          <p:cNvSpPr txBox="1"/>
          <p:nvPr/>
        </p:nvSpPr>
        <p:spPr>
          <a:xfrm>
            <a:off x="9098280" y="2404872"/>
            <a:ext cx="2514600" cy="512064"/>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Power BI  </a:t>
            </a:r>
            <a:pPr algn="ctr" indent="0" marL="0">
              <a:buNone/>
            </a:pPr>
            <a:r>
              <a:rPr lang="en-US" sz="1000" dirty="0">
                <a:solidFill>
                  <a:srgbClr val="5B6B7F"/>
                </a:solidFill>
                <a:latin typeface="Calibri" pitchFamily="34" charset="0"/>
                <a:ea typeface="Calibri" pitchFamily="34" charset="-122"/>
                <a:cs typeface="Calibri" pitchFamily="34" charset="-120"/>
              </a:rPr>
              <a:t>Resilience score</a:t>
            </a:r>
            <a:endParaRPr lang="en-US" sz="1000" dirty="0"/>
          </a:p>
        </p:txBody>
      </p:sp>
      <p:sp>
        <p:nvSpPr>
          <p:cNvPr id="53" name="Shape 51"/>
          <p:cNvSpPr/>
          <p:nvPr/>
        </p:nvSpPr>
        <p:spPr>
          <a:xfrm>
            <a:off x="9098280" y="3026664"/>
            <a:ext cx="2514600" cy="512064"/>
          </a:xfrm>
          <a:prstGeom prst="roundRect">
            <a:avLst>
              <a:gd name="adj" fmla="val 10714"/>
            </a:avLst>
          </a:prstGeom>
          <a:solidFill>
            <a:srgbClr val="F1F5F9"/>
          </a:solidFill>
          <a:ln w="12700">
            <a:solidFill>
              <a:srgbClr val="C9D3DE"/>
            </a:solidFill>
            <a:prstDash val="solid"/>
          </a:ln>
        </p:spPr>
      </p:sp>
      <p:sp>
        <p:nvSpPr>
          <p:cNvPr id="54" name="Text 52"/>
          <p:cNvSpPr txBox="1"/>
          <p:nvPr/>
        </p:nvSpPr>
        <p:spPr>
          <a:xfrm>
            <a:off x="9098280" y="3026664"/>
            <a:ext cx="2514600" cy="512064"/>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Bicep / Terraform PRs  </a:t>
            </a:r>
            <a:pPr algn="ctr" indent="0" marL="0">
              <a:buNone/>
            </a:pPr>
            <a:r>
              <a:rPr lang="en-US" sz="1000" dirty="0">
                <a:solidFill>
                  <a:srgbClr val="5B6B7F"/>
                </a:solidFill>
                <a:latin typeface="Calibri" pitchFamily="34" charset="0"/>
                <a:ea typeface="Calibri" pitchFamily="34" charset="-122"/>
                <a:cs typeface="Calibri" pitchFamily="34" charset="-120"/>
              </a:rPr>
              <a:t>Gap fixes</a:t>
            </a:r>
            <a:endParaRPr lang="en-US" sz="1000" dirty="0"/>
          </a:p>
        </p:txBody>
      </p:sp>
      <p:sp>
        <p:nvSpPr>
          <p:cNvPr id="55" name="Shape 53"/>
          <p:cNvSpPr/>
          <p:nvPr/>
        </p:nvSpPr>
        <p:spPr>
          <a:xfrm>
            <a:off x="9098280" y="3648456"/>
            <a:ext cx="2514600" cy="512064"/>
          </a:xfrm>
          <a:prstGeom prst="roundRect">
            <a:avLst>
              <a:gd name="adj" fmla="val 10714"/>
            </a:avLst>
          </a:prstGeom>
          <a:solidFill>
            <a:srgbClr val="F1F5F9"/>
          </a:solidFill>
          <a:ln w="12700">
            <a:solidFill>
              <a:srgbClr val="C9D3DE"/>
            </a:solidFill>
            <a:prstDash val="solid"/>
          </a:ln>
        </p:spPr>
      </p:sp>
      <p:sp>
        <p:nvSpPr>
          <p:cNvPr id="56" name="Text 54"/>
          <p:cNvSpPr txBox="1"/>
          <p:nvPr/>
        </p:nvSpPr>
        <p:spPr>
          <a:xfrm>
            <a:off x="9098280" y="3648456"/>
            <a:ext cx="2514600" cy="512064"/>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Evidence pack  </a:t>
            </a:r>
            <a:pPr algn="ctr" indent="0" marL="0">
              <a:buNone/>
            </a:pPr>
            <a:r>
              <a:rPr lang="en-US" sz="1000" dirty="0">
                <a:solidFill>
                  <a:srgbClr val="5B6B7F"/>
                </a:solidFill>
                <a:latin typeface="Calibri" pitchFamily="34" charset="0"/>
                <a:ea typeface="Calibri" pitchFamily="34" charset="-122"/>
                <a:cs typeface="Calibri" pitchFamily="34" charset="-120"/>
              </a:rPr>
              <a:t>Audit-ready report</a:t>
            </a:r>
            <a:endParaRPr lang="en-US" sz="1000" dirty="0"/>
          </a:p>
        </p:txBody>
      </p:sp>
      <p:sp>
        <p:nvSpPr>
          <p:cNvPr id="57" name="Shape 55"/>
          <p:cNvSpPr/>
          <p:nvPr/>
        </p:nvSpPr>
        <p:spPr>
          <a:xfrm>
            <a:off x="8686800" y="2697480"/>
            <a:ext cx="411480" cy="0"/>
          </a:xfrm>
          <a:prstGeom prst="line">
            <a:avLst/>
          </a:prstGeom>
          <a:noFill/>
          <a:ln w="19050">
            <a:solidFill>
              <a:srgbClr val="171721"/>
            </a:solidFill>
            <a:prstDash val="solid"/>
            <a:headEnd type="triangle"/>
            <a:tailEnd type="triangle"/>
          </a:ln>
        </p:spPr>
      </p:sp>
      <p:sp>
        <p:nvSpPr>
          <p:cNvPr id="58" name="Text 56"/>
          <p:cNvSpPr txBox="1"/>
          <p:nvPr/>
        </p:nvSpPr>
        <p:spPr>
          <a:xfrm>
            <a:off x="2651760" y="5321808"/>
            <a:ext cx="3657600" cy="237744"/>
          </a:xfrm>
          <a:prstGeom prst="rect">
            <a:avLst/>
          </a:prstGeom>
          <a:noFill/>
          <a:ln/>
        </p:spPr>
        <p:txBody>
          <a:bodyPr wrap="square" lIns="0" tIns="0" rIns="0" bIns="0" rtlCol="0" anchor="ctr"/>
          <a:lstStyle/>
          <a:p>
            <a:pPr indent="0" marL="0">
              <a:buNone/>
            </a:pPr>
            <a:r>
              <a:rPr lang="en-US" sz="950" b="1" spc="150" kern="0" dirty="0">
                <a:solidFill>
                  <a:srgbClr val="5B6B7F"/>
                </a:solidFill>
                <a:latin typeface="Calibri" pitchFamily="34" charset="0"/>
                <a:ea typeface="Calibri" pitchFamily="34" charset="-122"/>
                <a:cs typeface="Calibri" pitchFamily="34" charset="-120"/>
              </a:rPr>
              <a:t>WORKLOAD UNDER TEST</a:t>
            </a:r>
            <a:endParaRPr lang="en-US" sz="950" dirty="0"/>
          </a:p>
        </p:txBody>
      </p:sp>
      <p:sp>
        <p:nvSpPr>
          <p:cNvPr id="59" name="Shape 57"/>
          <p:cNvSpPr/>
          <p:nvPr/>
        </p:nvSpPr>
        <p:spPr>
          <a:xfrm>
            <a:off x="2834640" y="5596128"/>
            <a:ext cx="2514600" cy="777240"/>
          </a:xfrm>
          <a:prstGeom prst="roundRect">
            <a:avLst>
              <a:gd name="adj" fmla="val 7059"/>
            </a:avLst>
          </a:prstGeom>
          <a:solidFill>
            <a:srgbClr val="FFFFFF"/>
          </a:solidFill>
          <a:ln w="12700">
            <a:solidFill>
              <a:srgbClr val="171721"/>
            </a:solidFill>
            <a:prstDash val="solid"/>
          </a:ln>
        </p:spPr>
      </p:sp>
      <p:sp>
        <p:nvSpPr>
          <p:cNvPr id="60" name="Text 58"/>
          <p:cNvSpPr txBox="1"/>
          <p:nvPr/>
        </p:nvSpPr>
        <p:spPr>
          <a:xfrm>
            <a:off x="2834640" y="5596128"/>
            <a:ext cx="2514600" cy="777240"/>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Region A · Primary</a:t>
            </a:r>
            <a:endParaRPr lang="en-US" sz="1000" dirty="0"/>
          </a:p>
          <a:p>
            <a:pPr algn="ctr" indent="0" marL="0">
              <a:buNone/>
            </a:pPr>
            <a:r>
              <a:rPr lang="en-US" sz="900" dirty="0">
                <a:solidFill>
                  <a:srgbClr val="5B6B7F"/>
                </a:solidFill>
                <a:latin typeface="Calibri" pitchFamily="34" charset="0"/>
                <a:ea typeface="Calibri" pitchFamily="34" charset="-122"/>
                <a:cs typeface="Calibri" pitchFamily="34" charset="-120"/>
              </a:rPr>
              <a:t>Front Door · App Service · SQL · Storage · Key Vault</a:t>
            </a:r>
            <a:endParaRPr lang="en-US" sz="1000" dirty="0"/>
          </a:p>
        </p:txBody>
      </p:sp>
      <p:sp>
        <p:nvSpPr>
          <p:cNvPr id="61" name="Shape 59"/>
          <p:cNvSpPr/>
          <p:nvPr/>
        </p:nvSpPr>
        <p:spPr>
          <a:xfrm>
            <a:off x="5989320" y="5596128"/>
            <a:ext cx="2514600" cy="777240"/>
          </a:xfrm>
          <a:prstGeom prst="roundRect">
            <a:avLst>
              <a:gd name="adj" fmla="val 7059"/>
            </a:avLst>
          </a:prstGeom>
          <a:solidFill>
            <a:srgbClr val="FFFFFF"/>
          </a:solidFill>
          <a:ln w="12700">
            <a:solidFill>
              <a:srgbClr val="171721"/>
            </a:solidFill>
            <a:prstDash val="solid"/>
          </a:ln>
        </p:spPr>
      </p:sp>
      <p:sp>
        <p:nvSpPr>
          <p:cNvPr id="62" name="Text 60"/>
          <p:cNvSpPr txBox="1"/>
          <p:nvPr/>
        </p:nvSpPr>
        <p:spPr>
          <a:xfrm>
            <a:off x="5989320" y="5596128"/>
            <a:ext cx="2514600" cy="777240"/>
          </a:xfrm>
          <a:prstGeom prst="rect">
            <a:avLst/>
          </a:prstGeom>
          <a:noFill/>
          <a:ln/>
        </p:spPr>
        <p:txBody>
          <a:bodyPr wrap="square" lIns="38100" tIns="38100" rIns="38100" bIns="38100" rtlCol="0" anchor="ctr"/>
          <a:lstStyle/>
          <a:p>
            <a:pPr algn="ctr" indent="0" marL="0">
              <a:buNone/>
            </a:pPr>
            <a:r>
              <a:rPr lang="en-US" sz="1000" b="1" dirty="0">
                <a:solidFill>
                  <a:srgbClr val="1B2635"/>
                </a:solidFill>
                <a:latin typeface="Calibri" pitchFamily="34" charset="0"/>
                <a:ea typeface="Calibri" pitchFamily="34" charset="-122"/>
                <a:cs typeface="Calibri" pitchFamily="34" charset="-120"/>
              </a:rPr>
              <a:t>Region B · Secondary</a:t>
            </a:r>
            <a:endParaRPr lang="en-US" sz="1000" dirty="0"/>
          </a:p>
          <a:p>
            <a:pPr algn="ctr" indent="0" marL="0">
              <a:buNone/>
            </a:pPr>
            <a:r>
              <a:rPr lang="en-US" sz="900" dirty="0">
                <a:solidFill>
                  <a:srgbClr val="5B6B7F"/>
                </a:solidFill>
                <a:latin typeface="Calibri" pitchFamily="34" charset="0"/>
                <a:ea typeface="Calibri" pitchFamily="34" charset="-122"/>
                <a:cs typeface="Calibri" pitchFamily="34" charset="-120"/>
              </a:rPr>
              <a:t>Replicas · Failover group · GZRS · Isolated test VNet</a:t>
            </a:r>
            <a:endParaRPr lang="en-US" sz="1000" dirty="0"/>
          </a:p>
        </p:txBody>
      </p:sp>
      <p:sp>
        <p:nvSpPr>
          <p:cNvPr id="63" name="Shape 61"/>
          <p:cNvSpPr/>
          <p:nvPr/>
        </p:nvSpPr>
        <p:spPr>
          <a:xfrm>
            <a:off x="5349240" y="5989320"/>
            <a:ext cx="640080" cy="0"/>
          </a:xfrm>
          <a:prstGeom prst="line">
            <a:avLst/>
          </a:prstGeom>
          <a:noFill/>
          <a:ln w="25400">
            <a:solidFill>
              <a:srgbClr val="F2A541"/>
            </a:solidFill>
            <a:prstDash val="solid"/>
            <a:headEnd type="triangle"/>
            <a:tailEnd type="triangle"/>
          </a:ln>
        </p:spPr>
      </p:sp>
      <p:sp>
        <p:nvSpPr>
          <p:cNvPr id="64" name="Text 62"/>
          <p:cNvSpPr txBox="1"/>
          <p:nvPr/>
        </p:nvSpPr>
        <p:spPr>
          <a:xfrm>
            <a:off x="5349240" y="6053328"/>
            <a:ext cx="640080" cy="320040"/>
          </a:xfrm>
          <a:prstGeom prst="rect">
            <a:avLst/>
          </a:prstGeom>
          <a:noFill/>
          <a:ln/>
        </p:spPr>
        <p:txBody>
          <a:bodyPr wrap="square" lIns="0" tIns="0" rIns="0" bIns="0" rtlCol="0" anchor="ctr"/>
          <a:lstStyle/>
          <a:p>
            <a:pPr algn="ctr" indent="0" marL="0">
              <a:buNone/>
            </a:pPr>
            <a:r>
              <a:rPr lang="en-US" sz="800" b="1" dirty="0">
                <a:solidFill>
                  <a:srgbClr val="F2A541"/>
                </a:solidFill>
                <a:latin typeface="Calibri" pitchFamily="34" charset="0"/>
                <a:ea typeface="Calibri" pitchFamily="34" charset="-122"/>
                <a:cs typeface="Calibri" pitchFamily="34" charset="-120"/>
              </a:rPr>
              <a:t>failover</a:t>
            </a:r>
            <a:endParaRPr lang="en-US" sz="800" dirty="0"/>
          </a:p>
          <a:p>
            <a:pPr algn="ctr" indent="0" marL="0">
              <a:buNone/>
            </a:pPr>
            <a:r>
              <a:rPr lang="en-US" sz="800" b="1" dirty="0">
                <a:solidFill>
                  <a:srgbClr val="F2A541"/>
                </a:solidFill>
                <a:latin typeface="Calibri" pitchFamily="34" charset="0"/>
                <a:ea typeface="Calibri" pitchFamily="34" charset="-122"/>
                <a:cs typeface="Calibri" pitchFamily="34" charset="-120"/>
              </a:rPr>
              <a:t>failback</a:t>
            </a:r>
            <a:endParaRPr lang="en-US" sz="800" dirty="0"/>
          </a:p>
        </p:txBody>
      </p:sp>
      <p:sp>
        <p:nvSpPr>
          <p:cNvPr id="65" name="Shape 63"/>
          <p:cNvSpPr/>
          <p:nvPr/>
        </p:nvSpPr>
        <p:spPr>
          <a:xfrm>
            <a:off x="5669280" y="5184648"/>
            <a:ext cx="0" cy="457200"/>
          </a:xfrm>
          <a:prstGeom prst="line">
            <a:avLst/>
          </a:prstGeom>
          <a:noFill/>
          <a:ln w="25400">
            <a:solidFill>
              <a:srgbClr val="F2A541"/>
            </a:solidFill>
            <a:prstDash val="solid"/>
            <a:tailEnd type="triangle"/>
          </a:ln>
        </p:spPr>
      </p:sp>
      <p:sp>
        <p:nvSpPr>
          <p:cNvPr id="66" name="Shape 64"/>
          <p:cNvSpPr/>
          <p:nvPr/>
        </p:nvSpPr>
        <p:spPr>
          <a:xfrm>
            <a:off x="9098280" y="4343400"/>
            <a:ext cx="2514600" cy="2029968"/>
          </a:xfrm>
          <a:prstGeom prst="roundRect">
            <a:avLst>
              <a:gd name="adj" fmla="val 3604"/>
            </a:avLst>
          </a:prstGeom>
          <a:solidFill>
            <a:srgbClr val="171721"/>
          </a:solidFill>
          <a:ln w="12700">
            <a:solidFill>
              <a:srgbClr val="171721"/>
            </a:solidFill>
            <a:prstDash val="solid"/>
          </a:ln>
        </p:spPr>
      </p:sp>
      <p:sp>
        <p:nvSpPr>
          <p:cNvPr id="67" name="Shape 65"/>
          <p:cNvSpPr/>
          <p:nvPr/>
        </p:nvSpPr>
        <p:spPr>
          <a:xfrm>
            <a:off x="9235440" y="4462272"/>
            <a:ext cx="411480" cy="411480"/>
          </a:xfrm>
          <a:prstGeom prst="ellipse">
            <a:avLst/>
          </a:prstGeom>
          <a:solidFill>
            <a:srgbClr val="5E2CFE"/>
          </a:solidFill>
          <a:ln w="12700">
            <a:solidFill>
              <a:srgbClr val="5E2CFE"/>
            </a:solidFill>
            <a:prstDash val="solid"/>
          </a:ln>
        </p:spPr>
      </p:sp>
      <p:pic>
        <p:nvPicPr>
          <p:cNvPr id="68" name="Image 0" descr="preencoded.png">    </p:cNvPr>
          <p:cNvPicPr>
            <a:picLocks noChangeAspect="1"/>
          </p:cNvPicPr>
          <p:nvPr/>
        </p:nvPicPr>
        <p:blipFill>
          <a:blip r:embed="rId1"/>
          <a:stretch>
            <a:fillRect/>
          </a:stretch>
        </p:blipFill>
        <p:spPr>
          <a:xfrm>
            <a:off x="9338310" y="4565142"/>
            <a:ext cx="205740" cy="205740"/>
          </a:xfrm>
          <a:prstGeom prst="rect">
            <a:avLst/>
          </a:prstGeom>
        </p:spPr>
      </p:pic>
      <p:sp>
        <p:nvSpPr>
          <p:cNvPr id="69" name="Text 66"/>
          <p:cNvSpPr txBox="1"/>
          <p:nvPr/>
        </p:nvSpPr>
        <p:spPr>
          <a:xfrm>
            <a:off x="9710928" y="4462272"/>
            <a:ext cx="182880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Security &amp; governance</a:t>
            </a:r>
            <a:endParaRPr lang="en-US" sz="1150" dirty="0"/>
          </a:p>
        </p:txBody>
      </p:sp>
      <p:sp>
        <p:nvSpPr>
          <p:cNvPr id="70" name="Text 67"/>
          <p:cNvSpPr txBox="1"/>
          <p:nvPr/>
        </p:nvSpPr>
        <p:spPr>
          <a:xfrm>
            <a:off x="9235440" y="4937760"/>
            <a:ext cx="2286000" cy="137160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DCE6F2"/>
                </a:solidFill>
                <a:latin typeface="Calibri" pitchFamily="34" charset="0"/>
                <a:ea typeface="Calibri" pitchFamily="34" charset="-122"/>
                <a:cs typeface="Calibri" pitchFamily="34" charset="-120"/>
              </a:rPr>
              <a:t>Managed Identity per agent</a:t>
            </a:r>
            <a:endParaRPr lang="en-US" sz="1000" dirty="0"/>
          </a:p>
          <a:p>
            <a:pPr marL="342900" indent="-342900">
              <a:spcAft>
                <a:spcPts val="200"/>
              </a:spcAft>
              <a:buSzPct val="100000"/>
              <a:buChar char="•"/>
            </a:pPr>
            <a:r>
              <a:rPr lang="en-US" sz="1000" dirty="0">
                <a:solidFill>
                  <a:srgbClr val="DCE6F2"/>
                </a:solidFill>
                <a:latin typeface="Calibri" pitchFamily="34" charset="0"/>
                <a:ea typeface="Calibri" pitchFamily="34" charset="-122"/>
                <a:cs typeface="Calibri" pitchFamily="34" charset="-120"/>
              </a:rPr>
              <a:t>RBAC + Entra PIM (JIT)</a:t>
            </a:r>
            <a:endParaRPr lang="en-US" sz="1000" dirty="0"/>
          </a:p>
          <a:p>
            <a:pPr marL="342900" indent="-342900">
              <a:spcAft>
                <a:spcPts val="200"/>
              </a:spcAft>
              <a:buSzPct val="100000"/>
              <a:buChar char="•"/>
            </a:pPr>
            <a:r>
              <a:rPr lang="en-US" sz="1000" dirty="0">
                <a:solidFill>
                  <a:srgbClr val="DCE6F2"/>
                </a:solidFill>
                <a:latin typeface="Calibri" pitchFamily="34" charset="0"/>
                <a:ea typeface="Calibri" pitchFamily="34" charset="-122"/>
                <a:cs typeface="Calibri" pitchFamily="34" charset="-120"/>
              </a:rPr>
              <a:t>Key Vault for secrets</a:t>
            </a:r>
            <a:endParaRPr lang="en-US" sz="1000" dirty="0"/>
          </a:p>
          <a:p>
            <a:pPr marL="342900" indent="-342900">
              <a:spcAft>
                <a:spcPts val="200"/>
              </a:spcAft>
              <a:buSzPct val="100000"/>
              <a:buChar char="•"/>
            </a:pPr>
            <a:r>
              <a:rPr lang="en-US" sz="1000" dirty="0">
                <a:solidFill>
                  <a:srgbClr val="DCE6F2"/>
                </a:solidFill>
                <a:latin typeface="Calibri" pitchFamily="34" charset="0"/>
                <a:ea typeface="Calibri" pitchFamily="34" charset="-122"/>
                <a:cs typeface="Calibri" pitchFamily="34" charset="-120"/>
              </a:rPr>
              <a:t>AI Content Safety</a:t>
            </a:r>
            <a:endParaRPr lang="en-US" sz="1000" dirty="0"/>
          </a:p>
          <a:p>
            <a:pPr marL="342900" indent="-342900">
              <a:spcAft>
                <a:spcPts val="200"/>
              </a:spcAft>
              <a:buSzPct val="100000"/>
              <a:buChar char="•"/>
            </a:pPr>
            <a:r>
              <a:rPr lang="en-US" sz="1000" dirty="0">
                <a:solidFill>
                  <a:srgbClr val="DCE6F2"/>
                </a:solidFill>
                <a:latin typeface="Calibri" pitchFamily="34" charset="0"/>
                <a:ea typeface="Calibri" pitchFamily="34" charset="-122"/>
                <a:cs typeface="Calibri" pitchFamily="34" charset="-120"/>
              </a:rPr>
              <a:t>Kill switch + auto-rollback</a:t>
            </a:r>
            <a:endParaRPr lang="en-US" sz="1000" dirty="0"/>
          </a:p>
        </p:txBody>
      </p:sp>
      <p:sp>
        <p:nvSpPr>
          <p:cNvPr id="71" name="Text 68"/>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Autonomy with guardrails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Safe enough for BFSI and healthcare: the riskier the action, the stronger the control.</a:t>
            </a:r>
            <a:endParaRPr lang="en-US" sz="1500" dirty="0"/>
          </a:p>
        </p:txBody>
      </p:sp>
      <p:sp>
        <p:nvSpPr>
          <p:cNvPr id="4" name="Text 2"/>
          <p:cNvSpPr txBox="1"/>
          <p:nvPr/>
        </p:nvSpPr>
        <p:spPr>
          <a:xfrm>
            <a:off x="548640" y="1600200"/>
            <a:ext cx="4572000" cy="274320"/>
          </a:xfrm>
          <a:prstGeom prst="rect">
            <a:avLst/>
          </a:prstGeom>
          <a:noFill/>
          <a:ln/>
        </p:spPr>
        <p:txBody>
          <a:bodyPr wrap="square" lIns="0" tIns="0" rIns="0" bIns="0" rtlCol="0" anchor="ctr"/>
          <a:lstStyle/>
          <a:p>
            <a:pPr indent="0" marL="0">
              <a:buNone/>
            </a:pPr>
            <a:r>
              <a:rPr lang="en-US" sz="1000" b="1" spc="200" kern="0" dirty="0">
                <a:solidFill>
                  <a:srgbClr val="5B6B7F"/>
                </a:solidFill>
                <a:latin typeface="Calibri" pitchFamily="34" charset="0"/>
                <a:ea typeface="Calibri" pitchFamily="34" charset="-122"/>
                <a:cs typeface="Calibri" pitchFamily="34" charset="-120"/>
              </a:rPr>
              <a:t>AUTONOMY LADDER</a:t>
            </a:r>
            <a:endParaRPr lang="en-US" sz="1000" dirty="0"/>
          </a:p>
        </p:txBody>
      </p:sp>
      <p:sp>
        <p:nvSpPr>
          <p:cNvPr id="5" name="Shape 3"/>
          <p:cNvSpPr/>
          <p:nvPr/>
        </p:nvSpPr>
        <p:spPr>
          <a:xfrm>
            <a:off x="548640" y="4846320"/>
            <a:ext cx="3657600" cy="777240"/>
          </a:xfrm>
          <a:prstGeom prst="roundRect">
            <a:avLst>
              <a:gd name="adj" fmla="val 9412"/>
            </a:avLst>
          </a:prstGeom>
          <a:solidFill>
            <a:srgbClr val="5E2CFE"/>
          </a:solidFill>
          <a:ln w="12700">
            <a:solidFill>
              <a:srgbClr val="5E2CFE"/>
            </a:solidFill>
            <a:prstDash val="solid"/>
          </a:ln>
        </p:spPr>
      </p:sp>
      <p:sp>
        <p:nvSpPr>
          <p:cNvPr id="6" name="Text 4"/>
          <p:cNvSpPr txBox="1"/>
          <p:nvPr/>
        </p:nvSpPr>
        <p:spPr>
          <a:xfrm>
            <a:off x="777240" y="4846320"/>
            <a:ext cx="3291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Read-only discovery &amp; assessment</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Fully autonomous</a:t>
            </a:r>
            <a:endParaRPr lang="en-US" sz="1400" dirty="0"/>
          </a:p>
        </p:txBody>
      </p:sp>
      <p:sp>
        <p:nvSpPr>
          <p:cNvPr id="7" name="Shape 5"/>
          <p:cNvSpPr/>
          <p:nvPr/>
        </p:nvSpPr>
        <p:spPr>
          <a:xfrm>
            <a:off x="548640" y="3886200"/>
            <a:ext cx="4206240" cy="777240"/>
          </a:xfrm>
          <a:prstGeom prst="roundRect">
            <a:avLst>
              <a:gd name="adj" fmla="val 9412"/>
            </a:avLst>
          </a:prstGeom>
          <a:solidFill>
            <a:srgbClr val="5E2CFE"/>
          </a:solidFill>
          <a:ln w="12700">
            <a:solidFill>
              <a:srgbClr val="5E2CFE"/>
            </a:solidFill>
            <a:prstDash val="solid"/>
          </a:ln>
        </p:spPr>
      </p:sp>
      <p:sp>
        <p:nvSpPr>
          <p:cNvPr id="8" name="Text 6"/>
          <p:cNvSpPr txBox="1"/>
          <p:nvPr/>
        </p:nvSpPr>
        <p:spPr>
          <a:xfrm>
            <a:off x="777240" y="3886200"/>
            <a:ext cx="384048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Isolated test failover (no user impact)</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Autonomous, pre-approved policy</a:t>
            </a:r>
            <a:endParaRPr lang="en-US" sz="1400" dirty="0"/>
          </a:p>
        </p:txBody>
      </p:sp>
      <p:sp>
        <p:nvSpPr>
          <p:cNvPr id="9" name="Shape 7"/>
          <p:cNvSpPr/>
          <p:nvPr/>
        </p:nvSpPr>
        <p:spPr>
          <a:xfrm>
            <a:off x="548640" y="2926080"/>
            <a:ext cx="4754880" cy="777240"/>
          </a:xfrm>
          <a:prstGeom prst="roundRect">
            <a:avLst>
              <a:gd name="adj" fmla="val 9412"/>
            </a:avLst>
          </a:prstGeom>
          <a:solidFill>
            <a:srgbClr val="171721"/>
          </a:solidFill>
          <a:ln w="12700">
            <a:solidFill>
              <a:srgbClr val="171721"/>
            </a:solidFill>
            <a:prstDash val="solid"/>
          </a:ln>
        </p:spPr>
      </p:sp>
      <p:sp>
        <p:nvSpPr>
          <p:cNvPr id="10" name="Text 8"/>
          <p:cNvSpPr txBox="1"/>
          <p:nvPr/>
        </p:nvSpPr>
        <p:spPr>
          <a:xfrm>
            <a:off x="777240" y="2926080"/>
            <a:ext cx="438912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Full drill in non-prod</a:t>
            </a:r>
            <a:endParaRPr lang="en-US" sz="1400" dirty="0"/>
          </a:p>
          <a:p>
            <a:pPr indent="0" marL="0">
              <a:buNone/>
            </a:pPr>
            <a:r>
              <a:rPr lang="en-US" sz="1150" dirty="0">
                <a:solidFill>
                  <a:srgbClr val="FFFFFF"/>
                </a:solidFill>
                <a:latin typeface="Calibri" pitchFamily="34" charset="0"/>
                <a:ea typeface="Calibri" pitchFamily="34" charset="-122"/>
                <a:cs typeface="Calibri" pitchFamily="34" charset="-120"/>
              </a:rPr>
              <a:t>Approval in Teams</a:t>
            </a:r>
            <a:endParaRPr lang="en-US" sz="1400" dirty="0"/>
          </a:p>
        </p:txBody>
      </p:sp>
      <p:sp>
        <p:nvSpPr>
          <p:cNvPr id="11" name="Shape 9"/>
          <p:cNvSpPr/>
          <p:nvPr/>
        </p:nvSpPr>
        <p:spPr>
          <a:xfrm>
            <a:off x="548640" y="1965960"/>
            <a:ext cx="5303520" cy="777240"/>
          </a:xfrm>
          <a:prstGeom prst="roundRect">
            <a:avLst>
              <a:gd name="adj" fmla="val 9412"/>
            </a:avLst>
          </a:prstGeom>
          <a:solidFill>
            <a:srgbClr val="F2A541"/>
          </a:solidFill>
          <a:ln w="12700">
            <a:solidFill>
              <a:srgbClr val="F2A541"/>
            </a:solidFill>
            <a:prstDash val="solid"/>
          </a:ln>
        </p:spPr>
      </p:sp>
      <p:sp>
        <p:nvSpPr>
          <p:cNvPr id="12" name="Text 10"/>
          <p:cNvSpPr txBox="1"/>
          <p:nvPr/>
        </p:nvSpPr>
        <p:spPr>
          <a:xfrm>
            <a:off x="777240" y="1965960"/>
            <a:ext cx="4937760" cy="777240"/>
          </a:xfrm>
          <a:prstGeom prst="rect">
            <a:avLst/>
          </a:prstGeom>
          <a:noFill/>
          <a:ln/>
        </p:spPr>
        <p:txBody>
          <a:bodyPr wrap="square" lIns="0" tIns="0" rIns="0" bIns="0" rtlCol="0" anchor="ctr"/>
          <a:lstStyle/>
          <a:p>
            <a:pPr indent="0" marL="0">
              <a:buNone/>
            </a:pPr>
            <a:r>
              <a:rPr lang="en-US" sz="1400" b="1" dirty="0">
                <a:solidFill>
                  <a:srgbClr val="171721"/>
                </a:solidFill>
                <a:latin typeface="Calibri" pitchFamily="34" charset="0"/>
                <a:ea typeface="Calibri" pitchFamily="34" charset="-122"/>
                <a:cs typeface="Calibri" pitchFamily="34" charset="-120"/>
              </a:rPr>
              <a:t>Production game day</a:t>
            </a:r>
            <a:endParaRPr lang="en-US" sz="1400" dirty="0"/>
          </a:p>
          <a:p>
            <a:pPr indent="0" marL="0">
              <a:buNone/>
            </a:pPr>
            <a:r>
              <a:rPr lang="en-US" sz="1150" dirty="0">
                <a:solidFill>
                  <a:srgbClr val="171721"/>
                </a:solidFill>
                <a:latin typeface="Calibri" pitchFamily="34" charset="0"/>
                <a:ea typeface="Calibri" pitchFamily="34" charset="-122"/>
                <a:cs typeface="Calibri" pitchFamily="34" charset="-120"/>
              </a:rPr>
              <a:t>Approval + kill switch + auto-rollback</a:t>
            </a:r>
            <a:endParaRPr lang="en-US" sz="1400" dirty="0"/>
          </a:p>
        </p:txBody>
      </p:sp>
      <p:sp>
        <p:nvSpPr>
          <p:cNvPr id="13" name="Shape 11"/>
          <p:cNvSpPr/>
          <p:nvPr/>
        </p:nvSpPr>
        <p:spPr>
          <a:xfrm>
            <a:off x="6583680" y="1645920"/>
            <a:ext cx="640080" cy="640080"/>
          </a:xfrm>
          <a:prstGeom prst="ellipse">
            <a:avLst/>
          </a:prstGeom>
          <a:solidFill>
            <a:srgbClr val="171721"/>
          </a:solidFill>
          <a:ln w="12700">
            <a:solidFill>
              <a:srgbClr val="171721"/>
            </a:solidFill>
            <a:prstDash val="solid"/>
          </a:ln>
        </p:spPr>
      </p:sp>
      <p:pic>
        <p:nvPicPr>
          <p:cNvPr id="14" name="Image 0" descr="preencoded.png">    </p:cNvPr>
          <p:cNvPicPr>
            <a:picLocks noChangeAspect="1"/>
          </p:cNvPicPr>
          <p:nvPr/>
        </p:nvPicPr>
        <p:blipFill>
          <a:blip r:embed="rId1"/>
          <a:stretch>
            <a:fillRect/>
          </a:stretch>
        </p:blipFill>
        <p:spPr>
          <a:xfrm>
            <a:off x="6743700" y="1805940"/>
            <a:ext cx="320040" cy="320040"/>
          </a:xfrm>
          <a:prstGeom prst="rect">
            <a:avLst/>
          </a:prstGeom>
        </p:spPr>
      </p:pic>
      <p:sp>
        <p:nvSpPr>
          <p:cNvPr id="15" name="Text 12"/>
          <p:cNvSpPr txBox="1"/>
          <p:nvPr/>
        </p:nvSpPr>
        <p:spPr>
          <a:xfrm>
            <a:off x="7406640" y="1627632"/>
            <a:ext cx="4206240" cy="347472"/>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Least privilege</a:t>
            </a:r>
            <a:endParaRPr lang="en-US" sz="1600" dirty="0"/>
          </a:p>
        </p:txBody>
      </p:sp>
      <p:sp>
        <p:nvSpPr>
          <p:cNvPr id="16" name="Text 13"/>
          <p:cNvSpPr txBox="1"/>
          <p:nvPr/>
        </p:nvSpPr>
        <p:spPr>
          <a:xfrm>
            <a:off x="7406640" y="1975104"/>
            <a:ext cx="4206240" cy="64008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 Managed Identity per agent with scoped RBAC; write actions need just-in-time elevation via Entra PIM.</a:t>
            </a:r>
            <a:endParaRPr lang="en-US" sz="1250" dirty="0"/>
          </a:p>
        </p:txBody>
      </p:sp>
      <p:sp>
        <p:nvSpPr>
          <p:cNvPr id="17" name="Shape 14"/>
          <p:cNvSpPr/>
          <p:nvPr/>
        </p:nvSpPr>
        <p:spPr>
          <a:xfrm>
            <a:off x="6583680" y="2834640"/>
            <a:ext cx="640080" cy="640080"/>
          </a:xfrm>
          <a:prstGeom prst="ellipse">
            <a:avLst/>
          </a:prstGeom>
          <a:solidFill>
            <a:srgbClr val="171721"/>
          </a:solidFill>
          <a:ln w="12700">
            <a:solidFill>
              <a:srgbClr val="171721"/>
            </a:solidFill>
            <a:prstDash val="solid"/>
          </a:ln>
        </p:spPr>
      </p:sp>
      <p:pic>
        <p:nvPicPr>
          <p:cNvPr id="18" name="Image 1" descr="preencoded.png">    </p:cNvPr>
          <p:cNvPicPr>
            <a:picLocks noChangeAspect="1"/>
          </p:cNvPicPr>
          <p:nvPr/>
        </p:nvPicPr>
        <p:blipFill>
          <a:blip r:embed="rId2"/>
          <a:stretch>
            <a:fillRect/>
          </a:stretch>
        </p:blipFill>
        <p:spPr>
          <a:xfrm>
            <a:off x="6743700" y="2994660"/>
            <a:ext cx="320040" cy="320040"/>
          </a:xfrm>
          <a:prstGeom prst="rect">
            <a:avLst/>
          </a:prstGeom>
        </p:spPr>
      </p:pic>
      <p:sp>
        <p:nvSpPr>
          <p:cNvPr id="19" name="Text 15"/>
          <p:cNvSpPr txBox="1"/>
          <p:nvPr/>
        </p:nvSpPr>
        <p:spPr>
          <a:xfrm>
            <a:off x="7406640" y="2816352"/>
            <a:ext cx="4206240" cy="347472"/>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Kill switch &amp; rollback</a:t>
            </a:r>
            <a:endParaRPr lang="en-US" sz="1600" dirty="0"/>
          </a:p>
        </p:txBody>
      </p:sp>
      <p:sp>
        <p:nvSpPr>
          <p:cNvPr id="20" name="Text 16"/>
          <p:cNvSpPr txBox="1"/>
          <p:nvPr/>
        </p:nvSpPr>
        <p:spPr>
          <a:xfrm>
            <a:off x="7406640" y="3163824"/>
            <a:ext cx="4206240" cy="64008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Any step can be halted; the agent rolls back automatically if health checks fail mid-test.</a:t>
            </a:r>
            <a:endParaRPr lang="en-US" sz="1250" dirty="0"/>
          </a:p>
        </p:txBody>
      </p:sp>
      <p:sp>
        <p:nvSpPr>
          <p:cNvPr id="21" name="Shape 17"/>
          <p:cNvSpPr/>
          <p:nvPr/>
        </p:nvSpPr>
        <p:spPr>
          <a:xfrm>
            <a:off x="6583680" y="4023360"/>
            <a:ext cx="640080" cy="640080"/>
          </a:xfrm>
          <a:prstGeom prst="ellipse">
            <a:avLst/>
          </a:prstGeom>
          <a:solidFill>
            <a:srgbClr val="171721"/>
          </a:solidFill>
          <a:ln w="12700">
            <a:solidFill>
              <a:srgbClr val="171721"/>
            </a:solidFill>
            <a:prstDash val="solid"/>
          </a:ln>
        </p:spPr>
      </p:sp>
      <p:pic>
        <p:nvPicPr>
          <p:cNvPr id="22" name="Image 2" descr="preencoded.png">    </p:cNvPr>
          <p:cNvPicPr>
            <a:picLocks noChangeAspect="1"/>
          </p:cNvPicPr>
          <p:nvPr/>
        </p:nvPicPr>
        <p:blipFill>
          <a:blip r:embed="rId3"/>
          <a:stretch>
            <a:fillRect/>
          </a:stretch>
        </p:blipFill>
        <p:spPr>
          <a:xfrm>
            <a:off x="6743700" y="4183380"/>
            <a:ext cx="320040" cy="320040"/>
          </a:xfrm>
          <a:prstGeom prst="rect">
            <a:avLst/>
          </a:prstGeom>
        </p:spPr>
      </p:pic>
      <p:sp>
        <p:nvSpPr>
          <p:cNvPr id="23" name="Text 18"/>
          <p:cNvSpPr txBox="1"/>
          <p:nvPr/>
        </p:nvSpPr>
        <p:spPr>
          <a:xfrm>
            <a:off x="7406640" y="4005072"/>
            <a:ext cx="4206240" cy="347472"/>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Full traceability</a:t>
            </a:r>
            <a:endParaRPr lang="en-US" sz="1600" dirty="0"/>
          </a:p>
        </p:txBody>
      </p:sp>
      <p:sp>
        <p:nvSpPr>
          <p:cNvPr id="24" name="Text 19"/>
          <p:cNvSpPr txBox="1"/>
          <p:nvPr/>
        </p:nvSpPr>
        <p:spPr>
          <a:xfrm>
            <a:off x="7406640" y="4352544"/>
            <a:ext cx="4206240" cy="64008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Every decision, tool call and approval logged to Log Analytics &amp; AI Foundry tracing.</a:t>
            </a:r>
            <a:endParaRPr lang="en-US" sz="1250" dirty="0"/>
          </a:p>
        </p:txBody>
      </p:sp>
      <p:sp>
        <p:nvSpPr>
          <p:cNvPr id="25" name="Shape 20"/>
          <p:cNvSpPr/>
          <p:nvPr/>
        </p:nvSpPr>
        <p:spPr>
          <a:xfrm>
            <a:off x="6583680" y="5212080"/>
            <a:ext cx="640080" cy="640080"/>
          </a:xfrm>
          <a:prstGeom prst="ellipse">
            <a:avLst/>
          </a:prstGeom>
          <a:solidFill>
            <a:srgbClr val="171721"/>
          </a:solidFill>
          <a:ln w="12700">
            <a:solidFill>
              <a:srgbClr val="171721"/>
            </a:solidFill>
            <a:prstDash val="solid"/>
          </a:ln>
        </p:spPr>
      </p:sp>
      <p:pic>
        <p:nvPicPr>
          <p:cNvPr id="26" name="Image 3" descr="preencoded.png">    </p:cNvPr>
          <p:cNvPicPr>
            <a:picLocks noChangeAspect="1"/>
          </p:cNvPicPr>
          <p:nvPr/>
        </p:nvPicPr>
        <p:blipFill>
          <a:blip r:embed="rId4"/>
          <a:stretch>
            <a:fillRect/>
          </a:stretch>
        </p:blipFill>
        <p:spPr>
          <a:xfrm>
            <a:off x="6743700" y="5372100"/>
            <a:ext cx="320040" cy="320040"/>
          </a:xfrm>
          <a:prstGeom prst="rect">
            <a:avLst/>
          </a:prstGeom>
        </p:spPr>
      </p:pic>
      <p:sp>
        <p:nvSpPr>
          <p:cNvPr id="27" name="Text 21"/>
          <p:cNvSpPr txBox="1"/>
          <p:nvPr/>
        </p:nvSpPr>
        <p:spPr>
          <a:xfrm>
            <a:off x="7406640" y="5193792"/>
            <a:ext cx="4206240" cy="347472"/>
          </a:xfrm>
          <a:prstGeom prst="rect">
            <a:avLst/>
          </a:prstGeom>
          <a:noFill/>
          <a:ln/>
        </p:spPr>
        <p:txBody>
          <a:bodyPr wrap="square" lIns="0" tIns="0" rIns="0" bIns="0" rtlCol="0" anchor="ctr"/>
          <a:lstStyle/>
          <a:p>
            <a:pPr indent="0" marL="0">
              <a:buNone/>
            </a:pPr>
            <a:r>
              <a:rPr lang="en-US" sz="1600" b="1" dirty="0">
                <a:solidFill>
                  <a:srgbClr val="171721"/>
                </a:solidFill>
                <a:latin typeface="Calibri" pitchFamily="34" charset="0"/>
                <a:ea typeface="Calibri" pitchFamily="34" charset="-122"/>
                <a:cs typeface="Calibri" pitchFamily="34" charset="-120"/>
              </a:rPr>
              <a:t>Responsible AI</a:t>
            </a:r>
            <a:endParaRPr lang="en-US" sz="1600" dirty="0"/>
          </a:p>
        </p:txBody>
      </p:sp>
      <p:sp>
        <p:nvSpPr>
          <p:cNvPr id="28" name="Text 22"/>
          <p:cNvSpPr txBox="1"/>
          <p:nvPr/>
        </p:nvSpPr>
        <p:spPr>
          <a:xfrm>
            <a:off x="7406640" y="5541264"/>
            <a:ext cx="4206240" cy="640080"/>
          </a:xfrm>
          <a:prstGeom prst="rect">
            <a:avLst/>
          </a:prstGeom>
          <a:noFill/>
          <a:ln/>
        </p:spPr>
        <p:txBody>
          <a:bodyPr wrap="square" lIns="0" tIns="0" rIns="0" bIns="0" rtlCol="0" anchor="t"/>
          <a:lstStyle/>
          <a:p>
            <a:pPr indent="0" marL="0">
              <a:buNone/>
            </a:pPr>
            <a:r>
              <a:rPr lang="en-US" sz="1250" dirty="0">
                <a:solidFill>
                  <a:srgbClr val="1B2635"/>
                </a:solidFill>
                <a:latin typeface="Calibri" pitchFamily="34" charset="0"/>
                <a:ea typeface="Calibri" pitchFamily="34" charset="-122"/>
                <a:cs typeface="Calibri" pitchFamily="34" charset="-120"/>
              </a:rPr>
              <a:t>Content Safety and prompt-injection shields on all inputs; secrets never reach prompts.</a:t>
            </a:r>
            <a:endParaRPr lang="en-US" sz="1250" dirty="0"/>
          </a:p>
        </p:txBody>
      </p:sp>
      <p:sp>
        <p:nvSpPr>
          <p:cNvPr id="29" name="Text 2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What we'll build and demo live</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Sample 3-tier app across two regions with deliberately planted DR gaps — the DR Agent validates it for real.</a:t>
            </a:r>
            <a:endParaRPr lang="en-US" sz="1500" dirty="0"/>
          </a:p>
        </p:txBody>
      </p:sp>
      <p:sp>
        <p:nvSpPr>
          <p:cNvPr id="4" name="Shape 2"/>
          <p:cNvSpPr/>
          <p:nvPr/>
        </p:nvSpPr>
        <p:spPr>
          <a:xfrm>
            <a:off x="822960" y="1874520"/>
            <a:ext cx="10515600" cy="0"/>
          </a:xfrm>
          <a:prstGeom prst="line">
            <a:avLst/>
          </a:prstGeom>
          <a:noFill/>
          <a:ln w="25400">
            <a:solidFill>
              <a:srgbClr val="C9D3DE"/>
            </a:solidFill>
            <a:prstDash val="solid"/>
          </a:ln>
        </p:spPr>
      </p:sp>
      <p:sp>
        <p:nvSpPr>
          <p:cNvPr id="5" name="Shape 3"/>
          <p:cNvSpPr/>
          <p:nvPr/>
        </p:nvSpPr>
        <p:spPr>
          <a:xfrm>
            <a:off x="731520" y="1737360"/>
            <a:ext cx="274320" cy="274320"/>
          </a:xfrm>
          <a:prstGeom prst="ellipse">
            <a:avLst/>
          </a:prstGeom>
          <a:solidFill>
            <a:srgbClr val="5E2CFE"/>
          </a:solidFill>
          <a:ln w="25400">
            <a:solidFill>
              <a:srgbClr val="FFFFFF"/>
            </a:solidFill>
            <a:prstDash val="solid"/>
          </a:ln>
        </p:spPr>
      </p:sp>
      <p:sp>
        <p:nvSpPr>
          <p:cNvPr id="6" name="Text 4"/>
          <p:cNvSpPr txBox="1"/>
          <p:nvPr/>
        </p:nvSpPr>
        <p:spPr>
          <a:xfrm>
            <a:off x="54864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15</a:t>
            </a:r>
            <a:endParaRPr lang="en-US" sz="1300" dirty="0"/>
          </a:p>
        </p:txBody>
      </p:sp>
      <p:sp>
        <p:nvSpPr>
          <p:cNvPr id="7" name="Text 5"/>
          <p:cNvSpPr txBox="1"/>
          <p:nvPr/>
        </p:nvSpPr>
        <p:spPr>
          <a:xfrm>
            <a:off x="54864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Idea submitted</a:t>
            </a:r>
            <a:endParaRPr lang="en-US" sz="1100" dirty="0"/>
          </a:p>
        </p:txBody>
      </p:sp>
      <p:sp>
        <p:nvSpPr>
          <p:cNvPr id="8" name="Shape 6"/>
          <p:cNvSpPr/>
          <p:nvPr/>
        </p:nvSpPr>
        <p:spPr>
          <a:xfrm>
            <a:off x="2606040" y="1737360"/>
            <a:ext cx="274320" cy="274320"/>
          </a:xfrm>
          <a:prstGeom prst="ellipse">
            <a:avLst/>
          </a:prstGeom>
          <a:solidFill>
            <a:srgbClr val="5E2CFE"/>
          </a:solidFill>
          <a:ln w="25400">
            <a:solidFill>
              <a:srgbClr val="FFFFFF"/>
            </a:solidFill>
            <a:prstDash val="solid"/>
          </a:ln>
        </p:spPr>
      </p:sp>
      <p:sp>
        <p:nvSpPr>
          <p:cNvPr id="9" name="Text 7"/>
          <p:cNvSpPr txBox="1"/>
          <p:nvPr/>
        </p:nvSpPr>
        <p:spPr>
          <a:xfrm>
            <a:off x="242316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16–17</a:t>
            </a:r>
            <a:endParaRPr lang="en-US" sz="1300" dirty="0"/>
          </a:p>
        </p:txBody>
      </p:sp>
      <p:sp>
        <p:nvSpPr>
          <p:cNvPr id="10" name="Text 8"/>
          <p:cNvSpPr txBox="1"/>
          <p:nvPr/>
        </p:nvSpPr>
        <p:spPr>
          <a:xfrm>
            <a:off x="242316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Two-region workload + planted gaps (Bicep)</a:t>
            </a:r>
            <a:endParaRPr lang="en-US" sz="1100" dirty="0"/>
          </a:p>
        </p:txBody>
      </p:sp>
      <p:sp>
        <p:nvSpPr>
          <p:cNvPr id="11" name="Shape 9"/>
          <p:cNvSpPr/>
          <p:nvPr/>
        </p:nvSpPr>
        <p:spPr>
          <a:xfrm>
            <a:off x="4480560" y="1737360"/>
            <a:ext cx="274320" cy="274320"/>
          </a:xfrm>
          <a:prstGeom prst="ellipse">
            <a:avLst/>
          </a:prstGeom>
          <a:solidFill>
            <a:srgbClr val="5E2CFE"/>
          </a:solidFill>
          <a:ln w="25400">
            <a:solidFill>
              <a:srgbClr val="FFFFFF"/>
            </a:solidFill>
            <a:prstDash val="solid"/>
          </a:ln>
        </p:spPr>
      </p:sp>
      <p:sp>
        <p:nvSpPr>
          <p:cNvPr id="12" name="Text 10"/>
          <p:cNvSpPr txBox="1"/>
          <p:nvPr/>
        </p:nvSpPr>
        <p:spPr>
          <a:xfrm>
            <a:off x="429768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18–20</a:t>
            </a:r>
            <a:endParaRPr lang="en-US" sz="1300" dirty="0"/>
          </a:p>
        </p:txBody>
      </p:sp>
      <p:sp>
        <p:nvSpPr>
          <p:cNvPr id="13" name="Text 11"/>
          <p:cNvSpPr txBox="1"/>
          <p:nvPr/>
        </p:nvSpPr>
        <p:spPr>
          <a:xfrm>
            <a:off x="429768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Agents, tools &amp; Teams approvals</a:t>
            </a:r>
            <a:endParaRPr lang="en-US" sz="1100" dirty="0"/>
          </a:p>
        </p:txBody>
      </p:sp>
      <p:sp>
        <p:nvSpPr>
          <p:cNvPr id="14" name="Shape 12"/>
          <p:cNvSpPr/>
          <p:nvPr/>
        </p:nvSpPr>
        <p:spPr>
          <a:xfrm>
            <a:off x="6355080" y="1737360"/>
            <a:ext cx="274320" cy="274320"/>
          </a:xfrm>
          <a:prstGeom prst="ellipse">
            <a:avLst/>
          </a:prstGeom>
          <a:solidFill>
            <a:srgbClr val="5E2CFE"/>
          </a:solidFill>
          <a:ln w="25400">
            <a:solidFill>
              <a:srgbClr val="FFFFFF"/>
            </a:solidFill>
            <a:prstDash val="solid"/>
          </a:ln>
        </p:spPr>
      </p:sp>
      <p:sp>
        <p:nvSpPr>
          <p:cNvPr id="15" name="Text 13"/>
          <p:cNvSpPr txBox="1"/>
          <p:nvPr/>
        </p:nvSpPr>
        <p:spPr>
          <a:xfrm>
            <a:off x="617220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21–22</a:t>
            </a:r>
            <a:endParaRPr lang="en-US" sz="1300" dirty="0"/>
          </a:p>
        </p:txBody>
      </p:sp>
      <p:sp>
        <p:nvSpPr>
          <p:cNvPr id="16" name="Text 14"/>
          <p:cNvSpPr txBox="1"/>
          <p:nvPr/>
        </p:nvSpPr>
        <p:spPr>
          <a:xfrm>
            <a:off x="617220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End-to-end DR test runs, reports</a:t>
            </a:r>
            <a:endParaRPr lang="en-US" sz="1100" dirty="0"/>
          </a:p>
        </p:txBody>
      </p:sp>
      <p:sp>
        <p:nvSpPr>
          <p:cNvPr id="17" name="Shape 15"/>
          <p:cNvSpPr/>
          <p:nvPr/>
        </p:nvSpPr>
        <p:spPr>
          <a:xfrm>
            <a:off x="8229600" y="1737360"/>
            <a:ext cx="274320" cy="274320"/>
          </a:xfrm>
          <a:prstGeom prst="ellipse">
            <a:avLst/>
          </a:prstGeom>
          <a:solidFill>
            <a:srgbClr val="F2A541"/>
          </a:solidFill>
          <a:ln w="25400">
            <a:solidFill>
              <a:srgbClr val="FFFFFF"/>
            </a:solidFill>
            <a:prstDash val="solid"/>
          </a:ln>
        </p:spPr>
      </p:sp>
      <p:sp>
        <p:nvSpPr>
          <p:cNvPr id="18" name="Text 16"/>
          <p:cNvSpPr txBox="1"/>
          <p:nvPr/>
        </p:nvSpPr>
        <p:spPr>
          <a:xfrm>
            <a:off x="804672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23</a:t>
            </a:r>
            <a:endParaRPr lang="en-US" sz="1300" dirty="0"/>
          </a:p>
        </p:txBody>
      </p:sp>
      <p:sp>
        <p:nvSpPr>
          <p:cNvPr id="19" name="Text 17"/>
          <p:cNvSpPr txBox="1"/>
          <p:nvPr/>
        </p:nvSpPr>
        <p:spPr>
          <a:xfrm>
            <a:off x="804672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Build demo to panel</a:t>
            </a:r>
            <a:endParaRPr lang="en-US" sz="1100" dirty="0"/>
          </a:p>
        </p:txBody>
      </p:sp>
      <p:sp>
        <p:nvSpPr>
          <p:cNvPr id="20" name="Shape 18"/>
          <p:cNvSpPr/>
          <p:nvPr/>
        </p:nvSpPr>
        <p:spPr>
          <a:xfrm>
            <a:off x="10104120" y="1737360"/>
            <a:ext cx="274320" cy="274320"/>
          </a:xfrm>
          <a:prstGeom prst="ellipse">
            <a:avLst/>
          </a:prstGeom>
          <a:solidFill>
            <a:srgbClr val="F2A541"/>
          </a:solidFill>
          <a:ln w="25400">
            <a:solidFill>
              <a:srgbClr val="FFFFFF"/>
            </a:solidFill>
            <a:prstDash val="solid"/>
          </a:ln>
        </p:spPr>
      </p:sp>
      <p:sp>
        <p:nvSpPr>
          <p:cNvPr id="21" name="Text 19"/>
          <p:cNvSpPr txBox="1"/>
          <p:nvPr/>
        </p:nvSpPr>
        <p:spPr>
          <a:xfrm>
            <a:off x="9921240" y="2103120"/>
            <a:ext cx="1783080" cy="292608"/>
          </a:xfrm>
          <a:prstGeom prst="rect">
            <a:avLst/>
          </a:prstGeom>
          <a:noFill/>
          <a:ln/>
        </p:spPr>
        <p:txBody>
          <a:bodyPr wrap="square" lIns="0" tIns="0" rIns="0" bIns="0" rtlCol="0" anchor="ctr"/>
          <a:lstStyle/>
          <a:p>
            <a:pPr indent="0" marL="0">
              <a:buNone/>
            </a:pPr>
            <a:r>
              <a:rPr lang="en-US" sz="1300" b="1" dirty="0">
                <a:solidFill>
                  <a:srgbClr val="171721"/>
                </a:solidFill>
                <a:latin typeface="Calibri" pitchFamily="34" charset="0"/>
                <a:ea typeface="Calibri" pitchFamily="34" charset="-122"/>
                <a:cs typeface="Calibri" pitchFamily="34" charset="-120"/>
              </a:rPr>
              <a:t>Oct 29</a:t>
            </a:r>
            <a:endParaRPr lang="en-US" sz="1300" dirty="0"/>
          </a:p>
        </p:txBody>
      </p:sp>
      <p:sp>
        <p:nvSpPr>
          <p:cNvPr id="22" name="Text 20"/>
          <p:cNvSpPr txBox="1"/>
          <p:nvPr/>
        </p:nvSpPr>
        <p:spPr>
          <a:xfrm>
            <a:off x="9921240" y="2395728"/>
            <a:ext cx="1737360" cy="5029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Finals at Azure Day</a:t>
            </a:r>
            <a:endParaRPr lang="en-US" sz="1100" dirty="0"/>
          </a:p>
        </p:txBody>
      </p:sp>
      <p:sp>
        <p:nvSpPr>
          <p:cNvPr id="23" name="Shape 21"/>
          <p:cNvSpPr/>
          <p:nvPr/>
        </p:nvSpPr>
        <p:spPr>
          <a:xfrm>
            <a:off x="548640" y="3200400"/>
            <a:ext cx="3520440" cy="1417320"/>
          </a:xfrm>
          <a:prstGeom prst="roundRect">
            <a:avLst>
              <a:gd name="adj" fmla="val 516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777240" y="3429000"/>
            <a:ext cx="502920" cy="502920"/>
          </a:xfrm>
          <a:prstGeom prst="ellipse">
            <a:avLst/>
          </a:prstGeom>
          <a:solidFill>
            <a:srgbClr val="5E2CFE"/>
          </a:solidFill>
          <a:ln w="12700">
            <a:solidFill>
              <a:srgbClr val="5E2CFE"/>
            </a:solidFill>
            <a:prstDash val="solid"/>
          </a:ln>
        </p:spPr>
      </p:sp>
      <p:pic>
        <p:nvPicPr>
          <p:cNvPr id="25" name="Image 0" descr="preencoded.png">    </p:cNvPr>
          <p:cNvPicPr>
            <a:picLocks noChangeAspect="1"/>
          </p:cNvPicPr>
          <p:nvPr/>
        </p:nvPicPr>
        <p:blipFill>
          <a:blip r:embed="rId1"/>
          <a:stretch>
            <a:fillRect/>
          </a:stretch>
        </p:blipFill>
        <p:spPr>
          <a:xfrm>
            <a:off x="902970" y="3554730"/>
            <a:ext cx="251460" cy="251460"/>
          </a:xfrm>
          <a:prstGeom prst="rect">
            <a:avLst/>
          </a:prstGeom>
        </p:spPr>
      </p:pic>
      <p:sp>
        <p:nvSpPr>
          <p:cNvPr id="26" name="Text 23"/>
          <p:cNvSpPr txBox="1"/>
          <p:nvPr/>
        </p:nvSpPr>
        <p:spPr>
          <a:xfrm>
            <a:off x="1417320" y="34290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1  Discover &amp; assess</a:t>
            </a:r>
            <a:endParaRPr lang="en-US" sz="1500" dirty="0"/>
          </a:p>
        </p:txBody>
      </p:sp>
      <p:sp>
        <p:nvSpPr>
          <p:cNvPr id="27" name="Text 24"/>
          <p:cNvSpPr txBox="1"/>
          <p:nvPr/>
        </p:nvSpPr>
        <p:spPr>
          <a:xfrm>
            <a:off x="777240" y="40050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Maps the app, flags planted gaps: LRS storage, stale runbook step.</a:t>
            </a:r>
            <a:endParaRPr lang="en-US" sz="1150" dirty="0"/>
          </a:p>
        </p:txBody>
      </p:sp>
      <p:sp>
        <p:nvSpPr>
          <p:cNvPr id="28" name="Shape 25"/>
          <p:cNvSpPr/>
          <p:nvPr/>
        </p:nvSpPr>
        <p:spPr>
          <a:xfrm>
            <a:off x="4297680" y="3200400"/>
            <a:ext cx="3520440" cy="1417320"/>
          </a:xfrm>
          <a:prstGeom prst="roundRect">
            <a:avLst>
              <a:gd name="adj" fmla="val 516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29" name="Shape 26"/>
          <p:cNvSpPr/>
          <p:nvPr/>
        </p:nvSpPr>
        <p:spPr>
          <a:xfrm>
            <a:off x="4526280" y="3429000"/>
            <a:ext cx="502920" cy="502920"/>
          </a:xfrm>
          <a:prstGeom prst="ellipse">
            <a:avLst/>
          </a:prstGeom>
          <a:solidFill>
            <a:srgbClr val="5E2CFE"/>
          </a:solidFill>
          <a:ln w="12700">
            <a:solidFill>
              <a:srgbClr val="5E2CFE"/>
            </a:solidFill>
            <a:prstDash val="solid"/>
          </a:ln>
        </p:spPr>
      </p:sp>
      <p:pic>
        <p:nvPicPr>
          <p:cNvPr id="30" name="Image 1" descr="preencoded.png">    </p:cNvPr>
          <p:cNvPicPr>
            <a:picLocks noChangeAspect="1"/>
          </p:cNvPicPr>
          <p:nvPr/>
        </p:nvPicPr>
        <p:blipFill>
          <a:blip r:embed="rId2"/>
          <a:stretch>
            <a:fillRect/>
          </a:stretch>
        </p:blipFill>
        <p:spPr>
          <a:xfrm>
            <a:off x="4652010" y="3554730"/>
            <a:ext cx="251460" cy="251460"/>
          </a:xfrm>
          <a:prstGeom prst="rect">
            <a:avLst/>
          </a:prstGeom>
        </p:spPr>
      </p:pic>
      <p:sp>
        <p:nvSpPr>
          <p:cNvPr id="31" name="Text 27"/>
          <p:cNvSpPr txBox="1"/>
          <p:nvPr/>
        </p:nvSpPr>
        <p:spPr>
          <a:xfrm>
            <a:off x="5166360" y="34290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2  Approve in Teams</a:t>
            </a:r>
            <a:endParaRPr lang="en-US" sz="1500" dirty="0"/>
          </a:p>
        </p:txBody>
      </p:sp>
      <p:sp>
        <p:nvSpPr>
          <p:cNvPr id="32" name="Text 28"/>
          <p:cNvSpPr txBox="1"/>
          <p:nvPr/>
        </p:nvSpPr>
        <p:spPr>
          <a:xfrm>
            <a:off x="4526280" y="40050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Agent proposes a DR test plan; a human approves with one click.</a:t>
            </a:r>
            <a:endParaRPr lang="en-US" sz="1150" dirty="0"/>
          </a:p>
        </p:txBody>
      </p:sp>
      <p:sp>
        <p:nvSpPr>
          <p:cNvPr id="33" name="Shape 29"/>
          <p:cNvSpPr/>
          <p:nvPr/>
        </p:nvSpPr>
        <p:spPr>
          <a:xfrm>
            <a:off x="8046720" y="3200400"/>
            <a:ext cx="3520440" cy="1417320"/>
          </a:xfrm>
          <a:prstGeom prst="roundRect">
            <a:avLst>
              <a:gd name="adj" fmla="val 5161"/>
            </a:avLst>
          </a:prstGeom>
          <a:solidFill>
            <a:srgbClr val="FDF0DB"/>
          </a:solidFill>
          <a:ln w="12700">
            <a:solidFill>
              <a:srgbClr val="FDF0DB"/>
            </a:solidFill>
            <a:prstDash val="solid"/>
          </a:ln>
          <a:effectLst>
            <a:outerShdw sx="100000" sy="100000" kx="0" ky="0" algn="bl" rotWithShape="0" blurRad="76200" dist="25400" dir="5400000">
              <a:srgbClr val="000000">
                <a:alpha val="12000"/>
              </a:srgbClr>
            </a:outerShdw>
          </a:effectLst>
        </p:spPr>
      </p:sp>
      <p:sp>
        <p:nvSpPr>
          <p:cNvPr id="34" name="Shape 30"/>
          <p:cNvSpPr/>
          <p:nvPr/>
        </p:nvSpPr>
        <p:spPr>
          <a:xfrm>
            <a:off x="8275320" y="3429000"/>
            <a:ext cx="502920" cy="502920"/>
          </a:xfrm>
          <a:prstGeom prst="ellipse">
            <a:avLst/>
          </a:prstGeom>
          <a:solidFill>
            <a:srgbClr val="F2A541"/>
          </a:solidFill>
          <a:ln w="12700">
            <a:solidFill>
              <a:srgbClr val="F2A541"/>
            </a:solidFill>
            <a:prstDash val="solid"/>
          </a:ln>
        </p:spPr>
      </p:sp>
      <p:pic>
        <p:nvPicPr>
          <p:cNvPr id="35" name="Image 2" descr="preencoded.png">    </p:cNvPr>
          <p:cNvPicPr>
            <a:picLocks noChangeAspect="1"/>
          </p:cNvPicPr>
          <p:nvPr/>
        </p:nvPicPr>
        <p:blipFill>
          <a:blip r:embed="rId3"/>
          <a:stretch>
            <a:fillRect/>
          </a:stretch>
        </p:blipFill>
        <p:spPr>
          <a:xfrm>
            <a:off x="8401050" y="3554730"/>
            <a:ext cx="251460" cy="251460"/>
          </a:xfrm>
          <a:prstGeom prst="rect">
            <a:avLst/>
          </a:prstGeom>
        </p:spPr>
      </p:pic>
      <p:sp>
        <p:nvSpPr>
          <p:cNvPr id="36" name="Text 31"/>
          <p:cNvSpPr txBox="1"/>
          <p:nvPr/>
        </p:nvSpPr>
        <p:spPr>
          <a:xfrm>
            <a:off x="8915400" y="34290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3  Run the DR test live</a:t>
            </a:r>
            <a:endParaRPr lang="en-US" sz="1500" dirty="0"/>
          </a:p>
        </p:txBody>
      </p:sp>
      <p:sp>
        <p:nvSpPr>
          <p:cNvPr id="37" name="Text 32"/>
          <p:cNvSpPr txBox="1"/>
          <p:nvPr/>
        </p:nvSpPr>
        <p:spPr>
          <a:xfrm>
            <a:off x="8275320" y="40050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SQL failover group failover, Front Door switch to Region B, Chaos Studio zone-down.</a:t>
            </a:r>
            <a:endParaRPr lang="en-US" sz="1150" dirty="0"/>
          </a:p>
        </p:txBody>
      </p:sp>
      <p:sp>
        <p:nvSpPr>
          <p:cNvPr id="38" name="Shape 33"/>
          <p:cNvSpPr/>
          <p:nvPr/>
        </p:nvSpPr>
        <p:spPr>
          <a:xfrm>
            <a:off x="548640" y="4800600"/>
            <a:ext cx="3520440" cy="1417320"/>
          </a:xfrm>
          <a:prstGeom prst="roundRect">
            <a:avLst>
              <a:gd name="adj" fmla="val 5161"/>
            </a:avLst>
          </a:prstGeom>
          <a:solidFill>
            <a:srgbClr val="FDF0DB"/>
          </a:solidFill>
          <a:ln w="12700">
            <a:solidFill>
              <a:srgbClr val="FDF0DB"/>
            </a:solidFill>
            <a:prstDash val="solid"/>
          </a:ln>
          <a:effectLst>
            <a:outerShdw sx="100000" sy="100000" kx="0" ky="0" algn="bl" rotWithShape="0" blurRad="76200" dist="25400" dir="5400000">
              <a:srgbClr val="000000">
                <a:alpha val="12000"/>
              </a:srgbClr>
            </a:outerShdw>
          </a:effectLst>
        </p:spPr>
      </p:sp>
      <p:sp>
        <p:nvSpPr>
          <p:cNvPr id="39" name="Shape 34"/>
          <p:cNvSpPr/>
          <p:nvPr/>
        </p:nvSpPr>
        <p:spPr>
          <a:xfrm>
            <a:off x="777240" y="5029200"/>
            <a:ext cx="502920" cy="502920"/>
          </a:xfrm>
          <a:prstGeom prst="ellipse">
            <a:avLst/>
          </a:prstGeom>
          <a:solidFill>
            <a:srgbClr val="F2A541"/>
          </a:solidFill>
          <a:ln w="12700">
            <a:solidFill>
              <a:srgbClr val="F2A541"/>
            </a:solidFill>
            <a:prstDash val="solid"/>
          </a:ln>
        </p:spPr>
      </p:sp>
      <p:pic>
        <p:nvPicPr>
          <p:cNvPr id="40" name="Image 3" descr="preencoded.png">    </p:cNvPr>
          <p:cNvPicPr>
            <a:picLocks noChangeAspect="1"/>
          </p:cNvPicPr>
          <p:nvPr/>
        </p:nvPicPr>
        <p:blipFill>
          <a:blip r:embed="rId4"/>
          <a:stretch>
            <a:fillRect/>
          </a:stretch>
        </p:blipFill>
        <p:spPr>
          <a:xfrm>
            <a:off x="902970" y="5154930"/>
            <a:ext cx="251460" cy="251460"/>
          </a:xfrm>
          <a:prstGeom prst="rect">
            <a:avLst/>
          </a:prstGeom>
        </p:spPr>
      </p:pic>
      <p:sp>
        <p:nvSpPr>
          <p:cNvPr id="41" name="Text 35"/>
          <p:cNvSpPr txBox="1"/>
          <p:nvPr/>
        </p:nvSpPr>
        <p:spPr>
          <a:xfrm>
            <a:off x="1417320" y="50292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4  Catch a real failure</a:t>
            </a:r>
            <a:endParaRPr lang="en-US" sz="1500" dirty="0"/>
          </a:p>
        </p:txBody>
      </p:sp>
      <p:sp>
        <p:nvSpPr>
          <p:cNvPr id="42" name="Text 36"/>
          <p:cNvSpPr txBox="1"/>
          <p:nvPr/>
        </p:nvSpPr>
        <p:spPr>
          <a:xfrm>
            <a:off x="777240" y="56052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App breaks in Region B — secret missing from secondary Key Vault. Measured RTO/RPO shown.</a:t>
            </a:r>
            <a:endParaRPr lang="en-US" sz="1150" dirty="0"/>
          </a:p>
        </p:txBody>
      </p:sp>
      <p:sp>
        <p:nvSpPr>
          <p:cNvPr id="43" name="Shape 37"/>
          <p:cNvSpPr/>
          <p:nvPr/>
        </p:nvSpPr>
        <p:spPr>
          <a:xfrm>
            <a:off x="4297680" y="4800600"/>
            <a:ext cx="3520440" cy="1417320"/>
          </a:xfrm>
          <a:prstGeom prst="roundRect">
            <a:avLst>
              <a:gd name="adj" fmla="val 516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44" name="Shape 38"/>
          <p:cNvSpPr/>
          <p:nvPr/>
        </p:nvSpPr>
        <p:spPr>
          <a:xfrm>
            <a:off x="4526280" y="5029200"/>
            <a:ext cx="502920" cy="502920"/>
          </a:xfrm>
          <a:prstGeom prst="ellipse">
            <a:avLst/>
          </a:prstGeom>
          <a:solidFill>
            <a:srgbClr val="5E2CFE"/>
          </a:solidFill>
          <a:ln w="12700">
            <a:solidFill>
              <a:srgbClr val="5E2CFE"/>
            </a:solidFill>
            <a:prstDash val="solid"/>
          </a:ln>
        </p:spPr>
      </p:sp>
      <p:pic>
        <p:nvPicPr>
          <p:cNvPr id="45" name="Image 4" descr="preencoded.png">    </p:cNvPr>
          <p:cNvPicPr>
            <a:picLocks noChangeAspect="1"/>
          </p:cNvPicPr>
          <p:nvPr/>
        </p:nvPicPr>
        <p:blipFill>
          <a:blip r:embed="rId5"/>
          <a:stretch>
            <a:fillRect/>
          </a:stretch>
        </p:blipFill>
        <p:spPr>
          <a:xfrm>
            <a:off x="4652010" y="5154930"/>
            <a:ext cx="251460" cy="251460"/>
          </a:xfrm>
          <a:prstGeom prst="rect">
            <a:avLst/>
          </a:prstGeom>
        </p:spPr>
      </p:pic>
      <p:sp>
        <p:nvSpPr>
          <p:cNvPr id="46" name="Text 39"/>
          <p:cNvSpPr txBox="1"/>
          <p:nvPr/>
        </p:nvSpPr>
        <p:spPr>
          <a:xfrm>
            <a:off x="5166360" y="50292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5  Fail back, fix, re-test</a:t>
            </a:r>
            <a:endParaRPr lang="en-US" sz="1500" dirty="0"/>
          </a:p>
        </p:txBody>
      </p:sp>
      <p:sp>
        <p:nvSpPr>
          <p:cNvPr id="47" name="Text 40"/>
          <p:cNvSpPr txBox="1"/>
          <p:nvPr/>
        </p:nvSpPr>
        <p:spPr>
          <a:xfrm>
            <a:off x="4526280" y="56052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Fails back, raises a Bicep fix PR, re-runs the test: it now passes.</a:t>
            </a:r>
            <a:endParaRPr lang="en-US" sz="1150" dirty="0"/>
          </a:p>
        </p:txBody>
      </p:sp>
      <p:sp>
        <p:nvSpPr>
          <p:cNvPr id="48" name="Shape 41"/>
          <p:cNvSpPr/>
          <p:nvPr/>
        </p:nvSpPr>
        <p:spPr>
          <a:xfrm>
            <a:off x="8046720" y="4800600"/>
            <a:ext cx="3520440" cy="1417320"/>
          </a:xfrm>
          <a:prstGeom prst="roundRect">
            <a:avLst>
              <a:gd name="adj" fmla="val 5161"/>
            </a:avLst>
          </a:prstGeom>
          <a:solidFill>
            <a:srgbClr val="F1F5F9"/>
          </a:solidFill>
          <a:ln w="12700">
            <a:solidFill>
              <a:srgbClr val="F1F5F9"/>
            </a:solidFill>
            <a:prstDash val="solid"/>
          </a:ln>
          <a:effectLst>
            <a:outerShdw sx="100000" sy="100000" kx="0" ky="0" algn="bl" rotWithShape="0" blurRad="76200" dist="25400" dir="5400000">
              <a:srgbClr val="000000">
                <a:alpha val="12000"/>
              </a:srgbClr>
            </a:outerShdw>
          </a:effectLst>
        </p:spPr>
      </p:sp>
      <p:sp>
        <p:nvSpPr>
          <p:cNvPr id="49" name="Shape 42"/>
          <p:cNvSpPr/>
          <p:nvPr/>
        </p:nvSpPr>
        <p:spPr>
          <a:xfrm>
            <a:off x="8275320" y="5029200"/>
            <a:ext cx="502920" cy="502920"/>
          </a:xfrm>
          <a:prstGeom prst="ellipse">
            <a:avLst/>
          </a:prstGeom>
          <a:solidFill>
            <a:srgbClr val="5E2CFE"/>
          </a:solidFill>
          <a:ln w="12700">
            <a:solidFill>
              <a:srgbClr val="5E2CFE"/>
            </a:solidFill>
            <a:prstDash val="solid"/>
          </a:ln>
        </p:spPr>
      </p:sp>
      <p:pic>
        <p:nvPicPr>
          <p:cNvPr id="50" name="Image 5" descr="preencoded.png">    </p:cNvPr>
          <p:cNvPicPr>
            <a:picLocks noChangeAspect="1"/>
          </p:cNvPicPr>
          <p:nvPr/>
        </p:nvPicPr>
        <p:blipFill>
          <a:blip r:embed="rId6"/>
          <a:stretch>
            <a:fillRect/>
          </a:stretch>
        </p:blipFill>
        <p:spPr>
          <a:xfrm>
            <a:off x="8401050" y="5154930"/>
            <a:ext cx="251460" cy="251460"/>
          </a:xfrm>
          <a:prstGeom prst="rect">
            <a:avLst/>
          </a:prstGeom>
        </p:spPr>
      </p:pic>
      <p:sp>
        <p:nvSpPr>
          <p:cNvPr id="51" name="Text 43"/>
          <p:cNvSpPr txBox="1"/>
          <p:nvPr/>
        </p:nvSpPr>
        <p:spPr>
          <a:xfrm>
            <a:off x="8915400" y="5029200"/>
            <a:ext cx="2560320" cy="502920"/>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6  Prove it</a:t>
            </a:r>
            <a:endParaRPr lang="en-US" sz="1500" dirty="0"/>
          </a:p>
        </p:txBody>
      </p:sp>
      <p:sp>
        <p:nvSpPr>
          <p:cNvPr id="52" name="Text 44"/>
          <p:cNvSpPr txBox="1"/>
          <p:nvPr/>
        </p:nvSpPr>
        <p:spPr>
          <a:xfrm>
            <a:off x="8275320" y="5605272"/>
            <a:ext cx="3108960" cy="548640"/>
          </a:xfrm>
          <a:prstGeom prst="rect">
            <a:avLst/>
          </a:prstGeom>
          <a:noFill/>
          <a:ln/>
        </p:spPr>
        <p:txBody>
          <a:bodyPr wrap="square" lIns="0" tIns="0" rIns="0" bIns="0" rtlCol="0" anchor="t"/>
          <a:lstStyle/>
          <a:p>
            <a:pPr indent="0" marL="0">
              <a:buNone/>
            </a:pPr>
            <a:r>
              <a:rPr lang="en-US" sz="1150" dirty="0">
                <a:solidFill>
                  <a:srgbClr val="1B2635"/>
                </a:solidFill>
                <a:latin typeface="Calibri" pitchFamily="34" charset="0"/>
                <a:ea typeface="Calibri" pitchFamily="34" charset="-122"/>
                <a:cs typeface="Calibri" pitchFamily="34" charset="-120"/>
              </a:rPr>
              <a:t>Publishes evidence pack &amp; resilience score to Power BI.</a:t>
            </a:r>
            <a:endParaRPr lang="en-US" sz="1150" dirty="0"/>
          </a:p>
        </p:txBody>
      </p:sp>
      <p:sp>
        <p:nvSpPr>
          <p:cNvPr id="53" name="Text 45"/>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Business benefits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Recovery you can prove — continuously, safely and at a fraction of today's effort.</a:t>
            </a:r>
            <a:endParaRPr lang="en-US" sz="1500" dirty="0"/>
          </a:p>
        </p:txBody>
      </p:sp>
      <p:sp>
        <p:nvSpPr>
          <p:cNvPr id="4" name="Shape 2"/>
          <p:cNvSpPr/>
          <p:nvPr/>
        </p:nvSpPr>
        <p:spPr>
          <a:xfrm>
            <a:off x="548640" y="1600200"/>
            <a:ext cx="3520440" cy="1600200"/>
          </a:xfrm>
          <a:prstGeom prst="roundRect">
            <a:avLst>
              <a:gd name="adj" fmla="val 4571"/>
            </a:avLst>
          </a:prstGeom>
          <a:solidFill>
            <a:srgbClr val="171721"/>
          </a:solidFill>
          <a:ln w="12700">
            <a:solidFill>
              <a:srgbClr val="171721"/>
            </a:solidFill>
            <a:prstDash val="solid"/>
          </a:ln>
        </p:spPr>
      </p:sp>
      <p:sp>
        <p:nvSpPr>
          <p:cNvPr id="5" name="Text 3"/>
          <p:cNvSpPr txBox="1"/>
          <p:nvPr/>
        </p:nvSpPr>
        <p:spPr>
          <a:xfrm>
            <a:off x="822960" y="1737360"/>
            <a:ext cx="3108960" cy="868680"/>
          </a:xfrm>
          <a:prstGeom prst="rect">
            <a:avLst/>
          </a:prstGeom>
          <a:noFill/>
          <a:ln/>
        </p:spPr>
        <p:txBody>
          <a:bodyPr wrap="square" lIns="0" tIns="0" rIns="0" bIns="0" rtlCol="0" anchor="ctr"/>
          <a:lstStyle/>
          <a:p>
            <a:pPr indent="0" marL="0">
              <a:buNone/>
            </a:pPr>
            <a:r>
              <a:rPr lang="en-US" sz="1500" strike="sngStrike" dirty="0">
                <a:solidFill>
                  <a:srgbClr val="8FA3BD"/>
                </a:solidFill>
                <a:latin typeface="Calibri" pitchFamily="34" charset="0"/>
                <a:ea typeface="Calibri" pitchFamily="34" charset="-122"/>
                <a:cs typeface="Calibri" pitchFamily="34" charset="-120"/>
              </a:rPr>
              <a:t>Once a year</a:t>
            </a:r>
            <a:pPr indent="0" marL="0">
              <a:buNone/>
            </a:pPr>
            <a:r>
              <a:rPr lang="en-US" sz="1500" dirty="0">
                <a:solidFill>
                  <a:srgbClr val="8FA3BD"/>
                </a:solidFill>
                <a:latin typeface="Calibri" pitchFamily="34" charset="0"/>
                <a:ea typeface="Calibri" pitchFamily="34" charset="-122"/>
                <a:cs typeface="Calibri" pitchFamily="34" charset="-120"/>
              </a:rPr>
              <a:t>  →</a:t>
            </a:r>
            <a:endParaRPr lang="en-US" sz="1500" dirty="0"/>
          </a:p>
          <a:p>
            <a:pPr indent="0" marL="0">
              <a:buNone/>
            </a:pPr>
            <a:r>
              <a:rPr lang="en-US" sz="3000" b="1" dirty="0">
                <a:solidFill>
                  <a:srgbClr val="FFFFFF"/>
                </a:solidFill>
                <a:latin typeface="Calibri" pitchFamily="34" charset="0"/>
                <a:ea typeface="Calibri" pitchFamily="34" charset="-122"/>
                <a:cs typeface="Calibri" pitchFamily="34" charset="-120"/>
              </a:rPr>
              <a:t>Every week</a:t>
            </a:r>
            <a:endParaRPr lang="en-US" sz="1500" dirty="0"/>
          </a:p>
        </p:txBody>
      </p:sp>
      <p:sp>
        <p:nvSpPr>
          <p:cNvPr id="6" name="Text 4"/>
          <p:cNvSpPr txBox="1"/>
          <p:nvPr/>
        </p:nvSpPr>
        <p:spPr>
          <a:xfrm>
            <a:off x="822960" y="2606040"/>
            <a:ext cx="3108960" cy="411480"/>
          </a:xfrm>
          <a:prstGeom prst="rect">
            <a:avLst/>
          </a:prstGeom>
          <a:noFill/>
          <a:ln/>
        </p:spPr>
        <p:txBody>
          <a:bodyPr wrap="square" lIns="0" tIns="0" rIns="0" bIns="0" rtlCol="0" anchor="ctr"/>
          <a:lstStyle/>
          <a:p>
            <a:pPr indent="0" marL="0">
              <a:buNone/>
            </a:pPr>
            <a:r>
              <a:rPr lang="en-US" sz="1300" dirty="0">
                <a:solidFill>
                  <a:srgbClr val="8FD6D3"/>
                </a:solidFill>
                <a:latin typeface="Calibri" pitchFamily="34" charset="0"/>
                <a:ea typeface="Calibri" pitchFamily="34" charset="-122"/>
                <a:cs typeface="Calibri" pitchFamily="34" charset="-120"/>
              </a:rPr>
              <a:t>DR testing frequency</a:t>
            </a:r>
            <a:endParaRPr lang="en-US" sz="1300" dirty="0"/>
          </a:p>
        </p:txBody>
      </p:sp>
      <p:sp>
        <p:nvSpPr>
          <p:cNvPr id="7" name="Shape 5"/>
          <p:cNvSpPr/>
          <p:nvPr/>
        </p:nvSpPr>
        <p:spPr>
          <a:xfrm>
            <a:off x="4297680" y="1600200"/>
            <a:ext cx="3520440" cy="1600200"/>
          </a:xfrm>
          <a:prstGeom prst="roundRect">
            <a:avLst>
              <a:gd name="adj" fmla="val 4571"/>
            </a:avLst>
          </a:prstGeom>
          <a:solidFill>
            <a:srgbClr val="171721"/>
          </a:solidFill>
          <a:ln w="12700">
            <a:solidFill>
              <a:srgbClr val="171721"/>
            </a:solidFill>
            <a:prstDash val="solid"/>
          </a:ln>
        </p:spPr>
      </p:sp>
      <p:sp>
        <p:nvSpPr>
          <p:cNvPr id="8" name="Text 6"/>
          <p:cNvSpPr txBox="1"/>
          <p:nvPr/>
        </p:nvSpPr>
        <p:spPr>
          <a:xfrm>
            <a:off x="4572000" y="1737360"/>
            <a:ext cx="3108960" cy="868680"/>
          </a:xfrm>
          <a:prstGeom prst="rect">
            <a:avLst/>
          </a:prstGeom>
          <a:noFill/>
          <a:ln/>
        </p:spPr>
        <p:txBody>
          <a:bodyPr wrap="square" lIns="0" tIns="0" rIns="0" bIns="0" rtlCol="0" anchor="ctr"/>
          <a:lstStyle/>
          <a:p>
            <a:pPr indent="0" marL="0">
              <a:buNone/>
            </a:pPr>
            <a:r>
              <a:rPr lang="en-US" sz="1500" strike="sngStrike" dirty="0">
                <a:solidFill>
                  <a:srgbClr val="8FA3BD"/>
                </a:solidFill>
                <a:latin typeface="Calibri" pitchFamily="34" charset="0"/>
                <a:ea typeface="Calibri" pitchFamily="34" charset="-122"/>
                <a:cs typeface="Calibri" pitchFamily="34" charset="-120"/>
              </a:rPr>
              <a:t>Weeks</a:t>
            </a:r>
            <a:pPr indent="0" marL="0">
              <a:buNone/>
            </a:pPr>
            <a:r>
              <a:rPr lang="en-US" sz="1500" dirty="0">
                <a:solidFill>
                  <a:srgbClr val="8FA3BD"/>
                </a:solidFill>
                <a:latin typeface="Calibri" pitchFamily="34" charset="0"/>
                <a:ea typeface="Calibri" pitchFamily="34" charset="-122"/>
                <a:cs typeface="Calibri" pitchFamily="34" charset="-120"/>
              </a:rPr>
              <a:t>  →</a:t>
            </a:r>
            <a:endParaRPr lang="en-US" sz="1500" dirty="0"/>
          </a:p>
          <a:p>
            <a:pPr indent="0" marL="0">
              <a:buNone/>
            </a:pPr>
            <a:r>
              <a:rPr lang="en-US" sz="3000" b="1" dirty="0">
                <a:solidFill>
                  <a:srgbClr val="FFFFFF"/>
                </a:solidFill>
                <a:latin typeface="Calibri" pitchFamily="34" charset="0"/>
                <a:ea typeface="Calibri" pitchFamily="34" charset="-122"/>
                <a:cs typeface="Calibri" pitchFamily="34" charset="-120"/>
              </a:rPr>
              <a:t>Hours</a:t>
            </a:r>
            <a:endParaRPr lang="en-US" sz="1500" dirty="0"/>
          </a:p>
        </p:txBody>
      </p:sp>
      <p:sp>
        <p:nvSpPr>
          <p:cNvPr id="9" name="Text 7"/>
          <p:cNvSpPr txBox="1"/>
          <p:nvPr/>
        </p:nvSpPr>
        <p:spPr>
          <a:xfrm>
            <a:off x="4572000" y="2606040"/>
            <a:ext cx="3108960" cy="411480"/>
          </a:xfrm>
          <a:prstGeom prst="rect">
            <a:avLst/>
          </a:prstGeom>
          <a:noFill/>
          <a:ln/>
        </p:spPr>
        <p:txBody>
          <a:bodyPr wrap="square" lIns="0" tIns="0" rIns="0" bIns="0" rtlCol="0" anchor="ctr"/>
          <a:lstStyle/>
          <a:p>
            <a:pPr indent="0" marL="0">
              <a:buNone/>
            </a:pPr>
            <a:r>
              <a:rPr lang="en-US" sz="1300" dirty="0">
                <a:solidFill>
                  <a:srgbClr val="8FD6D3"/>
                </a:solidFill>
                <a:latin typeface="Calibri" pitchFamily="34" charset="0"/>
                <a:ea typeface="Calibri" pitchFamily="34" charset="-122"/>
                <a:cs typeface="Calibri" pitchFamily="34" charset="-120"/>
              </a:rPr>
              <a:t>Effort per DR test</a:t>
            </a:r>
            <a:endParaRPr lang="en-US" sz="1300" dirty="0"/>
          </a:p>
        </p:txBody>
      </p:sp>
      <p:sp>
        <p:nvSpPr>
          <p:cNvPr id="10" name="Shape 8"/>
          <p:cNvSpPr/>
          <p:nvPr/>
        </p:nvSpPr>
        <p:spPr>
          <a:xfrm>
            <a:off x="8046720" y="1600200"/>
            <a:ext cx="3520440" cy="1600200"/>
          </a:xfrm>
          <a:prstGeom prst="roundRect">
            <a:avLst>
              <a:gd name="adj" fmla="val 4571"/>
            </a:avLst>
          </a:prstGeom>
          <a:solidFill>
            <a:srgbClr val="171721"/>
          </a:solidFill>
          <a:ln w="12700">
            <a:solidFill>
              <a:srgbClr val="171721"/>
            </a:solidFill>
            <a:prstDash val="solid"/>
          </a:ln>
        </p:spPr>
      </p:sp>
      <p:sp>
        <p:nvSpPr>
          <p:cNvPr id="11" name="Text 9"/>
          <p:cNvSpPr txBox="1"/>
          <p:nvPr/>
        </p:nvSpPr>
        <p:spPr>
          <a:xfrm>
            <a:off x="8321040" y="1737360"/>
            <a:ext cx="3108960" cy="868680"/>
          </a:xfrm>
          <a:prstGeom prst="rect">
            <a:avLst/>
          </a:prstGeom>
          <a:noFill/>
          <a:ln/>
        </p:spPr>
        <p:txBody>
          <a:bodyPr wrap="square" lIns="0" tIns="0" rIns="0" bIns="0" rtlCol="0" anchor="ctr"/>
          <a:lstStyle/>
          <a:p>
            <a:pPr indent="0" marL="0">
              <a:buNone/>
            </a:pPr>
            <a:r>
              <a:rPr lang="en-US" sz="1500" strike="sngStrike" dirty="0">
                <a:solidFill>
                  <a:srgbClr val="8FA3BD"/>
                </a:solidFill>
                <a:latin typeface="Calibri" pitchFamily="34" charset="0"/>
                <a:ea typeface="Calibri" pitchFamily="34" charset="-122"/>
                <a:cs typeface="Calibri" pitchFamily="34" charset="-120"/>
              </a:rPr>
              <a:t>Assumed</a:t>
            </a:r>
            <a:pPr indent="0" marL="0">
              <a:buNone/>
            </a:pPr>
            <a:r>
              <a:rPr lang="en-US" sz="1500" dirty="0">
                <a:solidFill>
                  <a:srgbClr val="8FA3BD"/>
                </a:solidFill>
                <a:latin typeface="Calibri" pitchFamily="34" charset="0"/>
                <a:ea typeface="Calibri" pitchFamily="34" charset="-122"/>
                <a:cs typeface="Calibri" pitchFamily="34" charset="-120"/>
              </a:rPr>
              <a:t>  →</a:t>
            </a:r>
            <a:endParaRPr lang="en-US" sz="1500" dirty="0"/>
          </a:p>
          <a:p>
            <a:pPr indent="0" marL="0">
              <a:buNone/>
            </a:pPr>
            <a:r>
              <a:rPr lang="en-US" sz="3000" b="1" dirty="0">
                <a:solidFill>
                  <a:srgbClr val="FFFFFF"/>
                </a:solidFill>
                <a:latin typeface="Calibri" pitchFamily="34" charset="0"/>
                <a:ea typeface="Calibri" pitchFamily="34" charset="-122"/>
                <a:cs typeface="Calibri" pitchFamily="34" charset="-120"/>
              </a:rPr>
              <a:t>Measured</a:t>
            </a:r>
            <a:endParaRPr lang="en-US" sz="1500" dirty="0"/>
          </a:p>
        </p:txBody>
      </p:sp>
      <p:sp>
        <p:nvSpPr>
          <p:cNvPr id="12" name="Text 10"/>
          <p:cNvSpPr txBox="1"/>
          <p:nvPr/>
        </p:nvSpPr>
        <p:spPr>
          <a:xfrm>
            <a:off x="8321040" y="2606040"/>
            <a:ext cx="3108960" cy="411480"/>
          </a:xfrm>
          <a:prstGeom prst="rect">
            <a:avLst/>
          </a:prstGeom>
          <a:noFill/>
          <a:ln/>
        </p:spPr>
        <p:txBody>
          <a:bodyPr wrap="square" lIns="0" tIns="0" rIns="0" bIns="0" rtlCol="0" anchor="ctr"/>
          <a:lstStyle/>
          <a:p>
            <a:pPr indent="0" marL="0">
              <a:buNone/>
            </a:pPr>
            <a:r>
              <a:rPr lang="en-US" sz="1300" dirty="0">
                <a:solidFill>
                  <a:srgbClr val="8FD6D3"/>
                </a:solidFill>
                <a:latin typeface="Calibri" pitchFamily="34" charset="0"/>
                <a:ea typeface="Calibri" pitchFamily="34" charset="-122"/>
                <a:cs typeface="Calibri" pitchFamily="34" charset="-120"/>
              </a:rPr>
              <a:t>RTO / RPO on every test</a:t>
            </a:r>
            <a:endParaRPr lang="en-US" sz="1300" dirty="0"/>
          </a:p>
        </p:txBody>
      </p:sp>
      <p:sp>
        <p:nvSpPr>
          <p:cNvPr id="13" name="Shape 11"/>
          <p:cNvSpPr/>
          <p:nvPr/>
        </p:nvSpPr>
        <p:spPr>
          <a:xfrm>
            <a:off x="548640" y="3520440"/>
            <a:ext cx="548640" cy="548640"/>
          </a:xfrm>
          <a:prstGeom prst="ellipse">
            <a:avLst/>
          </a:prstGeom>
          <a:solidFill>
            <a:srgbClr val="5E2CFE"/>
          </a:solidFill>
          <a:ln w="12700">
            <a:solidFill>
              <a:srgbClr val="5E2CFE"/>
            </a:solidFill>
            <a:prstDash val="solid"/>
          </a:ln>
        </p:spPr>
      </p:sp>
      <p:pic>
        <p:nvPicPr>
          <p:cNvPr id="14" name="Image 0" descr="preencoded.png">    </p:cNvPr>
          <p:cNvPicPr>
            <a:picLocks noChangeAspect="1"/>
          </p:cNvPicPr>
          <p:nvPr/>
        </p:nvPicPr>
        <p:blipFill>
          <a:blip r:embed="rId1"/>
          <a:stretch>
            <a:fillRect/>
          </a:stretch>
        </p:blipFill>
        <p:spPr>
          <a:xfrm>
            <a:off x="685800" y="3657600"/>
            <a:ext cx="274320" cy="274320"/>
          </a:xfrm>
          <a:prstGeom prst="rect">
            <a:avLst/>
          </a:prstGeom>
        </p:spPr>
      </p:pic>
      <p:sp>
        <p:nvSpPr>
          <p:cNvPr id="15" name="Text 12"/>
          <p:cNvSpPr txBox="1"/>
          <p:nvPr/>
        </p:nvSpPr>
        <p:spPr>
          <a:xfrm>
            <a:off x="1261872" y="350215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Lower downtime risk</a:t>
            </a:r>
            <a:endParaRPr lang="en-US" sz="1500" dirty="0"/>
          </a:p>
        </p:txBody>
      </p:sp>
      <p:sp>
        <p:nvSpPr>
          <p:cNvPr id="16" name="Text 13"/>
          <p:cNvSpPr txBox="1"/>
          <p:nvPr/>
        </p:nvSpPr>
        <p:spPr>
          <a:xfrm>
            <a:off x="1261872" y="384962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Failover blockers found and fixed before a real outage — protecting revenue, SLAs and trust.</a:t>
            </a:r>
            <a:endParaRPr lang="en-US" sz="1200" dirty="0"/>
          </a:p>
        </p:txBody>
      </p:sp>
      <p:sp>
        <p:nvSpPr>
          <p:cNvPr id="17" name="Shape 14"/>
          <p:cNvSpPr/>
          <p:nvPr/>
        </p:nvSpPr>
        <p:spPr>
          <a:xfrm>
            <a:off x="4297680" y="3520440"/>
            <a:ext cx="548640" cy="548640"/>
          </a:xfrm>
          <a:prstGeom prst="ellipse">
            <a:avLst/>
          </a:prstGeom>
          <a:solidFill>
            <a:srgbClr val="5E2CFE"/>
          </a:solidFill>
          <a:ln w="12700">
            <a:solidFill>
              <a:srgbClr val="5E2CFE"/>
            </a:solidFill>
            <a:prstDash val="solid"/>
          </a:ln>
        </p:spPr>
      </p:sp>
      <p:pic>
        <p:nvPicPr>
          <p:cNvPr id="18" name="Image 1" descr="preencoded.png">    </p:cNvPr>
          <p:cNvPicPr>
            <a:picLocks noChangeAspect="1"/>
          </p:cNvPicPr>
          <p:nvPr/>
        </p:nvPicPr>
        <p:blipFill>
          <a:blip r:embed="rId2"/>
          <a:stretch>
            <a:fillRect/>
          </a:stretch>
        </p:blipFill>
        <p:spPr>
          <a:xfrm>
            <a:off x="4434840" y="3657600"/>
            <a:ext cx="274320" cy="274320"/>
          </a:xfrm>
          <a:prstGeom prst="rect">
            <a:avLst/>
          </a:prstGeom>
        </p:spPr>
      </p:pic>
      <p:sp>
        <p:nvSpPr>
          <p:cNvPr id="19" name="Text 15"/>
          <p:cNvSpPr txBox="1"/>
          <p:nvPr/>
        </p:nvSpPr>
        <p:spPr>
          <a:xfrm>
            <a:off x="5010912" y="350215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Audit-ready compliance</a:t>
            </a:r>
            <a:endParaRPr lang="en-US" sz="1500" dirty="0"/>
          </a:p>
        </p:txBody>
      </p:sp>
      <p:sp>
        <p:nvSpPr>
          <p:cNvPr id="20" name="Text 16"/>
          <p:cNvSpPr txBox="1"/>
          <p:nvPr/>
        </p:nvSpPr>
        <p:spPr>
          <a:xfrm>
            <a:off x="5010912" y="384962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Auto-generated test evidence for RBI, SEBI, DORA, SOX, ISO 22301.</a:t>
            </a:r>
            <a:endParaRPr lang="en-US" sz="1200" dirty="0"/>
          </a:p>
        </p:txBody>
      </p:sp>
      <p:sp>
        <p:nvSpPr>
          <p:cNvPr id="21" name="Shape 17"/>
          <p:cNvSpPr/>
          <p:nvPr/>
        </p:nvSpPr>
        <p:spPr>
          <a:xfrm>
            <a:off x="8046720" y="3520440"/>
            <a:ext cx="548640" cy="548640"/>
          </a:xfrm>
          <a:prstGeom prst="ellipse">
            <a:avLst/>
          </a:prstGeom>
          <a:solidFill>
            <a:srgbClr val="5E2CFE"/>
          </a:solidFill>
          <a:ln w="12700">
            <a:solidFill>
              <a:srgbClr val="5E2CFE"/>
            </a:solidFill>
            <a:prstDash val="solid"/>
          </a:ln>
        </p:spPr>
      </p:sp>
      <p:pic>
        <p:nvPicPr>
          <p:cNvPr id="22" name="Image 2" descr="preencoded.png">    </p:cNvPr>
          <p:cNvPicPr>
            <a:picLocks noChangeAspect="1"/>
          </p:cNvPicPr>
          <p:nvPr/>
        </p:nvPicPr>
        <p:blipFill>
          <a:blip r:embed="rId3"/>
          <a:stretch>
            <a:fillRect/>
          </a:stretch>
        </p:blipFill>
        <p:spPr>
          <a:xfrm>
            <a:off x="8183880" y="3657600"/>
            <a:ext cx="274320" cy="274320"/>
          </a:xfrm>
          <a:prstGeom prst="rect">
            <a:avLst/>
          </a:prstGeom>
        </p:spPr>
      </p:pic>
      <p:sp>
        <p:nvSpPr>
          <p:cNvPr id="23" name="Text 18"/>
          <p:cNvSpPr txBox="1"/>
          <p:nvPr/>
        </p:nvSpPr>
        <p:spPr>
          <a:xfrm>
            <a:off x="8759952" y="350215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Self-healing posture</a:t>
            </a:r>
            <a:endParaRPr lang="en-US" sz="1500" dirty="0"/>
          </a:p>
        </p:txBody>
      </p:sp>
      <p:sp>
        <p:nvSpPr>
          <p:cNvPr id="24" name="Text 19"/>
          <p:cNvSpPr txBox="1"/>
          <p:nvPr/>
        </p:nvSpPr>
        <p:spPr>
          <a:xfrm>
            <a:off x="8759952" y="384962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Every gap becomes a ready-to-merge IaC fix, re-tested automatically.</a:t>
            </a:r>
            <a:endParaRPr lang="en-US" sz="1200" dirty="0"/>
          </a:p>
        </p:txBody>
      </p:sp>
      <p:sp>
        <p:nvSpPr>
          <p:cNvPr id="25" name="Shape 20"/>
          <p:cNvSpPr/>
          <p:nvPr/>
        </p:nvSpPr>
        <p:spPr>
          <a:xfrm>
            <a:off x="548640" y="4983480"/>
            <a:ext cx="548640" cy="548640"/>
          </a:xfrm>
          <a:prstGeom prst="ellipse">
            <a:avLst/>
          </a:prstGeom>
          <a:solidFill>
            <a:srgbClr val="5E2CFE"/>
          </a:solidFill>
          <a:ln w="12700">
            <a:solidFill>
              <a:srgbClr val="5E2CFE"/>
            </a:solidFill>
            <a:prstDash val="solid"/>
          </a:ln>
        </p:spPr>
      </p:sp>
      <p:pic>
        <p:nvPicPr>
          <p:cNvPr id="26" name="Image 3" descr="preencoded.png">    </p:cNvPr>
          <p:cNvPicPr>
            <a:picLocks noChangeAspect="1"/>
          </p:cNvPicPr>
          <p:nvPr/>
        </p:nvPicPr>
        <p:blipFill>
          <a:blip r:embed="rId4"/>
          <a:stretch>
            <a:fillRect/>
          </a:stretch>
        </p:blipFill>
        <p:spPr>
          <a:xfrm>
            <a:off x="685800" y="5120640"/>
            <a:ext cx="274320" cy="274320"/>
          </a:xfrm>
          <a:prstGeom prst="rect">
            <a:avLst/>
          </a:prstGeom>
        </p:spPr>
      </p:pic>
      <p:sp>
        <p:nvSpPr>
          <p:cNvPr id="27" name="Text 21"/>
          <p:cNvSpPr txBox="1"/>
          <p:nvPr/>
        </p:nvSpPr>
        <p:spPr>
          <a:xfrm>
            <a:off x="1261872" y="496519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Living runbooks</a:t>
            </a:r>
            <a:endParaRPr lang="en-US" sz="1500" dirty="0"/>
          </a:p>
        </p:txBody>
      </p:sp>
      <p:sp>
        <p:nvSpPr>
          <p:cNvPr id="28" name="Text 22"/>
          <p:cNvSpPr txBox="1"/>
          <p:nvPr/>
        </p:nvSpPr>
        <p:spPr>
          <a:xfrm>
            <a:off x="1261872" y="531266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Runbooks always match the live architecture — less reliance on a few experts.</a:t>
            </a:r>
            <a:endParaRPr lang="en-US" sz="1200" dirty="0"/>
          </a:p>
        </p:txBody>
      </p:sp>
      <p:sp>
        <p:nvSpPr>
          <p:cNvPr id="29" name="Shape 23"/>
          <p:cNvSpPr/>
          <p:nvPr/>
        </p:nvSpPr>
        <p:spPr>
          <a:xfrm>
            <a:off x="4297680" y="4983480"/>
            <a:ext cx="548640" cy="548640"/>
          </a:xfrm>
          <a:prstGeom prst="ellipse">
            <a:avLst/>
          </a:prstGeom>
          <a:solidFill>
            <a:srgbClr val="5E2CFE"/>
          </a:solidFill>
          <a:ln w="12700">
            <a:solidFill>
              <a:srgbClr val="5E2CFE"/>
            </a:solidFill>
            <a:prstDash val="solid"/>
          </a:ln>
        </p:spPr>
      </p:sp>
      <p:pic>
        <p:nvPicPr>
          <p:cNvPr id="30" name="Image 4" descr="preencoded.png">    </p:cNvPr>
          <p:cNvPicPr>
            <a:picLocks noChangeAspect="1"/>
          </p:cNvPicPr>
          <p:nvPr/>
        </p:nvPicPr>
        <p:blipFill>
          <a:blip r:embed="rId5"/>
          <a:stretch>
            <a:fillRect/>
          </a:stretch>
        </p:blipFill>
        <p:spPr>
          <a:xfrm>
            <a:off x="4434840" y="5120640"/>
            <a:ext cx="274320" cy="274320"/>
          </a:xfrm>
          <a:prstGeom prst="rect">
            <a:avLst/>
          </a:prstGeom>
        </p:spPr>
      </p:pic>
      <p:sp>
        <p:nvSpPr>
          <p:cNvPr id="31" name="Text 24"/>
          <p:cNvSpPr txBox="1"/>
          <p:nvPr/>
        </p:nvSpPr>
        <p:spPr>
          <a:xfrm>
            <a:off x="5010912" y="496519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Data-driven decisions</a:t>
            </a:r>
            <a:endParaRPr lang="en-US" sz="1500" dirty="0"/>
          </a:p>
        </p:txBody>
      </p:sp>
      <p:sp>
        <p:nvSpPr>
          <p:cNvPr id="32" name="Text 25"/>
          <p:cNvSpPr txBox="1"/>
          <p:nvPr/>
        </p:nvSpPr>
        <p:spPr>
          <a:xfrm>
            <a:off x="5010912" y="531266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Leadership sees real recovery metrics per application to target investment.</a:t>
            </a:r>
            <a:endParaRPr lang="en-US" sz="1200" dirty="0"/>
          </a:p>
        </p:txBody>
      </p:sp>
      <p:sp>
        <p:nvSpPr>
          <p:cNvPr id="33" name="Shape 26"/>
          <p:cNvSpPr/>
          <p:nvPr/>
        </p:nvSpPr>
        <p:spPr>
          <a:xfrm>
            <a:off x="8046720" y="4983480"/>
            <a:ext cx="548640" cy="548640"/>
          </a:xfrm>
          <a:prstGeom prst="ellipse">
            <a:avLst/>
          </a:prstGeom>
          <a:solidFill>
            <a:srgbClr val="5E2CFE"/>
          </a:solidFill>
          <a:ln w="12700">
            <a:solidFill>
              <a:srgbClr val="5E2CFE"/>
            </a:solidFill>
            <a:prstDash val="solid"/>
          </a:ln>
        </p:spPr>
      </p:sp>
      <p:pic>
        <p:nvPicPr>
          <p:cNvPr id="34" name="Image 5" descr="preencoded.png">    </p:cNvPr>
          <p:cNvPicPr>
            <a:picLocks noChangeAspect="1"/>
          </p:cNvPicPr>
          <p:nvPr/>
        </p:nvPicPr>
        <p:blipFill>
          <a:blip r:embed="rId6"/>
          <a:stretch>
            <a:fillRect/>
          </a:stretch>
        </p:blipFill>
        <p:spPr>
          <a:xfrm>
            <a:off x="8183880" y="5120640"/>
            <a:ext cx="274320" cy="274320"/>
          </a:xfrm>
          <a:prstGeom prst="rect">
            <a:avLst/>
          </a:prstGeom>
        </p:spPr>
      </p:pic>
      <p:sp>
        <p:nvSpPr>
          <p:cNvPr id="35" name="Text 27"/>
          <p:cNvSpPr txBox="1"/>
          <p:nvPr/>
        </p:nvSpPr>
        <p:spPr>
          <a:xfrm>
            <a:off x="8759952" y="4965192"/>
            <a:ext cx="2834640" cy="329184"/>
          </a:xfrm>
          <a:prstGeom prst="rect">
            <a:avLst/>
          </a:prstGeom>
          <a:noFill/>
          <a:ln/>
        </p:spPr>
        <p:txBody>
          <a:bodyPr wrap="square" lIns="0" tIns="0" rIns="0" bIns="0" rtlCol="0" anchor="ctr"/>
          <a:lstStyle/>
          <a:p>
            <a:pPr indent="0" marL="0">
              <a:buNone/>
            </a:pPr>
            <a:r>
              <a:rPr lang="en-US" sz="1500" b="1" dirty="0">
                <a:solidFill>
                  <a:srgbClr val="171721"/>
                </a:solidFill>
                <a:latin typeface="Calibri" pitchFamily="34" charset="0"/>
                <a:ea typeface="Calibri" pitchFamily="34" charset="-122"/>
                <a:cs typeface="Calibri" pitchFamily="34" charset="-120"/>
              </a:rPr>
              <a:t>Strategic for Virtusa</a:t>
            </a:r>
            <a:endParaRPr lang="en-US" sz="1500" dirty="0"/>
          </a:p>
        </p:txBody>
      </p:sp>
      <p:sp>
        <p:nvSpPr>
          <p:cNvPr id="36" name="Text 28"/>
          <p:cNvSpPr txBox="1"/>
          <p:nvPr/>
        </p:nvSpPr>
        <p:spPr>
          <a:xfrm>
            <a:off x="8759952" y="5312664"/>
            <a:ext cx="2834640" cy="868680"/>
          </a:xfrm>
          <a:prstGeom prst="rect">
            <a:avLst/>
          </a:prstGeom>
          <a:noFill/>
          <a:ln/>
        </p:spPr>
        <p:txBody>
          <a:bodyPr wrap="square" lIns="0" tIns="0" rIns="0" bIns="0" rtlCol="0" anchor="t"/>
          <a:lstStyle/>
          <a:p>
            <a:pPr indent="0" marL="0">
              <a:buNone/>
            </a:pPr>
            <a:r>
              <a:rPr lang="en-US" sz="1200" dirty="0">
                <a:solidFill>
                  <a:srgbClr val="1B2635"/>
                </a:solidFill>
                <a:latin typeface="Calibri" pitchFamily="34" charset="0"/>
                <a:ea typeface="Calibri" pitchFamily="34" charset="-122"/>
                <a:cs typeface="Calibri" pitchFamily="34" charset="-120"/>
              </a:rPr>
              <a:t>Reusable "Resilience-as-a-Service" accelerator for BFSI and managed-services clients.</a:t>
            </a:r>
            <a:endParaRPr lang="en-US" sz="1200" dirty="0"/>
          </a:p>
        </p:txBody>
      </p:sp>
      <p:sp>
        <p:nvSpPr>
          <p:cNvPr id="37" name="Text 29"/>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71721"/>
                </a:solidFill>
                <a:latin typeface="Calibri" pitchFamily="34" charset="0"/>
                <a:ea typeface="Calibri" pitchFamily="34" charset="-122"/>
                <a:cs typeface="Calibri" pitchFamily="34" charset="-120"/>
              </a:rPr>
              <a:t>Sources</a:t>
            </a:r>
            <a:endParaRPr lang="en-US" sz="32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500" i="1" dirty="0">
                <a:solidFill>
                  <a:srgbClr val="5B6B7F"/>
                </a:solidFill>
                <a:latin typeface="Calibri" pitchFamily="34" charset="0"/>
                <a:ea typeface="Calibri" pitchFamily="34" charset="-122"/>
                <a:cs typeface="Calibri" pitchFamily="34" charset="-120"/>
              </a:rPr>
              <a:t>Every figure in this deck is taken from the source below. Our own figures come from live drills on Azure.</a:t>
            </a:r>
            <a:endParaRPr lang="en-US" sz="1500" dirty="0"/>
          </a:p>
        </p:txBody>
      </p:sp>
      <p:sp>
        <p:nvSpPr>
          <p:cNvPr id="4" name="Text 2"/>
          <p:cNvSpPr txBox="1"/>
          <p:nvPr/>
        </p:nvSpPr>
        <p:spPr>
          <a:xfrm>
            <a:off x="548640" y="1508760"/>
            <a:ext cx="11064240" cy="4754880"/>
          </a:xfrm>
          <a:prstGeom prst="rect">
            <a:avLst/>
          </a:prstGeom>
          <a:noFill/>
          <a:ln/>
        </p:spPr>
        <p:txBody>
          <a:bodyPr wrap="square" lIns="0" tIns="0" rIns="0" bIns="0" rtlCol="0" anchor="t"/>
          <a:lstStyle/>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[1] ITIC, 2024 Hourly Cost of Downtime Survey, Part 2 (L. DiDio), 1,000+ firms, Nov 2023–Mar 2024. calyptix.com/wp-content/uploads/ITIC-2024-Hourly-Cost-of-Downtime-Survey-Results-Part-2.pdf</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[2] Splunk with Oxford Economics, The Hidden Costs of Downtime, 12 Jun 2024. splunk.com/en_us/blog/cio-office/uncovering-downtime.html</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[3] Parametrix estimate of CrowdStrike outage losses (19 Jul 2024), reported by Dark Reading and Cybersecurity Dive, Jul 2024. darkreading.com/cybersecurity-operations/crowdstrike-outage-losses-estimated-staggering-54b</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[4] RBI order to HDFC Bank, 2 Dec 2020 (Outlook Business, 3 Dec 2020); curbs lifted 17 Aug 2021 (cards) and 11 Mar 2022 (digital) (Business Standard, 12 Mar 2022).</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[5] NSE and NSE Clearing settle the 24 Feb 2021 trading-halt case with SEBI for ₹72.64 crore (Moneylife; Business Standard, Jun 2023).</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[6] RBI action on Kotak Mahindra Bank under Sec. 35A, 24 Apr 2024 (TechCrunch); restrictions lifted 12 Feb 2025 (Business Standard).</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[7] RBI, Cybersecurity, Technology: Risk, Resilience and Assurance Framework Directions, 31 Jul 2026, summarised by KPMG India, Sep 2026.</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[8] SEBI Cybersecurity and Cyber Resilience Framework: RTO 2 hours, RPO 15 minutes (clarification reported by PTI / The Week, 28 Aug 2025).</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[9] SEBI framework for market infrastructure institutions: DR site within 45 minutes, quarterly drills (Business Standard, 22 Mar 2021).</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[10] Regulation (EU) 2022/2554 (DORA), Articles 11(6), 12, 35(7)–(8), 50, 51. eur-lex.europa.eu/eli/reg/2022/2554/oj</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[11] Cockroach Labs with Wakefield Research, The State of Resilience 2025 (1,000 executives, Aug–Sep 2024). cockroachlabs.com</a:t>
            </a:r>
            <a:endParaRPr lang="en-US" sz="1100" dirty="0"/>
          </a:p>
          <a:p>
            <a:pPr indent="0" marL="0">
              <a:spcAft>
                <a:spcPts val="500"/>
              </a:spcAft>
              <a:buNone/>
            </a:pPr>
            <a:r>
              <a:rPr lang="en-US" sz="1100" dirty="0">
                <a:solidFill>
                  <a:srgbClr val="1B2635"/>
                </a:solidFill>
                <a:latin typeface="Calibri" pitchFamily="34" charset="0"/>
                <a:ea typeface="Calibri" pitchFamily="34" charset="-122"/>
                <a:cs typeface="Calibri" pitchFamily="34" charset="-120"/>
              </a:rPr>
              <a:t>[12] Uptime Institute, Annual Outage Analysis 2025, press release 6 May 2025. uptimeinstitute.com</a:t>
            </a:r>
            <a:endParaRPr lang="en-US" sz="1100" dirty="0"/>
          </a:p>
        </p:txBody>
      </p:sp>
      <p:sp>
        <p:nvSpPr>
          <p:cNvPr id="5" name="Text 3"/>
          <p:cNvSpPr txBox="1"/>
          <p:nvPr/>
        </p:nvSpPr>
        <p:spPr>
          <a:xfrm>
            <a:off x="548640" y="6473952"/>
            <a:ext cx="11064240" cy="274320"/>
          </a:xfrm>
          <a:prstGeom prst="rect">
            <a:avLst/>
          </a:prstGeom>
          <a:noFill/>
          <a:ln/>
        </p:spPr>
        <p:txBody>
          <a:bodyPr wrap="square" lIns="0" tIns="0" rIns="0" bIns="0" rtlCol="0" anchor="ctr"/>
          <a:lstStyle/>
          <a:p>
            <a:pPr algn="r" indent="0" marL="0">
              <a:buNone/>
            </a:pPr>
            <a:r>
              <a:rPr lang="en-US" sz="900" dirty="0">
                <a:solidFill>
                  <a:srgbClr val="8C99AA"/>
                </a:solidFill>
                <a:latin typeface="Calibri" pitchFamily="34" charset="0"/>
                <a:ea typeface="Calibri" pitchFamily="34" charset="-122"/>
                <a:cs typeface="Calibri" pitchFamily="34" charset="-120"/>
              </a:rPr>
              <a:t>DR Agent: Autonomous DR Validation  ·  Team Azure Armada  ·  Azure Day 2026 Hackathon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721"/>
        </a:solidFill>
      </p:bgPr>
    </p:bg>
    <p:spTree>
      <p:nvGrpSpPr>
        <p:cNvPr id="1" name=""/>
        <p:cNvGrpSpPr/>
        <p:nvPr/>
      </p:nvGrpSpPr>
      <p:grpSpPr>
        <a:xfrm>
          <a:off x="0" y="0"/>
          <a:ext cx="0" cy="0"/>
          <a:chOff x="0" y="0"/>
          <a:chExt cx="0" cy="0"/>
        </a:xfrm>
      </p:grpSpPr>
      <p:sp>
        <p:nvSpPr>
          <p:cNvPr id="2" name="Shape 0"/>
          <p:cNvSpPr/>
          <p:nvPr/>
        </p:nvSpPr>
        <p:spPr>
          <a:xfrm>
            <a:off x="548640" y="731520"/>
            <a:ext cx="914400" cy="914400"/>
          </a:xfrm>
          <a:prstGeom prst="ellipse">
            <a:avLst/>
          </a:prstGeom>
          <a:solidFill>
            <a:srgbClr val="5E2CFE"/>
          </a:solidFill>
          <a:ln w="12700">
            <a:solidFill>
              <a:srgbClr val="5E2CFE"/>
            </a:solidFill>
            <a:prstDash val="solid"/>
          </a:ln>
        </p:spPr>
      </p:sp>
      <p:pic>
        <p:nvPicPr>
          <p:cNvPr id="3" name="Image 0" descr="preencoded.png">    </p:cNvPr>
          <p:cNvPicPr>
            <a:picLocks noChangeAspect="1"/>
          </p:cNvPicPr>
          <p:nvPr/>
        </p:nvPicPr>
        <p:blipFill>
          <a:blip r:embed="rId1"/>
          <a:stretch>
            <a:fillRect/>
          </a:stretch>
        </p:blipFill>
        <p:spPr>
          <a:xfrm>
            <a:off x="777240" y="960120"/>
            <a:ext cx="457200" cy="457200"/>
          </a:xfrm>
          <a:prstGeom prst="rect">
            <a:avLst/>
          </a:prstGeom>
        </p:spPr>
      </p:pic>
      <p:sp>
        <p:nvSpPr>
          <p:cNvPr id="4" name="Text 1"/>
          <p:cNvSpPr txBox="1"/>
          <p:nvPr/>
        </p:nvSpPr>
        <p:spPr>
          <a:xfrm>
            <a:off x="548640" y="2011680"/>
            <a:ext cx="1097280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Don't assume you can recover.</a:t>
            </a:r>
            <a:endParaRPr lang="en-US" sz="4400" dirty="0"/>
          </a:p>
        </p:txBody>
      </p:sp>
      <p:sp>
        <p:nvSpPr>
          <p:cNvPr id="5" name="Text 2"/>
          <p:cNvSpPr txBox="1"/>
          <p:nvPr/>
        </p:nvSpPr>
        <p:spPr>
          <a:xfrm>
            <a:off x="548640" y="2834640"/>
            <a:ext cx="10972800" cy="731520"/>
          </a:xfrm>
          <a:prstGeom prst="rect">
            <a:avLst/>
          </a:prstGeom>
          <a:noFill/>
          <a:ln/>
        </p:spPr>
        <p:txBody>
          <a:bodyPr wrap="square" lIns="0" tIns="0" rIns="0" bIns="0" rtlCol="0" anchor="ctr"/>
          <a:lstStyle/>
          <a:p>
            <a:pPr indent="0" marL="0">
              <a:buNone/>
            </a:pPr>
            <a:r>
              <a:rPr lang="en-US" sz="3000" dirty="0">
                <a:solidFill>
                  <a:srgbClr val="8FD6D3"/>
                </a:solidFill>
                <a:latin typeface="Calibri" pitchFamily="34" charset="0"/>
                <a:ea typeface="Calibri" pitchFamily="34" charset="-122"/>
                <a:cs typeface="Calibri" pitchFamily="34" charset="-120"/>
              </a:rPr>
              <a:t>Let the DR Agent validate it, and prove it, every week.</a:t>
            </a:r>
            <a:endParaRPr lang="en-US" sz="3000" dirty="0"/>
          </a:p>
        </p:txBody>
      </p:sp>
      <p:sp>
        <p:nvSpPr>
          <p:cNvPr id="6" name="Text 3"/>
          <p:cNvSpPr txBox="1"/>
          <p:nvPr/>
        </p:nvSpPr>
        <p:spPr>
          <a:xfrm>
            <a:off x="54864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Real DR tests</a:t>
            </a:r>
            <a:endParaRPr lang="en-US" sz="1700" dirty="0"/>
          </a:p>
          <a:p>
            <a:pPr indent="0" marL="0">
              <a:buNone/>
            </a:pPr>
            <a:r>
              <a:rPr lang="en-US" sz="1300" dirty="0">
                <a:solidFill>
                  <a:srgbClr val="B8C7DA"/>
                </a:solidFill>
                <a:latin typeface="Calibri" pitchFamily="34" charset="0"/>
                <a:ea typeface="Calibri" pitchFamily="34" charset="-122"/>
                <a:cs typeface="Calibri" pitchFamily="34" charset="-120"/>
              </a:rPr>
              <a:t>Failover, validate, failback — executed by agents</a:t>
            </a:r>
            <a:endParaRPr lang="en-US" sz="1700" dirty="0"/>
          </a:p>
        </p:txBody>
      </p:sp>
      <p:sp>
        <p:nvSpPr>
          <p:cNvPr id="7" name="Text 4"/>
          <p:cNvSpPr txBox="1"/>
          <p:nvPr/>
        </p:nvSpPr>
        <p:spPr>
          <a:xfrm>
            <a:off x="429768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Built 100% on Azure</a:t>
            </a:r>
            <a:endParaRPr lang="en-US" sz="1700" dirty="0"/>
          </a:p>
          <a:p>
            <a:pPr indent="0" marL="0">
              <a:buNone/>
            </a:pPr>
            <a:r>
              <a:rPr lang="en-US" sz="1300" dirty="0">
                <a:solidFill>
                  <a:srgbClr val="B8C7DA"/>
                </a:solidFill>
                <a:latin typeface="Calibri" pitchFamily="34" charset="0"/>
                <a:ea typeface="Calibri" pitchFamily="34" charset="-122"/>
                <a:cs typeface="Calibri" pitchFamily="34" charset="-120"/>
              </a:rPr>
              <a:t>AI Foundry, Site Recovery, Chaos Studio, Monitor</a:t>
            </a:r>
            <a:endParaRPr lang="en-US" sz="1700" dirty="0"/>
          </a:p>
        </p:txBody>
      </p:sp>
      <p:sp>
        <p:nvSpPr>
          <p:cNvPr id="8" name="Text 5"/>
          <p:cNvSpPr txBox="1"/>
          <p:nvPr/>
        </p:nvSpPr>
        <p:spPr>
          <a:xfrm>
            <a:off x="8046720" y="4206240"/>
            <a:ext cx="347472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Safe by design</a:t>
            </a:r>
            <a:endParaRPr lang="en-US" sz="1700" dirty="0"/>
          </a:p>
          <a:p>
            <a:pPr indent="0" marL="0">
              <a:buNone/>
            </a:pPr>
            <a:r>
              <a:rPr lang="en-US" sz="1300" dirty="0">
                <a:solidFill>
                  <a:srgbClr val="B8C7DA"/>
                </a:solidFill>
                <a:latin typeface="Calibri" pitchFamily="34" charset="0"/>
                <a:ea typeface="Calibri" pitchFamily="34" charset="-122"/>
                <a:cs typeface="Calibri" pitchFamily="34" charset="-120"/>
              </a:rPr>
              <a:t>Graduated autonomy, human approval, full audit trail</a:t>
            </a:r>
            <a:endParaRPr lang="en-US" sz="1700" dirty="0"/>
          </a:p>
        </p:txBody>
      </p:sp>
      <p:sp>
        <p:nvSpPr>
          <p:cNvPr id="9" name="Text 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8FA3BD"/>
                </a:solidFill>
                <a:latin typeface="Calibri" pitchFamily="34" charset="0"/>
                <a:ea typeface="Calibri" pitchFamily="34" charset="-122"/>
                <a:cs typeface="Calibri" pitchFamily="34" charset="-120"/>
              </a:rPr>
              <a:t>Thank you  ·  Team Azure Armada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Disaster Recovery (DR) Agent: Autonomous Disaster Recovery Validation</dc:title>
  <dc:subject>PptxGenJS Presentation</dc:subject>
  <dc:creator>Team Azure Armada</dc:creator>
  <cp:lastModifiedBy>Team Azure Armada</cp:lastModifiedBy>
  <cp:revision>1</cp:revision>
  <dcterms:created xsi:type="dcterms:W3CDTF">2026-10-18T08:37:47Z</dcterms:created>
  <dcterms:modified xsi:type="dcterms:W3CDTF">2026-10-18T08:37:47Z</dcterms:modified>
</cp:coreProperties>
</file>